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notesSlides/notesSlide19.xml" ContentType="application/vnd.openxmlformats-officedocument.presentationml.notesSlide+xml"/>
  <Override PartName="/customXml/itemProps3.xml" ContentType="application/vnd.openxmlformats-officedocument.customXmlProperties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docProps/app.xml" ContentType="application/vnd.openxmlformats-officedocument.extended-properties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4"/>
  </p:sldMasterIdLst>
  <p:notesMasterIdLst>
    <p:notesMasterId r:id="rId3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6858000" cy="9144000"/>
  <p:custDataLst>
    <p:custData r:id="rId1"/>
    <p:custData r:id="rId2"/>
    <p:custData r:id="rId3"/>
  </p:custDataLst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heme" Target="theme/theme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 /><Relationship Id="rId36" Type="http://schemas.openxmlformats.org/officeDocument/2006/relationships/tableStyles" Target="tableStyles.xml" /><Relationship Id="rId3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43546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8198039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9438449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2910694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55593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6549105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899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74298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8165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793FF5-3D4B-7DEB-3010-408A0D5A79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99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794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0755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A22149-C48C-F0F7-F991-4FB5B5F4B7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0810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0842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6077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B781F4-5404-6D65-480A-DFC7EF029E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7481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51576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709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1BFD08-14A6-6473-BE1F-5D9070B91F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489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2433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3353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D9D97-4533-77E1-467C-D699BC7F06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3148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09222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5450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46122F-C0B8-3ACF-2868-6088D874C8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98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808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0391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F009CC-43BD-B00C-5683-FF8DD71B17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5518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0398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2808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D4B7FC-F061-5932-FC89-DCA5A8F0CED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023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7450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199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F3817F-5A11-3F29-2B6B-95D25ABF62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6912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100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169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2513AC-1BF9-15E9-7A12-F540EF91DC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2111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04287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109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272176-E900-FC0C-4E4C-1B14AD8A7E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639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36873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456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F033F4-8780-70C1-A6C6-A27B05A0CD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862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67012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4421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3967AE-D3AA-B59E-343B-3D25C2153A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1404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81514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054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458D4F-CD06-7449-FD37-7202086C98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8296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3685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22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02A842-2AD2-95E3-A0BC-8032439616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2290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076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3581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4134C1-3315-3739-998A-37B2857D84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09653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533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C7A297-2648-AFE1-24D3-184BA7F098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949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3482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940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5237EA-77A2-AAE5-578F-08F3122C0C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61081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256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428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C6C358-5B65-A66F-6C5F-6B1FF2ED9F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5802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193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72595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E66A94-8FF9-1067-0CB4-8D1103D603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1285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3590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19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21E70-71B5-AC1F-1216-A724F6AFAE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692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0210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078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4A34B9-2B16-7E0C-3454-F0175A3745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381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9346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2734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DF6F7C-DB47-6B50-F468-FE989E279B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721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89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751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0018FF-448B-486F-5398-13EC669D29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069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70612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4835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29AFEB-06B3-46CD-B834-40C3F0E307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4859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0407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4272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BEF9BE-ECB7-5912-13F4-504F52030D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659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0448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842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12BD62-D709-65C6-ED12-4DA60AC099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544080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771783794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54044073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73D6E2-CCDA-412B-B691-1AA55FE7F2EA}" type="datetimeFigureOut">
              <a:rPr lang="en-US"/>
              <a:t>9/10/2026</a:t>
            </a:fld>
            <a:endParaRPr lang="en-US"/>
          </a:p>
        </p:txBody>
      </p:sp>
      <p:sp>
        <p:nvSpPr>
          <p:cNvPr id="53704440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155590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140365-6BD3-4AD2-A779-26D5EFD09977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9370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601723629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22794085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73D6E2-CCDA-412B-B691-1AA55FE7F2EA}" type="datetimeFigureOut">
              <a:rPr lang="en-US"/>
              <a:t>9/10/2026</a:t>
            </a:fld>
            <a:endParaRPr lang="en-US"/>
          </a:p>
        </p:txBody>
      </p:sp>
      <p:sp>
        <p:nvSpPr>
          <p:cNvPr id="37250072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511102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140365-6BD3-4AD2-A779-26D5EFD09977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268129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889832265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96556008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73D6E2-CCDA-412B-B691-1AA55FE7F2EA}" type="datetimeFigureOut">
              <a:rPr lang="en-US"/>
              <a:t>9/10/2026</a:t>
            </a:fld>
            <a:endParaRPr lang="en-US"/>
          </a:p>
        </p:txBody>
      </p:sp>
      <p:sp>
        <p:nvSpPr>
          <p:cNvPr id="86395369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650104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140365-6BD3-4AD2-A779-26D5EFD09977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56404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313571422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97386720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47383542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73D6E2-CCDA-412B-B691-1AA55FE7F2EA}" type="datetimeFigureOut">
              <a:rPr lang="en-US"/>
              <a:t>9/10/2026</a:t>
            </a:fld>
            <a:endParaRPr lang="en-US"/>
          </a:p>
        </p:txBody>
      </p:sp>
      <p:sp>
        <p:nvSpPr>
          <p:cNvPr id="244639529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1688092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140365-6BD3-4AD2-A779-26D5EFD09977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457861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690293832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208991509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814740953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625415049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254621438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73D6E2-CCDA-412B-B691-1AA55FE7F2EA}" type="datetimeFigureOut">
              <a:rPr lang="en-US"/>
              <a:t>9/10/2026</a:t>
            </a:fld>
            <a:endParaRPr lang="en-US"/>
          </a:p>
        </p:txBody>
      </p:sp>
      <p:sp>
        <p:nvSpPr>
          <p:cNvPr id="1009000436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6092072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140365-6BD3-4AD2-A779-26D5EFD09977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25425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337754347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73D6E2-CCDA-412B-B691-1AA55FE7F2EA}" type="datetimeFigureOut">
              <a:rPr lang="en-US"/>
              <a:t>9/10/2026</a:t>
            </a:fld>
            <a:endParaRPr lang="en-US"/>
          </a:p>
        </p:txBody>
      </p:sp>
      <p:sp>
        <p:nvSpPr>
          <p:cNvPr id="1894500409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1948089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140365-6BD3-4AD2-A779-26D5EFD09977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221254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73D6E2-CCDA-412B-B691-1AA55FE7F2EA}" type="datetimeFigureOut">
              <a:rPr lang="en-US"/>
              <a:t>9/10/2026</a:t>
            </a:fld>
            <a:endParaRPr lang="en-US"/>
          </a:p>
        </p:txBody>
      </p:sp>
      <p:sp>
        <p:nvSpPr>
          <p:cNvPr id="1248521067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23992313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140365-6BD3-4AD2-A779-26D5EFD09977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125628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1591321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837370090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81407342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73D6E2-CCDA-412B-B691-1AA55FE7F2EA}" type="datetimeFigureOut">
              <a:rPr lang="en-US"/>
              <a:t>9/10/2026</a:t>
            </a:fld>
            <a:endParaRPr lang="en-US"/>
          </a:p>
        </p:txBody>
      </p:sp>
      <p:sp>
        <p:nvSpPr>
          <p:cNvPr id="975725721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126315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140365-6BD3-4AD2-A779-26D5EFD09977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196454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250785220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151418013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2037296382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73D6E2-CCDA-412B-B691-1AA55FE7F2EA}" type="datetimeFigureOut">
              <a:rPr lang="en-US"/>
              <a:t>9/10/2026</a:t>
            </a:fld>
            <a:endParaRPr lang="en-US"/>
          </a:p>
        </p:txBody>
      </p:sp>
      <p:sp>
        <p:nvSpPr>
          <p:cNvPr id="705721419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9637735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140365-6BD3-4AD2-A779-26D5EFD09977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35703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66706052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28942697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73D6E2-CCDA-412B-B691-1AA55FE7F2EA}" type="datetimeFigureOut">
              <a:rPr lang="en-US"/>
              <a:t>9/10/2026</a:t>
            </a:fld>
            <a:endParaRPr lang="en-US"/>
          </a:p>
        </p:txBody>
      </p:sp>
      <p:sp>
        <p:nvSpPr>
          <p:cNvPr id="88300571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788962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140365-6BD3-4AD2-A779-26D5EFD09977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904738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1528878989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60192018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73D6E2-CCDA-412B-B691-1AA55FE7F2EA}" type="datetimeFigureOut">
              <a:rPr lang="en-US"/>
              <a:t>9/10/2026</a:t>
            </a:fld>
            <a:endParaRPr lang="en-US"/>
          </a:p>
        </p:txBody>
      </p:sp>
      <p:sp>
        <p:nvSpPr>
          <p:cNvPr id="77513260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482222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3140365-6BD3-4AD2-A779-26D5EFD09977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209027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en-US"/>
          </a:p>
        </p:txBody>
      </p:sp>
      <p:sp>
        <p:nvSpPr>
          <p:cNvPr id="225096809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en-US"/>
          </a:p>
        </p:txBody>
      </p:sp>
      <p:sp>
        <p:nvSpPr>
          <p:cNvPr id="1080692437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EA73D6E2-CCDA-412B-B691-1AA55FE7F2EA}" type="datetimeFigureOut">
              <a:rPr lang="en-US"/>
              <a:t>9/10/2026</a:t>
            </a:fld>
            <a:endParaRPr lang="en-US"/>
          </a:p>
        </p:txBody>
      </p:sp>
      <p:sp>
        <p:nvSpPr>
          <p:cNvPr id="204534379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011054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33140365-6BD3-4AD2-A779-26D5EFD09977}" type="slidenum">
              <a:rPr lang="en-US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529773217" name="Rectangle 5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24069611" name="Titre 1"/>
          <p:cNvSpPr>
            <a:spLocks noGrp="1"/>
          </p:cNvSpPr>
          <p:nvPr>
            <p:ph type="ctrTitle"/>
          </p:nvPr>
        </p:nvSpPr>
        <p:spPr bwMode="auto">
          <a:xfrm>
            <a:off x="5596501" y="489508"/>
            <a:ext cx="5754896" cy="16675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defRPr/>
            </a:pPr>
            <a:r>
              <a:rPr lang="en-GB" sz="40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Quick tutorial</a:t>
            </a:r>
            <a:endParaRPr/>
          </a:p>
        </p:txBody>
      </p:sp>
      <p:pic>
        <p:nvPicPr>
          <p:cNvPr id="985379820" name="Image 3" descr="Overview - qBrai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68130" y="2678574"/>
            <a:ext cx="3876165" cy="1069156"/>
          </a:xfrm>
          <a:prstGeom prst="rect">
            <a:avLst/>
          </a:prstGeom>
        </p:spPr>
      </p:pic>
      <p:sp>
        <p:nvSpPr>
          <p:cNvPr id="10650474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5596502" y="2405894"/>
            <a:ext cx="5754896" cy="31974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/>
              <a:buChar char="•"/>
              <a:defRPr/>
            </a:pPr>
            <a:r>
              <a:rPr lang="en-GB" sz="2000"/>
              <a:t>What is </a:t>
            </a:r>
            <a:r>
              <a:rPr lang="en-GB" sz="2000"/>
              <a:t>qBraid</a:t>
            </a:r>
            <a:endParaRPr lang="en-GB" sz="2000"/>
          </a:p>
          <a:p>
            <a:pPr indent="-228600" algn="l">
              <a:buFont typeface="Arial"/>
              <a:buChar char="•"/>
              <a:defRPr/>
            </a:pPr>
            <a:r>
              <a:rPr lang="en-GB" sz="2000"/>
              <a:t>Start and monitor a server instance</a:t>
            </a:r>
            <a:endParaRPr/>
          </a:p>
          <a:p>
            <a:pPr indent="-228600" algn="l">
              <a:buFont typeface="Arial"/>
              <a:buChar char="•"/>
              <a:defRPr/>
            </a:pPr>
            <a:r>
              <a:rPr lang="en-GB" sz="2000"/>
              <a:t>Modify Idle Timeout</a:t>
            </a:r>
            <a:endParaRPr/>
          </a:p>
          <a:p>
            <a:pPr indent="-228600" algn="l">
              <a:buFont typeface="Arial"/>
              <a:buChar char="•"/>
              <a:defRPr/>
            </a:pPr>
            <a:r>
              <a:rPr lang="en-GB" sz="2000"/>
              <a:t>Run on a quantum device or simulator</a:t>
            </a:r>
            <a:endParaRPr/>
          </a:p>
          <a:p>
            <a:pPr indent="-228600" algn="l">
              <a:buFont typeface="Arial"/>
              <a:buChar char="•"/>
              <a:defRPr/>
            </a:pPr>
            <a:r>
              <a:rPr lang="en-GB" sz="2000"/>
              <a:t>Integrated AI agent</a:t>
            </a:r>
            <a:endParaRPr/>
          </a:p>
        </p:txBody>
      </p:sp>
      <p:sp>
        <p:nvSpPr>
          <p:cNvPr id="1031533819" name="Rectangle 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10800000" flipH="1">
            <a:off x="0" y="6400798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63322441" name="Rectangle 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flipH="1">
            <a:off x="4038600" y="6400798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075805228" name="Rectangle 18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3588057" name="Rectangle 20"/>
          <p:cNvSpPr/>
          <p:nvPr/>
        </p:nvSpPr>
        <p:spPr bwMode="auto">
          <a:xfrm rot="10800000" flipH="1">
            <a:off x="0" y="6400798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24368748" name="Rectangle 22"/>
          <p:cNvSpPr/>
          <p:nvPr/>
        </p:nvSpPr>
        <p:spPr bwMode="auto">
          <a:xfrm flipH="1">
            <a:off x="4038600" y="6400798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38801615" name="Titre 1"/>
          <p:cNvSpPr>
            <a:spLocks noGrp="1"/>
          </p:cNvSpPr>
          <p:nvPr>
            <p:ph type="title"/>
          </p:nvPr>
        </p:nvSpPr>
        <p:spPr bwMode="auto">
          <a:xfrm>
            <a:off x="390525" y="-63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What is </a:t>
            </a:r>
            <a:endParaRPr/>
          </a:p>
        </p:txBody>
      </p:sp>
      <p:sp>
        <p:nvSpPr>
          <p:cNvPr id="106075265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615313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qBraid</a:t>
            </a:r>
            <a:r>
              <a:rPr lang="en-US" sz="2000"/>
              <a:t> is a cloud platform built specifically for quantum computing. Unlike a generic cloud notebook service, the environments, the libraries and the hardware access are all quantum-oriented. </a:t>
            </a:r>
            <a:endParaRPr/>
          </a:p>
          <a:p>
            <a:pPr>
              <a:defRPr/>
            </a:pPr>
            <a:endParaRPr lang="en-US" sz="2000"/>
          </a:p>
          <a:p>
            <a:pPr lvl="1">
              <a:defRPr/>
            </a:pPr>
            <a:r>
              <a:rPr lang="en-US" sz="1800"/>
              <a:t>User-friendly with 100 free CPU hours per month, no credit card required. </a:t>
            </a:r>
            <a:endParaRPr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en-US" sz="1800"/>
              <a:t>Run classical notebooks directly in your browser, with the quantum SDKs already installed. </a:t>
            </a:r>
            <a:endParaRPr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en-US" sz="1800"/>
              <a:t>Run on real QPUs or simulators, access to several providers on the same platform.</a:t>
            </a:r>
            <a:endParaRPr/>
          </a:p>
          <a:p>
            <a:pPr lvl="1">
              <a:defRPr/>
            </a:pPr>
            <a:endParaRPr lang="en-US" sz="1800"/>
          </a:p>
          <a:p>
            <a:pPr lvl="1">
              <a:defRPr/>
            </a:pPr>
            <a:r>
              <a:rPr lang="en-US" sz="1800"/>
              <a:t>Your notebooks and data stay on the platform, accessible from any machine with a browser.</a:t>
            </a:r>
            <a:endParaRPr lang="en-AU" sz="1800"/>
          </a:p>
        </p:txBody>
      </p:sp>
      <p:pic>
        <p:nvPicPr>
          <p:cNvPr id="910562511" name="Image 3" descr="Overview - qBrai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653780" y="280440"/>
            <a:ext cx="2295525" cy="6331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693690575" name="Rectangle 4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13619168" name="Rectangle 6"/>
          <p:cNvSpPr/>
          <p:nvPr/>
        </p:nvSpPr>
        <p:spPr bwMode="auto">
          <a:xfrm rot="10800000" flipH="1">
            <a:off x="0" y="6400798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9124359" name="Rectangle 8"/>
          <p:cNvSpPr/>
          <p:nvPr/>
        </p:nvSpPr>
        <p:spPr bwMode="auto">
          <a:xfrm flipH="1">
            <a:off x="4038600" y="6400798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78456170" name="Titre 1"/>
          <p:cNvSpPr>
            <a:spLocks noGrp="1"/>
          </p:cNvSpPr>
          <p:nvPr>
            <p:ph type="title"/>
          </p:nvPr>
        </p:nvSpPr>
        <p:spPr bwMode="auto">
          <a:xfrm>
            <a:off x="362712" y="-636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Start and monitor a server instance</a:t>
            </a:r>
            <a:endParaRPr/>
          </a:p>
        </p:txBody>
      </p:sp>
      <p:sp>
        <p:nvSpPr>
          <p:cNvPr id="951732798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536795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/>
              <a:t>qBraid</a:t>
            </a:r>
            <a:r>
              <a:rPr lang="en-US" sz="2400"/>
              <a:t> free subscription gives you 100 CPU hours of computation per month</a:t>
            </a:r>
            <a:endParaRPr/>
          </a:p>
          <a:p>
            <a:pPr>
              <a:defRPr/>
            </a:pPr>
            <a:endParaRPr lang="en-US" sz="2400"/>
          </a:p>
          <a:p>
            <a:pPr>
              <a:defRPr/>
            </a:pPr>
            <a:r>
              <a:rPr lang="en-US" sz="2400"/>
              <a:t>This does not mean that you can run 100 hours of code, the larger the server you are using the more this computation hours are consumed.</a:t>
            </a:r>
            <a:endParaRPr/>
          </a:p>
          <a:p>
            <a:pPr>
              <a:defRPr/>
            </a:pPr>
            <a:endParaRPr lang="en-US" sz="2400"/>
          </a:p>
          <a:p>
            <a:pPr>
              <a:defRPr/>
            </a:pPr>
            <a:r>
              <a:rPr lang="en-US" sz="2400"/>
              <a:t> The rule is simple : </a:t>
            </a:r>
            <a:r>
              <a:rPr lang="en-US" sz="2400" i="1"/>
              <a:t>Computation hours = number of vCPU * real time</a:t>
            </a:r>
            <a:endParaRPr/>
          </a:p>
          <a:p>
            <a:pPr lvl="2">
              <a:defRPr/>
            </a:pPr>
            <a:endParaRPr lang="en-US" sz="1600"/>
          </a:p>
          <a:p>
            <a:pPr lvl="1">
              <a:defRPr/>
            </a:pPr>
            <a:r>
              <a:rPr lang="en-US" sz="2000"/>
              <a:t>Using a Large 8 vCPU, 25GB instance will use 8 hours of computation per real hour.</a:t>
            </a:r>
            <a:endParaRPr/>
          </a:p>
          <a:p>
            <a:pPr lvl="2">
              <a:defRPr/>
            </a:pPr>
            <a:endParaRPr lang="en-US" sz="1600"/>
          </a:p>
          <a:p>
            <a:pPr lvl="1">
              <a:defRPr/>
            </a:pPr>
            <a:r>
              <a:rPr lang="en-US" sz="2000"/>
              <a:t>Using a Small 2vCPU, 4GB instance will use 2 hours of computation per real hour.</a:t>
            </a:r>
            <a:endParaRPr/>
          </a:p>
          <a:p>
            <a:pPr>
              <a:defRPr/>
            </a:pPr>
            <a:endParaRPr lang="en-US" sz="2400"/>
          </a:p>
          <a:p>
            <a:pPr>
              <a:defRPr/>
            </a:pP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412176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112519"/>
            <a:ext cx="10515600" cy="98425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000"/>
              <a:t>You can launch a new server instance on the dashboard, on </a:t>
            </a:r>
            <a:r>
              <a:rPr lang="en-US" sz="2000" i="1"/>
              <a:t>Subscription</a:t>
            </a:r>
            <a:r>
              <a:rPr lang="en-US" sz="2000"/>
              <a:t> tab, and choose between 6 different instances.</a:t>
            </a:r>
            <a:endParaRPr/>
          </a:p>
          <a:p>
            <a:pPr>
              <a:defRPr/>
            </a:pPr>
            <a:r>
              <a:rPr lang="en-US" sz="2000"/>
              <a:t>You can start a new instance by clicking </a:t>
            </a:r>
            <a:r>
              <a:rPr lang="en-US" sz="2000" i="1"/>
              <a:t>Launch</a:t>
            </a:r>
            <a:r>
              <a:rPr lang="en-US" sz="2000"/>
              <a:t>:</a:t>
            </a:r>
            <a:endParaRPr/>
          </a:p>
        </p:txBody>
      </p:sp>
      <p:pic>
        <p:nvPicPr>
          <p:cNvPr id="104247833" name="Imag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903300" y="2868612"/>
            <a:ext cx="8463373" cy="3581093"/>
          </a:xfrm>
          <a:prstGeom prst="rect">
            <a:avLst/>
          </a:prstGeom>
        </p:spPr>
      </p:pic>
      <p:sp>
        <p:nvSpPr>
          <p:cNvPr id="342908843" name="Titre 1"/>
          <p:cNvSpPr>
            <a:spLocks noGrp="1"/>
          </p:cNvSpPr>
          <p:nvPr>
            <p:ph type="title"/>
          </p:nvPr>
        </p:nvSpPr>
        <p:spPr bwMode="auto">
          <a:xfrm>
            <a:off x="362712" y="-636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Start and monitor a server instance</a:t>
            </a:r>
            <a:endParaRPr/>
          </a:p>
        </p:txBody>
      </p:sp>
      <p:pic>
        <p:nvPicPr>
          <p:cNvPr id="1751751293" name="Image 14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49216" y="2309175"/>
            <a:ext cx="1676458" cy="4352253"/>
          </a:xfrm>
          <a:prstGeom prst="rect">
            <a:avLst/>
          </a:prstGeom>
        </p:spPr>
      </p:pic>
      <p:cxnSp>
        <p:nvCxnSpPr>
          <p:cNvPr id="1759817164" name="Connecteur droit avec flèche 11"/>
          <p:cNvCxnSpPr/>
          <p:nvPr/>
        </p:nvCxnSpPr>
        <p:spPr bwMode="auto">
          <a:xfrm flipH="0" flipV="0">
            <a:off x="1887444" y="3887754"/>
            <a:ext cx="1504978" cy="36420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400125" name="Titre 1"/>
          <p:cNvSpPr>
            <a:spLocks noGrp="1"/>
          </p:cNvSpPr>
          <p:nvPr>
            <p:ph type="title"/>
          </p:nvPr>
        </p:nvSpPr>
        <p:spPr bwMode="auto">
          <a:xfrm>
            <a:off x="362712" y="-636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Start and monitor a server instance</a:t>
            </a:r>
            <a:endParaRPr/>
          </a:p>
        </p:txBody>
      </p:sp>
      <p:pic>
        <p:nvPicPr>
          <p:cNvPr id="48422616" name="Image 5"/>
          <p:cNvPicPr>
            <a:picLocks noChangeAspect="1"/>
          </p:cNvPicPr>
          <p:nvPr/>
        </p:nvPicPr>
        <p:blipFill rotWithShape="1">
          <a:blip r:embed="rId3"/>
          <a:srcRect l="0" t="0" r="1144" b="0"/>
          <a:stretch/>
        </p:blipFill>
        <p:spPr bwMode="auto">
          <a:xfrm>
            <a:off x="1427211" y="2072114"/>
            <a:ext cx="9337580" cy="4653952"/>
          </a:xfrm>
          <a:prstGeom prst="rect">
            <a:avLst/>
          </a:prstGeom>
        </p:spPr>
      </p:pic>
      <p:sp>
        <p:nvSpPr>
          <p:cNvPr id="1331512569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00100" y="1148556"/>
            <a:ext cx="10896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Click </a:t>
            </a:r>
            <a:r>
              <a:rPr lang="en-US" sz="2000" i="1"/>
              <a:t>Open Lab         </a:t>
            </a:r>
            <a:r>
              <a:rPr lang="en-US" sz="2000"/>
              <a:t>and you have you own server instance where you can create and run files</a:t>
            </a:r>
            <a:endParaRPr/>
          </a:p>
          <a:p>
            <a:pPr>
              <a:defRPr/>
            </a:pPr>
            <a:endParaRPr lang="en-US" sz="2000"/>
          </a:p>
        </p:txBody>
      </p:sp>
      <p:pic>
        <p:nvPicPr>
          <p:cNvPr id="1964785412" name="Image 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955997" y="1130457"/>
            <a:ext cx="344500" cy="3525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72005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00100" y="1148556"/>
            <a:ext cx="10896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To run the code, you want to create a new environment and download libraries:</a:t>
            </a:r>
            <a:endParaRPr/>
          </a:p>
          <a:p>
            <a:pPr>
              <a:defRPr/>
            </a:pPr>
            <a:r>
              <a:rPr lang="en-US" sz="2000"/>
              <a:t>Alternatively, you can also use existing environment in </a:t>
            </a:r>
            <a:r>
              <a:rPr lang="en-US" sz="2000" i="1"/>
              <a:t>Shared Environments</a:t>
            </a:r>
            <a:endParaRPr/>
          </a:p>
        </p:txBody>
      </p:sp>
      <p:pic>
        <p:nvPicPr>
          <p:cNvPr id="2000830462" name="Imag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640910" y="2422425"/>
            <a:ext cx="2731534" cy="3868994"/>
          </a:xfrm>
          <a:prstGeom prst="rect">
            <a:avLst/>
          </a:prstGeom>
        </p:spPr>
      </p:pic>
      <p:pic>
        <p:nvPicPr>
          <p:cNvPr id="1672225398" name="Image 9"/>
          <p:cNvPicPr>
            <a:picLocks noChangeAspect="1"/>
          </p:cNvPicPr>
          <p:nvPr/>
        </p:nvPicPr>
        <p:blipFill rotWithShape="1">
          <a:blip r:embed="rId4"/>
          <a:srcRect l="37832" t="0" r="1406" b="0"/>
          <a:stretch/>
        </p:blipFill>
        <p:spPr bwMode="auto">
          <a:xfrm>
            <a:off x="1410782" y="2083593"/>
            <a:ext cx="5754640" cy="4653952"/>
          </a:xfrm>
          <a:prstGeom prst="rect">
            <a:avLst/>
          </a:prstGeom>
        </p:spPr>
      </p:pic>
      <p:sp>
        <p:nvSpPr>
          <p:cNvPr id="2107276415" name="Ellipse 10"/>
          <p:cNvSpPr/>
          <p:nvPr/>
        </p:nvSpPr>
        <p:spPr bwMode="auto">
          <a:xfrm>
            <a:off x="6782428" y="2422425"/>
            <a:ext cx="382994" cy="3507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14644907" name="Connecteur droit avec flèche 11"/>
          <p:cNvCxnSpPr/>
          <p:nvPr/>
        </p:nvCxnSpPr>
        <p:spPr bwMode="auto">
          <a:xfrm>
            <a:off x="7215717" y="2677583"/>
            <a:ext cx="1487992" cy="1111198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3236212" name="Titre 1"/>
          <p:cNvSpPr txBox="1"/>
          <p:nvPr/>
        </p:nvSpPr>
        <p:spPr bwMode="auto">
          <a:xfrm>
            <a:off x="362712" y="-63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Start and monitor a server instance</a:t>
            </a:r>
            <a:endParaRPr lang="en-US"/>
          </a:p>
        </p:txBody>
      </p:sp>
      <p:grpSp>
        <p:nvGrpSpPr>
          <p:cNvPr id="1995101118" name="Groupe 27"/>
          <p:cNvGrpSpPr/>
          <p:nvPr/>
        </p:nvGrpSpPr>
        <p:grpSpPr bwMode="auto">
          <a:xfrm flipH="0" flipV="0">
            <a:off x="9838010" y="1711610"/>
            <a:ext cx="809276" cy="3191328"/>
            <a:chOff x="0" y="0"/>
            <a:chExt cx="809276" cy="3191328"/>
          </a:xfrm>
        </p:grpSpPr>
        <p:cxnSp>
          <p:nvCxnSpPr>
            <p:cNvPr id="18" name="Connecteur droit avec flèche 17"/>
            <p:cNvCxnSpPr/>
            <p:nvPr/>
          </p:nvCxnSpPr>
          <p:spPr bwMode="auto">
            <a:xfrm flipH="1">
              <a:off x="20822" y="3191328"/>
              <a:ext cx="788453" cy="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avec flèche 21"/>
            <p:cNvCxnSpPr/>
            <p:nvPr/>
          </p:nvCxnSpPr>
          <p:spPr bwMode="auto">
            <a:xfrm flipH="1">
              <a:off x="0" y="14816"/>
              <a:ext cx="788453" cy="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avec flèche 22"/>
            <p:cNvCxnSpPr/>
            <p:nvPr/>
          </p:nvCxnSpPr>
          <p:spPr bwMode="auto">
            <a:xfrm flipV="1">
              <a:off x="797716" y="0"/>
              <a:ext cx="0" cy="3178629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5293580" name="Image 4"/>
          <p:cNvPicPr>
            <a:picLocks noChangeAspect="1"/>
          </p:cNvPicPr>
          <p:nvPr/>
        </p:nvPicPr>
        <p:blipFill rotWithShape="1">
          <a:blip r:embed="rId3"/>
          <a:srcRect l="44984" t="0" r="0" b="0"/>
          <a:stretch/>
        </p:blipFill>
        <p:spPr bwMode="auto">
          <a:xfrm>
            <a:off x="5755510" y="2194122"/>
            <a:ext cx="4725572" cy="4234301"/>
          </a:xfrm>
          <a:prstGeom prst="rect">
            <a:avLst/>
          </a:prstGeom>
        </p:spPr>
      </p:pic>
      <p:pic>
        <p:nvPicPr>
          <p:cNvPr id="877536827" name="Image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568111" y="2364376"/>
            <a:ext cx="2198323" cy="3893791"/>
          </a:xfrm>
          <a:prstGeom prst="rect">
            <a:avLst/>
          </a:prstGeom>
        </p:spPr>
      </p:pic>
      <p:sp>
        <p:nvSpPr>
          <p:cNvPr id="1701346266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253330"/>
            <a:ext cx="10896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Once the environment is created you can add libraries by clicking </a:t>
            </a:r>
            <a:r>
              <a:rPr lang="en-US" sz="2000" i="1"/>
              <a:t>More…</a:t>
            </a:r>
            <a:endParaRPr/>
          </a:p>
          <a:p>
            <a:pPr>
              <a:defRPr/>
            </a:pPr>
            <a:r>
              <a:rPr lang="en-US" sz="2000"/>
              <a:t>Then search for the libraries you are interested in, click add and your library will be downloaded</a:t>
            </a:r>
            <a:endParaRPr/>
          </a:p>
          <a:p>
            <a:pPr>
              <a:defRPr/>
            </a:pPr>
            <a:endParaRPr lang="en-US" sz="2000"/>
          </a:p>
        </p:txBody>
      </p:sp>
      <p:sp>
        <p:nvSpPr>
          <p:cNvPr id="558453114" name="Ellipse 10"/>
          <p:cNvSpPr/>
          <p:nvPr/>
        </p:nvSpPr>
        <p:spPr bwMode="auto">
          <a:xfrm>
            <a:off x="3667272" y="4873208"/>
            <a:ext cx="871659" cy="3405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79059522" name="Connecteur droit avec flèche 11"/>
          <p:cNvCxnSpPr>
            <a:stCxn id="558453114" idx="7"/>
          </p:cNvCxnSpPr>
          <p:nvPr/>
        </p:nvCxnSpPr>
        <p:spPr bwMode="auto">
          <a:xfrm flipV="1">
            <a:off x="4411279" y="3429000"/>
            <a:ext cx="2085066" cy="149407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452692" name="Titre 1"/>
          <p:cNvSpPr>
            <a:spLocks noGrp="1"/>
          </p:cNvSpPr>
          <p:nvPr>
            <p:ph type="title"/>
          </p:nvPr>
        </p:nvSpPr>
        <p:spPr bwMode="auto">
          <a:xfrm>
            <a:off x="362712" y="-636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Start and monitor a server instance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090179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253330"/>
            <a:ext cx="10896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To activate your environment, select your kernel and you are good to go! </a:t>
            </a:r>
            <a:endParaRPr/>
          </a:p>
        </p:txBody>
      </p:sp>
      <p:pic>
        <p:nvPicPr>
          <p:cNvPr id="1660378616" name="Image 7"/>
          <p:cNvPicPr>
            <a:picLocks noChangeAspect="1"/>
          </p:cNvPicPr>
          <p:nvPr/>
        </p:nvPicPr>
        <p:blipFill rotWithShape="1">
          <a:blip r:embed="rId3"/>
          <a:srcRect l="0" t="0" r="27527" b="0"/>
          <a:stretch/>
        </p:blipFill>
        <p:spPr bwMode="auto">
          <a:xfrm>
            <a:off x="594360" y="1995879"/>
            <a:ext cx="6355080" cy="4311396"/>
          </a:xfrm>
          <a:prstGeom prst="rect">
            <a:avLst/>
          </a:prstGeom>
        </p:spPr>
      </p:pic>
      <p:pic>
        <p:nvPicPr>
          <p:cNvPr id="381026063" name="Image 9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748568" y="2262718"/>
            <a:ext cx="3605232" cy="2831525"/>
          </a:xfrm>
          <a:prstGeom prst="rect">
            <a:avLst/>
          </a:prstGeom>
        </p:spPr>
      </p:pic>
      <p:sp>
        <p:nvSpPr>
          <p:cNvPr id="2129434589" name="Ellipse 10"/>
          <p:cNvSpPr/>
          <p:nvPr/>
        </p:nvSpPr>
        <p:spPr bwMode="auto">
          <a:xfrm>
            <a:off x="5805020" y="2642675"/>
            <a:ext cx="871659" cy="3405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84521575" name="Connecteur droit avec flèche 11"/>
          <p:cNvCxnSpPr/>
          <p:nvPr/>
        </p:nvCxnSpPr>
        <p:spPr bwMode="auto">
          <a:xfrm flipH="0" flipV="0">
            <a:off x="6676678" y="2915816"/>
            <a:ext cx="1754088" cy="117155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295252" name="Connecteur droit 15"/>
          <p:cNvCxnSpPr/>
          <p:nvPr/>
        </p:nvCxnSpPr>
        <p:spPr bwMode="auto">
          <a:xfrm>
            <a:off x="8532781" y="4203964"/>
            <a:ext cx="6421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9397910" name="Titre 1"/>
          <p:cNvSpPr>
            <a:spLocks noGrp="1"/>
          </p:cNvSpPr>
          <p:nvPr>
            <p:ph type="title"/>
          </p:nvPr>
        </p:nvSpPr>
        <p:spPr bwMode="auto">
          <a:xfrm>
            <a:off x="362712" y="-636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Start and monitor a server instance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027200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253330"/>
            <a:ext cx="10896600" cy="85893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To shut down your server instance, click on </a:t>
            </a:r>
            <a:r>
              <a:rPr lang="en-US" sz="2000" i="1"/>
              <a:t>Stop</a:t>
            </a:r>
            <a:r>
              <a:rPr lang="en-US" sz="2000"/>
              <a:t> on the </a:t>
            </a:r>
            <a:r>
              <a:rPr lang="en-US" sz="2000" i="1"/>
              <a:t>Dashboard</a:t>
            </a:r>
            <a:r>
              <a:rPr lang="en-US" sz="2000"/>
              <a:t> tab</a:t>
            </a:r>
            <a:endParaRPr/>
          </a:p>
        </p:txBody>
      </p:sp>
      <p:sp>
        <p:nvSpPr>
          <p:cNvPr id="1673077879" name="Titre 1"/>
          <p:cNvSpPr>
            <a:spLocks noGrp="1"/>
          </p:cNvSpPr>
          <p:nvPr>
            <p:ph type="title"/>
          </p:nvPr>
        </p:nvSpPr>
        <p:spPr bwMode="auto">
          <a:xfrm>
            <a:off x="362712" y="-636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Start and monitor a server instance</a:t>
            </a:r>
            <a:endParaRPr/>
          </a:p>
        </p:txBody>
      </p:sp>
      <p:pic>
        <p:nvPicPr>
          <p:cNvPr id="92060250" name="Image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17320" y="2072114"/>
            <a:ext cx="9347470" cy="4653952"/>
          </a:xfrm>
          <a:prstGeom prst="rect">
            <a:avLst/>
          </a:prstGeom>
        </p:spPr>
      </p:pic>
      <p:sp>
        <p:nvSpPr>
          <p:cNvPr id="644424358" name="Ellipse 7"/>
          <p:cNvSpPr/>
          <p:nvPr/>
        </p:nvSpPr>
        <p:spPr bwMode="auto">
          <a:xfrm>
            <a:off x="9849611" y="4133682"/>
            <a:ext cx="393193" cy="393192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8543829" name="Connecteur droit avec flèche 8"/>
          <p:cNvCxnSpPr/>
          <p:nvPr/>
        </p:nvCxnSpPr>
        <p:spPr bwMode="auto">
          <a:xfrm>
            <a:off x="9241154" y="3400425"/>
            <a:ext cx="649224" cy="72237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5067340" name="Imag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362199" y="2867938"/>
            <a:ext cx="7296149" cy="3624937"/>
          </a:xfrm>
          <a:prstGeom prst="rect">
            <a:avLst/>
          </a:prstGeom>
        </p:spPr>
      </p:pic>
      <p:sp>
        <p:nvSpPr>
          <p:cNvPr id="1721205012" name="ZoneTexte 6"/>
          <p:cNvSpPr txBox="1"/>
          <p:nvPr/>
        </p:nvSpPr>
        <p:spPr bwMode="auto">
          <a:xfrm>
            <a:off x="541347" y="1320412"/>
            <a:ext cx="35925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/>
              <a:t>On the dashboard, you can follow your consumed computation hours for the current month</a:t>
            </a:r>
            <a:endParaRPr/>
          </a:p>
        </p:txBody>
      </p:sp>
      <p:sp>
        <p:nvSpPr>
          <p:cNvPr id="150055426" name="ZoneTexte 7"/>
          <p:cNvSpPr txBox="1"/>
          <p:nvPr/>
        </p:nvSpPr>
        <p:spPr bwMode="auto">
          <a:xfrm>
            <a:off x="8467344" y="1463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5089309" name="ZoneTexte 8"/>
          <p:cNvSpPr txBox="1"/>
          <p:nvPr/>
        </p:nvSpPr>
        <p:spPr bwMode="auto">
          <a:xfrm>
            <a:off x="5183127" y="1327721"/>
            <a:ext cx="2208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/>
              <a:t>See the date, when your 100 hours will be reset</a:t>
            </a:r>
            <a:endParaRPr/>
          </a:p>
        </p:txBody>
      </p:sp>
      <p:sp>
        <p:nvSpPr>
          <p:cNvPr id="1376166947" name="ZoneTexte 9"/>
          <p:cNvSpPr txBox="1"/>
          <p:nvPr/>
        </p:nvSpPr>
        <p:spPr bwMode="auto">
          <a:xfrm>
            <a:off x="356616" y="51206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662152767" name="ZoneTexte 14"/>
          <p:cNvSpPr txBox="1"/>
          <p:nvPr/>
        </p:nvSpPr>
        <p:spPr bwMode="auto">
          <a:xfrm>
            <a:off x="9096890" y="1080071"/>
            <a:ext cx="23997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See your storage and download your files locally.</a:t>
            </a:r>
            <a:endParaRPr/>
          </a:p>
          <a:p>
            <a:pPr>
              <a:defRPr/>
            </a:pPr>
            <a:r>
              <a:rPr lang="en-US"/>
              <a:t>The free subscription has a limit of 15 Gb</a:t>
            </a:r>
            <a:endParaRPr/>
          </a:p>
        </p:txBody>
      </p:sp>
      <p:cxnSp>
        <p:nvCxnSpPr>
          <p:cNvPr id="456025246" name="Connecteur droit avec flèche 19"/>
          <p:cNvCxnSpPr>
            <a:stCxn id="1721205012" idx="2"/>
          </p:cNvCxnSpPr>
          <p:nvPr/>
        </p:nvCxnSpPr>
        <p:spPr bwMode="auto">
          <a:xfrm>
            <a:off x="2337598" y="2243742"/>
            <a:ext cx="3110701" cy="1471008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3501414" name="Connecteur droit avec flèche 21"/>
          <p:cNvCxnSpPr>
            <a:stCxn id="15089309" idx="2"/>
          </p:cNvCxnSpPr>
          <p:nvPr/>
        </p:nvCxnSpPr>
        <p:spPr bwMode="auto">
          <a:xfrm>
            <a:off x="6287454" y="2251051"/>
            <a:ext cx="210123" cy="164467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69028" name="Connecteur droit avec flèche 24"/>
          <p:cNvCxnSpPr>
            <a:stCxn id="1662152767" idx="2"/>
          </p:cNvCxnSpPr>
          <p:nvPr/>
        </p:nvCxnSpPr>
        <p:spPr bwMode="auto">
          <a:xfrm flipH="1">
            <a:off x="8652075" y="2557399"/>
            <a:ext cx="1644708" cy="115735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2266554" name="Titre 1"/>
          <p:cNvSpPr>
            <a:spLocks noGrp="1"/>
          </p:cNvSpPr>
          <p:nvPr>
            <p:ph type="title"/>
          </p:nvPr>
        </p:nvSpPr>
        <p:spPr bwMode="auto">
          <a:xfrm>
            <a:off x="362712" y="-636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Start and monitor a server instance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3891156" name="Titre 1"/>
          <p:cNvSpPr>
            <a:spLocks noGrp="1"/>
          </p:cNvSpPr>
          <p:nvPr>
            <p:ph type="title"/>
          </p:nvPr>
        </p:nvSpPr>
        <p:spPr bwMode="auto">
          <a:xfrm>
            <a:off x="362712" y="-636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Start and monitor a server instance</a:t>
            </a:r>
            <a:endParaRPr/>
          </a:p>
        </p:txBody>
      </p:sp>
      <p:sp>
        <p:nvSpPr>
          <p:cNvPr id="119380832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00100" y="1148556"/>
            <a:ext cx="10896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Alternatively, if you need a more powerful or GPU-enabled instance, you can launch one from the </a:t>
            </a:r>
            <a:r>
              <a:rPr lang="en-US" sz="2000" i="1"/>
              <a:t>On-Demand</a:t>
            </a:r>
            <a:r>
              <a:rPr lang="en-US" sz="2000"/>
              <a:t> tab using credits (separate from your free CPU hours):</a:t>
            </a:r>
            <a:endParaRPr/>
          </a:p>
        </p:txBody>
      </p:sp>
      <p:pic>
        <p:nvPicPr>
          <p:cNvPr id="1991268890" name="Image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376361" y="1998270"/>
            <a:ext cx="9744075" cy="46508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696901" name="Titre 1"/>
          <p:cNvSpPr>
            <a:spLocks noGrp="1"/>
          </p:cNvSpPr>
          <p:nvPr>
            <p:ph type="title"/>
          </p:nvPr>
        </p:nvSpPr>
        <p:spPr bwMode="auto">
          <a:xfrm>
            <a:off x="362712" y="-636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Start and monitor a server instance</a:t>
            </a:r>
            <a:endParaRPr/>
          </a:p>
        </p:txBody>
      </p:sp>
      <p:pic>
        <p:nvPicPr>
          <p:cNvPr id="256132578" name="Image 7"/>
          <p:cNvPicPr>
            <a:picLocks noChangeAspect="1"/>
          </p:cNvPicPr>
          <p:nvPr/>
        </p:nvPicPr>
        <p:blipFill rotWithShape="1">
          <a:blip r:embed="rId3"/>
          <a:srcRect l="0" t="0" r="4867" b="0"/>
          <a:stretch/>
        </p:blipFill>
        <p:spPr bwMode="auto">
          <a:xfrm>
            <a:off x="323850" y="2474119"/>
            <a:ext cx="7885938" cy="3965970"/>
          </a:xfrm>
          <a:prstGeom prst="rect">
            <a:avLst/>
          </a:prstGeom>
        </p:spPr>
      </p:pic>
      <p:pic>
        <p:nvPicPr>
          <p:cNvPr id="837422752" name="Image 9"/>
          <p:cNvPicPr>
            <a:picLocks noChangeAspect="1"/>
          </p:cNvPicPr>
          <p:nvPr/>
        </p:nvPicPr>
        <p:blipFill rotWithShape="1">
          <a:blip r:embed="rId4"/>
          <a:srcRect l="52696" t="0" r="0" b="0"/>
          <a:stretch/>
        </p:blipFill>
        <p:spPr bwMode="auto">
          <a:xfrm>
            <a:off x="8429625" y="2581275"/>
            <a:ext cx="3542538" cy="3588540"/>
          </a:xfrm>
          <a:prstGeom prst="rect">
            <a:avLst/>
          </a:prstGeom>
        </p:spPr>
      </p:pic>
      <p:sp>
        <p:nvSpPr>
          <p:cNvPr id="847152942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00100" y="1148556"/>
            <a:ext cx="10896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You can purchase credits on the </a:t>
            </a:r>
            <a:r>
              <a:rPr lang="en-US" sz="2000" i="1"/>
              <a:t>Account</a:t>
            </a:r>
            <a:r>
              <a:rPr lang="en-US" sz="2000"/>
              <a:t> tab</a:t>
            </a:r>
            <a:endParaRPr/>
          </a:p>
          <a:p>
            <a:pPr>
              <a:defRPr/>
            </a:pPr>
            <a:r>
              <a:rPr lang="en-US" sz="2000"/>
              <a:t>Alternatively, if you are part of an organization, you can request credits from the same tab</a:t>
            </a:r>
            <a:endParaRPr/>
          </a:p>
        </p:txBody>
      </p:sp>
      <p:sp>
        <p:nvSpPr>
          <p:cNvPr id="882461853" name="Ellipse 11"/>
          <p:cNvSpPr/>
          <p:nvPr/>
        </p:nvSpPr>
        <p:spPr bwMode="auto">
          <a:xfrm>
            <a:off x="7487031" y="2516982"/>
            <a:ext cx="723900" cy="300038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8138912" name="Ellipse 13"/>
          <p:cNvSpPr/>
          <p:nvPr/>
        </p:nvSpPr>
        <p:spPr bwMode="auto">
          <a:xfrm>
            <a:off x="10872406" y="2643188"/>
            <a:ext cx="719519" cy="338138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824423" name="Titre 1"/>
          <p:cNvSpPr>
            <a:spLocks noGrp="1"/>
          </p:cNvSpPr>
          <p:nvPr>
            <p:ph type="title"/>
          </p:nvPr>
        </p:nvSpPr>
        <p:spPr bwMode="auto">
          <a:xfrm>
            <a:off x="362712" y="-63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/>
              <a:t>Modify Idle Timeout</a:t>
            </a:r>
            <a:endParaRPr/>
          </a:p>
        </p:txBody>
      </p:sp>
      <p:sp>
        <p:nvSpPr>
          <p:cNvPr id="445269959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993521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2000"/>
              <a:t>By default, after 15 min of inactivity, the server instance is shut down. Idle servers keep burning CPU hours, but a timeout that's too short kills your running code. </a:t>
            </a:r>
            <a:endParaRPr/>
          </a:p>
          <a:p>
            <a:pPr>
              <a:defRPr/>
            </a:pPr>
            <a:r>
              <a:rPr lang="en-GB" sz="2000"/>
              <a:t>To modify this timeout go to Settings on a </a:t>
            </a:r>
            <a:r>
              <a:rPr lang="en-GB" sz="2000" b="1"/>
              <a:t>qBraid</a:t>
            </a:r>
            <a:r>
              <a:rPr lang="en-GB" sz="2000" b="1"/>
              <a:t> lab </a:t>
            </a:r>
            <a:r>
              <a:rPr lang="en-GB" sz="2000"/>
              <a:t>instance (not a VS Code one!):</a:t>
            </a:r>
            <a:endParaRPr/>
          </a:p>
        </p:txBody>
      </p:sp>
      <p:pic>
        <p:nvPicPr>
          <p:cNvPr id="215013089" name="Image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17320" y="2072114"/>
            <a:ext cx="9357360" cy="4653952"/>
          </a:xfrm>
          <a:prstGeom prst="rect">
            <a:avLst/>
          </a:prstGeom>
        </p:spPr>
      </p:pic>
      <p:sp>
        <p:nvSpPr>
          <p:cNvPr id="1714937139" name="Ellipse 7"/>
          <p:cNvSpPr/>
          <p:nvPr/>
        </p:nvSpPr>
        <p:spPr bwMode="auto">
          <a:xfrm>
            <a:off x="3718560" y="4169664"/>
            <a:ext cx="2225040" cy="612648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914428" name="Imag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17320" y="2072114"/>
            <a:ext cx="9347470" cy="4653952"/>
          </a:xfrm>
          <a:prstGeom prst="rect">
            <a:avLst/>
          </a:prstGeom>
        </p:spPr>
      </p:pic>
      <p:sp>
        <p:nvSpPr>
          <p:cNvPr id="1723322169" name="Titre 1"/>
          <p:cNvSpPr>
            <a:spLocks noGrp="1"/>
          </p:cNvSpPr>
          <p:nvPr>
            <p:ph type="title"/>
          </p:nvPr>
        </p:nvSpPr>
        <p:spPr bwMode="auto">
          <a:xfrm>
            <a:off x="362712" y="-63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Modify Idle Timeout</a:t>
            </a:r>
            <a:endParaRPr/>
          </a:p>
        </p:txBody>
      </p:sp>
      <p:sp>
        <p:nvSpPr>
          <p:cNvPr id="1735474555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103249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Click on </a:t>
            </a:r>
            <a:r>
              <a:rPr lang="en-US" sz="2000" i="1"/>
              <a:t>Open Lab</a:t>
            </a:r>
            <a:r>
              <a:rPr lang="en-US" sz="2000"/>
              <a:t>:</a:t>
            </a:r>
            <a:endParaRPr/>
          </a:p>
        </p:txBody>
      </p:sp>
      <p:sp>
        <p:nvSpPr>
          <p:cNvPr id="821486990" name="Ellipse 12"/>
          <p:cNvSpPr/>
          <p:nvPr/>
        </p:nvSpPr>
        <p:spPr bwMode="auto">
          <a:xfrm>
            <a:off x="9582911" y="4133088"/>
            <a:ext cx="393193" cy="393192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79653575" name="Connecteur droit avec flèche 21"/>
          <p:cNvCxnSpPr/>
          <p:nvPr/>
        </p:nvCxnSpPr>
        <p:spPr bwMode="auto">
          <a:xfrm>
            <a:off x="8974454" y="3399831"/>
            <a:ext cx="649224" cy="72237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0794142" name="Image 4"/>
          <p:cNvPicPr>
            <a:picLocks noChangeAspect="1"/>
          </p:cNvPicPr>
          <p:nvPr/>
        </p:nvPicPr>
        <p:blipFill rotWithShape="1">
          <a:blip r:embed="rId3"/>
          <a:srcRect l="0" t="0" r="1144" b="0"/>
          <a:stretch/>
        </p:blipFill>
        <p:spPr bwMode="auto">
          <a:xfrm>
            <a:off x="1427211" y="2072114"/>
            <a:ext cx="9337580" cy="4653952"/>
          </a:xfrm>
          <a:prstGeom prst="rect">
            <a:avLst/>
          </a:prstGeom>
        </p:spPr>
      </p:pic>
      <p:sp>
        <p:nvSpPr>
          <p:cNvPr id="785794348" name="Titre 1"/>
          <p:cNvSpPr>
            <a:spLocks noGrp="1"/>
          </p:cNvSpPr>
          <p:nvPr>
            <p:ph type="title"/>
          </p:nvPr>
        </p:nvSpPr>
        <p:spPr bwMode="auto">
          <a:xfrm>
            <a:off x="362712" y="-63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Modify Idle Timeout</a:t>
            </a:r>
            <a:endParaRPr/>
          </a:p>
        </p:txBody>
      </p:sp>
      <p:sp>
        <p:nvSpPr>
          <p:cNvPr id="1928297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103249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Open the </a:t>
            </a:r>
            <a:r>
              <a:rPr lang="en-US" sz="2000" i="1"/>
              <a:t>Settings</a:t>
            </a:r>
            <a:r>
              <a:rPr lang="en-US" sz="2000"/>
              <a:t> tab (bottom left corner):</a:t>
            </a:r>
            <a:endParaRPr/>
          </a:p>
        </p:txBody>
      </p:sp>
      <p:sp>
        <p:nvSpPr>
          <p:cNvPr id="2118669800" name="Ellipse 10"/>
          <p:cNvSpPr/>
          <p:nvPr/>
        </p:nvSpPr>
        <p:spPr bwMode="auto">
          <a:xfrm>
            <a:off x="1563623" y="6446520"/>
            <a:ext cx="740665" cy="393192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2837116" name="Connecteur droit avec flèche 11"/>
          <p:cNvCxnSpPr/>
          <p:nvPr/>
        </p:nvCxnSpPr>
        <p:spPr bwMode="auto">
          <a:xfrm flipH="1">
            <a:off x="2304288" y="5737413"/>
            <a:ext cx="936878" cy="70582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9428857" name="Image 4"/>
          <p:cNvPicPr>
            <a:picLocks noChangeAspect="1"/>
          </p:cNvPicPr>
          <p:nvPr/>
        </p:nvPicPr>
        <p:blipFill rotWithShape="1">
          <a:blip r:embed="rId3"/>
          <a:srcRect l="0" t="0" r="1406" b="0"/>
          <a:stretch/>
        </p:blipFill>
        <p:spPr bwMode="auto">
          <a:xfrm>
            <a:off x="1427209" y="2072114"/>
            <a:ext cx="9337580" cy="4653952"/>
          </a:xfrm>
          <a:prstGeom prst="rect">
            <a:avLst/>
          </a:prstGeom>
        </p:spPr>
      </p:pic>
      <p:sp>
        <p:nvSpPr>
          <p:cNvPr id="1685748581" name="Titre 1"/>
          <p:cNvSpPr>
            <a:spLocks noGrp="1"/>
          </p:cNvSpPr>
          <p:nvPr>
            <p:ph type="title"/>
          </p:nvPr>
        </p:nvSpPr>
        <p:spPr bwMode="auto">
          <a:xfrm>
            <a:off x="362712" y="-63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Modify Idle Timeout</a:t>
            </a:r>
            <a:endParaRPr/>
          </a:p>
        </p:txBody>
      </p:sp>
      <p:sp>
        <p:nvSpPr>
          <p:cNvPr id="500478971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979996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Choose your timeout between 10 minutes and 2 hours</a:t>
            </a:r>
            <a:endParaRPr/>
          </a:p>
          <a:p>
            <a:pPr>
              <a:defRPr/>
            </a:pPr>
            <a:r>
              <a:rPr lang="en-US" sz="2000"/>
              <a:t>You can also disable it, but I'd recommend keeping the auto shutdown enabled: if you forget a running session, it will burn through your monthly CPU hours.</a:t>
            </a:r>
            <a:endParaRPr/>
          </a:p>
        </p:txBody>
      </p:sp>
      <p:sp>
        <p:nvSpPr>
          <p:cNvPr id="1023649508" name="Ellipse 9"/>
          <p:cNvSpPr/>
          <p:nvPr/>
        </p:nvSpPr>
        <p:spPr bwMode="auto">
          <a:xfrm>
            <a:off x="6967727" y="6165279"/>
            <a:ext cx="1271017" cy="393192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719845121" name="Connecteur droit avec flèche 10"/>
          <p:cNvCxnSpPr/>
          <p:nvPr/>
        </p:nvCxnSpPr>
        <p:spPr bwMode="auto">
          <a:xfrm>
            <a:off x="5620512" y="5385816"/>
            <a:ext cx="1228344" cy="81595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3908681" name="Imag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27208" y="2096759"/>
            <a:ext cx="9337579" cy="4629307"/>
          </a:xfrm>
          <a:prstGeom prst="rect">
            <a:avLst/>
          </a:prstGeom>
        </p:spPr>
      </p:pic>
      <p:sp>
        <p:nvSpPr>
          <p:cNvPr id="398849386" name="Titre 1"/>
          <p:cNvSpPr txBox="1"/>
          <p:nvPr/>
        </p:nvSpPr>
        <p:spPr bwMode="auto">
          <a:xfrm>
            <a:off x="362712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Modify Idle Timeout</a:t>
            </a:r>
            <a:endParaRPr lang="en-US"/>
          </a:p>
        </p:txBody>
      </p:sp>
      <p:sp>
        <p:nvSpPr>
          <p:cNvPr id="877762070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979996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Another important option to keep in mind is the </a:t>
            </a:r>
            <a:r>
              <a:rPr lang="en-US" sz="2000" i="1"/>
              <a:t>Auto-switch to Credits</a:t>
            </a:r>
            <a:endParaRPr/>
          </a:p>
          <a:p>
            <a:pPr>
              <a:defRPr/>
            </a:pPr>
            <a:r>
              <a:rPr lang="en-US" sz="2000"/>
              <a:t>Idle timeout off + auto shutdown off + Auto-switch to Credits on is a dangerous combination: one forgotten server will burn through all your CPU hours AND your credits!</a:t>
            </a:r>
            <a:endParaRPr/>
          </a:p>
        </p:txBody>
      </p:sp>
      <p:sp>
        <p:nvSpPr>
          <p:cNvPr id="28535130" name="Ellipse 12"/>
          <p:cNvSpPr/>
          <p:nvPr/>
        </p:nvSpPr>
        <p:spPr bwMode="auto">
          <a:xfrm>
            <a:off x="9848089" y="4365692"/>
            <a:ext cx="585216" cy="393192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09271521" name="Connecteur droit avec flèche 13"/>
          <p:cNvCxnSpPr/>
          <p:nvPr/>
        </p:nvCxnSpPr>
        <p:spPr bwMode="auto">
          <a:xfrm>
            <a:off x="8619745" y="3571798"/>
            <a:ext cx="1228344" cy="81595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67182270" name="Image 1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427209" y="2072114"/>
            <a:ext cx="9347470" cy="4653952"/>
          </a:xfrm>
          <a:prstGeom prst="rect">
            <a:avLst/>
          </a:prstGeom>
        </p:spPr>
      </p:pic>
      <p:sp>
        <p:nvSpPr>
          <p:cNvPr id="930117916" name="Titre 1"/>
          <p:cNvSpPr>
            <a:spLocks noGrp="1"/>
          </p:cNvSpPr>
          <p:nvPr>
            <p:ph type="title"/>
          </p:nvPr>
        </p:nvSpPr>
        <p:spPr bwMode="auto">
          <a:xfrm>
            <a:off x="362712" y="-63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Modify Idle Timeout</a:t>
            </a:r>
            <a:endParaRPr/>
          </a:p>
        </p:txBody>
      </p:sp>
      <p:sp>
        <p:nvSpPr>
          <p:cNvPr id="655872479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103249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You can access a terminal on your server instance</a:t>
            </a:r>
            <a:endParaRPr/>
          </a:p>
          <a:p>
            <a:pPr>
              <a:defRPr/>
            </a:pPr>
            <a:r>
              <a:rPr lang="en-US" sz="2000"/>
              <a:t>Go to </a:t>
            </a:r>
            <a:r>
              <a:rPr lang="en-US" sz="2000" i="1"/>
              <a:t>Manage Instance</a:t>
            </a:r>
            <a:r>
              <a:rPr lang="en-US" sz="2000"/>
              <a:t>:</a:t>
            </a:r>
            <a:endParaRPr/>
          </a:p>
        </p:txBody>
      </p:sp>
      <p:sp>
        <p:nvSpPr>
          <p:cNvPr id="1551771016" name="Ellipse 17"/>
          <p:cNvSpPr/>
          <p:nvPr/>
        </p:nvSpPr>
        <p:spPr bwMode="auto">
          <a:xfrm>
            <a:off x="9354312" y="4171887"/>
            <a:ext cx="365760" cy="326961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947720005" name="Connecteur droit avec flèche 18"/>
          <p:cNvCxnSpPr/>
          <p:nvPr/>
        </p:nvCxnSpPr>
        <p:spPr bwMode="auto">
          <a:xfrm>
            <a:off x="8125967" y="3355930"/>
            <a:ext cx="1228344" cy="81595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4714413" name="Image 6"/>
          <p:cNvPicPr>
            <a:picLocks noChangeAspect="1"/>
          </p:cNvPicPr>
          <p:nvPr/>
        </p:nvPicPr>
        <p:blipFill rotWithShape="1">
          <a:blip r:embed="rId3"/>
          <a:srcRect l="0" t="0" r="688" b="0"/>
          <a:stretch/>
        </p:blipFill>
        <p:spPr bwMode="auto">
          <a:xfrm>
            <a:off x="1427209" y="2072114"/>
            <a:ext cx="9337580" cy="4653952"/>
          </a:xfrm>
          <a:prstGeom prst="rect">
            <a:avLst/>
          </a:prstGeom>
        </p:spPr>
      </p:pic>
      <p:sp>
        <p:nvSpPr>
          <p:cNvPr id="817164175" name="Titre 1"/>
          <p:cNvSpPr txBox="1"/>
          <p:nvPr/>
        </p:nvSpPr>
        <p:spPr bwMode="auto">
          <a:xfrm>
            <a:off x="362712" y="-6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/>
              <a:t>Modify Idle Timeout</a:t>
            </a:r>
            <a:endParaRPr/>
          </a:p>
        </p:txBody>
      </p:sp>
      <p:sp>
        <p:nvSpPr>
          <p:cNvPr id="165822383" name="Ellipse 9"/>
          <p:cNvSpPr/>
          <p:nvPr/>
        </p:nvSpPr>
        <p:spPr bwMode="auto">
          <a:xfrm>
            <a:off x="6729983" y="3668967"/>
            <a:ext cx="1271017" cy="393192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743929731" name="Connecteur droit avec flèche 10"/>
          <p:cNvCxnSpPr/>
          <p:nvPr/>
        </p:nvCxnSpPr>
        <p:spPr bwMode="auto">
          <a:xfrm flipH="1">
            <a:off x="7961001" y="3031358"/>
            <a:ext cx="947929" cy="63760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39056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103249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And click on </a:t>
            </a:r>
            <a:r>
              <a:rPr lang="en-US" sz="2000" i="1"/>
              <a:t>Terminal</a:t>
            </a:r>
            <a:r>
              <a:rPr lang="en-US" sz="2000"/>
              <a:t>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8878881" name="Image 10"/>
          <p:cNvPicPr>
            <a:picLocks noChangeAspect="1"/>
          </p:cNvPicPr>
          <p:nvPr/>
        </p:nvPicPr>
        <p:blipFill rotWithShape="1">
          <a:blip r:embed="rId3"/>
          <a:srcRect l="0" t="0" r="239" b="0"/>
          <a:stretch/>
        </p:blipFill>
        <p:spPr bwMode="auto">
          <a:xfrm>
            <a:off x="1427210" y="2072114"/>
            <a:ext cx="9337579" cy="4660256"/>
          </a:xfrm>
          <a:prstGeom prst="rect">
            <a:avLst/>
          </a:prstGeom>
        </p:spPr>
      </p:pic>
      <p:sp>
        <p:nvSpPr>
          <p:cNvPr id="762931136" name="Titre 1"/>
          <p:cNvSpPr>
            <a:spLocks noGrp="1"/>
          </p:cNvSpPr>
          <p:nvPr>
            <p:ph type="title"/>
          </p:nvPr>
        </p:nvSpPr>
        <p:spPr bwMode="auto">
          <a:xfrm>
            <a:off x="362712" y="-63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Modify Idle Timeout</a:t>
            </a:r>
            <a:endParaRPr/>
          </a:p>
        </p:txBody>
      </p:sp>
      <p:sp>
        <p:nvSpPr>
          <p:cNvPr id="286624160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020953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All settings are stored in the file </a:t>
            </a:r>
            <a:r>
              <a:rPr lang="en-US" sz="2000" b="1">
                <a:cs typeface="Courier New"/>
              </a:rPr>
              <a:t>~/.</a:t>
            </a:r>
            <a:r>
              <a:rPr lang="en-US" sz="2000" b="1">
                <a:cs typeface="Courier New"/>
              </a:rPr>
              <a:t>qbraid</a:t>
            </a:r>
            <a:r>
              <a:rPr lang="en-US" sz="2000" b="1">
                <a:cs typeface="Courier New"/>
              </a:rPr>
              <a:t>/</a:t>
            </a:r>
            <a:r>
              <a:rPr lang="en-US" sz="2000" b="1">
                <a:cs typeface="Courier New"/>
              </a:rPr>
              <a:t>qbraidrc</a:t>
            </a:r>
            <a:endParaRPr lang="en-US" sz="2000" b="1">
              <a:cs typeface="Courier New"/>
            </a:endParaRPr>
          </a:p>
          <a:p>
            <a:pPr>
              <a:defRPr/>
            </a:pPr>
            <a:r>
              <a:rPr lang="en-US" sz="2000"/>
              <a:t>The command </a:t>
            </a:r>
            <a:r>
              <a:rPr lang="en-US" sz="2000" b="1">
                <a:cs typeface="Courier New"/>
              </a:rPr>
              <a:t>qbraid</a:t>
            </a:r>
            <a:r>
              <a:rPr lang="en-US" sz="2000" b="1">
                <a:cs typeface="Courier New"/>
              </a:rPr>
              <a:t> configure list </a:t>
            </a:r>
            <a:r>
              <a:rPr lang="en-US" sz="2000"/>
              <a:t>should also show your settings (seem not to be conserved between sessions ?)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530480" name="Titre 1"/>
          <p:cNvSpPr>
            <a:spLocks noGrp="1"/>
          </p:cNvSpPr>
          <p:nvPr>
            <p:ph type="title"/>
          </p:nvPr>
        </p:nvSpPr>
        <p:spPr bwMode="auto">
          <a:xfrm>
            <a:off x="838200" y="1270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Run on a quantum device or simulator</a:t>
            </a:r>
            <a:endParaRPr/>
          </a:p>
        </p:txBody>
      </p:sp>
      <p:pic>
        <p:nvPicPr>
          <p:cNvPr id="484003690" name="Imag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28650" y="1739947"/>
            <a:ext cx="5743575" cy="2858134"/>
          </a:xfrm>
          <a:prstGeom prst="rect">
            <a:avLst/>
          </a:prstGeom>
        </p:spPr>
      </p:pic>
      <p:sp>
        <p:nvSpPr>
          <p:cNvPr id="2037717986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253330"/>
            <a:ext cx="10896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Go on Device tab to see every available QPU</a:t>
            </a:r>
            <a:endParaRPr/>
          </a:p>
        </p:txBody>
      </p:sp>
      <p:pic>
        <p:nvPicPr>
          <p:cNvPr id="771337114" name="Image 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124450" y="3506106"/>
            <a:ext cx="6438899" cy="3190538"/>
          </a:xfrm>
          <a:prstGeom prst="rect">
            <a:avLst/>
          </a:prstGeom>
        </p:spPr>
      </p:pic>
      <p:sp>
        <p:nvSpPr>
          <p:cNvPr id="1202092778" name="ZoneTexte 9"/>
          <p:cNvSpPr txBox="1"/>
          <p:nvPr/>
        </p:nvSpPr>
        <p:spPr bwMode="auto">
          <a:xfrm>
            <a:off x="8448674" y="2194254"/>
            <a:ext cx="2305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You can search for the specific QPU you are interested in here</a:t>
            </a:r>
            <a:endParaRPr/>
          </a:p>
        </p:txBody>
      </p:sp>
      <p:cxnSp>
        <p:nvCxnSpPr>
          <p:cNvPr id="398195652" name="Connecteur droit avec flèche 10"/>
          <p:cNvCxnSpPr/>
          <p:nvPr/>
        </p:nvCxnSpPr>
        <p:spPr bwMode="auto">
          <a:xfrm flipH="1" flipV="0">
            <a:off x="7353299" y="2770908"/>
            <a:ext cx="1095374" cy="820128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630745" name="Titre 1"/>
          <p:cNvSpPr>
            <a:spLocks noGrp="1"/>
          </p:cNvSpPr>
          <p:nvPr>
            <p:ph type="title"/>
          </p:nvPr>
        </p:nvSpPr>
        <p:spPr bwMode="auto">
          <a:xfrm>
            <a:off x="838200" y="1270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Run on a quantum device or simulator</a:t>
            </a:r>
            <a:endParaRPr/>
          </a:p>
        </p:txBody>
      </p:sp>
      <p:pic>
        <p:nvPicPr>
          <p:cNvPr id="2115841222" name="Image 1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21543" y="1720322"/>
            <a:ext cx="10348913" cy="4899538"/>
          </a:xfrm>
          <a:prstGeom prst="rect">
            <a:avLst/>
          </a:prstGeom>
        </p:spPr>
      </p:pic>
      <p:sp>
        <p:nvSpPr>
          <p:cNvPr id="434849207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253330"/>
            <a:ext cx="10896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Select a device you want to use, and check its </a:t>
            </a:r>
            <a:r>
              <a:rPr lang="en-US" sz="2000" i="1"/>
              <a:t>Device ID</a:t>
            </a:r>
            <a:r>
              <a:rPr lang="en-US" sz="2000"/>
              <a:t>:</a:t>
            </a:r>
            <a:endParaRPr/>
          </a:p>
        </p:txBody>
      </p:sp>
      <p:cxnSp>
        <p:nvCxnSpPr>
          <p:cNvPr id="149730397" name="Connecteur droit 20"/>
          <p:cNvCxnSpPr/>
          <p:nvPr/>
        </p:nvCxnSpPr>
        <p:spPr bwMode="auto">
          <a:xfrm>
            <a:off x="2895600" y="5438774"/>
            <a:ext cx="233362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256045" name="Titre 1"/>
          <p:cNvSpPr>
            <a:spLocks noGrp="1"/>
          </p:cNvSpPr>
          <p:nvPr>
            <p:ph type="title"/>
          </p:nvPr>
        </p:nvSpPr>
        <p:spPr bwMode="auto">
          <a:xfrm>
            <a:off x="838200" y="1270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Run on a quantum device or simulator</a:t>
            </a:r>
            <a:endParaRPr/>
          </a:p>
        </p:txBody>
      </p:sp>
      <p:sp>
        <p:nvSpPr>
          <p:cNvPr id="1616789086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253330"/>
            <a:ext cx="10896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You also need to create an API key on the </a:t>
            </a:r>
            <a:r>
              <a:rPr lang="en-US" sz="2000" i="1"/>
              <a:t>Account</a:t>
            </a:r>
            <a:r>
              <a:rPr lang="en-US" sz="2000"/>
              <a:t> tab, keep it somewhere safe on your computer.</a:t>
            </a:r>
            <a:endParaRPr/>
          </a:p>
        </p:txBody>
      </p:sp>
      <p:pic>
        <p:nvPicPr>
          <p:cNvPr id="1225518846" name="Image 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19236" y="2046334"/>
            <a:ext cx="9153525" cy="4567117"/>
          </a:xfrm>
          <a:prstGeom prst="rect">
            <a:avLst/>
          </a:prstGeom>
        </p:spPr>
      </p:pic>
      <p:cxnSp>
        <p:nvCxnSpPr>
          <p:cNvPr id="826675740" name="Connecteur droit avec flèche 7"/>
          <p:cNvCxnSpPr/>
          <p:nvPr/>
        </p:nvCxnSpPr>
        <p:spPr bwMode="auto">
          <a:xfrm>
            <a:off x="7610475" y="2133600"/>
            <a:ext cx="1581150" cy="77152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927140" name="Titre 1"/>
          <p:cNvSpPr>
            <a:spLocks noGrp="1"/>
          </p:cNvSpPr>
          <p:nvPr>
            <p:ph type="title"/>
          </p:nvPr>
        </p:nvSpPr>
        <p:spPr bwMode="auto">
          <a:xfrm>
            <a:off x="838200" y="1270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Run on a quantum device or simulator</a:t>
            </a:r>
            <a:endParaRPr/>
          </a:p>
        </p:txBody>
      </p:sp>
      <p:pic>
        <p:nvPicPr>
          <p:cNvPr id="299979770" name="Image 10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96000" y="1171575"/>
            <a:ext cx="4921816" cy="5353050"/>
          </a:xfrm>
          <a:prstGeom prst="rect">
            <a:avLst/>
          </a:prstGeom>
        </p:spPr>
      </p:pic>
      <p:sp>
        <p:nvSpPr>
          <p:cNvPr id="1087099257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253330"/>
            <a:ext cx="10896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To use the device you chose:</a:t>
            </a:r>
            <a:endParaRPr/>
          </a:p>
          <a:p>
            <a:pPr lvl="1">
              <a:defRPr/>
            </a:pPr>
            <a:endParaRPr lang="en-US" sz="1600"/>
          </a:p>
          <a:p>
            <a:pPr lvl="1">
              <a:defRPr/>
            </a:pPr>
            <a:endParaRPr lang="en-US" sz="1600"/>
          </a:p>
          <a:p>
            <a:pPr lvl="1">
              <a:defRPr/>
            </a:pPr>
            <a:r>
              <a:rPr lang="en-US" sz="1600"/>
              <a:t>Install </a:t>
            </a:r>
            <a:r>
              <a:rPr lang="en-US" sz="1600"/>
              <a:t>qBraid</a:t>
            </a:r>
            <a:r>
              <a:rPr lang="en-US" sz="1600"/>
              <a:t> libraries</a:t>
            </a:r>
            <a:endParaRPr/>
          </a:p>
          <a:p>
            <a:pPr lvl="1">
              <a:defRPr/>
            </a:pPr>
            <a:endParaRPr lang="en-US" sz="1600"/>
          </a:p>
          <a:p>
            <a:pPr lvl="1">
              <a:defRPr/>
            </a:pPr>
            <a:r>
              <a:rPr lang="en-US" sz="1600"/>
              <a:t>Enter your API key</a:t>
            </a:r>
            <a:endParaRPr/>
          </a:p>
          <a:p>
            <a:pPr lvl="1">
              <a:defRPr/>
            </a:pPr>
            <a:endParaRPr lang="en-US" sz="1600"/>
          </a:p>
          <a:p>
            <a:pPr lvl="1">
              <a:defRPr/>
            </a:pPr>
            <a:r>
              <a:rPr lang="en-US" sz="1600"/>
              <a:t>Select your device using Device ID</a:t>
            </a:r>
            <a:endParaRPr/>
          </a:p>
          <a:p>
            <a:pPr lvl="1">
              <a:defRPr/>
            </a:pPr>
            <a:endParaRPr lang="en-US" sz="1600"/>
          </a:p>
          <a:p>
            <a:pPr lvl="1">
              <a:defRPr/>
            </a:pPr>
            <a:r>
              <a:rPr lang="en-US" sz="1600"/>
              <a:t>Create your </a:t>
            </a:r>
            <a:r>
              <a:rPr lang="en-US" sz="1600"/>
              <a:t>qiskit</a:t>
            </a:r>
            <a:r>
              <a:rPr lang="en-US" sz="1600"/>
              <a:t> circuit</a:t>
            </a:r>
            <a:endParaRPr/>
          </a:p>
          <a:p>
            <a:pPr lvl="1">
              <a:defRPr/>
            </a:pPr>
            <a:endParaRPr lang="en-US" sz="1600"/>
          </a:p>
          <a:p>
            <a:pPr lvl="1">
              <a:defRPr/>
            </a:pPr>
            <a:r>
              <a:rPr lang="en-US" sz="1600"/>
              <a:t>Run your job !</a:t>
            </a:r>
            <a:endParaRPr/>
          </a:p>
        </p:txBody>
      </p:sp>
      <p:cxnSp>
        <p:nvCxnSpPr>
          <p:cNvPr id="1306911388" name="Connecteur droit avec flèche 14"/>
          <p:cNvCxnSpPr/>
          <p:nvPr/>
        </p:nvCxnSpPr>
        <p:spPr bwMode="auto">
          <a:xfrm flipV="1">
            <a:off x="3648074" y="1730773"/>
            <a:ext cx="2638425" cy="56951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034849" name="Connecteur droit avec flèche 15"/>
          <p:cNvCxnSpPr/>
          <p:nvPr/>
        </p:nvCxnSpPr>
        <p:spPr bwMode="auto">
          <a:xfrm flipV="1">
            <a:off x="3340241" y="2578894"/>
            <a:ext cx="3140217" cy="30162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450909" name="Connecteur droit avec flèche 16"/>
          <p:cNvCxnSpPr/>
          <p:nvPr/>
        </p:nvCxnSpPr>
        <p:spPr bwMode="auto">
          <a:xfrm flipV="1">
            <a:off x="4695825" y="2720182"/>
            <a:ext cx="1784633" cy="69651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6087031" name="Connecteur droit avec flèche 17"/>
          <p:cNvCxnSpPr/>
          <p:nvPr/>
        </p:nvCxnSpPr>
        <p:spPr bwMode="auto">
          <a:xfrm>
            <a:off x="3848100" y="4021535"/>
            <a:ext cx="2590800" cy="978297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6693531" name="Connecteur droit avec flèche 18"/>
          <p:cNvCxnSpPr/>
          <p:nvPr/>
        </p:nvCxnSpPr>
        <p:spPr bwMode="auto">
          <a:xfrm>
            <a:off x="2905125" y="4557713"/>
            <a:ext cx="3609975" cy="136207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099185" name="Titre 1"/>
          <p:cNvSpPr>
            <a:spLocks noGrp="1"/>
          </p:cNvSpPr>
          <p:nvPr>
            <p:ph type="title"/>
          </p:nvPr>
        </p:nvSpPr>
        <p:spPr bwMode="auto">
          <a:xfrm>
            <a:off x="838200" y="1270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Run on a quantum device or simulator</a:t>
            </a:r>
            <a:endParaRPr/>
          </a:p>
        </p:txBody>
      </p:sp>
      <p:pic>
        <p:nvPicPr>
          <p:cNvPr id="93089183" name="Image 2"/>
          <p:cNvPicPr>
            <a:picLocks noChangeAspect="1"/>
          </p:cNvPicPr>
          <p:nvPr/>
        </p:nvPicPr>
        <p:blipFill rotWithShape="1">
          <a:blip r:embed="rId3"/>
          <a:srcRect l="0" t="5040" r="22656" b="0"/>
          <a:stretch/>
        </p:blipFill>
        <p:spPr bwMode="auto">
          <a:xfrm>
            <a:off x="3127415" y="1141877"/>
            <a:ext cx="8715375" cy="5447929"/>
          </a:xfrm>
          <a:prstGeom prst="rect">
            <a:avLst/>
          </a:prstGeom>
        </p:spPr>
      </p:pic>
      <p:sp>
        <p:nvSpPr>
          <p:cNvPr id="61473868" name="ZoneTexte 4"/>
          <p:cNvSpPr txBox="1"/>
          <p:nvPr/>
        </p:nvSpPr>
        <p:spPr bwMode="auto">
          <a:xfrm>
            <a:off x="384094" y="1623114"/>
            <a:ext cx="21907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You can access information about your job status</a:t>
            </a:r>
            <a:endParaRPr/>
          </a:p>
        </p:txBody>
      </p:sp>
      <p:sp>
        <p:nvSpPr>
          <p:cNvPr id="228339545" name="ZoneTexte 6"/>
          <p:cNvSpPr txBox="1"/>
          <p:nvPr/>
        </p:nvSpPr>
        <p:spPr bwMode="auto">
          <a:xfrm>
            <a:off x="384094" y="5343526"/>
            <a:ext cx="2190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And finally recover your job results </a:t>
            </a:r>
            <a:endParaRPr/>
          </a:p>
        </p:txBody>
      </p:sp>
      <p:cxnSp>
        <p:nvCxnSpPr>
          <p:cNvPr id="828281330" name="Connecteur droit avec flèche 7"/>
          <p:cNvCxnSpPr/>
          <p:nvPr/>
        </p:nvCxnSpPr>
        <p:spPr bwMode="auto">
          <a:xfrm flipV="1">
            <a:off x="2343150" y="5429250"/>
            <a:ext cx="1095375" cy="28687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474199" name="Connecteur droit avec flèche 10"/>
          <p:cNvCxnSpPr/>
          <p:nvPr/>
        </p:nvCxnSpPr>
        <p:spPr bwMode="auto">
          <a:xfrm flipV="1">
            <a:off x="2343150" y="1514474"/>
            <a:ext cx="1190625" cy="57030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3147489" name="Connecteur droit avec flèche 14"/>
          <p:cNvCxnSpPr/>
          <p:nvPr/>
        </p:nvCxnSpPr>
        <p:spPr bwMode="auto">
          <a:xfrm>
            <a:off x="2343150" y="2084779"/>
            <a:ext cx="1190625" cy="1086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739514" name="Titre 1"/>
          <p:cNvSpPr>
            <a:spLocks noGrp="1"/>
          </p:cNvSpPr>
          <p:nvPr>
            <p:ph type="title"/>
          </p:nvPr>
        </p:nvSpPr>
        <p:spPr bwMode="auto">
          <a:xfrm>
            <a:off x="838200" y="12700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Run on a quantum device or simulator</a:t>
            </a:r>
            <a:endParaRPr/>
          </a:p>
        </p:txBody>
      </p:sp>
      <p:pic>
        <p:nvPicPr>
          <p:cNvPr id="2066466033" name="Image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31173" y="2164087"/>
            <a:ext cx="9129653" cy="4351338"/>
          </a:xfrm>
          <a:prstGeom prst="rect">
            <a:avLst/>
          </a:prstGeom>
        </p:spPr>
      </p:pic>
      <p:sp>
        <p:nvSpPr>
          <p:cNvPr id="339160601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253330"/>
            <a:ext cx="10896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As for the classical server instances, you can access information about your previous quantum jobs on the </a:t>
            </a:r>
            <a:r>
              <a:rPr lang="en-US" sz="2000" i="1"/>
              <a:t>Jobs</a:t>
            </a:r>
            <a:r>
              <a:rPr lang="en-US" sz="2000"/>
              <a:t> tab: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9239579" name="Titre 1"/>
          <p:cNvSpPr>
            <a:spLocks noGrp="1"/>
          </p:cNvSpPr>
          <p:nvPr>
            <p:ph type="title"/>
          </p:nvPr>
        </p:nvSpPr>
        <p:spPr bwMode="auto">
          <a:xfrm>
            <a:off x="362712" y="-13493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Integrated AI agent</a:t>
            </a:r>
            <a:endParaRPr/>
          </a:p>
        </p:txBody>
      </p:sp>
      <p:sp>
        <p:nvSpPr>
          <p:cNvPr id="581691002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168400"/>
            <a:ext cx="10515600" cy="435133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/>
              <a:t>If you have specific question about </a:t>
            </a:r>
            <a:r>
              <a:rPr lang="en-US" sz="2000"/>
              <a:t>qBraid</a:t>
            </a:r>
            <a:r>
              <a:rPr lang="en-US" sz="2000"/>
              <a:t>, go ask the integrated AI agent</a:t>
            </a:r>
            <a:endParaRPr/>
          </a:p>
          <a:p>
            <a:pPr>
              <a:defRPr/>
            </a:pPr>
            <a:r>
              <a:rPr lang="en-US" sz="2000"/>
              <a:t>This agent has access to your current server instances and your account, so he can answer precisely about your situation</a:t>
            </a:r>
            <a:endParaRPr/>
          </a:p>
        </p:txBody>
      </p:sp>
      <p:pic>
        <p:nvPicPr>
          <p:cNvPr id="1426724690" name="Image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52450" y="2416969"/>
            <a:ext cx="1615575" cy="4019550"/>
          </a:xfrm>
          <a:prstGeom prst="rect">
            <a:avLst/>
          </a:prstGeom>
        </p:spPr>
      </p:pic>
      <p:pic>
        <p:nvPicPr>
          <p:cNvPr id="1972817191" name="Image 6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592215" y="2328751"/>
            <a:ext cx="6878371" cy="4195985"/>
          </a:xfrm>
          <a:prstGeom prst="rect">
            <a:avLst/>
          </a:prstGeom>
        </p:spPr>
      </p:pic>
      <p:sp>
        <p:nvSpPr>
          <p:cNvPr id="1173621767" name="Ellipse 8"/>
          <p:cNvSpPr/>
          <p:nvPr/>
        </p:nvSpPr>
        <p:spPr bwMode="auto">
          <a:xfrm>
            <a:off x="561975" y="4633400"/>
            <a:ext cx="571500" cy="3405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50517570" name="Connecteur droit avec flèche 9"/>
          <p:cNvCxnSpPr/>
          <p:nvPr/>
        </p:nvCxnSpPr>
        <p:spPr bwMode="auto">
          <a:xfrm flipV="1">
            <a:off x="1262390" y="4543425"/>
            <a:ext cx="2433310" cy="260235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0590200" name="ZoneTexte 13"/>
          <p:cNvSpPr txBox="1"/>
          <p:nvPr/>
        </p:nvSpPr>
        <p:spPr bwMode="auto">
          <a:xfrm>
            <a:off x="9942161" y="5304406"/>
            <a:ext cx="19919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/>
              <a:t>You can choose your favorite chatbot here</a:t>
            </a:r>
            <a:endParaRPr/>
          </a:p>
        </p:txBody>
      </p:sp>
      <p:cxnSp>
        <p:nvCxnSpPr>
          <p:cNvPr id="260193499" name="Connecteur droit avec flèche 14"/>
          <p:cNvCxnSpPr/>
          <p:nvPr/>
        </p:nvCxnSpPr>
        <p:spPr bwMode="auto">
          <a:xfrm flipH="1" flipV="1">
            <a:off x="8162925" y="4200525"/>
            <a:ext cx="1783149" cy="110388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6761989" name="ZoneTexte 17"/>
          <p:cNvSpPr txBox="1"/>
          <p:nvPr/>
        </p:nvSpPr>
        <p:spPr bwMode="auto">
          <a:xfrm>
            <a:off x="10000869" y="2910297"/>
            <a:ext cx="18284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Be careful you have a limited AI quota per month (you can exceed it using credits)</a:t>
            </a:r>
            <a:endParaRPr/>
          </a:p>
        </p:txBody>
      </p:sp>
      <p:cxnSp>
        <p:nvCxnSpPr>
          <p:cNvPr id="579590080" name="Connecteur droit avec flèche 19"/>
          <p:cNvCxnSpPr/>
          <p:nvPr/>
        </p:nvCxnSpPr>
        <p:spPr bwMode="auto">
          <a:xfrm flipH="1" flipV="1">
            <a:off x="4248251" y="2910297"/>
            <a:ext cx="5646525" cy="34725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customXml/_rels/item1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1.xml"/></Relationships>
</file>

<file path=customXml/_rels/item2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2.xml"/></Relationships>
</file>

<file path=customXml/_rels/item3.xml.rels><?xml version="1.0" encoding="UTF-8" standalone="yes"?><Relationships xmlns="http://schemas.openxmlformats.org/package/2006/relationships"><Relationship 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FC9293E2258340808EBD7327C5169E" ma:contentTypeVersion="4" ma:contentTypeDescription="Crée un document." ma:contentTypeScope="" ma:versionID="c0ca5e077f9928c2c327fc0db7b6b432">
  <xsd:schema xmlns:xsd="http://www.w3.org/2001/XMLSchema" xmlns:xs="http://www.w3.org/2001/XMLSchema" xmlns:p="http://schemas.microsoft.com/office/2006/metadata/properties" xmlns:ns3="1d83acb4-a00b-432d-bb8c-827c00c7af2d" targetNamespace="http://schemas.microsoft.com/office/2006/metadata/properties" ma:root="true" ma:fieldsID="b718cabb960554a7ca8efe3fa7603f18" ns3:_="">
    <xsd:import namespace="1d83acb4-a00b-432d-bb8c-827c00c7af2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83acb4-a00b-432d-bb8c-827c00c7af2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This value indicates the number of saves or revisions. The application is responsible for updating this value after each revision.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60B2EF71-D3FF-4C2F-91AE-8D19A274536A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83acb4-a00b-432d-bb8c-827c00c7af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540AF310-2E1E-45F3-B322-555CEFAF7FBE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DFBD9602-4F5F-478D-9A05-2D6F3C758985">
  <ds:schemaRefs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1d83acb4-a00b-432d-bb8c-827c00c7af2d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qBraid - quick tuto</Template>
  <TotalTime>0</TotalTime>
  <Words>0</Words>
  <Application>onlyoffice/9.3.1.10</Application>
  <PresentationFormat>On-screen Show (4:3)</PresentationFormat>
  <Paragraphs>0</Paragraphs>
  <Slides>27</Slides>
  <Notes>27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Nicolas LOGEAN</dc:creator>
  <cp:lastModifiedBy>Romain Nicolas Logean</cp:lastModifiedBy>
  <cp:revision>3</cp:revision>
  <dcterms:created xsi:type="dcterms:W3CDTF">2026-09-10T10:12:04Z</dcterms:created>
  <dcterms:modified xsi:type="dcterms:W3CDTF">2026-09-10T12:27:45Z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0x01010059FC9293E2258340808EBD7327C5169E</vt:lpwstr>
  </property>
</Properties>
</file>