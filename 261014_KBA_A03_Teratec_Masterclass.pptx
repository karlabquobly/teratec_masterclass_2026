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media/image20.jpg" ContentType="image/jpg"/>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media/image22.jpg" ContentType="image/jpg"/>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charts/chart1.xml" ContentType="application/vnd.openxmlformats-officedocument.drawingml.chart+xml"/>
  <Override PartName="/ppt/charts/chart2.xml" ContentType="application/vnd.openxmlformats-officedocument.drawingml.chart+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50"/>
  </p:notesMasterIdLst>
  <p:sldIdLst>
    <p:sldId id="262" r:id="rId5"/>
    <p:sldId id="279" r:id="rId6"/>
    <p:sldId id="276" r:id="rId7"/>
    <p:sldId id="275" r:id="rId8"/>
    <p:sldId id="272" r:id="rId9"/>
    <p:sldId id="274" r:id="rId10"/>
    <p:sldId id="273" r:id="rId11"/>
    <p:sldId id="257" r:id="rId12"/>
    <p:sldId id="256" r:id="rId13"/>
    <p:sldId id="268" r:id="rId14"/>
    <p:sldId id="270" r:id="rId15"/>
    <p:sldId id="258" r:id="rId16"/>
    <p:sldId id="259" r:id="rId17"/>
    <p:sldId id="269" r:id="rId18"/>
    <p:sldId id="265" r:id="rId19"/>
    <p:sldId id="260" r:id="rId20"/>
    <p:sldId id="261" r:id="rId21"/>
    <p:sldId id="266" r:id="rId22"/>
    <p:sldId id="267" r:id="rId23"/>
    <p:sldId id="263" r:id="rId24"/>
    <p:sldId id="264" r:id="rId25"/>
    <p:sldId id="271" r:id="rId26"/>
    <p:sldId id="306" r:id="rId27"/>
    <p:sldId id="293" r:id="rId28"/>
    <p:sldId id="294" r:id="rId29"/>
    <p:sldId id="295" r:id="rId30"/>
    <p:sldId id="296" r:id="rId31"/>
    <p:sldId id="280" r:id="rId32"/>
    <p:sldId id="281" r:id="rId33"/>
    <p:sldId id="282" r:id="rId34"/>
    <p:sldId id="283" r:id="rId35"/>
    <p:sldId id="284" r:id="rId36"/>
    <p:sldId id="285" r:id="rId37"/>
    <p:sldId id="286" r:id="rId38"/>
    <p:sldId id="287" r:id="rId39"/>
    <p:sldId id="288" r:id="rId40"/>
    <p:sldId id="289" r:id="rId41"/>
    <p:sldId id="297" r:id="rId42"/>
    <p:sldId id="298" r:id="rId43"/>
    <p:sldId id="290" r:id="rId44"/>
    <p:sldId id="291" r:id="rId45"/>
    <p:sldId id="292" r:id="rId46"/>
    <p:sldId id="277" r:id="rId47"/>
    <p:sldId id="305" r:id="rId48"/>
    <p:sldId id="278" r:id="rId49"/>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Title and Outline" id="{BE141024-8209-4379-97C7-C635BEA90194}">
          <p14:sldIdLst>
            <p14:sldId id="262"/>
            <p14:sldId id="279"/>
            <p14:sldId id="276"/>
            <p14:sldId id="275"/>
          </p14:sldIdLst>
        </p14:section>
        <p14:section name="Context and Overview" id="{07168625-4E16-1625-B8C2-81D995AA1CE5}">
          <p14:sldIdLst>
            <p14:sldId id="272"/>
            <p14:sldId id="274"/>
            <p14:sldId id="273"/>
            <p14:sldId id="257"/>
            <p14:sldId id="256"/>
            <p14:sldId id="268"/>
          </p14:sldIdLst>
        </p14:section>
        <p14:section name="Algorithmic Foundation" id="{C279DF58-29DF-D7C2-9F9E-ACCE4FA3248F}">
          <p14:sldIdLst>
            <p14:sldId id="270"/>
            <p14:sldId id="258"/>
            <p14:sldId id="259"/>
            <p14:sldId id="269"/>
            <p14:sldId id="265"/>
            <p14:sldId id="260"/>
            <p14:sldId id="261"/>
            <p14:sldId id="266"/>
            <p14:sldId id="267"/>
            <p14:sldId id="263"/>
            <p14:sldId id="264"/>
          </p14:sldIdLst>
        </p14:section>
        <p14:section name="Application and Tutorial" id="{3281BD64-EEB3-4312-AF43-7F2104BC25E8}">
          <p14:sldIdLst>
            <p14:sldId id="271"/>
            <p14:sldId id="306"/>
            <p14:sldId id="293"/>
            <p14:sldId id="294"/>
            <p14:sldId id="295"/>
            <p14:sldId id="296"/>
            <p14:sldId id="280"/>
            <p14:sldId id="281"/>
            <p14:sldId id="282"/>
            <p14:sldId id="283"/>
            <p14:sldId id="284"/>
            <p14:sldId id="285"/>
            <p14:sldId id="286"/>
            <p14:sldId id="287"/>
            <p14:sldId id="288"/>
            <p14:sldId id="289"/>
            <p14:sldId id="297"/>
            <p14:sldId id="298"/>
            <p14:sldId id="290"/>
            <p14:sldId id="291"/>
            <p14:sldId id="292"/>
          </p14:sldIdLst>
        </p14:section>
        <p14:section name="Conlcusions" id="{D7CC3E77-1590-4611-A6CE-25CC777A55AD}">
          <p14:sldIdLst>
            <p14:sldId id="277"/>
            <p14:sldId id="305"/>
            <p14:sldId id="278"/>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8075D"/>
    <a:srgbClr val="353E77"/>
    <a:srgbClr val="45577F"/>
    <a:srgbClr val="E9ECF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2017" autoAdjust="0"/>
    <p:restoredTop sz="94610"/>
  </p:normalViewPr>
  <p:slideViewPr>
    <p:cSldViewPr snapToGrid="0" snapToObjects="1">
      <p:cViewPr varScale="1">
        <p:scale>
          <a:sx n="61" d="100"/>
          <a:sy n="61" d="100"/>
        </p:scale>
        <p:origin x="72" y="34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slide" Target="slides/slide43.xml"/><Relationship Id="rId50" Type="http://schemas.openxmlformats.org/officeDocument/2006/relationships/notesMaster" Target="notesMasters/notesMaster1.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theme" Target="theme/theme1.xml"/><Relationship Id="rId5" Type="http://schemas.openxmlformats.org/officeDocument/2006/relationships/slide" Target="slides/slide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8" Type="http://schemas.openxmlformats.org/officeDocument/2006/relationships/slide" Target="slides/slide4.xml"/><Relationship Id="rId51" Type="http://schemas.openxmlformats.org/officeDocument/2006/relationships/presProps" Target="presProps.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fr-FR"/>
  <c:roundedCorners val="1"/>
  <c:style val="2"/>
  <c:chart>
    <c:title>
      <c:tx>
        <c:rich>
          <a:bodyPr/>
          <a:lstStyle/>
          <a:p>
            <a:pPr>
              <a:defRPr sz="1200" b="0" i="0" u="none" strike="noStrike">
                <a:solidFill>
                  <a:srgbClr val="E9ECF3"/>
                </a:solidFill>
                <a:latin typeface="+mn-lt"/>
              </a:defRPr>
            </a:pPr>
            <a:r>
              <a:rPr lang="en-US" sz="1200" b="0" i="0" u="none" strike="noStrike">
                <a:solidFill>
                  <a:srgbClr val="E9ECF3"/>
                </a:solidFill>
                <a:latin typeface="+mn-lt"/>
              </a:rPr>
              <a:t>Two-qubit gates (same coupling, same Trotter steps)</a:t>
            </a:r>
          </a:p>
        </c:rich>
      </c:tx>
      <c:overlay val="0"/>
    </c:title>
    <c:autoTitleDeleted val="0"/>
    <c:plotArea>
      <c:layout/>
      <c:barChart>
        <c:barDir val="col"/>
        <c:grouping val="clustered"/>
        <c:varyColors val="0"/>
        <c:ser>
          <c:idx val="0"/>
          <c:order val="0"/>
          <c:tx>
            <c:strRef>
              <c:f>Sheet1!$B$1</c:f>
              <c:strCache>
                <c:ptCount val="1"/>
                <c:pt idx="0">
                  <c:v>binary</c:v>
                </c:pt>
              </c:strCache>
            </c:strRef>
          </c:tx>
          <c:spPr>
            <a:solidFill>
              <a:srgbClr val="3B5287"/>
            </a:solidFill>
            <a:effectLst/>
          </c:spPr>
          <c:invertIfNegative val="0"/>
          <c:dLbls>
            <c:numFmt formatCode="#,##0" sourceLinked="0"/>
            <c:spPr>
              <a:noFill/>
              <a:ln>
                <a:noFill/>
              </a:ln>
              <a:effectLst/>
            </c:spPr>
            <c:txPr>
              <a:bodyPr/>
              <a:lstStyle/>
              <a:p>
                <a:pPr>
                  <a:defRPr sz="1000" b="0" i="0" u="none" strike="noStrike">
                    <a:solidFill>
                      <a:srgbClr val="E9ECF3"/>
                    </a:solidFill>
                    <a:latin typeface="+mn-lt"/>
                  </a:defRPr>
                </a:pPr>
                <a:endParaRPr lang="fr-FR"/>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D=2</c:v>
                </c:pt>
                <c:pt idx="1">
                  <c:v>D=4</c:v>
                </c:pt>
                <c:pt idx="2">
                  <c:v>D=8</c:v>
                </c:pt>
                <c:pt idx="3">
                  <c:v>D=16</c:v>
                </c:pt>
              </c:strCache>
            </c:strRef>
          </c:cat>
          <c:val>
            <c:numRef>
              <c:f>Sheet1!$B$2:$B$5</c:f>
              <c:numCache>
                <c:formatCode>General</c:formatCode>
                <c:ptCount val="4"/>
                <c:pt idx="0">
                  <c:v>0</c:v>
                </c:pt>
                <c:pt idx="1">
                  <c:v>6</c:v>
                </c:pt>
                <c:pt idx="2">
                  <c:v>172</c:v>
                </c:pt>
                <c:pt idx="3">
                  <c:v>848</c:v>
                </c:pt>
              </c:numCache>
            </c:numRef>
          </c:val>
          <c:extLst>
            <c:ext xmlns:c16="http://schemas.microsoft.com/office/drawing/2014/chart" uri="{C3380CC4-5D6E-409C-BE32-E72D297353CC}">
              <c16:uniqueId val="{00000000-3CD2-4DE2-ADCB-51355B4DC109}"/>
            </c:ext>
          </c:extLst>
        </c:ser>
        <c:ser>
          <c:idx val="1"/>
          <c:order val="1"/>
          <c:tx>
            <c:strRef>
              <c:f>Sheet1!$C$1</c:f>
              <c:strCache>
                <c:ptCount val="1"/>
                <c:pt idx="0">
                  <c:v>unary</c:v>
                </c:pt>
              </c:strCache>
            </c:strRef>
          </c:tx>
          <c:spPr>
            <a:solidFill>
              <a:srgbClr val="E9ECF3"/>
            </a:solidFill>
            <a:effectLst/>
          </c:spPr>
          <c:invertIfNegative val="0"/>
          <c:dLbls>
            <c:numFmt formatCode="#,##0" sourceLinked="0"/>
            <c:spPr>
              <a:noFill/>
              <a:ln>
                <a:noFill/>
              </a:ln>
              <a:effectLst/>
            </c:spPr>
            <c:txPr>
              <a:bodyPr/>
              <a:lstStyle/>
              <a:p>
                <a:pPr>
                  <a:defRPr sz="1000" b="0" i="0" u="none" strike="noStrike">
                    <a:solidFill>
                      <a:srgbClr val="E9ECF3"/>
                    </a:solidFill>
                    <a:latin typeface="+mn-lt"/>
                  </a:defRPr>
                </a:pPr>
                <a:endParaRPr lang="fr-FR"/>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D=2</c:v>
                </c:pt>
                <c:pt idx="1">
                  <c:v>D=4</c:v>
                </c:pt>
                <c:pt idx="2">
                  <c:v>D=8</c:v>
                </c:pt>
                <c:pt idx="3">
                  <c:v>D=16</c:v>
                </c:pt>
              </c:strCache>
            </c:strRef>
          </c:cat>
          <c:val>
            <c:numRef>
              <c:f>Sheet1!$C$2:$C$5</c:f>
              <c:numCache>
                <c:formatCode>General</c:formatCode>
                <c:ptCount val="4"/>
                <c:pt idx="0">
                  <c:v>0</c:v>
                </c:pt>
                <c:pt idx="1">
                  <c:v>32</c:v>
                </c:pt>
                <c:pt idx="2">
                  <c:v>96</c:v>
                </c:pt>
                <c:pt idx="3">
                  <c:v>224</c:v>
                </c:pt>
              </c:numCache>
            </c:numRef>
          </c:val>
          <c:extLst>
            <c:ext xmlns:c16="http://schemas.microsoft.com/office/drawing/2014/chart" uri="{C3380CC4-5D6E-409C-BE32-E72D297353CC}">
              <c16:uniqueId val="{00000001-3CD2-4DE2-ADCB-51355B4DC109}"/>
            </c:ext>
          </c:extLst>
        </c:ser>
        <c:dLbls>
          <c:showLegendKey val="0"/>
          <c:showVal val="1"/>
          <c:showCatName val="0"/>
          <c:showSerName val="0"/>
          <c:showPercent val="0"/>
          <c:showBubbleSize val="0"/>
        </c:dLbls>
        <c:gapWidth val="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3C3F4C"/>
            </a:solidFill>
            <a:prstDash val="solid"/>
            <a:round/>
          </a:ln>
        </c:spPr>
        <c:txPr>
          <a:bodyPr/>
          <a:lstStyle/>
          <a:p>
            <a:pPr>
              <a:defRPr sz="1100" b="0" i="0" u="none" strike="noStrike">
                <a:solidFill>
                  <a:srgbClr val="9AA3BD"/>
                </a:solidFill>
                <a:latin typeface="+mn-lt"/>
              </a:defRPr>
            </a:pPr>
            <a:endParaRPr lang="en-US"/>
          </a:p>
        </c:txPr>
        <c:crossAx val="2094734552"/>
        <c:crosses val="autoZero"/>
        <c:auto val="1"/>
        <c:lblAlgn val="ctr"/>
        <c:lblOffset val="100"/>
        <c:noMultiLvlLbl val="1"/>
      </c:catAx>
      <c:valAx>
        <c:axId val="2094734552"/>
        <c:scaling>
          <c:orientation val="minMax"/>
          <c:max val="1000"/>
          <c:min val="0"/>
        </c:scaling>
        <c:delete val="0"/>
        <c:axPos val="l"/>
        <c:majorGridlines>
          <c:spPr>
            <a:ln w="9525" cap="flat">
              <a:solidFill>
                <a:srgbClr val="2A3354"/>
              </a:solidFill>
              <a:prstDash val="solid"/>
              <a:round/>
            </a:ln>
          </c:spPr>
        </c:majorGridlines>
        <c:numFmt formatCode="General" sourceLinked="0"/>
        <c:majorTickMark val="out"/>
        <c:minorTickMark val="none"/>
        <c:tickLblPos val="nextTo"/>
        <c:spPr>
          <a:ln w="12700" cap="flat">
            <a:noFill/>
            <a:prstDash val="solid"/>
            <a:round/>
          </a:ln>
        </c:spPr>
        <c:txPr>
          <a:bodyPr/>
          <a:lstStyle/>
          <a:p>
            <a:pPr>
              <a:defRPr sz="1000" b="0" i="0" u="none" strike="noStrike">
                <a:solidFill>
                  <a:srgbClr val="9AA3BD"/>
                </a:solidFill>
                <a:latin typeface="+mn-lt"/>
              </a:defRPr>
            </a:pPr>
            <a:endParaRPr lang="en-US"/>
          </a:p>
        </c:txPr>
        <c:crossAx val="2094734554"/>
        <c:crosses val="autoZero"/>
        <c:crossBetween val="between"/>
        <c:majorUnit val="200"/>
      </c:valAx>
      <c:spPr>
        <a:noFill/>
        <a:ln>
          <a:noFill/>
        </a:ln>
        <a:effectLst/>
      </c:spPr>
    </c:plotArea>
    <c:legend>
      <c:legendPos val="b"/>
      <c:overlay val="0"/>
      <c:txPr>
        <a:bodyPr/>
        <a:lstStyle/>
        <a:p>
          <a:pPr>
            <a:defRPr sz="1000">
              <a:solidFill>
                <a:srgbClr val="9AA3BD"/>
              </a:solidFill>
              <a:latin typeface="+mn-lt"/>
              <a:cs typeface="+mn-lt"/>
            </a:defRPr>
          </a:pPr>
          <a:endParaRPr lang="en-US"/>
        </a:p>
      </c:txPr>
    </c:legend>
    <c:plotVisOnly val="1"/>
    <c:dispBlanksAs val="span"/>
    <c:showDLblsOverMax val="1"/>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fr-FR"/>
  <c:roundedCorners val="1"/>
  <c:style val="2"/>
  <c:chart>
    <c:title>
      <c:tx>
        <c:rich>
          <a:bodyPr/>
          <a:lstStyle/>
          <a:p>
            <a:pPr>
              <a:defRPr sz="1200" b="0" i="0" u="none" strike="noStrike">
                <a:solidFill>
                  <a:srgbClr val="E9ECF3"/>
                </a:solidFill>
                <a:latin typeface="+mn-lt"/>
              </a:defRPr>
            </a:pPr>
            <a:r>
              <a:rPr lang="en-US" sz="1200" b="0" i="0" u="none" strike="noStrike">
                <a:solidFill>
                  <a:srgbClr val="E9ECF3"/>
                </a:solidFill>
                <a:latin typeface="+mn-lt"/>
              </a:rPr>
              <a:t>Purity under spin-qubit noise vs. Fock truncation D</a:t>
            </a:r>
          </a:p>
        </c:rich>
      </c:tx>
      <c:overlay val="0"/>
    </c:title>
    <c:autoTitleDeleted val="0"/>
    <c:plotArea>
      <c:layout/>
      <c:lineChart>
        <c:grouping val="standard"/>
        <c:varyColors val="0"/>
        <c:ser>
          <c:idx val="0"/>
          <c:order val="0"/>
          <c:tx>
            <c:strRef>
              <c:f>Sheet1!$B$1</c:f>
              <c:strCache>
                <c:ptCount val="1"/>
                <c:pt idx="0">
                  <c:v>binary (simulated)</c:v>
                </c:pt>
              </c:strCache>
            </c:strRef>
          </c:tx>
          <c:spPr>
            <a:ln w="38100" cap="flat">
              <a:solidFill>
                <a:srgbClr val="3B5287"/>
              </a:solidFill>
              <a:prstDash val="solid"/>
              <a:round/>
            </a:ln>
            <a:effectLst/>
          </c:spPr>
          <c:marker>
            <c:symbol val="circle"/>
            <c:size val="8"/>
            <c:spPr>
              <a:solidFill>
                <a:srgbClr val="3B5287"/>
              </a:solidFill>
              <a:ln w="9525" cap="flat">
                <a:solidFill>
                  <a:srgbClr val="3B5287"/>
                </a:solidFill>
                <a:prstDash val="solid"/>
                <a:round/>
              </a:ln>
              <a:effectLst/>
            </c:spPr>
          </c:marker>
          <c:dLbls>
            <c:dLbl>
              <c:idx val="3"/>
              <c:numFmt formatCode="0.00" sourceLinked="0"/>
              <c:spPr/>
              <c:txPr>
                <a:bodyPr/>
                <a:lstStyle/>
                <a:p>
                  <a:pPr>
                    <a:defRPr sz="1000" b="0" i="0" u="none" strike="noStrike">
                      <a:solidFill>
                        <a:srgbClr val="E9ECF3"/>
                      </a:solidFill>
                      <a:latin typeface="+mn-lt"/>
                    </a:defRPr>
                  </a:pPr>
                  <a:endParaRPr lang="fr-FR"/>
                </a:p>
              </c:txPr>
              <c:dLblPos val="b"/>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0-167F-4AE1-9D06-CCBE487692D7}"/>
                </c:ext>
              </c:extLst>
            </c:dLbl>
            <c:numFmt formatCode="0.00" sourceLinked="0"/>
            <c:spPr>
              <a:noFill/>
              <a:ln>
                <a:noFill/>
              </a:ln>
              <a:effectLst/>
            </c:spPr>
            <c:txPr>
              <a:bodyPr/>
              <a:lstStyle/>
              <a:p>
                <a:pPr>
                  <a:defRPr sz="1000" b="0" i="0" u="none" strike="noStrike">
                    <a:solidFill>
                      <a:srgbClr val="E9ECF3"/>
                    </a:solidFill>
                    <a:latin typeface="+mn-lt"/>
                  </a:defRPr>
                </a:pPr>
                <a:endParaRPr lang="fr-FR"/>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2</c:v>
                </c:pt>
                <c:pt idx="1">
                  <c:v>4</c:v>
                </c:pt>
                <c:pt idx="2">
                  <c:v>8</c:v>
                </c:pt>
                <c:pt idx="3">
                  <c:v>16</c:v>
                </c:pt>
              </c:strCache>
            </c:strRef>
          </c:cat>
          <c:val>
            <c:numRef>
              <c:f>Sheet1!$B$2:$B$5</c:f>
              <c:numCache>
                <c:formatCode>General</c:formatCode>
                <c:ptCount val="4"/>
                <c:pt idx="0">
                  <c:v>1</c:v>
                </c:pt>
                <c:pt idx="1">
                  <c:v>1</c:v>
                </c:pt>
                <c:pt idx="2">
                  <c:v>0.98</c:v>
                </c:pt>
                <c:pt idx="3">
                  <c:v>0.57999999999999996</c:v>
                </c:pt>
              </c:numCache>
            </c:numRef>
          </c:val>
          <c:smooth val="0"/>
          <c:extLst>
            <c:ext xmlns:c16="http://schemas.microsoft.com/office/drawing/2014/chart" uri="{C3380CC4-5D6E-409C-BE32-E72D297353CC}">
              <c16:uniqueId val="{00000001-167F-4AE1-9D06-CCBE487692D7}"/>
            </c:ext>
          </c:extLst>
        </c:ser>
        <c:ser>
          <c:idx val="1"/>
          <c:order val="1"/>
          <c:tx>
            <c:strRef>
              <c:f>Sheet1!$C$1</c:f>
              <c:strCache>
                <c:ptCount val="1"/>
                <c:pt idx="0">
                  <c:v>unary (D ≥ 8 estimated)</c:v>
                </c:pt>
              </c:strCache>
            </c:strRef>
          </c:tx>
          <c:spPr>
            <a:ln w="38100" cap="flat">
              <a:solidFill>
                <a:srgbClr val="E9ECF3"/>
              </a:solidFill>
              <a:prstDash val="dash"/>
              <a:round/>
            </a:ln>
            <a:effectLst/>
          </c:spPr>
          <c:marker>
            <c:symbol val="circle"/>
            <c:size val="8"/>
            <c:spPr>
              <a:solidFill>
                <a:srgbClr val="E9ECF3"/>
              </a:solidFill>
              <a:ln w="9525" cap="flat">
                <a:solidFill>
                  <a:srgbClr val="E9ECF3"/>
                </a:solidFill>
                <a:prstDash val="solid"/>
                <a:round/>
              </a:ln>
              <a:effectLst/>
            </c:spPr>
          </c:marker>
          <c:dLbls>
            <c:dLbl>
              <c:idx val="3"/>
              <c:numFmt formatCode="0.00" sourceLinked="0"/>
              <c:spPr/>
              <c:txPr>
                <a:bodyPr/>
                <a:lstStyle/>
                <a:p>
                  <a:pPr>
                    <a:defRPr sz="1000" b="0" i="0" u="none" strike="noStrike">
                      <a:solidFill>
                        <a:srgbClr val="E9ECF3"/>
                      </a:solidFill>
                      <a:latin typeface="+mn-lt"/>
                    </a:defRPr>
                  </a:pPr>
                  <a:endParaRPr lang="fr-FR"/>
                </a:p>
              </c:txPr>
              <c:dLblPos val="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2-167F-4AE1-9D06-CCBE487692D7}"/>
                </c:ext>
              </c:extLst>
            </c:dLbl>
            <c:numFmt formatCode="0.00" sourceLinked="0"/>
            <c:spPr>
              <a:noFill/>
              <a:ln>
                <a:noFill/>
              </a:ln>
              <a:effectLst/>
            </c:spPr>
            <c:txPr>
              <a:bodyPr/>
              <a:lstStyle/>
              <a:p>
                <a:pPr>
                  <a:defRPr sz="1000" b="0" i="0" u="none" strike="noStrike">
                    <a:solidFill>
                      <a:srgbClr val="E9ECF3"/>
                    </a:solidFill>
                    <a:latin typeface="+mn-lt"/>
                  </a:defRPr>
                </a:pPr>
                <a:endParaRPr lang="fr-FR"/>
              </a:p>
            </c:txPr>
            <c:dLblPos val="b"/>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2</c:v>
                </c:pt>
                <c:pt idx="1">
                  <c:v>4</c:v>
                </c:pt>
                <c:pt idx="2">
                  <c:v>8</c:v>
                </c:pt>
                <c:pt idx="3">
                  <c:v>16</c:v>
                </c:pt>
              </c:strCache>
            </c:strRef>
          </c:cat>
          <c:val>
            <c:numRef>
              <c:f>Sheet1!$C$2:$C$5</c:f>
              <c:numCache>
                <c:formatCode>General</c:formatCode>
                <c:ptCount val="4"/>
                <c:pt idx="0">
                  <c:v>1</c:v>
                </c:pt>
                <c:pt idx="1">
                  <c:v>1</c:v>
                </c:pt>
                <c:pt idx="2">
                  <c:v>0.88</c:v>
                </c:pt>
                <c:pt idx="3">
                  <c:v>0.73</c:v>
                </c:pt>
              </c:numCache>
            </c:numRef>
          </c:val>
          <c:smooth val="0"/>
          <c:extLst>
            <c:ext xmlns:c16="http://schemas.microsoft.com/office/drawing/2014/chart" uri="{C3380CC4-5D6E-409C-BE32-E72D297353CC}">
              <c16:uniqueId val="{00000003-167F-4AE1-9D06-CCBE487692D7}"/>
            </c:ext>
          </c:extLst>
        </c:ser>
        <c:dLbls>
          <c:dLblPos val="t"/>
          <c:showLegendKey val="0"/>
          <c:showVal val="1"/>
          <c:showCatName val="0"/>
          <c:showSerName val="0"/>
          <c:showPercent val="0"/>
          <c:showBubbleSize val="0"/>
        </c:dLbls>
        <c:marker val="1"/>
        <c:smooth val="0"/>
        <c:axId val="2094734554"/>
        <c:axId val="2094734552"/>
      </c:lineChart>
      <c:catAx>
        <c:axId val="2094734554"/>
        <c:scaling>
          <c:orientation val="minMax"/>
        </c:scaling>
        <c:delete val="0"/>
        <c:axPos val="b"/>
        <c:numFmt formatCode="General" sourceLinked="1"/>
        <c:majorTickMark val="out"/>
        <c:minorTickMark val="none"/>
        <c:tickLblPos val="low"/>
        <c:spPr>
          <a:ln w="12700" cap="flat">
            <a:solidFill>
              <a:srgbClr val="3C3F4C"/>
            </a:solidFill>
            <a:prstDash val="solid"/>
            <a:round/>
          </a:ln>
        </c:spPr>
        <c:txPr>
          <a:bodyPr/>
          <a:lstStyle/>
          <a:p>
            <a:pPr>
              <a:defRPr sz="1100" b="0" i="0" u="none" strike="noStrike">
                <a:solidFill>
                  <a:srgbClr val="9AA3BD"/>
                </a:solidFill>
                <a:latin typeface="+mn-lt"/>
              </a:defRPr>
            </a:pPr>
            <a:endParaRPr lang="en-US"/>
          </a:p>
        </c:txPr>
        <c:crossAx val="2094734552"/>
        <c:crosses val="autoZero"/>
        <c:auto val="1"/>
        <c:lblAlgn val="ctr"/>
        <c:lblOffset val="100"/>
        <c:noMultiLvlLbl val="1"/>
      </c:catAx>
      <c:valAx>
        <c:axId val="2094734552"/>
        <c:scaling>
          <c:orientation val="minMax"/>
          <c:max val="1.1000000000000001"/>
          <c:min val="0"/>
        </c:scaling>
        <c:delete val="0"/>
        <c:axPos val="l"/>
        <c:majorGridlines>
          <c:spPr>
            <a:ln w="9525" cap="flat">
              <a:solidFill>
                <a:srgbClr val="2A3354"/>
              </a:solidFill>
              <a:prstDash val="solid"/>
              <a:round/>
            </a:ln>
          </c:spPr>
        </c:majorGridlines>
        <c:numFmt formatCode="0.0" sourceLinked="0"/>
        <c:majorTickMark val="out"/>
        <c:minorTickMark val="none"/>
        <c:tickLblPos val="nextTo"/>
        <c:spPr>
          <a:ln w="12700" cap="flat">
            <a:noFill/>
            <a:prstDash val="solid"/>
            <a:round/>
          </a:ln>
        </c:spPr>
        <c:txPr>
          <a:bodyPr/>
          <a:lstStyle/>
          <a:p>
            <a:pPr>
              <a:defRPr sz="1000" b="0" i="0" u="none" strike="noStrike">
                <a:solidFill>
                  <a:srgbClr val="9AA3BD"/>
                </a:solidFill>
                <a:latin typeface="+mn-lt"/>
              </a:defRPr>
            </a:pPr>
            <a:endParaRPr lang="en-US"/>
          </a:p>
        </c:txPr>
        <c:crossAx val="2094734554"/>
        <c:crosses val="autoZero"/>
        <c:crossBetween val="between"/>
        <c:majorUnit val="0.2"/>
      </c:valAx>
      <c:spPr>
        <a:noFill/>
        <a:ln>
          <a:noFill/>
        </a:ln>
        <a:effectLst/>
      </c:spPr>
    </c:plotArea>
    <c:legend>
      <c:legendPos val="b"/>
      <c:overlay val="0"/>
      <c:txPr>
        <a:bodyPr/>
        <a:lstStyle/>
        <a:p>
          <a:pPr>
            <a:defRPr sz="1000">
              <a:solidFill>
                <a:srgbClr val="9AA3BD"/>
              </a:solidFill>
              <a:latin typeface="+mn-lt"/>
              <a:cs typeface="+mn-lt"/>
            </a:defRPr>
          </a:pPr>
          <a:endParaRPr lang="en-US"/>
        </a:p>
      </c:txPr>
    </c:legend>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33458990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Event announcement template. Replace bracketed placeholders: title, date and time, speaker photos, names and roles, and the four use-case cards.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93BF0C-271A-251B-6141-E6FC0A4E349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8ECD759-4FB9-B0C1-EE16-379D9EAD145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22A7555-C35F-5046-1D5C-E45A03E3249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D691598-4BC2-4784-954B-A8BBADF70233}"/>
              </a:ext>
            </a:extLst>
          </p:cNvPr>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4753513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2" name="Slide Image Placeholder 1"/>
          <p:cNvSpPr>
            <a:spLocks noGrp="1" noRot="1" noChangeAspec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3FC90F15-B4AE-4D69-7F00-2976A543145D}" type="slidenum">
              <a:rPr/>
              <a:t>3</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Agenda template with five rows. Delete or duplicate rows as needed.</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BFF3BC-99C3-1B62-E52C-B2A963FA9F5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83D487E-CD9A-7F39-B53D-91BA9ABDF80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D8ED61F-50BC-6344-BE43-A2876B96C7F5}"/>
              </a:ext>
            </a:extLst>
          </p:cNvPr>
          <p:cNvSpPr>
            <a:spLocks noGrp="1"/>
          </p:cNvSpPr>
          <p:nvPr>
            <p:ph type="body" idx="1"/>
          </p:nvPr>
        </p:nvSpPr>
        <p:spPr/>
        <p:txBody>
          <a:bodyPr/>
          <a:lstStyle/>
          <a:p>
            <a:r>
              <a:rPr lang="en-US" dirty="0"/>
              <a:t>Section divider template.</a:t>
            </a:r>
          </a:p>
        </p:txBody>
      </p:sp>
      <p:sp>
        <p:nvSpPr>
          <p:cNvPr id="4" name="Slide Number Placeholder 3">
            <a:extLst>
              <a:ext uri="{FF2B5EF4-FFF2-40B4-BE49-F238E27FC236}">
                <a16:creationId xmlns:a16="http://schemas.microsoft.com/office/drawing/2014/main" id="{8C671BED-D7F3-83C2-03DC-81C7D0C8DBCB}"/>
              </a:ext>
            </a:extLst>
          </p:cNvPr>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76880328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Plain-language version. Left: a simulation chops space into cells and stores numbers for each one; finer detail multiplies the cells (2D: halving cell size gives 4x the cells, as drawn; 3D gives 8x). Today's largest supercomputers already draw tens of megawatts to do this (TOP500 June 2026: the No. 1 system uses 42 MW).
Right: n qubits describe 2^n values at once, so each extra qubit doubles the capacity. 2^10 = 1,024; 2^20 ≈ 1.05 million; 2^30 ≈ 1.07 billion; 2^50 ≈ 1.13 quadrillion (storing that classically would take about 18 PB). Bar lengths grow with the number of qubits; the values double with each one.
Multi-scale: real problems couple scales from nanometres (atoms, molecules) to metres (wings, engines, plants), about 9 orders of magnitude. Classical solvers cannot resolve all of them at once, so they resolve one scale and model the others (turbulence models, homogenised materials). Because quantum capacity grows exponentially, fine and coarse scales could share one encoding; this is a research goal, not yet demonstrated at scale.
If asked: you cannot read all 2^n values back out; quantum algorithms are designed to return the specific quantities you need, such as drag, average velocity or energy.</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Message: almost every engineering simulation is a differential equation, and the classes move from linear (native to quantum hardware) through nonlinear (needs embedding) to stochastic (where the Kolmogorov approach turns noise and dissipation into an advantage).
Bottom row: (1) Direct numerical simulation of 3D turbulence needs about Re^(9/4) grid points (Kolmogorov scaling; see Pope, Turbulent Flows, 2000). (2) Amplitude encoding stores 2^n values in n qubits; reading them all out is not possible, so algorithms target observables. (3) Poly(log N) cost holds only under conditions such as dissipativity, sparsity and noise (Berry et al., Commun. Math. Phys. 2017; Liu et al., PNAS 2021; Bravyi et al., arXiv:2507.06198).</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divider template.</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left to right. Linearization trades nonlinearity for dimension; Carleman converges for dissipative, weakly nonlinear systems, and the lattice Boltzmann form keeps the nonlinearity tied to the Mach number. Step 2 maps the linear, generally non-unitary ODE onto unitary evolution: LCHS writes it as a linear combination of Hamiltonian simulations, Schrödingerisation as a Schrödinger equation in one extra dimension. Step 3 is the hardware-facing layer: block encodings of A, QSP/QSVT and Hamiltonian simulation, which is where the SDK example later connects. Step 4: we never read out the full state, only observables.</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key reference per tool, in the order of the pipeline. The Tennie et al. review in Nature Reviews Physics is the best single entry point for the audience.</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B7C6AD-6E78-2F24-8629-6CB0366A5C9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A33F9C7-34D1-8F46-16A6-805068DFCE6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ABB3673-5C1B-6BC8-3710-A2D7E2BD2652}"/>
              </a:ext>
            </a:extLst>
          </p:cNvPr>
          <p:cNvSpPr>
            <a:spLocks noGrp="1"/>
          </p:cNvSpPr>
          <p:nvPr>
            <p:ph type="body" idx="1"/>
          </p:nvPr>
        </p:nvSpPr>
        <p:spPr/>
        <p:txBody>
          <a:bodyPr/>
          <a:lstStyle/>
          <a:p>
            <a:r>
              <a:rPr lang="en-US" dirty="0"/>
              <a:t>Section divider template.</a:t>
            </a:r>
          </a:p>
        </p:txBody>
      </p:sp>
      <p:sp>
        <p:nvSpPr>
          <p:cNvPr id="4" name="Slide Number Placeholder 3">
            <a:extLst>
              <a:ext uri="{FF2B5EF4-FFF2-40B4-BE49-F238E27FC236}">
                <a16:creationId xmlns:a16="http://schemas.microsoft.com/office/drawing/2014/main" id="{C6B22BD7-A031-340E-591C-AD69BFC31367}"/>
              </a:ext>
            </a:extLst>
          </p:cNvPr>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356872943"/>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08E752-5BA9-2D72-2D45-5A29FBA898C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E7C9C3E-834E-F636-E56B-A2FEADE9E65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975DF31-EC2B-BD24-E5CB-7469BCACC43B}"/>
              </a:ext>
            </a:extLst>
          </p:cNvPr>
          <p:cNvSpPr>
            <a:spLocks noGrp="1"/>
          </p:cNvSpPr>
          <p:nvPr>
            <p:ph type="body" idx="1"/>
          </p:nvPr>
        </p:nvSpPr>
        <p:spPr/>
        <p:txBody>
          <a:bodyPr/>
          <a:lstStyle/>
          <a:p>
            <a:r>
              <a:rPr lang="en-US" dirty="0"/>
              <a:t>Section divider template.</a:t>
            </a:r>
          </a:p>
        </p:txBody>
      </p:sp>
      <p:sp>
        <p:nvSpPr>
          <p:cNvPr id="4" name="Slide Number Placeholder 3">
            <a:extLst>
              <a:ext uri="{FF2B5EF4-FFF2-40B4-BE49-F238E27FC236}">
                <a16:creationId xmlns:a16="http://schemas.microsoft.com/office/drawing/2014/main" id="{0720809F-3DCD-D994-E114-362CF3717363}"/>
              </a:ext>
            </a:extLst>
          </p:cNvPr>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4064689572"/>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2E6DA3-AB40-B887-13C6-C2978B5D9A2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F7A20BF-D7A3-ECCB-3ADC-6FAE3120274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BC10BD5-6FDB-1958-69FE-33BE70973E5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5B1F843-C508-31CD-7428-F4435CBC6FBA}"/>
              </a:ext>
            </a:extLst>
          </p:cNvPr>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3105192373"/>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93ADF3-A3AC-6919-C4FE-65C900DDC21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57AE405-45E4-0C4B-238B-C71AD71C0F8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9FA6ACB-1125-7DAE-F12B-95BF3A73EDF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EE64841-BA90-38C8-7683-037E18FF994E}"/>
              </a:ext>
            </a:extLst>
          </p:cNvPr>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2217914588"/>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20EF21-E3F5-6D14-CD95-0ECC004F5A1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54B6D54-29E2-5088-25C9-2114B93DC12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9D1D969-015D-1234-8A33-4C7A766AC26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5D3E827-9B5A-66F2-8F1E-8C82C0F99F7D}"/>
              </a:ext>
            </a:extLst>
          </p:cNvPr>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115684327"/>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77FC2C-3EF9-C388-A232-8DF02D811D3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ECD707D-AFC8-A9EA-E8D9-8555A7A2749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BC619F0-F5D4-3076-5ABA-54A15C4CDA6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4A55676-7DFD-6B08-F15F-BB1770A760C6}"/>
              </a:ext>
            </a:extLst>
          </p:cNvPr>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2176293679"/>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Carleman trades nonlinearity for dimension. Each new variable is a power of the solution, and the chain rule couples power j only to power j+1, so the system is linear but infinite. Truncating gives a finite linear ODE. For PDEs the state is the tensor powers of the discretized field; the dimension explodes, but amplitude encoding needs only logarithmically many qubits. The theorem of Liu et al. guarantees convergence when R is below 1.</a:t>
            </a:r>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Left: the scalar warm-up. Each extra order cuts the error by about a factor of 3, from 0.1 at N = 1 to 5e-6 at N = 10. Right: the Burgers equation on 6 grid points. The dimension multiplies by 6 per order, while the qubit count grows by about 3. R is about 4.9, well outside the convergence theorem, and still the error decreases: convergence bounds are conservative, so resource estimates based on them can be pessimistic.</a:t>
            </a:r>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After Carleman we have a linear ODE, but its propagator is not unitary, so it cannot be a quantum circuit. LCHS writes it as an average over unitary evolutions with the Cauchy kernel as weight. The condition L positive semidefinite is dissipativity; sometimes a change of variables is needed first, as the damped oscillator in the homework shows. Discretizing the integral gives a finite sum of unitaries, which is exactly what LCU implements.</a:t>
            </a:r>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blue line is the reconstruction error of the matrix exponential from the discretized LCHS integral; the dashed line is the guaranteed 1/K bound. A larger cutoff means longer simulation times k t, so the kernel tail translates directly into circuit depth. In this example the oscillating factor cancels part of the tail; in the homework's damped oscillator L has a zero eigenvalue and the error follows the bound exactly.</a:t>
            </a:r>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block encoding is the interface between a matrix and the hardware: every downstream algorithm, whether QSVT, LCHS or a linear solver, only ever calls U. The LCU construction prepares the weights on an ancilla register, applies each Pauli string controlled on the ancilla, and unprepares. The normalization alpha is the sum of the absolute coefficients, and query counts scale with it, so a small alpha is the main practical optimization.</a:t>
            </a:r>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four-point stencil decomposes into four Pauli strings, so two ancilla qubits suffice. The notebook verifies that U is unitary and that alpha times its top-left block reproduces A exactly. The overhead alpha over the spectral norm is about 10% here, and it grows on larger grids, because the cyclic shift needs more Pauli strings; encoding the shift directly as an incrementer circuit keeps alpha at 4. The periodic 8-point case is in the homework.</a:t>
            </a:r>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Lattice Boltzmann describes the same flow with particle populations. Streaming is linear and is a permutation, so on qubits it is a shift. All the nonlinearity sits in the collision, which with a polynomial equilibrium is local and quadratic: exactly the form Carleman needs. The strength of the quadratic term is set by the flow speed relative to the lattice sound speed, the Mach number, rather than by the Reynolds number.</a:t>
            </a:r>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At fixed viscosity, the truncation error grows with the Mach number for every order, and the gap between orders is largest at low Mach. The dimension grows like (3n) to the N, but the qubit count only linearly in N: 14 qubits for third order on 8 sites. The open challenges are the depth of the collision circuit and readout, not the register size.</a:t>
            </a:r>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honest caveat. Moving omega toward 2 lowers the viscosity and raises the Reynolds number; convergence in N slows, and at omega 1.8 the second order is no better than the first. This matches the literature, where Carleman lattice Boltzmann works up to moderate Reynolds numbers. The stochastic approaches discussed later target the strongly nonlinear regime.</a:t>
            </a:r>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three steps of the live session, and the lattice Boltzmann variant, all reduce the problem to Hamiltonian simulation. That is the hand-over to the SDK example, where we run it on a model of the spin qubit hardware.</a:t>
            </a:r>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path in the toolbox ends in Hamiltonian simulation, so here we run e^(-iHt) for a 3-spin Heisenberg chain on a pulse-level model of a silicon spin qubit processor with SpinPulse. The Trotter circuit is transpiled to the native gate set, Rx, Ry, Rz and Rzz on a linear chain, then turned into pulses. Without noise the pulses reproduce the circuit with fidelity 0.998 to 1. The gate count grows linearly with the number of Trotter steps, but the duration grows much more slowly, because an exchange pulse lasts in proportion to its rotation angle and the total angle per bond is fixed by J times t.</a:t>
            </a:r>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dashed line is the ideal Trotter circuit compared with the exact propagator: it rises monotonically towards 1. The solid line is the same circuit as spin qubit pulses under 1/f noise. Trotter error falls with more steps while accumulated noise grows, so the fidelity peaks at about eight steps and then drops. The exact numbers vary slightly between runs because the noise is sampled and the transpiler is not seeded, but the peak position was stable in every run. In the notebook, participants can change T2* or switch on spin-echo dynamical decoupling and see the optimum move.</a:t>
            </a:r>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Framing: two approaches to nonlinear, dissipative CFD, the Bravyi et al. Kolmogorian solver and the QALB lattice-Boltzmann algorithm (Itani, Sreenivasan, Succi), both resource-estimated on a spin-qubit hardware model (SpinPulse).
Bosonic trick: both papers map each classical variable to a bosonic mode (quantum harmonic oscillator), so the nonlinear dynamics become linear evolution in Fock space. Bravyi et al. (arXiv:2507.06198, 2606.08349): the backward Kolmogorov equation becomes d|psi&gt;/dt = (-A + B + C)|psi&gt;; A = sum of lambda_i a_i^dagger a_i, so dissipation sets the oscillator frequencies and noise sets the mass; a cutoff sum lambda_i m_i &lt;= k keeps only low-dissipation states, with qubit count O(k/lambda_1 log N). QALB (Itani, Sreenivasan, Succi, arXiv:2304.05915): builds on Kowalski's bosonic framework; the Fock-space truncation sets the Carleman order; streaming and collision are both unitary; it avoids extra variables for densities coupled from neighbouring sites; qubits scale logarithmically with the truncated Fock-space size. Why it matters: Bravyi et al. (arXiv:2507.06198) prove the problem BQP-complete, which they present as evidence for quantum advantage; the runtime is polynomial in log N, t, J and 1/lambda_1.
Methods: LCHS complexity (An/Liu/Lin arXiv:2303.01029, An/Childs/Lin arXiv:2312.03916) · Kolmogorian block-encoding (Bravyi/Byrne/Zayats/Zhuk arXiv:2606.08349) · QALB (Itani/Sreenivasan/Succi arXiv:2304.05915) · spin-qubit pulse noise (SpinPulse) · surface-code overhead (standard rotated-code estimates)</a:t>
            </a:r>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cell gives the qubit count n needed to reach the target accuracy for that initial-condition norm x0 and noise rate q. Blue cells are feasible on spin qubits; cells with a magenta outline are algorithmically fine but the hardware purity drops below 0.5; dark cells are infeasible even without noise (n up to 4 is not enough). The dashed contours are lines of constant y0 = x0·sqrt(2λ/q) with λ = 1, computed from the formula, which is why they run diagonally.</a:t>
            </a:r>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Left chart: two-qubit gate counts for the same cubic coupling operator and Trotter steps. Binary grows near-quartically (0, 6, 172, 848); unary grows linearly (0, 32, 96, 224). Right chart: purity under SpinPulse spin-qubit noise. Binary: 1.00, 1.00, 0.98, 0.58 (directly simulated). Unary: 1.00, 1.00 simulated at D = 2 and 4; 0.88 and 0.73 at D = 8 and 16 estimated from the gate count. Unary wins once D is about 8 or larger.</a:t>
            </a:r>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3B32FC-F448-C859-4B99-29F3D152D81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628290B-B9D5-06B9-4059-89FD11B4483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40C56B2-AA6E-0348-8041-002EBD90CB6B}"/>
              </a:ext>
            </a:extLst>
          </p:cNvPr>
          <p:cNvSpPr>
            <a:spLocks noGrp="1"/>
          </p:cNvSpPr>
          <p:nvPr>
            <p:ph type="body" idx="1"/>
          </p:nvPr>
        </p:nvSpPr>
        <p:spPr/>
        <p:txBody>
          <a:bodyPr/>
          <a:lstStyle/>
          <a:p>
            <a:r>
              <a:rPr lang="en-US" dirty="0"/>
              <a:t>Section divider template.</a:t>
            </a:r>
          </a:p>
        </p:txBody>
      </p:sp>
      <p:sp>
        <p:nvSpPr>
          <p:cNvPr id="4" name="Slide Number Placeholder 3">
            <a:extLst>
              <a:ext uri="{FF2B5EF4-FFF2-40B4-BE49-F238E27FC236}">
                <a16:creationId xmlns:a16="http://schemas.microsoft.com/office/drawing/2014/main" id="{567507AD-6F0B-50F9-80E2-186283AA25DC}"/>
              </a:ext>
            </a:extLst>
          </p:cNvPr>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9497343"/>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quantum (see the simple-version slide): a simulation stores and updates a number for every cell; finer detail multiplies the cells. n qubits hold 2^n values, so each added qubit doubles the capacity (2^50 ≈ 1.1 quadrillion). That capacity could let fine and coarse scales share one model; this is a research goal, not yet shown at scale.
Why encoding: the mapping of the problem onto qubits (for example the bosonic / Fock-space encoding used by the Kolmogorian solver and by QALB) is what turns nonlinear flow equations into linear quantum evolution. Whether it pays off depends on the regime (initial condition, noise, dissipation, encoding choice), and our tools locate that regime. Caveat if asked: only selected quantities can be read out, not all 2^n values.
Business: one high-precision CFD iteration costs about 100k EUR and takes weeks; projects need 50-100 iterations. Near term, quantum is a specialized step inside the existing workflow (meshing and simulation), not a replacement. Integrating early lets a software vendor shape interfaces and benchmarks.</a:t>
            </a:r>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D7843B-0CDF-7561-EEEB-A3AB9016520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5BB480F-FA1B-37BF-FFCC-68F81B7A847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3BA3CBB-32B8-8F21-5545-8F18C97652D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CC6973E-BA9A-B881-E26F-44EFF2593B5D}"/>
              </a:ext>
            </a:extLst>
          </p:cNvPr>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218627167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Event Cover">
    <p:bg>
      <p:bgPr>
        <a:solidFill>
          <a:srgbClr val="1B213B"/>
        </a:solidFill>
        <a:effectLst/>
      </p:bgPr>
    </p:bg>
    <p:spTree>
      <p:nvGrpSpPr>
        <p:cNvPr id="1" name=""/>
        <p:cNvGrpSpPr/>
        <p:nvPr/>
      </p:nvGrpSpPr>
      <p:grpSpPr>
        <a:xfrm>
          <a:off x="0" y="0"/>
          <a:ext cx="0" cy="0"/>
          <a:chOff x="0" y="0"/>
          <a:chExt cx="0" cy="0"/>
        </a:xfrm>
      </p:grpSpPr>
      <p:sp>
        <p:nvSpPr>
          <p:cNvPr id="2" name="Shape 0"/>
          <p:cNvSpPr/>
          <p:nvPr/>
        </p:nvSpPr>
        <p:spPr>
          <a:xfrm>
            <a:off x="0" y="761695"/>
            <a:ext cx="12191695" cy="0"/>
          </a:xfrm>
          <a:prstGeom prst="line">
            <a:avLst/>
          </a:prstGeom>
          <a:noFill/>
          <a:ln w="9525">
            <a:solidFill>
              <a:srgbClr val="222A48"/>
            </a:solidFill>
            <a:prstDash val="solid"/>
          </a:ln>
        </p:spPr>
        <p:txBody>
          <a:bodyPr/>
          <a:lstStyle/>
          <a:p>
            <a:endParaRPr lang="fr-FR"/>
          </a:p>
        </p:txBody>
      </p:sp>
      <p:sp>
        <p:nvSpPr>
          <p:cNvPr id="3" name="Shape 1"/>
          <p:cNvSpPr/>
          <p:nvPr/>
        </p:nvSpPr>
        <p:spPr>
          <a:xfrm>
            <a:off x="0" y="1523390"/>
            <a:ext cx="12191695" cy="0"/>
          </a:xfrm>
          <a:prstGeom prst="line">
            <a:avLst/>
          </a:prstGeom>
          <a:noFill/>
          <a:ln w="9525">
            <a:solidFill>
              <a:srgbClr val="222A48"/>
            </a:solidFill>
            <a:prstDash val="solid"/>
          </a:ln>
        </p:spPr>
        <p:txBody>
          <a:bodyPr/>
          <a:lstStyle/>
          <a:p>
            <a:endParaRPr lang="fr-FR"/>
          </a:p>
        </p:txBody>
      </p:sp>
      <p:sp>
        <p:nvSpPr>
          <p:cNvPr id="4" name="Shape 2"/>
          <p:cNvSpPr/>
          <p:nvPr/>
        </p:nvSpPr>
        <p:spPr>
          <a:xfrm>
            <a:off x="0" y="2285086"/>
            <a:ext cx="12191695" cy="0"/>
          </a:xfrm>
          <a:prstGeom prst="line">
            <a:avLst/>
          </a:prstGeom>
          <a:noFill/>
          <a:ln w="9525">
            <a:solidFill>
              <a:srgbClr val="222A48"/>
            </a:solidFill>
            <a:prstDash val="solid"/>
          </a:ln>
        </p:spPr>
        <p:txBody>
          <a:bodyPr/>
          <a:lstStyle/>
          <a:p>
            <a:endParaRPr lang="fr-FR"/>
          </a:p>
        </p:txBody>
      </p:sp>
      <p:sp>
        <p:nvSpPr>
          <p:cNvPr id="5" name="Shape 3"/>
          <p:cNvSpPr/>
          <p:nvPr/>
        </p:nvSpPr>
        <p:spPr>
          <a:xfrm>
            <a:off x="0" y="3046781"/>
            <a:ext cx="12191695" cy="0"/>
          </a:xfrm>
          <a:prstGeom prst="line">
            <a:avLst/>
          </a:prstGeom>
          <a:noFill/>
          <a:ln w="9525">
            <a:solidFill>
              <a:srgbClr val="222A48"/>
            </a:solidFill>
            <a:prstDash val="solid"/>
          </a:ln>
        </p:spPr>
        <p:txBody>
          <a:bodyPr/>
          <a:lstStyle/>
          <a:p>
            <a:endParaRPr lang="fr-FR"/>
          </a:p>
        </p:txBody>
      </p:sp>
      <p:sp>
        <p:nvSpPr>
          <p:cNvPr id="6" name="Shape 4"/>
          <p:cNvSpPr/>
          <p:nvPr/>
        </p:nvSpPr>
        <p:spPr>
          <a:xfrm>
            <a:off x="0" y="3808476"/>
            <a:ext cx="12191695" cy="0"/>
          </a:xfrm>
          <a:prstGeom prst="line">
            <a:avLst/>
          </a:prstGeom>
          <a:noFill/>
          <a:ln w="9525">
            <a:solidFill>
              <a:srgbClr val="222A48"/>
            </a:solidFill>
            <a:prstDash val="solid"/>
          </a:ln>
        </p:spPr>
        <p:txBody>
          <a:bodyPr/>
          <a:lstStyle/>
          <a:p>
            <a:endParaRPr lang="fr-FR"/>
          </a:p>
        </p:txBody>
      </p:sp>
      <p:sp>
        <p:nvSpPr>
          <p:cNvPr id="7" name="Shape 5"/>
          <p:cNvSpPr/>
          <p:nvPr/>
        </p:nvSpPr>
        <p:spPr>
          <a:xfrm>
            <a:off x="0" y="4570171"/>
            <a:ext cx="12191695" cy="0"/>
          </a:xfrm>
          <a:prstGeom prst="line">
            <a:avLst/>
          </a:prstGeom>
          <a:noFill/>
          <a:ln w="9525">
            <a:solidFill>
              <a:srgbClr val="222A48"/>
            </a:solidFill>
            <a:prstDash val="solid"/>
          </a:ln>
        </p:spPr>
        <p:txBody>
          <a:bodyPr/>
          <a:lstStyle/>
          <a:p>
            <a:endParaRPr lang="fr-FR"/>
          </a:p>
        </p:txBody>
      </p:sp>
      <p:sp>
        <p:nvSpPr>
          <p:cNvPr id="8" name="Shape 6"/>
          <p:cNvSpPr/>
          <p:nvPr/>
        </p:nvSpPr>
        <p:spPr>
          <a:xfrm>
            <a:off x="0" y="5331866"/>
            <a:ext cx="12191695" cy="0"/>
          </a:xfrm>
          <a:prstGeom prst="line">
            <a:avLst/>
          </a:prstGeom>
          <a:noFill/>
          <a:ln w="9525">
            <a:solidFill>
              <a:srgbClr val="222A48"/>
            </a:solidFill>
            <a:prstDash val="solid"/>
          </a:ln>
        </p:spPr>
        <p:txBody>
          <a:bodyPr/>
          <a:lstStyle/>
          <a:p>
            <a:endParaRPr lang="fr-FR"/>
          </a:p>
        </p:txBody>
      </p:sp>
      <p:sp>
        <p:nvSpPr>
          <p:cNvPr id="9" name="Shape 7"/>
          <p:cNvSpPr/>
          <p:nvPr/>
        </p:nvSpPr>
        <p:spPr>
          <a:xfrm>
            <a:off x="0" y="6093562"/>
            <a:ext cx="12191695" cy="0"/>
          </a:xfrm>
          <a:prstGeom prst="line">
            <a:avLst/>
          </a:prstGeom>
          <a:noFill/>
          <a:ln w="9525">
            <a:solidFill>
              <a:srgbClr val="222A48"/>
            </a:solidFill>
            <a:prstDash val="solid"/>
          </a:ln>
        </p:spPr>
        <p:txBody>
          <a:bodyPr/>
          <a:lstStyle/>
          <a:p>
            <a:endParaRPr lang="fr-FR"/>
          </a:p>
        </p:txBody>
      </p:sp>
      <p:sp>
        <p:nvSpPr>
          <p:cNvPr id="10" name="Text 8"/>
          <p:cNvSpPr>
            <a:spLocks noGrp="1"/>
          </p:cNvSpPr>
          <p:nvPr>
            <p:ph type="title" idx="108" hasCustomPrompt="1"/>
          </p:nvPr>
        </p:nvSpPr>
        <p:spPr>
          <a:xfrm>
            <a:off x="548640" y="1234440"/>
            <a:ext cx="5760720" cy="1371600"/>
          </a:xfrm>
          <a:prstGeom prst="rect">
            <a:avLst/>
          </a:prstGeom>
          <a:noFill/>
          <a:ln/>
        </p:spPr>
        <p:txBody>
          <a:bodyPr wrap="square" rtlCol="0"/>
          <a:lstStyle>
            <a:lvl1pPr marL="0" indent="0" algn="l">
              <a:lnSpc>
                <a:spcPct val="95000"/>
              </a:lnSpc>
              <a:buNone/>
              <a:defRPr lang="en-US" sz="4000" dirty="0">
                <a:solidFill>
                  <a:schemeClr val="tx1"/>
                </a:solidFill>
              </a:defRPr>
            </a:lvl1pPr>
          </a:lstStyle>
          <a:p>
            <a:pPr marL="0" indent="0" algn="l">
              <a:lnSpc>
                <a:spcPct val="95000"/>
              </a:lnSpc>
              <a:buNone/>
            </a:pPr>
            <a:r>
              <a:rPr lang="en-US" sz="4000" dirty="0">
                <a:solidFill>
                  <a:schemeClr val="tx1"/>
                </a:solidFill>
              </a:rPr>
              <a:t>[Product Name]: Live Session on [Topic]</a:t>
            </a:r>
            <a:endParaRPr lang="en-US" sz="4000" dirty="0"/>
          </a:p>
        </p:txBody>
      </p:sp>
      <p:sp>
        <p:nvSpPr>
          <p:cNvPr id="11" name="Text 8"/>
          <p:cNvSpPr>
            <a:spLocks noGrp="1"/>
          </p:cNvSpPr>
          <p:nvPr>
            <p:ph type="body" idx="109" hasCustomPrompt="1"/>
          </p:nvPr>
        </p:nvSpPr>
        <p:spPr>
          <a:xfrm>
            <a:off x="548640" y="2697480"/>
            <a:ext cx="5760720" cy="457200"/>
          </a:xfrm>
          <a:prstGeom prst="rect">
            <a:avLst/>
          </a:prstGeom>
          <a:noFill/>
          <a:ln/>
        </p:spPr>
        <p:txBody>
          <a:bodyPr wrap="square" rtlCol="0"/>
          <a:lstStyle>
            <a:lvl1pPr marL="0" indent="0" algn="l">
              <a:buNone/>
              <a:defRPr lang="en-US" sz="2000" dirty="0">
                <a:solidFill>
                  <a:schemeClr val="tx2"/>
                </a:solidFill>
              </a:defRPr>
            </a:lvl1pPr>
          </a:lstStyle>
          <a:p>
            <a:pPr marL="0" indent="0" algn="l">
              <a:buNone/>
            </a:pPr>
            <a:r>
              <a:rPr lang="en-US" sz="2000" dirty="0">
                <a:solidFill>
                  <a:schemeClr val="tx2"/>
                </a:solidFill>
              </a:rPr>
              <a:t>[Month DD, YYYY] | [Time CET / Time EST]</a:t>
            </a:r>
            <a:endParaRPr lang="en-US" sz="2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p:bg>
      <p:bgPr>
        <a:solidFill>
          <a:srgbClr val="1B213B"/>
        </a:solidFill>
        <a:effectLst/>
      </p:bgPr>
    </p:bg>
    <p:spTree>
      <p:nvGrpSpPr>
        <p:cNvPr id="1" name=""/>
        <p:cNvGrpSpPr/>
        <p:nvPr/>
      </p:nvGrpSpPr>
      <p:grpSpPr>
        <a:xfrm>
          <a:off x="0" y="0"/>
          <a:ext cx="0" cy="0"/>
          <a:chOff x="0" y="0"/>
          <a:chExt cx="0" cy="0"/>
        </a:xfrm>
      </p:grpSpPr>
      <p:sp>
        <p:nvSpPr>
          <p:cNvPr id="2" name="Shape 0"/>
          <p:cNvSpPr/>
          <p:nvPr/>
        </p:nvSpPr>
        <p:spPr>
          <a:xfrm>
            <a:off x="0" y="761695"/>
            <a:ext cx="12191695" cy="0"/>
          </a:xfrm>
          <a:prstGeom prst="line">
            <a:avLst/>
          </a:prstGeom>
          <a:noFill/>
          <a:ln w="9525">
            <a:solidFill>
              <a:srgbClr val="222A48"/>
            </a:solidFill>
            <a:prstDash val="solid"/>
          </a:ln>
        </p:spPr>
      </p:sp>
      <p:sp>
        <p:nvSpPr>
          <p:cNvPr id="3" name="Shape 1"/>
          <p:cNvSpPr/>
          <p:nvPr/>
        </p:nvSpPr>
        <p:spPr>
          <a:xfrm>
            <a:off x="0" y="1523390"/>
            <a:ext cx="12191695" cy="0"/>
          </a:xfrm>
          <a:prstGeom prst="line">
            <a:avLst/>
          </a:prstGeom>
          <a:noFill/>
          <a:ln w="9525">
            <a:solidFill>
              <a:srgbClr val="222A48"/>
            </a:solidFill>
            <a:prstDash val="solid"/>
          </a:ln>
        </p:spPr>
      </p:sp>
      <p:sp>
        <p:nvSpPr>
          <p:cNvPr id="4" name="Shape 2"/>
          <p:cNvSpPr/>
          <p:nvPr/>
        </p:nvSpPr>
        <p:spPr>
          <a:xfrm>
            <a:off x="0" y="2285086"/>
            <a:ext cx="12191695" cy="0"/>
          </a:xfrm>
          <a:prstGeom prst="line">
            <a:avLst/>
          </a:prstGeom>
          <a:noFill/>
          <a:ln w="9525">
            <a:solidFill>
              <a:srgbClr val="222A48"/>
            </a:solidFill>
            <a:prstDash val="solid"/>
          </a:ln>
        </p:spPr>
      </p:sp>
      <p:sp>
        <p:nvSpPr>
          <p:cNvPr id="5" name="Shape 3"/>
          <p:cNvSpPr/>
          <p:nvPr/>
        </p:nvSpPr>
        <p:spPr>
          <a:xfrm>
            <a:off x="0" y="3046781"/>
            <a:ext cx="12191695" cy="0"/>
          </a:xfrm>
          <a:prstGeom prst="line">
            <a:avLst/>
          </a:prstGeom>
          <a:noFill/>
          <a:ln w="9525">
            <a:solidFill>
              <a:srgbClr val="222A48"/>
            </a:solidFill>
            <a:prstDash val="solid"/>
          </a:ln>
        </p:spPr>
      </p:sp>
      <p:sp>
        <p:nvSpPr>
          <p:cNvPr id="6" name="Shape 4"/>
          <p:cNvSpPr/>
          <p:nvPr/>
        </p:nvSpPr>
        <p:spPr>
          <a:xfrm>
            <a:off x="0" y="3808476"/>
            <a:ext cx="12191695" cy="0"/>
          </a:xfrm>
          <a:prstGeom prst="line">
            <a:avLst/>
          </a:prstGeom>
          <a:noFill/>
          <a:ln w="9525">
            <a:solidFill>
              <a:srgbClr val="222A48"/>
            </a:solidFill>
            <a:prstDash val="solid"/>
          </a:ln>
        </p:spPr>
      </p:sp>
      <p:sp>
        <p:nvSpPr>
          <p:cNvPr id="7" name="Shape 5"/>
          <p:cNvSpPr/>
          <p:nvPr/>
        </p:nvSpPr>
        <p:spPr>
          <a:xfrm>
            <a:off x="0" y="4570171"/>
            <a:ext cx="12191695" cy="0"/>
          </a:xfrm>
          <a:prstGeom prst="line">
            <a:avLst/>
          </a:prstGeom>
          <a:noFill/>
          <a:ln w="9525">
            <a:solidFill>
              <a:srgbClr val="222A48"/>
            </a:solidFill>
            <a:prstDash val="solid"/>
          </a:ln>
        </p:spPr>
      </p:sp>
      <p:sp>
        <p:nvSpPr>
          <p:cNvPr id="8" name="Shape 6"/>
          <p:cNvSpPr/>
          <p:nvPr/>
        </p:nvSpPr>
        <p:spPr>
          <a:xfrm>
            <a:off x="0" y="5331866"/>
            <a:ext cx="12191695" cy="0"/>
          </a:xfrm>
          <a:prstGeom prst="line">
            <a:avLst/>
          </a:prstGeom>
          <a:noFill/>
          <a:ln w="9525">
            <a:solidFill>
              <a:srgbClr val="222A48"/>
            </a:solidFill>
            <a:prstDash val="solid"/>
          </a:ln>
        </p:spPr>
      </p:sp>
      <p:sp>
        <p:nvSpPr>
          <p:cNvPr id="9" name="Shape 7"/>
          <p:cNvSpPr/>
          <p:nvPr/>
        </p:nvSpPr>
        <p:spPr>
          <a:xfrm>
            <a:off x="0" y="6093562"/>
            <a:ext cx="12191695" cy="0"/>
          </a:xfrm>
          <a:prstGeom prst="line">
            <a:avLst/>
          </a:prstGeom>
          <a:noFill/>
          <a:ln w="9525">
            <a:solidFill>
              <a:srgbClr val="222A48"/>
            </a:solidFill>
            <a:prstDash val="solid"/>
          </a:ln>
        </p:spPr>
      </p:sp>
      <p:sp>
        <p:nvSpPr>
          <p:cNvPr id="10" name="Shape 8"/>
          <p:cNvSpPr/>
          <p:nvPr/>
        </p:nvSpPr>
        <p:spPr>
          <a:xfrm>
            <a:off x="548640" y="6428232"/>
            <a:ext cx="73152" cy="73152"/>
          </a:xfrm>
          <a:prstGeom prst="rect">
            <a:avLst/>
          </a:prstGeom>
          <a:solidFill>
            <a:srgbClr val="E8075D"/>
          </a:solidFill>
          <a:ln/>
        </p:spPr>
      </p:sp>
      <p:sp>
        <p:nvSpPr>
          <p:cNvPr id="11" name="Text 9"/>
          <p:cNvSpPr/>
          <p:nvPr/>
        </p:nvSpPr>
        <p:spPr>
          <a:xfrm>
            <a:off x="694944" y="6327648"/>
            <a:ext cx="5486400" cy="274320"/>
          </a:xfrm>
          <a:prstGeom prst="rect">
            <a:avLst/>
          </a:prstGeom>
          <a:noFill/>
          <a:ln/>
        </p:spPr>
        <p:txBody>
          <a:bodyPr wrap="square" lIns="0" tIns="0" rIns="0" bIns="0" rtlCol="0" anchor="ctr"/>
          <a:lstStyle/>
          <a:p>
            <a:pPr marL="0" indent="0">
              <a:buNone/>
            </a:pPr>
            <a:r>
              <a:rPr lang="en-US" sz="1000" dirty="0">
                <a:solidFill>
                  <a:srgbClr val="9AA3BD"/>
                </a:solidFill>
              </a:rPr>
              <a:t>Quantum-based simulation  ·  CFD and PDEs</a:t>
            </a:r>
            <a:endParaRPr lang="en-US" sz="1000" dirty="0"/>
          </a:p>
        </p:txBody>
      </p:sp>
      <p:sp>
        <p:nvSpPr>
          <p:cNvPr id="12" name="Text 10"/>
          <p:cNvSpPr>
            <a:spLocks noGrp="1"/>
          </p:cNvSpPr>
          <p:nvPr>
            <p:ph type="body" idx="110" hasCustomPrompt="1"/>
          </p:nvPr>
        </p:nvSpPr>
        <p:spPr>
          <a:xfrm>
            <a:off x="548640" y="1737360"/>
            <a:ext cx="6217920" cy="365760"/>
          </a:xfrm>
          <a:prstGeom prst="rect">
            <a:avLst/>
          </a:prstGeom>
          <a:noFill/>
          <a:ln/>
        </p:spPr>
        <p:txBody>
          <a:bodyPr wrap="square" rtlCol="0"/>
          <a:lstStyle>
            <a:lvl1pPr marL="0" indent="0" algn="l">
              <a:buNone/>
              <a:defRPr lang="en-US" sz="1400" b="1" kern="0" spc="300" dirty="0">
                <a:solidFill>
                  <a:schemeClr val="tx2"/>
                </a:solidFill>
              </a:defRPr>
            </a:lvl1pPr>
          </a:lstStyle>
          <a:p>
            <a:pPr marL="0" indent="0" algn="l">
              <a:buNone/>
            </a:pPr>
            <a:r>
              <a:rPr lang="en-US" sz="1400" b="1" kern="0" spc="300" dirty="0">
                <a:solidFill>
                  <a:schemeClr val="tx2"/>
                </a:solidFill>
              </a:rPr>
              <a:t>[KICKER / CATEGORY]</a:t>
            </a:r>
            <a:endParaRPr lang="en-US" sz="1400" dirty="0"/>
          </a:p>
        </p:txBody>
      </p:sp>
      <p:sp>
        <p:nvSpPr>
          <p:cNvPr id="13" name="Text 10"/>
          <p:cNvSpPr>
            <a:spLocks noGrp="1"/>
          </p:cNvSpPr>
          <p:nvPr>
            <p:ph type="title" idx="111" hasCustomPrompt="1"/>
          </p:nvPr>
        </p:nvSpPr>
        <p:spPr>
          <a:xfrm>
            <a:off x="548640" y="2194560"/>
            <a:ext cx="6217920" cy="1828800"/>
          </a:xfrm>
          <a:prstGeom prst="rect">
            <a:avLst/>
          </a:prstGeom>
          <a:noFill/>
          <a:ln/>
        </p:spPr>
        <p:txBody>
          <a:bodyPr wrap="square" rtlCol="0"/>
          <a:lstStyle>
            <a:lvl1pPr marL="0" indent="0" algn="l">
              <a:lnSpc>
                <a:spcPct val="95000"/>
              </a:lnSpc>
              <a:buNone/>
              <a:defRPr lang="en-US" sz="4800" dirty="0">
                <a:solidFill>
                  <a:schemeClr val="tx1"/>
                </a:solidFill>
              </a:defRPr>
            </a:lvl1pPr>
          </a:lstStyle>
          <a:p>
            <a:pPr marL="0" indent="0" algn="l">
              <a:lnSpc>
                <a:spcPct val="95000"/>
              </a:lnSpc>
              <a:buNone/>
            </a:pPr>
            <a:r>
              <a:rPr lang="en-US" sz="4800" dirty="0">
                <a:solidFill>
                  <a:schemeClr val="tx1"/>
                </a:solidFill>
              </a:rPr>
              <a:t>[Presentation title]</a:t>
            </a:r>
            <a:endParaRPr lang="en-US" sz="4800" dirty="0"/>
          </a:p>
        </p:txBody>
      </p:sp>
      <p:sp>
        <p:nvSpPr>
          <p:cNvPr id="14" name="Text 10"/>
          <p:cNvSpPr>
            <a:spLocks noGrp="1"/>
          </p:cNvSpPr>
          <p:nvPr>
            <p:ph type="body" idx="112" hasCustomPrompt="1"/>
          </p:nvPr>
        </p:nvSpPr>
        <p:spPr>
          <a:xfrm>
            <a:off x="548640" y="4160520"/>
            <a:ext cx="6217920" cy="822960"/>
          </a:xfrm>
          <a:prstGeom prst="rect">
            <a:avLst/>
          </a:prstGeom>
          <a:noFill/>
          <a:ln/>
        </p:spPr>
        <p:txBody>
          <a:bodyPr wrap="square" rtlCol="0"/>
          <a:lstStyle>
            <a:lvl1pPr marL="0" indent="0" algn="l">
              <a:buNone/>
              <a:defRPr lang="en-US" sz="1800" dirty="0">
                <a:solidFill>
                  <a:schemeClr val="tx2"/>
                </a:solidFill>
              </a:defRPr>
            </a:lvl1pPr>
          </a:lstStyle>
          <a:p>
            <a:pPr marL="0" indent="0" algn="l">
              <a:buNone/>
            </a:pPr>
            <a:r>
              <a:rPr lang="en-US" sz="1800" dirty="0">
                <a:solidFill>
                  <a:schemeClr val="tx2"/>
                </a:solidFill>
              </a:rPr>
              <a:t>[Subtitle or one-line summary]</a:t>
            </a:r>
            <a:endParaRPr lang="en-US" sz="1800" dirty="0"/>
          </a:p>
        </p:txBody>
      </p:sp>
      <p:sp>
        <p:nvSpPr>
          <p:cNvPr id="25" name="Slide Number Placeholder 0"/>
          <p:cNvSpPr>
            <a:spLocks noGrp="1"/>
          </p:cNvSpPr>
          <p:nvPr>
            <p:ph type="sldNum" sz="quarter" idx="4294967295"/>
          </p:nvPr>
        </p:nvSpPr>
        <p:spPr>
          <a:xfrm>
            <a:off x="11094415" y="6327648"/>
            <a:ext cx="548640" cy="274320"/>
          </a:xfrm>
          <a:prstGeom prst="rect">
            <a:avLst/>
          </a:prstGeom>
          <a:extLst>
            <a:ext uri="{C572A759-6A51-4108-AA02-DFA0A04FC94B}">
              <ma14:wrappingTextBoxFlag xmlns:ma14="http://schemas.microsoft.com/office/mac/drawingml/2011/main" xmlns="" val="0"/>
            </a:ext>
          </a:extLst>
        </p:spPr>
        <p:txBody>
          <a:bodyPr lIns="0" tIns="0" rIns="0" bIns="0" anchor="ctr"/>
          <a:lstStyle>
            <a:lvl1pPr>
              <a:defRPr sz="1000">
                <a:solidFill>
                  <a:srgbClr val="9AA3BD"/>
                </a:solidFill>
              </a:defRPr>
            </a:lvl1pPr>
          </a:lstStyle>
          <a:p>
            <a:pPr algn="r"/>
            <a:fld id="{F7021451-1387-4CA6-816F-3879F97B5CBC}" type="slidenum">
              <a:rPr lang="en-US" b="0"/>
              <a:t>‹N°›</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ection Divider">
    <p:bg>
      <p:bgPr>
        <a:solidFill>
          <a:srgbClr val="161B30"/>
        </a:solidFill>
        <a:effectLst/>
      </p:bgPr>
    </p:bg>
    <p:spTree>
      <p:nvGrpSpPr>
        <p:cNvPr id="1" name=""/>
        <p:cNvGrpSpPr/>
        <p:nvPr/>
      </p:nvGrpSpPr>
      <p:grpSpPr>
        <a:xfrm>
          <a:off x="0" y="0"/>
          <a:ext cx="0" cy="0"/>
          <a:chOff x="0" y="0"/>
          <a:chExt cx="0" cy="0"/>
        </a:xfrm>
      </p:grpSpPr>
      <p:sp>
        <p:nvSpPr>
          <p:cNvPr id="2" name="Shape 0"/>
          <p:cNvSpPr/>
          <p:nvPr/>
        </p:nvSpPr>
        <p:spPr>
          <a:xfrm>
            <a:off x="0" y="761695"/>
            <a:ext cx="12191695" cy="0"/>
          </a:xfrm>
          <a:prstGeom prst="line">
            <a:avLst/>
          </a:prstGeom>
          <a:noFill/>
          <a:ln w="9525">
            <a:solidFill>
              <a:srgbClr val="222A48"/>
            </a:solidFill>
            <a:prstDash val="solid"/>
          </a:ln>
        </p:spPr>
        <p:txBody>
          <a:bodyPr/>
          <a:lstStyle/>
          <a:p>
            <a:endParaRPr lang="fr-FR"/>
          </a:p>
        </p:txBody>
      </p:sp>
      <p:sp>
        <p:nvSpPr>
          <p:cNvPr id="3" name="Shape 1"/>
          <p:cNvSpPr/>
          <p:nvPr/>
        </p:nvSpPr>
        <p:spPr>
          <a:xfrm>
            <a:off x="0" y="1523390"/>
            <a:ext cx="12191695" cy="0"/>
          </a:xfrm>
          <a:prstGeom prst="line">
            <a:avLst/>
          </a:prstGeom>
          <a:noFill/>
          <a:ln w="9525">
            <a:solidFill>
              <a:srgbClr val="222A48"/>
            </a:solidFill>
            <a:prstDash val="solid"/>
          </a:ln>
        </p:spPr>
        <p:txBody>
          <a:bodyPr/>
          <a:lstStyle/>
          <a:p>
            <a:endParaRPr lang="fr-FR"/>
          </a:p>
        </p:txBody>
      </p:sp>
      <p:sp>
        <p:nvSpPr>
          <p:cNvPr id="4" name="Shape 2"/>
          <p:cNvSpPr/>
          <p:nvPr/>
        </p:nvSpPr>
        <p:spPr>
          <a:xfrm>
            <a:off x="0" y="2285086"/>
            <a:ext cx="12191695" cy="0"/>
          </a:xfrm>
          <a:prstGeom prst="line">
            <a:avLst/>
          </a:prstGeom>
          <a:noFill/>
          <a:ln w="9525">
            <a:solidFill>
              <a:srgbClr val="222A48"/>
            </a:solidFill>
            <a:prstDash val="solid"/>
          </a:ln>
        </p:spPr>
        <p:txBody>
          <a:bodyPr/>
          <a:lstStyle/>
          <a:p>
            <a:endParaRPr lang="fr-FR"/>
          </a:p>
        </p:txBody>
      </p:sp>
      <p:sp>
        <p:nvSpPr>
          <p:cNvPr id="5" name="Shape 3"/>
          <p:cNvSpPr/>
          <p:nvPr/>
        </p:nvSpPr>
        <p:spPr>
          <a:xfrm>
            <a:off x="0" y="3046781"/>
            <a:ext cx="12191695" cy="0"/>
          </a:xfrm>
          <a:prstGeom prst="line">
            <a:avLst/>
          </a:prstGeom>
          <a:noFill/>
          <a:ln w="9525">
            <a:solidFill>
              <a:srgbClr val="222A48"/>
            </a:solidFill>
            <a:prstDash val="solid"/>
          </a:ln>
        </p:spPr>
        <p:txBody>
          <a:bodyPr/>
          <a:lstStyle/>
          <a:p>
            <a:endParaRPr lang="fr-FR"/>
          </a:p>
        </p:txBody>
      </p:sp>
      <p:sp>
        <p:nvSpPr>
          <p:cNvPr id="6" name="Shape 4"/>
          <p:cNvSpPr/>
          <p:nvPr/>
        </p:nvSpPr>
        <p:spPr>
          <a:xfrm>
            <a:off x="0" y="3808476"/>
            <a:ext cx="12191695" cy="0"/>
          </a:xfrm>
          <a:prstGeom prst="line">
            <a:avLst/>
          </a:prstGeom>
          <a:noFill/>
          <a:ln w="9525">
            <a:solidFill>
              <a:srgbClr val="222A48"/>
            </a:solidFill>
            <a:prstDash val="solid"/>
          </a:ln>
        </p:spPr>
        <p:txBody>
          <a:bodyPr/>
          <a:lstStyle/>
          <a:p>
            <a:endParaRPr lang="fr-FR"/>
          </a:p>
        </p:txBody>
      </p:sp>
      <p:sp>
        <p:nvSpPr>
          <p:cNvPr id="7" name="Shape 5"/>
          <p:cNvSpPr/>
          <p:nvPr/>
        </p:nvSpPr>
        <p:spPr>
          <a:xfrm>
            <a:off x="0" y="4570171"/>
            <a:ext cx="12191695" cy="0"/>
          </a:xfrm>
          <a:prstGeom prst="line">
            <a:avLst/>
          </a:prstGeom>
          <a:noFill/>
          <a:ln w="9525">
            <a:solidFill>
              <a:srgbClr val="222A48"/>
            </a:solidFill>
            <a:prstDash val="solid"/>
          </a:ln>
        </p:spPr>
        <p:txBody>
          <a:bodyPr/>
          <a:lstStyle/>
          <a:p>
            <a:endParaRPr lang="fr-FR"/>
          </a:p>
        </p:txBody>
      </p:sp>
      <p:sp>
        <p:nvSpPr>
          <p:cNvPr id="8" name="Shape 6"/>
          <p:cNvSpPr/>
          <p:nvPr/>
        </p:nvSpPr>
        <p:spPr>
          <a:xfrm>
            <a:off x="0" y="5331866"/>
            <a:ext cx="12191695" cy="0"/>
          </a:xfrm>
          <a:prstGeom prst="line">
            <a:avLst/>
          </a:prstGeom>
          <a:noFill/>
          <a:ln w="9525">
            <a:solidFill>
              <a:srgbClr val="222A48"/>
            </a:solidFill>
            <a:prstDash val="solid"/>
          </a:ln>
        </p:spPr>
        <p:txBody>
          <a:bodyPr/>
          <a:lstStyle/>
          <a:p>
            <a:endParaRPr lang="fr-FR"/>
          </a:p>
        </p:txBody>
      </p:sp>
      <p:sp>
        <p:nvSpPr>
          <p:cNvPr id="9" name="Shape 7"/>
          <p:cNvSpPr/>
          <p:nvPr/>
        </p:nvSpPr>
        <p:spPr>
          <a:xfrm>
            <a:off x="0" y="6093562"/>
            <a:ext cx="12191695" cy="0"/>
          </a:xfrm>
          <a:prstGeom prst="line">
            <a:avLst/>
          </a:prstGeom>
          <a:noFill/>
          <a:ln w="9525">
            <a:solidFill>
              <a:srgbClr val="222A48"/>
            </a:solidFill>
            <a:prstDash val="solid"/>
          </a:ln>
        </p:spPr>
        <p:txBody>
          <a:bodyPr/>
          <a:lstStyle/>
          <a:p>
            <a:endParaRPr lang="fr-FR"/>
          </a:p>
        </p:txBody>
      </p:sp>
      <p:sp>
        <p:nvSpPr>
          <p:cNvPr id="10" name="Shape 8"/>
          <p:cNvSpPr/>
          <p:nvPr/>
        </p:nvSpPr>
        <p:spPr>
          <a:xfrm>
            <a:off x="548640" y="6428232"/>
            <a:ext cx="73152" cy="73152"/>
          </a:xfrm>
          <a:prstGeom prst="rect">
            <a:avLst/>
          </a:prstGeom>
          <a:solidFill>
            <a:srgbClr val="E8075D"/>
          </a:solidFill>
          <a:ln/>
        </p:spPr>
        <p:txBody>
          <a:bodyPr/>
          <a:lstStyle/>
          <a:p>
            <a:endParaRPr lang="fr-FR"/>
          </a:p>
        </p:txBody>
      </p:sp>
      <p:sp>
        <p:nvSpPr>
          <p:cNvPr id="11" name="Text 9"/>
          <p:cNvSpPr/>
          <p:nvPr/>
        </p:nvSpPr>
        <p:spPr>
          <a:xfrm>
            <a:off x="694944" y="6327648"/>
            <a:ext cx="5486400" cy="274320"/>
          </a:xfrm>
          <a:prstGeom prst="rect">
            <a:avLst/>
          </a:prstGeom>
          <a:noFill/>
          <a:ln/>
        </p:spPr>
        <p:txBody>
          <a:bodyPr wrap="square" lIns="0" tIns="0" rIns="0" bIns="0" rtlCol="0" anchor="ctr"/>
          <a:lstStyle/>
          <a:p>
            <a:pPr marL="0" indent="0">
              <a:buNone/>
            </a:pPr>
            <a:r>
              <a:rPr lang="en-US" sz="1000" dirty="0">
                <a:solidFill>
                  <a:srgbClr val="9AA3BD"/>
                </a:solidFill>
              </a:rPr>
              <a:t>Quantum-based simulation  ·  CFD and PDEs</a:t>
            </a:r>
            <a:endParaRPr lang="en-US" sz="1000" dirty="0"/>
          </a:p>
        </p:txBody>
      </p:sp>
      <p:sp>
        <p:nvSpPr>
          <p:cNvPr id="12" name="Text 10"/>
          <p:cNvSpPr>
            <a:spLocks noGrp="1"/>
          </p:cNvSpPr>
          <p:nvPr>
            <p:ph type="body" idx="110" hasCustomPrompt="1"/>
          </p:nvPr>
        </p:nvSpPr>
        <p:spPr>
          <a:xfrm>
            <a:off x="548640" y="1463040"/>
            <a:ext cx="3657600" cy="1280160"/>
          </a:xfrm>
          <a:prstGeom prst="rect">
            <a:avLst/>
          </a:prstGeom>
          <a:noFill/>
          <a:ln/>
        </p:spPr>
        <p:txBody>
          <a:bodyPr wrap="square" rtlCol="0"/>
          <a:lstStyle>
            <a:lvl1pPr marL="0" indent="0" algn="l">
              <a:buNone/>
              <a:defRPr lang="en-US" sz="9600" b="1" dirty="0">
                <a:solidFill>
                  <a:schemeClr val="accent1"/>
                </a:solidFill>
                <a:latin typeface="Aptos Display" pitchFamily="34" charset="0"/>
                <a:ea typeface="Aptos Display" pitchFamily="34" charset="-122"/>
                <a:cs typeface="Aptos Display" pitchFamily="34" charset="-120"/>
              </a:defRPr>
            </a:lvl1pPr>
          </a:lstStyle>
          <a:p>
            <a:pPr marL="0" indent="0" algn="l">
              <a:buNone/>
            </a:pPr>
            <a:r>
              <a:rPr lang="en-US" sz="9600" b="1" dirty="0">
                <a:solidFill>
                  <a:schemeClr val="accent1"/>
                </a:solidFill>
                <a:latin typeface="Aptos Display" pitchFamily="34" charset="0"/>
                <a:ea typeface="Aptos Display" pitchFamily="34" charset="-122"/>
                <a:cs typeface="Aptos Display" pitchFamily="34" charset="-120"/>
              </a:rPr>
              <a:t>01</a:t>
            </a:r>
            <a:endParaRPr lang="en-US" sz="9600" dirty="0"/>
          </a:p>
        </p:txBody>
      </p:sp>
      <p:sp>
        <p:nvSpPr>
          <p:cNvPr id="13" name="Text 10"/>
          <p:cNvSpPr>
            <a:spLocks noGrp="1"/>
          </p:cNvSpPr>
          <p:nvPr>
            <p:ph type="title" idx="111" hasCustomPrompt="1"/>
          </p:nvPr>
        </p:nvSpPr>
        <p:spPr>
          <a:xfrm>
            <a:off x="548640" y="2926080"/>
            <a:ext cx="8229600" cy="914400"/>
          </a:xfrm>
          <a:prstGeom prst="rect">
            <a:avLst/>
          </a:prstGeom>
          <a:noFill/>
          <a:ln/>
        </p:spPr>
        <p:txBody>
          <a:bodyPr wrap="square" rtlCol="0"/>
          <a:lstStyle>
            <a:lvl1pPr marL="0" indent="0" algn="l">
              <a:buNone/>
              <a:defRPr lang="en-US" sz="4000" dirty="0">
                <a:solidFill>
                  <a:schemeClr val="tx1"/>
                </a:solidFill>
              </a:defRPr>
            </a:lvl1pPr>
          </a:lstStyle>
          <a:p>
            <a:pPr marL="0" indent="0" algn="l">
              <a:buNone/>
            </a:pPr>
            <a:r>
              <a:rPr lang="en-US" sz="4000" dirty="0">
                <a:solidFill>
                  <a:schemeClr val="tx1"/>
                </a:solidFill>
              </a:rPr>
              <a:t>[Section title]</a:t>
            </a:r>
            <a:endParaRPr lang="en-US" sz="4000" dirty="0"/>
          </a:p>
        </p:txBody>
      </p:sp>
      <p:sp>
        <p:nvSpPr>
          <p:cNvPr id="14" name="Text 10"/>
          <p:cNvSpPr>
            <a:spLocks noGrp="1"/>
          </p:cNvSpPr>
          <p:nvPr>
            <p:ph type="body" idx="112" hasCustomPrompt="1"/>
          </p:nvPr>
        </p:nvSpPr>
        <p:spPr>
          <a:xfrm>
            <a:off x="548640" y="3931920"/>
            <a:ext cx="6858000" cy="822960"/>
          </a:xfrm>
          <a:prstGeom prst="rect">
            <a:avLst/>
          </a:prstGeom>
          <a:noFill/>
          <a:ln/>
        </p:spPr>
        <p:txBody>
          <a:bodyPr wrap="square" rtlCol="0"/>
          <a:lstStyle>
            <a:lvl1pPr marL="0" indent="0" algn="l">
              <a:buNone/>
              <a:defRPr lang="en-US" sz="1600" dirty="0">
                <a:solidFill>
                  <a:schemeClr val="tx2"/>
                </a:solidFill>
              </a:defRPr>
            </a:lvl1pPr>
          </a:lstStyle>
          <a:p>
            <a:pPr marL="0" indent="0" algn="l">
              <a:buNone/>
            </a:pPr>
            <a:r>
              <a:rPr lang="en-US" sz="1600" dirty="0">
                <a:solidFill>
                  <a:schemeClr val="tx2"/>
                </a:solidFill>
              </a:rPr>
              <a:t>[One sentence on what this section covers]</a:t>
            </a:r>
            <a:endParaRPr lang="en-US" sz="1600" dirty="0"/>
          </a:p>
        </p:txBody>
      </p:sp>
      <p:sp>
        <p:nvSpPr>
          <p:cNvPr id="25" name="Slide Number Placeholder 0"/>
          <p:cNvSpPr>
            <a:spLocks noGrp="1"/>
          </p:cNvSpPr>
          <p:nvPr>
            <p:ph type="sldNum" sz="quarter" idx="4294967295"/>
          </p:nvPr>
        </p:nvSpPr>
        <p:spPr>
          <a:xfrm>
            <a:off x="11094415" y="6327648"/>
            <a:ext cx="548640" cy="274320"/>
          </a:xfrm>
          <a:prstGeom prst="rect">
            <a:avLst/>
          </a:prstGeom>
          <a:extLst>
            <a:ext uri="{C572A759-6A51-4108-AA02-DFA0A04FC94B}">
              <ma14:wrappingTextBoxFlag xmlns:ma14="http://schemas.microsoft.com/office/mac/drawingml/2011/main" xmlns="" val="0"/>
            </a:ext>
          </a:extLst>
        </p:spPr>
        <p:txBody>
          <a:bodyPr lIns="0" tIns="0" rIns="0" bIns="0" anchor="ctr"/>
          <a:lstStyle>
            <a:lvl1pPr>
              <a:defRPr sz="1000">
                <a:solidFill>
                  <a:srgbClr val="9AA3BD"/>
                </a:solidFill>
              </a:defRPr>
            </a:lvl1pPr>
          </a:lstStyle>
          <a:p>
            <a:pPr algn="r"/>
            <a:fld id="{F7021451-1387-4CA6-816F-3879F97B5CBC}" type="slidenum">
              <a:rPr lang="en-US" b="0"/>
              <a:t>‹N°›</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Title Only">
    <p:bg>
      <p:bgPr>
        <a:solidFill>
          <a:srgbClr val="1B213B"/>
        </a:solidFill>
        <a:effectLst/>
      </p:bgPr>
    </p:bg>
    <p:spTree>
      <p:nvGrpSpPr>
        <p:cNvPr id="1" name=""/>
        <p:cNvGrpSpPr/>
        <p:nvPr/>
      </p:nvGrpSpPr>
      <p:grpSpPr>
        <a:xfrm>
          <a:off x="0" y="0"/>
          <a:ext cx="0" cy="0"/>
          <a:chOff x="0" y="0"/>
          <a:chExt cx="0" cy="0"/>
        </a:xfrm>
      </p:grpSpPr>
      <p:sp>
        <p:nvSpPr>
          <p:cNvPr id="2" name="Shape 0"/>
          <p:cNvSpPr/>
          <p:nvPr/>
        </p:nvSpPr>
        <p:spPr>
          <a:xfrm>
            <a:off x="0" y="761695"/>
            <a:ext cx="12191695" cy="0"/>
          </a:xfrm>
          <a:prstGeom prst="line">
            <a:avLst/>
          </a:prstGeom>
          <a:noFill/>
          <a:ln w="9525">
            <a:solidFill>
              <a:srgbClr val="222A48"/>
            </a:solidFill>
            <a:prstDash val="solid"/>
          </a:ln>
        </p:spPr>
        <p:txBody>
          <a:bodyPr/>
          <a:lstStyle/>
          <a:p>
            <a:endParaRPr lang="fr-FR"/>
          </a:p>
        </p:txBody>
      </p:sp>
      <p:sp>
        <p:nvSpPr>
          <p:cNvPr id="3" name="Shape 1"/>
          <p:cNvSpPr/>
          <p:nvPr/>
        </p:nvSpPr>
        <p:spPr>
          <a:xfrm>
            <a:off x="0" y="1523390"/>
            <a:ext cx="12191695" cy="0"/>
          </a:xfrm>
          <a:prstGeom prst="line">
            <a:avLst/>
          </a:prstGeom>
          <a:noFill/>
          <a:ln w="9525">
            <a:solidFill>
              <a:srgbClr val="222A48"/>
            </a:solidFill>
            <a:prstDash val="solid"/>
          </a:ln>
        </p:spPr>
        <p:txBody>
          <a:bodyPr/>
          <a:lstStyle/>
          <a:p>
            <a:endParaRPr lang="fr-FR"/>
          </a:p>
        </p:txBody>
      </p:sp>
      <p:sp>
        <p:nvSpPr>
          <p:cNvPr id="4" name="Shape 2"/>
          <p:cNvSpPr/>
          <p:nvPr/>
        </p:nvSpPr>
        <p:spPr>
          <a:xfrm>
            <a:off x="0" y="2285086"/>
            <a:ext cx="12191695" cy="0"/>
          </a:xfrm>
          <a:prstGeom prst="line">
            <a:avLst/>
          </a:prstGeom>
          <a:noFill/>
          <a:ln w="9525">
            <a:solidFill>
              <a:srgbClr val="222A48"/>
            </a:solidFill>
            <a:prstDash val="solid"/>
          </a:ln>
        </p:spPr>
        <p:txBody>
          <a:bodyPr/>
          <a:lstStyle/>
          <a:p>
            <a:endParaRPr lang="fr-FR"/>
          </a:p>
        </p:txBody>
      </p:sp>
      <p:sp>
        <p:nvSpPr>
          <p:cNvPr id="5" name="Shape 3"/>
          <p:cNvSpPr/>
          <p:nvPr/>
        </p:nvSpPr>
        <p:spPr>
          <a:xfrm>
            <a:off x="0" y="3046781"/>
            <a:ext cx="12191695" cy="0"/>
          </a:xfrm>
          <a:prstGeom prst="line">
            <a:avLst/>
          </a:prstGeom>
          <a:noFill/>
          <a:ln w="9525">
            <a:solidFill>
              <a:srgbClr val="222A48"/>
            </a:solidFill>
            <a:prstDash val="solid"/>
          </a:ln>
        </p:spPr>
        <p:txBody>
          <a:bodyPr/>
          <a:lstStyle/>
          <a:p>
            <a:endParaRPr lang="fr-FR"/>
          </a:p>
        </p:txBody>
      </p:sp>
      <p:sp>
        <p:nvSpPr>
          <p:cNvPr id="6" name="Shape 4"/>
          <p:cNvSpPr/>
          <p:nvPr/>
        </p:nvSpPr>
        <p:spPr>
          <a:xfrm>
            <a:off x="0" y="3808476"/>
            <a:ext cx="12191695" cy="0"/>
          </a:xfrm>
          <a:prstGeom prst="line">
            <a:avLst/>
          </a:prstGeom>
          <a:noFill/>
          <a:ln w="9525">
            <a:solidFill>
              <a:srgbClr val="222A48"/>
            </a:solidFill>
            <a:prstDash val="solid"/>
          </a:ln>
        </p:spPr>
        <p:txBody>
          <a:bodyPr/>
          <a:lstStyle/>
          <a:p>
            <a:endParaRPr lang="fr-FR"/>
          </a:p>
        </p:txBody>
      </p:sp>
      <p:sp>
        <p:nvSpPr>
          <p:cNvPr id="7" name="Shape 5"/>
          <p:cNvSpPr/>
          <p:nvPr/>
        </p:nvSpPr>
        <p:spPr>
          <a:xfrm>
            <a:off x="0" y="4570171"/>
            <a:ext cx="12191695" cy="0"/>
          </a:xfrm>
          <a:prstGeom prst="line">
            <a:avLst/>
          </a:prstGeom>
          <a:noFill/>
          <a:ln w="9525">
            <a:solidFill>
              <a:srgbClr val="222A48"/>
            </a:solidFill>
            <a:prstDash val="solid"/>
          </a:ln>
        </p:spPr>
        <p:txBody>
          <a:bodyPr/>
          <a:lstStyle/>
          <a:p>
            <a:endParaRPr lang="fr-FR"/>
          </a:p>
        </p:txBody>
      </p:sp>
      <p:sp>
        <p:nvSpPr>
          <p:cNvPr id="8" name="Shape 6"/>
          <p:cNvSpPr/>
          <p:nvPr/>
        </p:nvSpPr>
        <p:spPr>
          <a:xfrm>
            <a:off x="0" y="5331866"/>
            <a:ext cx="12191695" cy="0"/>
          </a:xfrm>
          <a:prstGeom prst="line">
            <a:avLst/>
          </a:prstGeom>
          <a:noFill/>
          <a:ln w="9525">
            <a:solidFill>
              <a:srgbClr val="222A48"/>
            </a:solidFill>
            <a:prstDash val="solid"/>
          </a:ln>
        </p:spPr>
        <p:txBody>
          <a:bodyPr/>
          <a:lstStyle/>
          <a:p>
            <a:endParaRPr lang="fr-FR"/>
          </a:p>
        </p:txBody>
      </p:sp>
      <p:sp>
        <p:nvSpPr>
          <p:cNvPr id="9" name="Shape 7"/>
          <p:cNvSpPr/>
          <p:nvPr/>
        </p:nvSpPr>
        <p:spPr>
          <a:xfrm>
            <a:off x="0" y="6093562"/>
            <a:ext cx="12191695" cy="0"/>
          </a:xfrm>
          <a:prstGeom prst="line">
            <a:avLst/>
          </a:prstGeom>
          <a:noFill/>
          <a:ln w="9525">
            <a:solidFill>
              <a:srgbClr val="222A48"/>
            </a:solidFill>
            <a:prstDash val="solid"/>
          </a:ln>
        </p:spPr>
        <p:txBody>
          <a:bodyPr/>
          <a:lstStyle/>
          <a:p>
            <a:endParaRPr lang="fr-FR"/>
          </a:p>
        </p:txBody>
      </p:sp>
      <p:sp>
        <p:nvSpPr>
          <p:cNvPr id="10" name="Shape 8"/>
          <p:cNvSpPr/>
          <p:nvPr/>
        </p:nvSpPr>
        <p:spPr>
          <a:xfrm>
            <a:off x="548640" y="6428232"/>
            <a:ext cx="73152" cy="73152"/>
          </a:xfrm>
          <a:prstGeom prst="rect">
            <a:avLst/>
          </a:prstGeom>
          <a:solidFill>
            <a:srgbClr val="E8075D"/>
          </a:solidFill>
          <a:ln/>
        </p:spPr>
        <p:txBody>
          <a:bodyPr/>
          <a:lstStyle/>
          <a:p>
            <a:endParaRPr lang="fr-FR"/>
          </a:p>
        </p:txBody>
      </p:sp>
      <p:sp>
        <p:nvSpPr>
          <p:cNvPr id="11" name="Text 9"/>
          <p:cNvSpPr/>
          <p:nvPr/>
        </p:nvSpPr>
        <p:spPr>
          <a:xfrm>
            <a:off x="694944" y="6327648"/>
            <a:ext cx="5486400" cy="274320"/>
          </a:xfrm>
          <a:prstGeom prst="rect">
            <a:avLst/>
          </a:prstGeom>
          <a:noFill/>
          <a:ln/>
        </p:spPr>
        <p:txBody>
          <a:bodyPr wrap="square" lIns="0" tIns="0" rIns="0" bIns="0" rtlCol="0" anchor="ctr"/>
          <a:lstStyle/>
          <a:p>
            <a:pPr marL="0" indent="0">
              <a:buNone/>
            </a:pPr>
            <a:r>
              <a:rPr lang="en-US" sz="1000" dirty="0">
                <a:solidFill>
                  <a:srgbClr val="9AA3BD"/>
                </a:solidFill>
              </a:rPr>
              <a:t>Quantum-based simulation  ·  CFD and PDEs</a:t>
            </a:r>
            <a:endParaRPr lang="en-US" sz="1000" dirty="0"/>
          </a:p>
        </p:txBody>
      </p:sp>
      <p:sp>
        <p:nvSpPr>
          <p:cNvPr id="12" name="Text 10"/>
          <p:cNvSpPr>
            <a:spLocks noGrp="1"/>
          </p:cNvSpPr>
          <p:nvPr>
            <p:ph type="title" idx="110" hasCustomPrompt="1"/>
          </p:nvPr>
        </p:nvSpPr>
        <p:spPr>
          <a:xfrm>
            <a:off x="548640" y="457200"/>
            <a:ext cx="11094415" cy="777240"/>
          </a:xfrm>
          <a:prstGeom prst="rect">
            <a:avLst/>
          </a:prstGeom>
          <a:noFill/>
          <a:ln/>
        </p:spPr>
        <p:txBody>
          <a:bodyPr wrap="square" rtlCol="0"/>
          <a:lstStyle>
            <a:lvl1pPr marL="0" indent="0" algn="l">
              <a:buNone/>
              <a:defRPr lang="en-US" sz="3200" dirty="0">
                <a:solidFill>
                  <a:schemeClr val="tx1"/>
                </a:solidFill>
              </a:defRPr>
            </a:lvl1pPr>
          </a:lstStyle>
          <a:p>
            <a:pPr marL="0" indent="0" algn="l">
              <a:buNone/>
            </a:pPr>
            <a:r>
              <a:rPr lang="en-US" sz="3200" dirty="0">
                <a:solidFill>
                  <a:schemeClr val="tx1"/>
                </a:solidFill>
              </a:rPr>
              <a:t>[Slide title]</a:t>
            </a:r>
            <a:endParaRPr lang="en-US" sz="3200" dirty="0"/>
          </a:p>
        </p:txBody>
      </p:sp>
      <p:sp>
        <p:nvSpPr>
          <p:cNvPr id="25" name="Slide Number Placeholder 0"/>
          <p:cNvSpPr>
            <a:spLocks noGrp="1"/>
          </p:cNvSpPr>
          <p:nvPr>
            <p:ph type="sldNum" sz="quarter" idx="4294967295"/>
          </p:nvPr>
        </p:nvSpPr>
        <p:spPr>
          <a:xfrm>
            <a:off x="11094415" y="6327648"/>
            <a:ext cx="548640" cy="274320"/>
          </a:xfrm>
          <a:prstGeom prst="rect">
            <a:avLst/>
          </a:prstGeom>
          <a:extLst>
            <a:ext uri="{C572A759-6A51-4108-AA02-DFA0A04FC94B}">
              <ma14:wrappingTextBoxFlag xmlns:ma14="http://schemas.microsoft.com/office/mac/drawingml/2011/main" xmlns="" val="0"/>
            </a:ext>
          </a:extLst>
        </p:spPr>
        <p:txBody>
          <a:bodyPr lIns="0" tIns="0" rIns="0" bIns="0" anchor="ctr"/>
          <a:lstStyle>
            <a:lvl1pPr>
              <a:defRPr sz="1000">
                <a:solidFill>
                  <a:srgbClr val="9AA3BD"/>
                </a:solidFill>
              </a:defRPr>
            </a:lvl1pPr>
          </a:lstStyle>
          <a:p>
            <a:pPr algn="r"/>
            <a:fld id="{F7021451-1387-4CA6-816F-3879F97B5CBC}" type="slidenum">
              <a:rPr lang="en-US" b="0"/>
              <a:t>‹N°›</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Closing">
    <p:bg>
      <p:bgPr>
        <a:solidFill>
          <a:srgbClr val="161B30"/>
        </a:solidFill>
        <a:effectLst/>
      </p:bgPr>
    </p:bg>
    <p:spTree>
      <p:nvGrpSpPr>
        <p:cNvPr id="1" name=""/>
        <p:cNvGrpSpPr/>
        <p:nvPr/>
      </p:nvGrpSpPr>
      <p:grpSpPr>
        <a:xfrm>
          <a:off x="0" y="0"/>
          <a:ext cx="0" cy="0"/>
          <a:chOff x="0" y="0"/>
          <a:chExt cx="0" cy="0"/>
        </a:xfrm>
      </p:grpSpPr>
      <p:sp>
        <p:nvSpPr>
          <p:cNvPr id="2" name="Shape 0"/>
          <p:cNvSpPr/>
          <p:nvPr/>
        </p:nvSpPr>
        <p:spPr>
          <a:xfrm>
            <a:off x="0" y="761695"/>
            <a:ext cx="12191695" cy="0"/>
          </a:xfrm>
          <a:prstGeom prst="line">
            <a:avLst/>
          </a:prstGeom>
          <a:noFill/>
          <a:ln w="9525">
            <a:solidFill>
              <a:srgbClr val="222A48"/>
            </a:solidFill>
            <a:prstDash val="solid"/>
          </a:ln>
        </p:spPr>
      </p:sp>
      <p:sp>
        <p:nvSpPr>
          <p:cNvPr id="3" name="Shape 1"/>
          <p:cNvSpPr/>
          <p:nvPr/>
        </p:nvSpPr>
        <p:spPr>
          <a:xfrm>
            <a:off x="0" y="1523390"/>
            <a:ext cx="12191695" cy="0"/>
          </a:xfrm>
          <a:prstGeom prst="line">
            <a:avLst/>
          </a:prstGeom>
          <a:noFill/>
          <a:ln w="9525">
            <a:solidFill>
              <a:srgbClr val="222A48"/>
            </a:solidFill>
            <a:prstDash val="solid"/>
          </a:ln>
        </p:spPr>
      </p:sp>
      <p:sp>
        <p:nvSpPr>
          <p:cNvPr id="4" name="Shape 2"/>
          <p:cNvSpPr/>
          <p:nvPr/>
        </p:nvSpPr>
        <p:spPr>
          <a:xfrm>
            <a:off x="0" y="2285086"/>
            <a:ext cx="12191695" cy="0"/>
          </a:xfrm>
          <a:prstGeom prst="line">
            <a:avLst/>
          </a:prstGeom>
          <a:noFill/>
          <a:ln w="9525">
            <a:solidFill>
              <a:srgbClr val="222A48"/>
            </a:solidFill>
            <a:prstDash val="solid"/>
          </a:ln>
        </p:spPr>
      </p:sp>
      <p:sp>
        <p:nvSpPr>
          <p:cNvPr id="5" name="Shape 3"/>
          <p:cNvSpPr/>
          <p:nvPr/>
        </p:nvSpPr>
        <p:spPr>
          <a:xfrm>
            <a:off x="0" y="3046781"/>
            <a:ext cx="12191695" cy="0"/>
          </a:xfrm>
          <a:prstGeom prst="line">
            <a:avLst/>
          </a:prstGeom>
          <a:noFill/>
          <a:ln w="9525">
            <a:solidFill>
              <a:srgbClr val="222A48"/>
            </a:solidFill>
            <a:prstDash val="solid"/>
          </a:ln>
        </p:spPr>
      </p:sp>
      <p:sp>
        <p:nvSpPr>
          <p:cNvPr id="6" name="Shape 4"/>
          <p:cNvSpPr/>
          <p:nvPr/>
        </p:nvSpPr>
        <p:spPr>
          <a:xfrm>
            <a:off x="0" y="3808476"/>
            <a:ext cx="12191695" cy="0"/>
          </a:xfrm>
          <a:prstGeom prst="line">
            <a:avLst/>
          </a:prstGeom>
          <a:noFill/>
          <a:ln w="9525">
            <a:solidFill>
              <a:srgbClr val="222A48"/>
            </a:solidFill>
            <a:prstDash val="solid"/>
          </a:ln>
        </p:spPr>
      </p:sp>
      <p:sp>
        <p:nvSpPr>
          <p:cNvPr id="7" name="Shape 5"/>
          <p:cNvSpPr/>
          <p:nvPr/>
        </p:nvSpPr>
        <p:spPr>
          <a:xfrm>
            <a:off x="0" y="4570171"/>
            <a:ext cx="12191695" cy="0"/>
          </a:xfrm>
          <a:prstGeom prst="line">
            <a:avLst/>
          </a:prstGeom>
          <a:noFill/>
          <a:ln w="9525">
            <a:solidFill>
              <a:srgbClr val="222A48"/>
            </a:solidFill>
            <a:prstDash val="solid"/>
          </a:ln>
        </p:spPr>
      </p:sp>
      <p:sp>
        <p:nvSpPr>
          <p:cNvPr id="8" name="Shape 6"/>
          <p:cNvSpPr/>
          <p:nvPr/>
        </p:nvSpPr>
        <p:spPr>
          <a:xfrm>
            <a:off x="0" y="5331866"/>
            <a:ext cx="12191695" cy="0"/>
          </a:xfrm>
          <a:prstGeom prst="line">
            <a:avLst/>
          </a:prstGeom>
          <a:noFill/>
          <a:ln w="9525">
            <a:solidFill>
              <a:srgbClr val="222A48"/>
            </a:solidFill>
            <a:prstDash val="solid"/>
          </a:ln>
        </p:spPr>
      </p:sp>
      <p:sp>
        <p:nvSpPr>
          <p:cNvPr id="9" name="Shape 7"/>
          <p:cNvSpPr/>
          <p:nvPr/>
        </p:nvSpPr>
        <p:spPr>
          <a:xfrm>
            <a:off x="0" y="6093562"/>
            <a:ext cx="12191695" cy="0"/>
          </a:xfrm>
          <a:prstGeom prst="line">
            <a:avLst/>
          </a:prstGeom>
          <a:noFill/>
          <a:ln w="9525">
            <a:solidFill>
              <a:srgbClr val="222A48"/>
            </a:solidFill>
            <a:prstDash val="solid"/>
          </a:ln>
        </p:spPr>
      </p:sp>
      <p:sp>
        <p:nvSpPr>
          <p:cNvPr id="10" name="Text 8"/>
          <p:cNvSpPr>
            <a:spLocks noGrp="1"/>
          </p:cNvSpPr>
          <p:nvPr>
            <p:ph type="title" idx="108" hasCustomPrompt="1"/>
          </p:nvPr>
        </p:nvSpPr>
        <p:spPr>
          <a:xfrm>
            <a:off x="548640" y="2011680"/>
            <a:ext cx="6858000" cy="1188720"/>
          </a:xfrm>
          <a:prstGeom prst="rect">
            <a:avLst/>
          </a:prstGeom>
          <a:noFill/>
          <a:ln/>
        </p:spPr>
        <p:txBody>
          <a:bodyPr wrap="square" rtlCol="0"/>
          <a:lstStyle>
            <a:lvl1pPr marL="0" indent="0" algn="l">
              <a:buNone/>
              <a:defRPr lang="en-US" sz="4800" dirty="0">
                <a:solidFill>
                  <a:schemeClr val="tx1"/>
                </a:solidFill>
              </a:defRPr>
            </a:lvl1pPr>
          </a:lstStyle>
          <a:p>
            <a:pPr marL="0" indent="0" algn="l">
              <a:buNone/>
            </a:pPr>
            <a:r>
              <a:rPr lang="en-US" sz="4800" dirty="0">
                <a:solidFill>
                  <a:schemeClr val="tx1"/>
                </a:solidFill>
              </a:rPr>
              <a:t>[Thank you]</a:t>
            </a:r>
            <a:endParaRPr lang="en-US" sz="4800" dirty="0"/>
          </a:p>
        </p:txBody>
      </p:sp>
      <p:sp>
        <p:nvSpPr>
          <p:cNvPr id="11" name="Text 8"/>
          <p:cNvSpPr>
            <a:spLocks noGrp="1"/>
          </p:cNvSpPr>
          <p:nvPr>
            <p:ph type="body" idx="109" hasCustomPrompt="1"/>
          </p:nvPr>
        </p:nvSpPr>
        <p:spPr>
          <a:xfrm>
            <a:off x="548640" y="3291840"/>
            <a:ext cx="6400800" cy="822960"/>
          </a:xfrm>
          <a:prstGeom prst="rect">
            <a:avLst/>
          </a:prstGeom>
          <a:noFill/>
          <a:ln/>
        </p:spPr>
        <p:txBody>
          <a:bodyPr wrap="square" rtlCol="0"/>
          <a:lstStyle>
            <a:lvl1pPr marL="0" indent="0" algn="l">
              <a:buNone/>
              <a:defRPr lang="en-US" sz="1800" dirty="0">
                <a:solidFill>
                  <a:schemeClr val="tx2"/>
                </a:solidFill>
              </a:defRPr>
            </a:lvl1pPr>
          </a:lstStyle>
          <a:p>
            <a:pPr marL="0" indent="0" algn="l">
              <a:buNone/>
            </a:pPr>
            <a:r>
              <a:rPr lang="en-US" sz="1800" dirty="0">
                <a:solidFill>
                  <a:schemeClr val="tx2"/>
                </a:solidFill>
              </a:rPr>
              <a:t>[Closing message or call to action]</a:t>
            </a:r>
            <a:endParaRPr lang="en-US" sz="1800"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showMasterPhAnim="0" type="obj" userDrawn="1">
  <p:cSld name="Blank">
    <p:bg>
      <p:bgPr>
        <a:solidFill>
          <a:schemeClr val="bg1"/>
        </a:solidFill>
        <a:effectLst/>
      </p:bgPr>
    </p:bg>
    <p:spTree>
      <p:nvGrpSpPr>
        <p:cNvPr id="1" name=""/>
        <p:cNvGrpSpPr/>
        <p:nvPr/>
      </p:nvGrpSpPr>
      <p:grpSpPr bwMode="auto">
        <a:xfrm>
          <a:off x="0" y="0"/>
          <a:ext cx="0" cy="0"/>
          <a:chOff x="0" y="0"/>
          <a:chExt cx="0" cy="0"/>
        </a:xfrm>
      </p:grpSpPr>
      <p:sp>
        <p:nvSpPr>
          <p:cNvPr id="1138732877" name="Holder 2"/>
          <p:cNvSpPr>
            <a:spLocks noGrp="1"/>
          </p:cNvSpPr>
          <p:nvPr>
            <p:ph type="ftr" sz="quarter" idx="5"/>
          </p:nvPr>
        </p:nvSpPr>
        <p:spPr bwMode="auto"/>
        <p:txBody>
          <a:bodyPr lIns="0" tIns="0" rIns="0" bIns="0"/>
          <a:lstStyle>
            <a:lvl1pPr algn="ctr">
              <a:defRPr>
                <a:solidFill>
                  <a:schemeClr val="tx1">
                    <a:tint val="75000"/>
                  </a:schemeClr>
                </a:solidFill>
              </a:defRPr>
            </a:lvl1pPr>
          </a:lstStyle>
          <a:p>
            <a:pPr>
              <a:defRPr/>
            </a:pPr>
            <a:endParaRPr/>
          </a:p>
        </p:txBody>
      </p:sp>
      <p:sp>
        <p:nvSpPr>
          <p:cNvPr id="806608444" name="Holder 3"/>
          <p:cNvSpPr>
            <a:spLocks noGrp="1"/>
          </p:cNvSpPr>
          <p:nvPr>
            <p:ph type="dt" sz="half" idx="6"/>
          </p:nvPr>
        </p:nvSpPr>
        <p:spPr bwMode="auto"/>
        <p:txBody>
          <a:bodyPr lIns="0" tIns="0" rIns="0" bIns="0"/>
          <a:lstStyle>
            <a:lvl1pPr algn="l">
              <a:defRPr>
                <a:solidFill>
                  <a:schemeClr val="tx1">
                    <a:tint val="75000"/>
                  </a:schemeClr>
                </a:solidFill>
              </a:defRPr>
            </a:lvl1pPr>
          </a:lstStyle>
          <a:p>
            <a:pPr>
              <a:defRPr/>
            </a:pPr>
            <a:fld id="{1D8BD707-D9CF-40AE-B4C6-C98DA3205C09}" type="datetimeFigureOut">
              <a:rPr lang="en-US"/>
              <a:t>10/19/2026</a:t>
            </a:fld>
            <a:endParaRPr lang="en-US"/>
          </a:p>
        </p:txBody>
      </p:sp>
      <p:sp>
        <p:nvSpPr>
          <p:cNvPr id="1491952169" name="Holder 4"/>
          <p:cNvSpPr>
            <a:spLocks noGrp="1"/>
          </p:cNvSpPr>
          <p:nvPr>
            <p:ph type="sldNum" sz="quarter" idx="7"/>
          </p:nvPr>
        </p:nvSpPr>
        <p:spPr bwMode="auto"/>
        <p:txBody>
          <a:bodyPr lIns="0" tIns="0" rIns="0" bIns="0"/>
          <a:lstStyle>
            <a:lvl1pPr algn="r">
              <a:defRPr>
                <a:solidFill>
                  <a:schemeClr val="tx1">
                    <a:tint val="75000"/>
                  </a:schemeClr>
                </a:solidFill>
              </a:defRPr>
            </a:lvl1pPr>
          </a:lstStyle>
          <a:p>
            <a:pPr>
              <a:defRPr/>
            </a:pPr>
            <a:fld id="{B6F15528-21DE-4FAA-801E-634DDDAF4B2B}" type="slidenum">
              <a:rPr/>
              <a:t>‹N°›</a:t>
            </a:fld>
            <a:endParaRPr/>
          </a:p>
        </p:txBody>
      </p:sp>
    </p:spTree>
    <p:extLst>
      <p:ext uri="{BB962C8B-B14F-4D97-AF65-F5344CB8AC3E}">
        <p14:creationId xmlns:p14="http://schemas.microsoft.com/office/powerpoint/2010/main" val="287932534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94415" y="6327648"/>
            <a:ext cx="548640" cy="274320"/>
          </a:xfrm>
          <a:prstGeom prst="rect">
            <a:avLst/>
          </a:prstGeom>
          <a:extLst>
            <a:ext uri="{C572A759-6A51-4108-AA02-DFA0A04FC94B}">
              <ma14:wrappingTextBoxFlag xmlns:ma14="http://schemas.microsoft.com/office/mac/drawingml/2011/main" xmlns="" val="0"/>
            </a:ext>
          </a:extLst>
        </p:spPr>
        <p:txBody>
          <a:bodyPr lIns="0" tIns="0" rIns="0" bIns="0" anchor="ctr"/>
          <a:lstStyle>
            <a:lvl1pPr>
              <a:defRPr sz="1000">
                <a:solidFill>
                  <a:srgbClr val="9AA3BD"/>
                </a:solidFill>
              </a:defRPr>
            </a:lvl1pPr>
          </a:lstStyle>
          <a:p>
            <a:pPr algn="r"/>
            <a:fld id="{F7021451-1387-4CA6-816F-3879F97B5CBC}" type="slidenum">
              <a:rPr lang="en-US" b="0"/>
              <a:t>‹N°›</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6.jpeg"/><Relationship Id="rId3" Type="http://schemas.openxmlformats.org/officeDocument/2006/relationships/image" Target="../media/image1.png"/><Relationship Id="rId7" Type="http://schemas.openxmlformats.org/officeDocument/2006/relationships/image" Target="../media/image5.jpg"/><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jpg"/><Relationship Id="rId9" Type="http://schemas.openxmlformats.org/officeDocument/2006/relationships/image" Target="../media/image7.png"/></Relationships>
</file>

<file path=ppt/slides/_rels/slide2.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2.xml"/><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8" Type="http://schemas.openxmlformats.org/officeDocument/2006/relationships/image" Target="../media/image14.jpg"/><Relationship Id="rId3" Type="http://schemas.openxmlformats.org/officeDocument/2006/relationships/image" Target="../media/image9.png"/><Relationship Id="rId7" Type="http://schemas.openxmlformats.org/officeDocument/2006/relationships/image" Target="../media/image13.png"/><Relationship Id="rId2" Type="http://schemas.openxmlformats.org/officeDocument/2006/relationships/notesSlide" Target="../notesSlides/notesSlide3.xml"/><Relationship Id="rId1" Type="http://schemas.openxmlformats.org/officeDocument/2006/relationships/slideLayout" Target="../slideLayouts/slideLayout7.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jpg"/><Relationship Id="rId9" Type="http://schemas.openxmlformats.org/officeDocument/2006/relationships/image" Target="../media/image15.pn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8.xml"/><Relationship Id="rId1" Type="http://schemas.openxmlformats.org/officeDocument/2006/relationships/slideLayout" Target="../slideLayouts/slideLayout5.xml"/><Relationship Id="rId4" Type="http://schemas.openxmlformats.org/officeDocument/2006/relationships/image" Target="../media/image1.png"/></Relationships>
</file>

<file path=ppt/slides/_rels/slide9.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9.xml"/><Relationship Id="rId1" Type="http://schemas.openxmlformats.org/officeDocument/2006/relationships/slideLayout" Target="../slideLayouts/slideLayout5.xml"/><Relationship Id="rId6" Type="http://schemas.openxmlformats.org/officeDocument/2006/relationships/image" Target="../media/image19.svg"/><Relationship Id="rId5" Type="http://schemas.openxmlformats.org/officeDocument/2006/relationships/image" Target="../media/image1.png"/><Relationship Id="rId4" Type="http://schemas.openxmlformats.org/officeDocument/2006/relationships/image" Target="../media/image18.png"/></Relationships>
</file>

<file path=ppt/slides/_rels/slide10.xml.rels><?xml version="1.0" encoding="UTF-8" standalone="yes"?>
<Relationships xmlns="http://schemas.openxmlformats.org/package/2006/relationships"><Relationship Id="rId3" Type="http://schemas.openxmlformats.org/officeDocument/2006/relationships/image" Target="../media/image20.jpg"/><Relationship Id="rId2" Type="http://schemas.openxmlformats.org/officeDocument/2006/relationships/notesSlide" Target="../notesSlides/notesSlide10.xml"/><Relationship Id="rId1" Type="http://schemas.openxmlformats.org/officeDocument/2006/relationships/slideLayout" Target="../slideLayouts/slideLayout5.xml"/><Relationship Id="rId4" Type="http://schemas.openxmlformats.org/officeDocument/2006/relationships/image" Target="../media/image1.png"/></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4.xml"/><Relationship Id="rId1" Type="http://schemas.openxmlformats.org/officeDocument/2006/relationships/slideLayout" Target="../slideLayouts/slideLayout5.xml"/><Relationship Id="rId6" Type="http://schemas.openxmlformats.org/officeDocument/2006/relationships/image" Target="../media/image1.png"/><Relationship Id="rId5" Type="http://schemas.openxmlformats.org/officeDocument/2006/relationships/image" Target="../media/image16.png"/><Relationship Id="rId4" Type="http://schemas.openxmlformats.org/officeDocument/2006/relationships/image" Target="../media/image22.jpg"/></Relationships>
</file>

<file path=ppt/slides/_rels/slide15.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5.xml"/><Relationship Id="rId1" Type="http://schemas.openxmlformats.org/officeDocument/2006/relationships/slideLayout" Target="../slideLayouts/slideLayout5.xml"/><Relationship Id="rId6" Type="http://schemas.openxmlformats.org/officeDocument/2006/relationships/image" Target="../media/image1.png"/><Relationship Id="rId5" Type="http://schemas.openxmlformats.org/officeDocument/2006/relationships/image" Target="../media/image25.png"/><Relationship Id="rId4" Type="http://schemas.openxmlformats.org/officeDocument/2006/relationships/image" Target="../media/image24.png"/></Relationships>
</file>

<file path=ppt/slides/_rels/slide16.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6.xml"/><Relationship Id="rId1" Type="http://schemas.openxmlformats.org/officeDocument/2006/relationships/slideLayout" Target="../slideLayouts/slideLayout5.xml"/><Relationship Id="rId4" Type="http://schemas.openxmlformats.org/officeDocument/2006/relationships/image" Target="../media/image1.png"/></Relationships>
</file>

<file path=ppt/slides/_rels/slide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7.xml"/><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8.xml"/><Relationship Id="rId1" Type="http://schemas.openxmlformats.org/officeDocument/2006/relationships/slideLayout" Target="../slideLayouts/slideLayout5.xml"/><Relationship Id="rId4" Type="http://schemas.openxmlformats.org/officeDocument/2006/relationships/image" Target="../media/image1.png"/></Relationships>
</file>

<file path=ppt/slides/_rels/slide19.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9.xml"/><Relationship Id="rId1" Type="http://schemas.openxmlformats.org/officeDocument/2006/relationships/slideLayout" Target="../slideLayouts/slideLayout5.xml"/><Relationship Id="rId4" Type="http://schemas.openxmlformats.org/officeDocument/2006/relationships/image" Target="../media/image1.png"/></Relationships>
</file>

<file path=ppt/slides/_rels/slide20.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20.xml"/><Relationship Id="rId1" Type="http://schemas.openxmlformats.org/officeDocument/2006/relationships/slideLayout" Target="../slideLayouts/slideLayout5.xml"/><Relationship Id="rId5" Type="http://schemas.openxmlformats.org/officeDocument/2006/relationships/image" Target="../media/image1.png"/><Relationship Id="rId4" Type="http://schemas.openxmlformats.org/officeDocument/2006/relationships/image" Target="../media/image28.png"/></Relationships>
</file>

<file path=ppt/slides/_rels/slide21.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21.xml"/><Relationship Id="rId1" Type="http://schemas.openxmlformats.org/officeDocument/2006/relationships/slideLayout" Target="../slideLayouts/slideLayout5.xml"/><Relationship Id="rId4" Type="http://schemas.openxmlformats.org/officeDocument/2006/relationships/image" Target="../media/image1.png"/></Relationships>
</file>

<file path=ppt/slides/_rels/slide22.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22.xml"/><Relationship Id="rId1" Type="http://schemas.openxmlformats.org/officeDocument/2006/relationships/slideLayout" Target="../slideLayouts/slideLayout4.xml"/><Relationship Id="rId5" Type="http://schemas.openxmlformats.org/officeDocument/2006/relationships/image" Target="../media/image31.png"/><Relationship Id="rId4" Type="http://schemas.openxmlformats.org/officeDocument/2006/relationships/image" Target="../media/image1.png"/></Relationships>
</file>

<file path=ppt/slides/_rels/slide2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3.xml"/><Relationship Id="rId1" Type="http://schemas.openxmlformats.org/officeDocument/2006/relationships/slideLayout" Target="../slideLayouts/slideLayout4.xml"/><Relationship Id="rId4" Type="http://schemas.openxmlformats.org/officeDocument/2006/relationships/image" Target="../media/image32.png"/></Relationships>
</file>

<file path=ppt/slides/_rels/slide2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4.xml"/><Relationship Id="rId1" Type="http://schemas.openxmlformats.org/officeDocument/2006/relationships/slideLayout" Target="../slideLayouts/slideLayout5.xml"/><Relationship Id="rId4" Type="http://schemas.openxmlformats.org/officeDocument/2006/relationships/image" Target="../media/image4.png"/></Relationships>
</file>

<file path=ppt/slides/_rels/slide2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5.xml"/><Relationship Id="rId1" Type="http://schemas.openxmlformats.org/officeDocument/2006/relationships/slideLayout" Target="../slideLayouts/slideLayout5.xml"/><Relationship Id="rId4" Type="http://schemas.openxmlformats.org/officeDocument/2006/relationships/image" Target="../media/image33.png"/></Relationships>
</file>

<file path=ppt/slides/_rels/slide2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6.xml"/><Relationship Id="rId1" Type="http://schemas.openxmlformats.org/officeDocument/2006/relationships/slideLayout" Target="../slideLayouts/slideLayout5.xml"/><Relationship Id="rId4" Type="http://schemas.openxmlformats.org/officeDocument/2006/relationships/image" Target="../media/image34.png"/></Relationships>
</file>

<file path=ppt/slides/_rels/slide2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7.xml"/><Relationship Id="rId1" Type="http://schemas.openxmlformats.org/officeDocument/2006/relationships/slideLayout" Target="../slideLayouts/slideLayout5.xml"/><Relationship Id="rId4" Type="http://schemas.openxmlformats.org/officeDocument/2006/relationships/image" Target="../media/image35.png"/></Relationships>
</file>

<file path=ppt/slides/_rels/slide28.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28.xml"/><Relationship Id="rId1" Type="http://schemas.openxmlformats.org/officeDocument/2006/relationships/slideLayout" Target="../slideLayouts/slideLayout5.xml"/><Relationship Id="rId6" Type="http://schemas.openxmlformats.org/officeDocument/2006/relationships/image" Target="../media/image1.png"/><Relationship Id="rId5" Type="http://schemas.openxmlformats.org/officeDocument/2006/relationships/image" Target="../media/image38.png"/><Relationship Id="rId4" Type="http://schemas.openxmlformats.org/officeDocument/2006/relationships/image" Target="../media/image37.png"/></Relationships>
</file>

<file path=ppt/slides/_rels/slide29.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29.xml"/><Relationship Id="rId1" Type="http://schemas.openxmlformats.org/officeDocument/2006/relationships/slideLayout" Target="../slideLayouts/slideLayout5.xml"/><Relationship Id="rId4" Type="http://schemas.openxmlformats.org/officeDocument/2006/relationships/image" Target="../media/image1.png"/></Relationships>
</file>

<file path=ppt/slides/_rels/slide30.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30.xml"/><Relationship Id="rId1" Type="http://schemas.openxmlformats.org/officeDocument/2006/relationships/slideLayout" Target="../slideLayouts/slideLayout5.xml"/><Relationship Id="rId5" Type="http://schemas.openxmlformats.org/officeDocument/2006/relationships/image" Target="../media/image1.png"/><Relationship Id="rId4" Type="http://schemas.openxmlformats.org/officeDocument/2006/relationships/image" Target="../media/image41.png"/></Relationships>
</file>

<file path=ppt/slides/_rels/slide31.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31.xml"/><Relationship Id="rId1" Type="http://schemas.openxmlformats.org/officeDocument/2006/relationships/slideLayout" Target="../slideLayouts/slideLayout5.xml"/><Relationship Id="rId4" Type="http://schemas.openxmlformats.org/officeDocument/2006/relationships/image" Target="../media/image1.png"/></Relationships>
</file>

<file path=ppt/slides/_rels/slide32.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32.xml"/><Relationship Id="rId1" Type="http://schemas.openxmlformats.org/officeDocument/2006/relationships/slideLayout" Target="../slideLayouts/slideLayout5.xml"/><Relationship Id="rId6" Type="http://schemas.openxmlformats.org/officeDocument/2006/relationships/image" Target="../media/image1.png"/><Relationship Id="rId5" Type="http://schemas.openxmlformats.org/officeDocument/2006/relationships/image" Target="../media/image45.png"/><Relationship Id="rId4" Type="http://schemas.openxmlformats.org/officeDocument/2006/relationships/image" Target="../media/image44.png"/></Relationships>
</file>

<file path=ppt/slides/_rels/slide33.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33.xml"/><Relationship Id="rId1" Type="http://schemas.openxmlformats.org/officeDocument/2006/relationships/slideLayout" Target="../slideLayouts/slideLayout5.xml"/><Relationship Id="rId4" Type="http://schemas.openxmlformats.org/officeDocument/2006/relationships/image" Target="../media/image1.png"/></Relationships>
</file>

<file path=ppt/slides/_rels/slide34.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34.xml"/><Relationship Id="rId1" Type="http://schemas.openxmlformats.org/officeDocument/2006/relationships/slideLayout" Target="../slideLayouts/slideLayout5.xml"/><Relationship Id="rId6" Type="http://schemas.openxmlformats.org/officeDocument/2006/relationships/image" Target="../media/image1.png"/><Relationship Id="rId5" Type="http://schemas.openxmlformats.org/officeDocument/2006/relationships/image" Target="../media/image49.png"/><Relationship Id="rId4" Type="http://schemas.openxmlformats.org/officeDocument/2006/relationships/image" Target="../media/image48.png"/></Relationships>
</file>

<file path=ppt/slides/_rels/slide35.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notesSlide" Target="../notesSlides/notesSlide35.xml"/><Relationship Id="rId1" Type="http://schemas.openxmlformats.org/officeDocument/2006/relationships/slideLayout" Target="../slideLayouts/slideLayout5.xml"/><Relationship Id="rId4" Type="http://schemas.openxmlformats.org/officeDocument/2006/relationships/image" Target="../media/image1.png"/></Relationships>
</file>

<file path=ppt/slides/_rels/slide3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6.xml"/><Relationship Id="rId1" Type="http://schemas.openxmlformats.org/officeDocument/2006/relationships/slideLayout" Target="../slideLayouts/slideLayout5.xml"/></Relationships>
</file>

<file path=ppt/slides/_rels/slide3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7.xml"/><Relationship Id="rId1" Type="http://schemas.openxmlformats.org/officeDocument/2006/relationships/slideLayout" Target="../slideLayouts/slideLayout5.xml"/></Relationships>
</file>

<file path=ppt/slides/_rels/slide38.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notesSlide" Target="../notesSlides/notesSlide38.xml"/><Relationship Id="rId1" Type="http://schemas.openxmlformats.org/officeDocument/2006/relationships/slideLayout" Target="../slideLayouts/slideLayout5.xml"/><Relationship Id="rId4" Type="http://schemas.openxmlformats.org/officeDocument/2006/relationships/image" Target="../media/image1.png"/></Relationships>
</file>

<file path=ppt/slides/_rels/slide39.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notesSlide" Target="../notesSlides/notesSlide39.xml"/><Relationship Id="rId1" Type="http://schemas.openxmlformats.org/officeDocument/2006/relationships/slideLayout" Target="../slideLayouts/slideLayout5.xml"/><Relationship Id="rId4" Type="http://schemas.openxmlformats.org/officeDocument/2006/relationships/image" Target="../media/image1.png"/></Relationships>
</file>

<file path=ppt/slides/_rels/slide4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0.xml"/><Relationship Id="rId1" Type="http://schemas.openxmlformats.org/officeDocument/2006/relationships/slideLayout" Target="../slideLayouts/slideLayout5.xml"/></Relationships>
</file>

<file path=ppt/slides/_rels/slide4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1.xml"/><Relationship Id="rId1" Type="http://schemas.openxmlformats.org/officeDocument/2006/relationships/slideLayout" Target="../slideLayouts/slideLayout5.xml"/></Relationships>
</file>

<file path=ppt/slides/_rels/slide42.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42.xml"/><Relationship Id="rId1" Type="http://schemas.openxmlformats.org/officeDocument/2006/relationships/slideLayout" Target="../slideLayouts/slideLayout5.xml"/><Relationship Id="rId5" Type="http://schemas.openxmlformats.org/officeDocument/2006/relationships/image" Target="../media/image1.png"/><Relationship Id="rId4" Type="http://schemas.openxmlformats.org/officeDocument/2006/relationships/chart" Target="../charts/chart2.xml"/></Relationships>
</file>

<file path=ppt/slides/_rels/slide4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3.xml"/><Relationship Id="rId1" Type="http://schemas.openxmlformats.org/officeDocument/2006/relationships/slideLayout" Target="../slideLayouts/slideLayout4.xml"/></Relationships>
</file>

<file path=ppt/slides/_rels/slide4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4.xml"/><Relationship Id="rId1" Type="http://schemas.openxmlformats.org/officeDocument/2006/relationships/slideLayout" Target="../slideLayouts/slideLayout5.xml"/></Relationships>
</file>

<file path=ppt/slides/_rels/slide45.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45.xml"/><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8"/>
          <p:cNvSpPr>
            <a:spLocks noGrp="1"/>
          </p:cNvSpPr>
          <p:nvPr>
            <p:ph type="title" idx="108" hasCustomPrompt="1"/>
          </p:nvPr>
        </p:nvSpPr>
        <p:spPr>
          <a:xfrm>
            <a:off x="548640" y="1234440"/>
            <a:ext cx="5760720" cy="1371600"/>
          </a:xfrm>
          <a:prstGeom prst="rect">
            <a:avLst/>
          </a:prstGeom>
          <a:noFill/>
          <a:ln/>
        </p:spPr>
        <p:txBody>
          <a:bodyPr wrap="square" lIns="0" tIns="0" rIns="0" bIns="0" rtlCol="0" anchor="t"/>
          <a:lstStyle/>
          <a:p>
            <a:r>
              <a:rPr lang="en-US" sz="3600" dirty="0" err="1"/>
              <a:t>Teratec</a:t>
            </a:r>
            <a:r>
              <a:rPr lang="en-US" sz="3600" dirty="0"/>
              <a:t> Masterclass</a:t>
            </a:r>
            <a:r>
              <a:rPr lang="en-US" sz="3600" dirty="0">
                <a:solidFill>
                  <a:schemeClr val="tx1"/>
                </a:solidFill>
              </a:rPr>
              <a:t>: </a:t>
            </a:r>
            <a:br>
              <a:rPr lang="en-US" sz="4000" dirty="0">
                <a:solidFill>
                  <a:schemeClr val="tx1"/>
                </a:solidFill>
              </a:rPr>
            </a:br>
            <a:r>
              <a:rPr lang="en-GB" sz="3200" b="1" dirty="0"/>
              <a:t>Quantum Computing for Multiphysics Simulation</a:t>
            </a:r>
            <a:endParaRPr lang="en-US" sz="3200" dirty="0"/>
          </a:p>
        </p:txBody>
      </p:sp>
      <p:sp>
        <p:nvSpPr>
          <p:cNvPr id="3" name="Text 8"/>
          <p:cNvSpPr>
            <a:spLocks noGrp="1"/>
          </p:cNvSpPr>
          <p:nvPr>
            <p:ph type="body" idx="109" hasCustomPrompt="1"/>
          </p:nvPr>
        </p:nvSpPr>
        <p:spPr>
          <a:xfrm>
            <a:off x="548640" y="2697480"/>
            <a:ext cx="5760720" cy="457200"/>
          </a:xfrm>
          <a:prstGeom prst="rect">
            <a:avLst/>
          </a:prstGeom>
          <a:noFill/>
          <a:ln/>
        </p:spPr>
        <p:txBody>
          <a:bodyPr wrap="square" lIns="0" tIns="0" rIns="0" bIns="0" rtlCol="0" anchor="t"/>
          <a:lstStyle/>
          <a:p>
            <a:pPr marL="0" indent="0" algn="l">
              <a:buNone/>
            </a:pPr>
            <a:r>
              <a:rPr lang="en-US" sz="2000" dirty="0">
                <a:solidFill>
                  <a:schemeClr val="tx2"/>
                </a:solidFill>
              </a:rPr>
              <a:t>[</a:t>
            </a:r>
            <a:r>
              <a:rPr lang="en-US" dirty="0"/>
              <a:t>October</a:t>
            </a:r>
            <a:r>
              <a:rPr lang="en-US" sz="2000" dirty="0">
                <a:solidFill>
                  <a:schemeClr val="tx2"/>
                </a:solidFill>
              </a:rPr>
              <a:t> </a:t>
            </a:r>
            <a:r>
              <a:rPr lang="en-US" dirty="0"/>
              <a:t>20</a:t>
            </a:r>
            <a:r>
              <a:rPr lang="en-US" sz="2000" dirty="0">
                <a:solidFill>
                  <a:schemeClr val="tx2"/>
                </a:solidFill>
              </a:rPr>
              <a:t>, 2026] | [14</a:t>
            </a:r>
            <a:r>
              <a:rPr lang="en-US" dirty="0"/>
              <a:t>h-16h</a:t>
            </a:r>
            <a:r>
              <a:rPr lang="en-US" sz="2000" dirty="0">
                <a:solidFill>
                  <a:schemeClr val="tx2"/>
                </a:solidFill>
              </a:rPr>
              <a:t> CET </a:t>
            </a:r>
            <a:r>
              <a:rPr lang="en-US" dirty="0"/>
              <a:t>]</a:t>
            </a:r>
            <a:endParaRPr lang="en-US" sz="2000" dirty="0"/>
          </a:p>
        </p:txBody>
      </p:sp>
      <p:sp>
        <p:nvSpPr>
          <p:cNvPr id="9" name="Speaker 1 card"/>
          <p:cNvSpPr/>
          <p:nvPr/>
        </p:nvSpPr>
        <p:spPr>
          <a:xfrm>
            <a:off x="548640" y="3429000"/>
            <a:ext cx="1737360" cy="2606040"/>
          </a:xfrm>
          <a:prstGeom prst="roundRect">
            <a:avLst>
              <a:gd name="adj" fmla="val 6316"/>
            </a:avLst>
          </a:prstGeom>
          <a:solidFill>
            <a:schemeClr val="bg2"/>
          </a:solidFill>
          <a:ln w="9525">
            <a:solidFill>
              <a:schemeClr val="accent5"/>
            </a:solidFill>
            <a:prstDash val="solid"/>
          </a:ln>
        </p:spPr>
        <p:txBody>
          <a:bodyPr/>
          <a:lstStyle/>
          <a:p>
            <a:endParaRPr lang="fr-FR"/>
          </a:p>
        </p:txBody>
      </p:sp>
      <p:sp>
        <p:nvSpPr>
          <p:cNvPr id="10" name="Speaker 1 photo placeholder"/>
          <p:cNvSpPr/>
          <p:nvPr/>
        </p:nvSpPr>
        <p:spPr>
          <a:xfrm>
            <a:off x="1069848" y="3749040"/>
            <a:ext cx="694944" cy="694944"/>
          </a:xfrm>
          <a:prstGeom prst="ellipse">
            <a:avLst/>
          </a:prstGeom>
          <a:solidFill>
            <a:schemeClr val="accent4"/>
          </a:solidFill>
          <a:ln/>
        </p:spPr>
        <p:txBody>
          <a:bodyPr/>
          <a:lstStyle/>
          <a:p>
            <a:endParaRPr lang="fr-FR"/>
          </a:p>
        </p:txBody>
      </p:sp>
      <p:sp>
        <p:nvSpPr>
          <p:cNvPr id="12" name="Shape 10"/>
          <p:cNvSpPr/>
          <p:nvPr/>
        </p:nvSpPr>
        <p:spPr>
          <a:xfrm>
            <a:off x="640080" y="5340096"/>
            <a:ext cx="1554480" cy="603504"/>
          </a:xfrm>
          <a:prstGeom prst="roundRect">
            <a:avLst>
              <a:gd name="adj" fmla="val 12121"/>
            </a:avLst>
          </a:prstGeom>
          <a:solidFill>
            <a:schemeClr val="tx1"/>
          </a:solidFill>
          <a:ln/>
        </p:spPr>
        <p:txBody>
          <a:bodyPr/>
          <a:lstStyle/>
          <a:p>
            <a:endParaRPr lang="fr-FR"/>
          </a:p>
        </p:txBody>
      </p:sp>
      <p:sp>
        <p:nvSpPr>
          <p:cNvPr id="13" name="Shape 11"/>
          <p:cNvSpPr/>
          <p:nvPr/>
        </p:nvSpPr>
        <p:spPr>
          <a:xfrm>
            <a:off x="2039112" y="5431536"/>
            <a:ext cx="64008" cy="64008"/>
          </a:xfrm>
          <a:prstGeom prst="ellipse">
            <a:avLst/>
          </a:prstGeom>
          <a:solidFill>
            <a:schemeClr val="accent2"/>
          </a:solidFill>
          <a:ln/>
        </p:spPr>
        <p:txBody>
          <a:bodyPr/>
          <a:lstStyle/>
          <a:p>
            <a:endParaRPr lang="fr-FR"/>
          </a:p>
        </p:txBody>
      </p:sp>
      <p:sp>
        <p:nvSpPr>
          <p:cNvPr id="14" name="Text 12"/>
          <p:cNvSpPr txBox="1"/>
          <p:nvPr/>
        </p:nvSpPr>
        <p:spPr>
          <a:xfrm>
            <a:off x="749808" y="5394960"/>
            <a:ext cx="1280160" cy="493776"/>
          </a:xfrm>
          <a:prstGeom prst="rect">
            <a:avLst/>
          </a:prstGeom>
          <a:noFill/>
          <a:ln/>
        </p:spPr>
        <p:txBody>
          <a:bodyPr wrap="square" lIns="0" tIns="0" rIns="0" bIns="0" rtlCol="0" anchor="ctr"/>
          <a:lstStyle/>
          <a:p>
            <a:pPr marL="0" indent="0">
              <a:spcAft>
                <a:spcPts val="100"/>
              </a:spcAft>
              <a:buNone/>
            </a:pPr>
            <a:r>
              <a:rPr lang="en-US" sz="1100" b="1" dirty="0">
                <a:solidFill>
                  <a:schemeClr val="bg1"/>
                </a:solidFill>
              </a:rPr>
              <a:t>Karla BAUMANN</a:t>
            </a:r>
            <a:endParaRPr lang="en-US" sz="1100" dirty="0"/>
          </a:p>
          <a:p>
            <a:pPr marL="0" indent="0">
              <a:spcAft>
                <a:spcPts val="100"/>
              </a:spcAft>
              <a:buNone/>
            </a:pPr>
            <a:r>
              <a:rPr lang="en-US" sz="1000" dirty="0">
                <a:solidFill>
                  <a:schemeClr val="accent6"/>
                </a:solidFill>
              </a:rPr>
              <a:t>Quantum Solutions Architect</a:t>
            </a:r>
            <a:endParaRPr lang="en-US" sz="1100" dirty="0"/>
          </a:p>
        </p:txBody>
      </p:sp>
      <p:sp>
        <p:nvSpPr>
          <p:cNvPr id="15" name="Speaker 2 card"/>
          <p:cNvSpPr/>
          <p:nvPr/>
        </p:nvSpPr>
        <p:spPr>
          <a:xfrm>
            <a:off x="3090672" y="3424428"/>
            <a:ext cx="1737360" cy="2606040"/>
          </a:xfrm>
          <a:prstGeom prst="roundRect">
            <a:avLst>
              <a:gd name="adj" fmla="val 6316"/>
            </a:avLst>
          </a:prstGeom>
          <a:solidFill>
            <a:schemeClr val="bg2"/>
          </a:solidFill>
          <a:ln w="9525">
            <a:solidFill>
              <a:schemeClr val="accent5"/>
            </a:solidFill>
            <a:prstDash val="solid"/>
          </a:ln>
        </p:spPr>
        <p:txBody>
          <a:bodyPr/>
          <a:lstStyle/>
          <a:p>
            <a:endParaRPr lang="fr-FR"/>
          </a:p>
        </p:txBody>
      </p:sp>
      <p:sp>
        <p:nvSpPr>
          <p:cNvPr id="18" name="Shape 16"/>
          <p:cNvSpPr/>
          <p:nvPr/>
        </p:nvSpPr>
        <p:spPr>
          <a:xfrm>
            <a:off x="3182112" y="5335524"/>
            <a:ext cx="1554480" cy="603504"/>
          </a:xfrm>
          <a:prstGeom prst="roundRect">
            <a:avLst>
              <a:gd name="adj" fmla="val 12121"/>
            </a:avLst>
          </a:prstGeom>
          <a:solidFill>
            <a:schemeClr val="tx1"/>
          </a:solidFill>
          <a:ln/>
        </p:spPr>
        <p:txBody>
          <a:bodyPr/>
          <a:lstStyle/>
          <a:p>
            <a:endParaRPr lang="fr-FR"/>
          </a:p>
        </p:txBody>
      </p:sp>
      <p:sp>
        <p:nvSpPr>
          <p:cNvPr id="19" name="Shape 17"/>
          <p:cNvSpPr/>
          <p:nvPr/>
        </p:nvSpPr>
        <p:spPr>
          <a:xfrm>
            <a:off x="4581144" y="5426964"/>
            <a:ext cx="64008" cy="64008"/>
          </a:xfrm>
          <a:prstGeom prst="ellipse">
            <a:avLst/>
          </a:prstGeom>
          <a:solidFill>
            <a:schemeClr val="accent2"/>
          </a:solidFill>
          <a:ln/>
        </p:spPr>
        <p:txBody>
          <a:bodyPr/>
          <a:lstStyle/>
          <a:p>
            <a:endParaRPr lang="fr-FR"/>
          </a:p>
        </p:txBody>
      </p:sp>
      <p:sp>
        <p:nvSpPr>
          <p:cNvPr id="20" name="Text 18"/>
          <p:cNvSpPr txBox="1"/>
          <p:nvPr/>
        </p:nvSpPr>
        <p:spPr>
          <a:xfrm>
            <a:off x="3291840" y="5390388"/>
            <a:ext cx="1280160" cy="493776"/>
          </a:xfrm>
          <a:prstGeom prst="rect">
            <a:avLst/>
          </a:prstGeom>
          <a:noFill/>
          <a:ln/>
        </p:spPr>
        <p:txBody>
          <a:bodyPr wrap="square" lIns="0" tIns="0" rIns="0" bIns="0" rtlCol="0" anchor="ctr"/>
          <a:lstStyle/>
          <a:p>
            <a:pPr marL="0" indent="0">
              <a:spcAft>
                <a:spcPts val="100"/>
              </a:spcAft>
              <a:buNone/>
            </a:pPr>
            <a:r>
              <a:rPr lang="en-US" sz="1100" b="1" dirty="0">
                <a:solidFill>
                  <a:schemeClr val="bg1"/>
                </a:solidFill>
              </a:rPr>
              <a:t>Romain LOGEAN</a:t>
            </a:r>
            <a:endParaRPr lang="en-US" sz="1100" dirty="0"/>
          </a:p>
          <a:p>
            <a:pPr marL="0" indent="0">
              <a:spcAft>
                <a:spcPts val="100"/>
              </a:spcAft>
              <a:buNone/>
            </a:pPr>
            <a:r>
              <a:rPr lang="en-US" sz="1000" dirty="0">
                <a:solidFill>
                  <a:schemeClr val="accent6"/>
                </a:solidFill>
              </a:rPr>
              <a:t>Quantum Solutions  Architect</a:t>
            </a:r>
            <a:endParaRPr lang="en-US" sz="1100" dirty="0"/>
          </a:p>
        </p:txBody>
      </p:sp>
      <p:sp>
        <p:nvSpPr>
          <p:cNvPr id="27" name="Hero panel"/>
          <p:cNvSpPr/>
          <p:nvPr/>
        </p:nvSpPr>
        <p:spPr>
          <a:xfrm>
            <a:off x="6583680" y="1234440"/>
            <a:ext cx="5059375" cy="4800600"/>
          </a:xfrm>
          <a:prstGeom prst="roundRect">
            <a:avLst>
              <a:gd name="adj" fmla="val 3810"/>
            </a:avLst>
          </a:prstGeom>
          <a:solidFill>
            <a:schemeClr val="bg2"/>
          </a:solidFill>
          <a:ln w="12700">
            <a:solidFill>
              <a:schemeClr val="accent1"/>
            </a:solidFill>
            <a:prstDash val="solid"/>
          </a:ln>
        </p:spPr>
        <p:txBody>
          <a:bodyPr/>
          <a:lstStyle/>
          <a:p>
            <a:endParaRPr lang="fr-FR"/>
          </a:p>
        </p:txBody>
      </p:sp>
      <p:sp>
        <p:nvSpPr>
          <p:cNvPr id="28" name="Shape 26"/>
          <p:cNvSpPr/>
          <p:nvPr/>
        </p:nvSpPr>
        <p:spPr>
          <a:xfrm>
            <a:off x="6675120" y="1920240"/>
            <a:ext cx="4876495" cy="0"/>
          </a:xfrm>
          <a:prstGeom prst="line">
            <a:avLst/>
          </a:prstGeom>
          <a:noFill/>
          <a:ln w="9525">
            <a:solidFill>
              <a:srgbClr val="202842"/>
            </a:solidFill>
            <a:prstDash val="solid"/>
          </a:ln>
        </p:spPr>
        <p:txBody>
          <a:bodyPr/>
          <a:lstStyle/>
          <a:p>
            <a:endParaRPr lang="fr-FR"/>
          </a:p>
        </p:txBody>
      </p:sp>
      <p:sp>
        <p:nvSpPr>
          <p:cNvPr id="29" name="Shape 27"/>
          <p:cNvSpPr/>
          <p:nvPr/>
        </p:nvSpPr>
        <p:spPr>
          <a:xfrm>
            <a:off x="6675120" y="2606040"/>
            <a:ext cx="4876495" cy="0"/>
          </a:xfrm>
          <a:prstGeom prst="line">
            <a:avLst/>
          </a:prstGeom>
          <a:noFill/>
          <a:ln w="9525">
            <a:solidFill>
              <a:srgbClr val="202842"/>
            </a:solidFill>
            <a:prstDash val="solid"/>
          </a:ln>
        </p:spPr>
        <p:txBody>
          <a:bodyPr/>
          <a:lstStyle/>
          <a:p>
            <a:endParaRPr lang="fr-FR"/>
          </a:p>
        </p:txBody>
      </p:sp>
      <p:sp>
        <p:nvSpPr>
          <p:cNvPr id="30" name="Shape 28"/>
          <p:cNvSpPr/>
          <p:nvPr/>
        </p:nvSpPr>
        <p:spPr>
          <a:xfrm>
            <a:off x="6675120" y="3291840"/>
            <a:ext cx="4876495" cy="0"/>
          </a:xfrm>
          <a:prstGeom prst="line">
            <a:avLst/>
          </a:prstGeom>
          <a:noFill/>
          <a:ln w="9525">
            <a:solidFill>
              <a:srgbClr val="202842"/>
            </a:solidFill>
            <a:prstDash val="solid"/>
          </a:ln>
        </p:spPr>
        <p:txBody>
          <a:bodyPr/>
          <a:lstStyle/>
          <a:p>
            <a:endParaRPr lang="fr-FR"/>
          </a:p>
        </p:txBody>
      </p:sp>
      <p:sp>
        <p:nvSpPr>
          <p:cNvPr id="31" name="Shape 29"/>
          <p:cNvSpPr/>
          <p:nvPr/>
        </p:nvSpPr>
        <p:spPr>
          <a:xfrm>
            <a:off x="6675120" y="3977640"/>
            <a:ext cx="4876495" cy="0"/>
          </a:xfrm>
          <a:prstGeom prst="line">
            <a:avLst/>
          </a:prstGeom>
          <a:noFill/>
          <a:ln w="9525">
            <a:solidFill>
              <a:srgbClr val="202842"/>
            </a:solidFill>
            <a:prstDash val="solid"/>
          </a:ln>
        </p:spPr>
        <p:txBody>
          <a:bodyPr/>
          <a:lstStyle/>
          <a:p>
            <a:endParaRPr lang="fr-FR"/>
          </a:p>
        </p:txBody>
      </p:sp>
      <p:sp>
        <p:nvSpPr>
          <p:cNvPr id="32" name="Shape 30"/>
          <p:cNvSpPr/>
          <p:nvPr/>
        </p:nvSpPr>
        <p:spPr>
          <a:xfrm>
            <a:off x="6675120" y="4663440"/>
            <a:ext cx="4876495" cy="0"/>
          </a:xfrm>
          <a:prstGeom prst="line">
            <a:avLst/>
          </a:prstGeom>
          <a:noFill/>
          <a:ln w="9525">
            <a:solidFill>
              <a:srgbClr val="202842"/>
            </a:solidFill>
            <a:prstDash val="solid"/>
          </a:ln>
        </p:spPr>
        <p:txBody>
          <a:bodyPr/>
          <a:lstStyle/>
          <a:p>
            <a:endParaRPr lang="fr-FR"/>
          </a:p>
        </p:txBody>
      </p:sp>
      <p:sp>
        <p:nvSpPr>
          <p:cNvPr id="33" name="Shape 31"/>
          <p:cNvSpPr/>
          <p:nvPr/>
        </p:nvSpPr>
        <p:spPr>
          <a:xfrm>
            <a:off x="6675120" y="5349240"/>
            <a:ext cx="4876495" cy="0"/>
          </a:xfrm>
          <a:prstGeom prst="line">
            <a:avLst/>
          </a:prstGeom>
          <a:noFill/>
          <a:ln w="9525">
            <a:solidFill>
              <a:srgbClr val="202842"/>
            </a:solidFill>
            <a:prstDash val="solid"/>
          </a:ln>
        </p:spPr>
        <p:txBody>
          <a:bodyPr/>
          <a:lstStyle/>
          <a:p>
            <a:endParaRPr lang="fr-FR"/>
          </a:p>
        </p:txBody>
      </p:sp>
      <p:sp>
        <p:nvSpPr>
          <p:cNvPr id="34" name="Shape 32"/>
          <p:cNvSpPr/>
          <p:nvPr/>
        </p:nvSpPr>
        <p:spPr>
          <a:xfrm>
            <a:off x="7306448" y="1325880"/>
            <a:ext cx="0" cy="4617720"/>
          </a:xfrm>
          <a:prstGeom prst="line">
            <a:avLst/>
          </a:prstGeom>
          <a:noFill/>
          <a:ln w="9525">
            <a:solidFill>
              <a:srgbClr val="202842"/>
            </a:solidFill>
            <a:prstDash val="solid"/>
          </a:ln>
        </p:spPr>
        <p:txBody>
          <a:bodyPr/>
          <a:lstStyle/>
          <a:p>
            <a:endParaRPr lang="fr-FR"/>
          </a:p>
        </p:txBody>
      </p:sp>
      <p:sp>
        <p:nvSpPr>
          <p:cNvPr id="35" name="Shape 33"/>
          <p:cNvSpPr/>
          <p:nvPr/>
        </p:nvSpPr>
        <p:spPr>
          <a:xfrm>
            <a:off x="8029216" y="1325880"/>
            <a:ext cx="0" cy="4617720"/>
          </a:xfrm>
          <a:prstGeom prst="line">
            <a:avLst/>
          </a:prstGeom>
          <a:noFill/>
          <a:ln w="9525">
            <a:solidFill>
              <a:srgbClr val="202842"/>
            </a:solidFill>
            <a:prstDash val="solid"/>
          </a:ln>
        </p:spPr>
        <p:txBody>
          <a:bodyPr/>
          <a:lstStyle/>
          <a:p>
            <a:endParaRPr lang="fr-FR"/>
          </a:p>
        </p:txBody>
      </p:sp>
      <p:sp>
        <p:nvSpPr>
          <p:cNvPr id="36" name="Shape 34"/>
          <p:cNvSpPr/>
          <p:nvPr/>
        </p:nvSpPr>
        <p:spPr>
          <a:xfrm>
            <a:off x="8751984" y="1325880"/>
            <a:ext cx="0" cy="4617720"/>
          </a:xfrm>
          <a:prstGeom prst="line">
            <a:avLst/>
          </a:prstGeom>
          <a:noFill/>
          <a:ln w="9525">
            <a:solidFill>
              <a:srgbClr val="202842"/>
            </a:solidFill>
            <a:prstDash val="solid"/>
          </a:ln>
        </p:spPr>
        <p:txBody>
          <a:bodyPr/>
          <a:lstStyle/>
          <a:p>
            <a:endParaRPr lang="fr-FR"/>
          </a:p>
        </p:txBody>
      </p:sp>
      <p:sp>
        <p:nvSpPr>
          <p:cNvPr id="37" name="Shape 35"/>
          <p:cNvSpPr/>
          <p:nvPr/>
        </p:nvSpPr>
        <p:spPr>
          <a:xfrm>
            <a:off x="9474752" y="1325880"/>
            <a:ext cx="0" cy="4617720"/>
          </a:xfrm>
          <a:prstGeom prst="line">
            <a:avLst/>
          </a:prstGeom>
          <a:noFill/>
          <a:ln w="9525">
            <a:solidFill>
              <a:srgbClr val="202842"/>
            </a:solidFill>
            <a:prstDash val="solid"/>
          </a:ln>
        </p:spPr>
        <p:txBody>
          <a:bodyPr/>
          <a:lstStyle/>
          <a:p>
            <a:endParaRPr lang="fr-FR"/>
          </a:p>
        </p:txBody>
      </p:sp>
      <p:sp>
        <p:nvSpPr>
          <p:cNvPr id="38" name="Shape 36"/>
          <p:cNvSpPr/>
          <p:nvPr/>
        </p:nvSpPr>
        <p:spPr>
          <a:xfrm>
            <a:off x="10197519" y="1325880"/>
            <a:ext cx="0" cy="4617720"/>
          </a:xfrm>
          <a:prstGeom prst="line">
            <a:avLst/>
          </a:prstGeom>
          <a:noFill/>
          <a:ln w="9525">
            <a:solidFill>
              <a:srgbClr val="202842"/>
            </a:solidFill>
            <a:prstDash val="solid"/>
          </a:ln>
        </p:spPr>
        <p:txBody>
          <a:bodyPr/>
          <a:lstStyle/>
          <a:p>
            <a:endParaRPr lang="fr-FR"/>
          </a:p>
        </p:txBody>
      </p:sp>
      <p:sp>
        <p:nvSpPr>
          <p:cNvPr id="39" name="Shape 37"/>
          <p:cNvSpPr/>
          <p:nvPr/>
        </p:nvSpPr>
        <p:spPr>
          <a:xfrm>
            <a:off x="10920287" y="1325880"/>
            <a:ext cx="0" cy="4617720"/>
          </a:xfrm>
          <a:prstGeom prst="line">
            <a:avLst/>
          </a:prstGeom>
          <a:noFill/>
          <a:ln w="9525">
            <a:solidFill>
              <a:srgbClr val="202842"/>
            </a:solidFill>
            <a:prstDash val="solid"/>
          </a:ln>
        </p:spPr>
        <p:txBody>
          <a:bodyPr/>
          <a:lstStyle/>
          <a:p>
            <a:endParaRPr lang="fr-FR"/>
          </a:p>
        </p:txBody>
      </p:sp>
      <p:sp>
        <p:nvSpPr>
          <p:cNvPr id="40" name="Use case 1"/>
          <p:cNvSpPr/>
          <p:nvPr/>
        </p:nvSpPr>
        <p:spPr>
          <a:xfrm>
            <a:off x="6812280" y="1463040"/>
            <a:ext cx="2057400" cy="1481328"/>
          </a:xfrm>
          <a:prstGeom prst="roundRect">
            <a:avLst>
              <a:gd name="adj" fmla="val 6173"/>
            </a:avLst>
          </a:prstGeom>
          <a:solidFill>
            <a:schemeClr val="accent4"/>
          </a:solidFill>
          <a:ln w="9525">
            <a:solidFill>
              <a:srgbClr val="34406A"/>
            </a:solidFill>
            <a:prstDash val="solid"/>
          </a:ln>
        </p:spPr>
        <p:txBody>
          <a:bodyPr/>
          <a:lstStyle/>
          <a:p>
            <a:endParaRPr lang="fr-FR"/>
          </a:p>
        </p:txBody>
      </p:sp>
      <p:sp>
        <p:nvSpPr>
          <p:cNvPr id="43" name="Shape 41"/>
          <p:cNvSpPr/>
          <p:nvPr/>
        </p:nvSpPr>
        <p:spPr>
          <a:xfrm>
            <a:off x="6949440" y="2194560"/>
            <a:ext cx="1783080" cy="603504"/>
          </a:xfrm>
          <a:prstGeom prst="roundRect">
            <a:avLst>
              <a:gd name="adj" fmla="val 9091"/>
            </a:avLst>
          </a:prstGeom>
          <a:solidFill>
            <a:schemeClr val="bg1"/>
          </a:solidFill>
          <a:ln/>
        </p:spPr>
        <p:txBody>
          <a:bodyPr/>
          <a:lstStyle/>
          <a:p>
            <a:endParaRPr lang="fr-FR"/>
          </a:p>
        </p:txBody>
      </p:sp>
      <p:sp>
        <p:nvSpPr>
          <p:cNvPr id="51" name="Use case 2"/>
          <p:cNvSpPr/>
          <p:nvPr/>
        </p:nvSpPr>
        <p:spPr>
          <a:xfrm>
            <a:off x="9372600" y="1645920"/>
            <a:ext cx="2057400" cy="1481328"/>
          </a:xfrm>
          <a:prstGeom prst="roundRect">
            <a:avLst>
              <a:gd name="adj" fmla="val 6173"/>
            </a:avLst>
          </a:prstGeom>
          <a:solidFill>
            <a:schemeClr val="accent4"/>
          </a:solidFill>
          <a:ln w="9525">
            <a:solidFill>
              <a:srgbClr val="34406A"/>
            </a:solidFill>
            <a:prstDash val="solid"/>
          </a:ln>
        </p:spPr>
        <p:txBody>
          <a:bodyPr/>
          <a:lstStyle/>
          <a:p>
            <a:endParaRPr lang="fr-FR"/>
          </a:p>
        </p:txBody>
      </p:sp>
      <p:sp>
        <p:nvSpPr>
          <p:cNvPr id="52" name="Text 50"/>
          <p:cNvSpPr txBox="1"/>
          <p:nvPr/>
        </p:nvSpPr>
        <p:spPr>
          <a:xfrm>
            <a:off x="9509760" y="1755648"/>
            <a:ext cx="1783080" cy="228600"/>
          </a:xfrm>
          <a:prstGeom prst="rect">
            <a:avLst/>
          </a:prstGeom>
          <a:noFill/>
          <a:ln/>
        </p:spPr>
        <p:txBody>
          <a:bodyPr wrap="square" lIns="0" tIns="0" rIns="0" bIns="0" rtlCol="0" anchor="ctr"/>
          <a:lstStyle/>
          <a:p>
            <a:pPr marL="0" indent="0">
              <a:buNone/>
            </a:pPr>
            <a:r>
              <a:rPr lang="en-US" sz="1000" dirty="0">
                <a:solidFill>
                  <a:schemeClr val="tx2"/>
                </a:solidFill>
              </a:rPr>
              <a:t>Karla Baumann</a:t>
            </a:r>
            <a:endParaRPr lang="en-US" sz="1000" dirty="0"/>
          </a:p>
        </p:txBody>
      </p:sp>
      <p:sp>
        <p:nvSpPr>
          <p:cNvPr id="53" name="Text 51"/>
          <p:cNvSpPr txBox="1"/>
          <p:nvPr/>
        </p:nvSpPr>
        <p:spPr>
          <a:xfrm>
            <a:off x="9509760" y="1993392"/>
            <a:ext cx="1783080" cy="274320"/>
          </a:xfrm>
          <a:prstGeom prst="rect">
            <a:avLst/>
          </a:prstGeom>
          <a:noFill/>
          <a:ln/>
        </p:spPr>
        <p:txBody>
          <a:bodyPr wrap="square" lIns="0" tIns="0" rIns="0" bIns="0" rtlCol="0" anchor="ctr"/>
          <a:lstStyle/>
          <a:p>
            <a:pPr marL="0" indent="0">
              <a:buNone/>
            </a:pPr>
            <a:r>
              <a:rPr lang="en-US" sz="1400" b="1" dirty="0"/>
              <a:t>Fluid Dynamics</a:t>
            </a:r>
            <a:endParaRPr lang="en-US" sz="1400" dirty="0"/>
          </a:p>
        </p:txBody>
      </p:sp>
      <p:sp>
        <p:nvSpPr>
          <p:cNvPr id="54" name="Shape 52"/>
          <p:cNvSpPr/>
          <p:nvPr/>
        </p:nvSpPr>
        <p:spPr>
          <a:xfrm>
            <a:off x="9509760" y="2377440"/>
            <a:ext cx="1783080" cy="603504"/>
          </a:xfrm>
          <a:prstGeom prst="roundRect">
            <a:avLst>
              <a:gd name="adj" fmla="val 9091"/>
            </a:avLst>
          </a:prstGeom>
          <a:solidFill>
            <a:schemeClr val="bg1"/>
          </a:solidFill>
          <a:ln/>
        </p:spPr>
        <p:txBody>
          <a:bodyPr/>
          <a:lstStyle/>
          <a:p>
            <a:endParaRPr lang="fr-FR"/>
          </a:p>
        </p:txBody>
      </p:sp>
      <p:sp>
        <p:nvSpPr>
          <p:cNvPr id="56" name="Shape 54"/>
          <p:cNvSpPr/>
          <p:nvPr/>
        </p:nvSpPr>
        <p:spPr>
          <a:xfrm>
            <a:off x="9843516" y="2729484"/>
            <a:ext cx="64008" cy="64008"/>
          </a:xfrm>
          <a:prstGeom prst="ellipse">
            <a:avLst/>
          </a:prstGeom>
          <a:solidFill>
            <a:schemeClr val="accent3"/>
          </a:solidFill>
          <a:ln/>
        </p:spPr>
        <p:txBody>
          <a:bodyPr/>
          <a:lstStyle/>
          <a:p>
            <a:endParaRPr lang="fr-FR"/>
          </a:p>
        </p:txBody>
      </p:sp>
      <p:sp>
        <p:nvSpPr>
          <p:cNvPr id="57" name="Shape 55"/>
          <p:cNvSpPr/>
          <p:nvPr/>
        </p:nvSpPr>
        <p:spPr>
          <a:xfrm>
            <a:off x="10026396" y="2766060"/>
            <a:ext cx="64008" cy="64008"/>
          </a:xfrm>
          <a:prstGeom prst="ellipse">
            <a:avLst/>
          </a:prstGeom>
          <a:solidFill>
            <a:schemeClr val="accent3"/>
          </a:solidFill>
          <a:ln/>
        </p:spPr>
        <p:txBody>
          <a:bodyPr/>
          <a:lstStyle/>
          <a:p>
            <a:endParaRPr lang="fr-FR"/>
          </a:p>
        </p:txBody>
      </p:sp>
      <p:sp>
        <p:nvSpPr>
          <p:cNvPr id="58" name="Shape 56"/>
          <p:cNvSpPr/>
          <p:nvPr/>
        </p:nvSpPr>
        <p:spPr>
          <a:xfrm>
            <a:off x="10209276" y="2656332"/>
            <a:ext cx="64008" cy="64008"/>
          </a:xfrm>
          <a:prstGeom prst="ellipse">
            <a:avLst/>
          </a:prstGeom>
          <a:solidFill>
            <a:schemeClr val="accent3"/>
          </a:solidFill>
          <a:ln/>
        </p:spPr>
        <p:txBody>
          <a:bodyPr/>
          <a:lstStyle/>
          <a:p>
            <a:endParaRPr lang="fr-FR"/>
          </a:p>
        </p:txBody>
      </p:sp>
      <p:sp>
        <p:nvSpPr>
          <p:cNvPr id="59" name="Shape 57"/>
          <p:cNvSpPr/>
          <p:nvPr/>
        </p:nvSpPr>
        <p:spPr>
          <a:xfrm>
            <a:off x="10392156" y="2619756"/>
            <a:ext cx="64008" cy="64008"/>
          </a:xfrm>
          <a:prstGeom prst="ellipse">
            <a:avLst/>
          </a:prstGeom>
          <a:solidFill>
            <a:schemeClr val="accent3"/>
          </a:solidFill>
          <a:ln/>
        </p:spPr>
        <p:txBody>
          <a:bodyPr/>
          <a:lstStyle/>
          <a:p>
            <a:endParaRPr lang="fr-FR"/>
          </a:p>
        </p:txBody>
      </p:sp>
      <p:sp>
        <p:nvSpPr>
          <p:cNvPr id="60" name="Shape 58"/>
          <p:cNvSpPr/>
          <p:nvPr/>
        </p:nvSpPr>
        <p:spPr>
          <a:xfrm>
            <a:off x="10575036" y="2638044"/>
            <a:ext cx="64008" cy="64008"/>
          </a:xfrm>
          <a:prstGeom prst="ellipse">
            <a:avLst/>
          </a:prstGeom>
          <a:solidFill>
            <a:schemeClr val="accent3"/>
          </a:solidFill>
          <a:ln/>
        </p:spPr>
        <p:txBody>
          <a:bodyPr/>
          <a:lstStyle/>
          <a:p>
            <a:endParaRPr lang="fr-FR"/>
          </a:p>
        </p:txBody>
      </p:sp>
      <p:sp>
        <p:nvSpPr>
          <p:cNvPr id="61" name="Shape 59"/>
          <p:cNvSpPr/>
          <p:nvPr/>
        </p:nvSpPr>
        <p:spPr>
          <a:xfrm>
            <a:off x="10757916" y="2546604"/>
            <a:ext cx="64008" cy="64008"/>
          </a:xfrm>
          <a:prstGeom prst="ellipse">
            <a:avLst/>
          </a:prstGeom>
          <a:solidFill>
            <a:schemeClr val="accent3"/>
          </a:solidFill>
          <a:ln/>
        </p:spPr>
        <p:txBody>
          <a:bodyPr/>
          <a:lstStyle/>
          <a:p>
            <a:endParaRPr lang="fr-FR"/>
          </a:p>
        </p:txBody>
      </p:sp>
      <p:sp>
        <p:nvSpPr>
          <p:cNvPr id="62" name="Shape 60"/>
          <p:cNvSpPr/>
          <p:nvPr/>
        </p:nvSpPr>
        <p:spPr>
          <a:xfrm>
            <a:off x="10940796" y="2510028"/>
            <a:ext cx="64008" cy="64008"/>
          </a:xfrm>
          <a:prstGeom prst="ellipse">
            <a:avLst/>
          </a:prstGeom>
          <a:solidFill>
            <a:schemeClr val="accent3"/>
          </a:solidFill>
          <a:ln/>
        </p:spPr>
        <p:txBody>
          <a:bodyPr/>
          <a:lstStyle/>
          <a:p>
            <a:endParaRPr lang="fr-FR"/>
          </a:p>
        </p:txBody>
      </p:sp>
      <p:sp>
        <p:nvSpPr>
          <p:cNvPr id="64" name="Shape 62"/>
          <p:cNvSpPr/>
          <p:nvPr/>
        </p:nvSpPr>
        <p:spPr>
          <a:xfrm>
            <a:off x="10479024" y="2798064"/>
            <a:ext cx="73152" cy="73152"/>
          </a:xfrm>
          <a:prstGeom prst="ellipse">
            <a:avLst/>
          </a:prstGeom>
          <a:solidFill>
            <a:schemeClr val="accent2"/>
          </a:solidFill>
          <a:ln/>
        </p:spPr>
        <p:txBody>
          <a:bodyPr/>
          <a:lstStyle/>
          <a:p>
            <a:endParaRPr lang="fr-FR"/>
          </a:p>
        </p:txBody>
      </p:sp>
      <p:sp>
        <p:nvSpPr>
          <p:cNvPr id="65" name="Centre label"/>
          <p:cNvSpPr/>
          <p:nvPr/>
        </p:nvSpPr>
        <p:spPr>
          <a:xfrm>
            <a:off x="8229600" y="3310128"/>
            <a:ext cx="1645920" cy="384048"/>
          </a:xfrm>
          <a:prstGeom prst="roundRect">
            <a:avLst>
              <a:gd name="adj" fmla="val 50000"/>
            </a:avLst>
          </a:prstGeom>
          <a:solidFill>
            <a:schemeClr val="bg1"/>
          </a:solidFill>
          <a:ln w="12700">
            <a:solidFill>
              <a:schemeClr val="accent1"/>
            </a:solidFill>
            <a:prstDash val="solid"/>
          </a:ln>
        </p:spPr>
        <p:txBody>
          <a:bodyPr/>
          <a:lstStyle/>
          <a:p>
            <a:endParaRPr lang="fr-FR"/>
          </a:p>
        </p:txBody>
      </p:sp>
      <p:sp>
        <p:nvSpPr>
          <p:cNvPr id="66" name="Text 64"/>
          <p:cNvSpPr txBox="1"/>
          <p:nvPr/>
        </p:nvSpPr>
        <p:spPr>
          <a:xfrm>
            <a:off x="8229600" y="3310128"/>
            <a:ext cx="1645920" cy="384048"/>
          </a:xfrm>
          <a:prstGeom prst="rect">
            <a:avLst/>
          </a:prstGeom>
          <a:noFill/>
          <a:ln/>
        </p:spPr>
        <p:txBody>
          <a:bodyPr wrap="square" lIns="0" tIns="0" rIns="0" bIns="0" rtlCol="0" anchor="ctr"/>
          <a:lstStyle/>
          <a:p>
            <a:pPr marL="0" indent="0" algn="ctr">
              <a:buNone/>
            </a:pPr>
            <a:r>
              <a:rPr lang="en-US" sz="1100" b="1" kern="0" spc="200" dirty="0"/>
              <a:t>Quantum Solutions</a:t>
            </a:r>
            <a:endParaRPr lang="en-US" sz="1100" dirty="0"/>
          </a:p>
        </p:txBody>
      </p:sp>
      <p:pic>
        <p:nvPicPr>
          <p:cNvPr id="89" name="Image 88">
            <a:extLst>
              <a:ext uri="{FF2B5EF4-FFF2-40B4-BE49-F238E27FC236}">
                <a16:creationId xmlns:a16="http://schemas.microsoft.com/office/drawing/2014/main" id="{3168262D-0C42-CECF-3448-124DBC542C50}"/>
              </a:ext>
            </a:extLst>
          </p:cNvPr>
          <p:cNvPicPr>
            <a:picLocks noChangeAspect="1"/>
          </p:cNvPicPr>
          <p:nvPr/>
        </p:nvPicPr>
        <p:blipFill>
          <a:blip r:embed="rId3"/>
          <a:stretch>
            <a:fillRect/>
          </a:stretch>
        </p:blipFill>
        <p:spPr>
          <a:xfrm>
            <a:off x="9724644" y="-443705"/>
            <a:ext cx="2437453" cy="1723866"/>
          </a:xfrm>
          <a:prstGeom prst="rect">
            <a:avLst/>
          </a:prstGeom>
        </p:spPr>
      </p:pic>
      <p:pic>
        <p:nvPicPr>
          <p:cNvPr id="95" name="Image 94" descr="Forum Teratec 2026">
            <a:extLst>
              <a:ext uri="{FF2B5EF4-FFF2-40B4-BE49-F238E27FC236}">
                <a16:creationId xmlns:a16="http://schemas.microsoft.com/office/drawing/2014/main" id="{C3466F25-12AC-D619-C444-9A568ABF6EC9}"/>
              </a:ext>
            </a:extLst>
          </p:cNvPr>
          <p:cNvPicPr>
            <a:picLocks noChangeAspect="1"/>
          </p:cNvPicPr>
          <p:nvPr/>
        </p:nvPicPr>
        <p:blipFill>
          <a:blip r:embed="rId4"/>
          <a:stretch>
            <a:fillRect/>
          </a:stretch>
        </p:blipFill>
        <p:spPr bwMode="auto">
          <a:xfrm>
            <a:off x="0" y="0"/>
            <a:ext cx="2713297" cy="868255"/>
          </a:xfrm>
          <a:prstGeom prst="rect">
            <a:avLst/>
          </a:prstGeom>
        </p:spPr>
      </p:pic>
      <p:sp>
        <p:nvSpPr>
          <p:cNvPr id="97" name="ZoneTexte 96">
            <a:extLst>
              <a:ext uri="{FF2B5EF4-FFF2-40B4-BE49-F238E27FC236}">
                <a16:creationId xmlns:a16="http://schemas.microsoft.com/office/drawing/2014/main" id="{9B33D03F-A648-D3C6-59B1-F330F009B1D1}"/>
              </a:ext>
            </a:extLst>
          </p:cNvPr>
          <p:cNvSpPr txBox="1"/>
          <p:nvPr/>
        </p:nvSpPr>
        <p:spPr>
          <a:xfrm>
            <a:off x="6857537" y="1801888"/>
            <a:ext cx="1732444" cy="307777"/>
          </a:xfrm>
          <a:prstGeom prst="rect">
            <a:avLst/>
          </a:prstGeom>
          <a:noFill/>
        </p:spPr>
        <p:txBody>
          <a:bodyPr wrap="square">
            <a:spAutoFit/>
          </a:bodyPr>
          <a:lstStyle/>
          <a:p>
            <a:r>
              <a:rPr lang="fr-FR" sz="1400" b="1" dirty="0"/>
              <a:t>Silicon Spin Qubits</a:t>
            </a:r>
            <a:endParaRPr lang="fr-FR" sz="1400" dirty="0"/>
          </a:p>
        </p:txBody>
      </p:sp>
      <p:sp>
        <p:nvSpPr>
          <p:cNvPr id="102" name="Shape 16">
            <a:extLst>
              <a:ext uri="{FF2B5EF4-FFF2-40B4-BE49-F238E27FC236}">
                <a16:creationId xmlns:a16="http://schemas.microsoft.com/office/drawing/2014/main" id="{06B9869B-9FE6-30C5-FFA8-C60696118BD8}"/>
              </a:ext>
            </a:extLst>
          </p:cNvPr>
          <p:cNvSpPr/>
          <p:nvPr/>
        </p:nvSpPr>
        <p:spPr>
          <a:xfrm>
            <a:off x="6812280" y="3863966"/>
            <a:ext cx="4629912" cy="2028465"/>
          </a:xfrm>
          <a:prstGeom prst="roundRect">
            <a:avLst>
              <a:gd name="adj" fmla="val 12121"/>
            </a:avLst>
          </a:prstGeom>
          <a:solidFill>
            <a:schemeClr val="tx1"/>
          </a:solidFill>
          <a:ln/>
        </p:spPr>
        <p:txBody>
          <a:bodyPr/>
          <a:lstStyle/>
          <a:p>
            <a:endParaRPr lang="fr-FR"/>
          </a:p>
        </p:txBody>
      </p:sp>
      <p:pic>
        <p:nvPicPr>
          <p:cNvPr id="104" name="Image 103" descr="Quobly: Strategic Analysis of Silicon Quantum Computing and European  Sovereignty">
            <a:extLst>
              <a:ext uri="{FF2B5EF4-FFF2-40B4-BE49-F238E27FC236}">
                <a16:creationId xmlns:a16="http://schemas.microsoft.com/office/drawing/2014/main" id="{3C5BAACD-3134-A2CB-7D82-CE686B995228}"/>
              </a:ext>
            </a:extLst>
          </p:cNvPr>
          <p:cNvPicPr>
            <a:picLocks noChangeAspect="1"/>
          </p:cNvPicPr>
          <p:nvPr/>
        </p:nvPicPr>
        <p:blipFill>
          <a:blip r:embed="rId5">
            <a:alphaModFix/>
          </a:blip>
          <a:stretch>
            <a:fillRect/>
          </a:stretch>
        </p:blipFill>
        <p:spPr>
          <a:xfrm>
            <a:off x="7230019" y="3863966"/>
            <a:ext cx="3848639" cy="2020198"/>
          </a:xfrm>
          <a:prstGeom prst="rect">
            <a:avLst/>
          </a:prstGeom>
        </p:spPr>
      </p:pic>
      <p:pic>
        <p:nvPicPr>
          <p:cNvPr id="4" name="Image 3" descr="SpinPulse">
            <a:extLst>
              <a:ext uri="{FF2B5EF4-FFF2-40B4-BE49-F238E27FC236}">
                <a16:creationId xmlns:a16="http://schemas.microsoft.com/office/drawing/2014/main" id="{621887F8-BEB8-0D1B-C320-AB31C556DB89}"/>
              </a:ext>
            </a:extLst>
          </p:cNvPr>
          <p:cNvPicPr>
            <a:picLocks noChangeAspect="1"/>
          </p:cNvPicPr>
          <p:nvPr/>
        </p:nvPicPr>
        <p:blipFill>
          <a:blip r:embed="rId6"/>
          <a:stretch>
            <a:fillRect/>
          </a:stretch>
        </p:blipFill>
        <p:spPr>
          <a:xfrm>
            <a:off x="7141605" y="2346153"/>
            <a:ext cx="1373941" cy="317724"/>
          </a:xfrm>
          <a:prstGeom prst="rect">
            <a:avLst/>
          </a:prstGeom>
        </p:spPr>
      </p:pic>
      <p:pic>
        <p:nvPicPr>
          <p:cNvPr id="5" name="Image 4" descr="Fluid Mechanics - The University of Nottingham">
            <a:extLst>
              <a:ext uri="{FF2B5EF4-FFF2-40B4-BE49-F238E27FC236}">
                <a16:creationId xmlns:a16="http://schemas.microsoft.com/office/drawing/2014/main" id="{73D82C46-44ED-8277-A737-0F796BBFB200}"/>
              </a:ext>
            </a:extLst>
          </p:cNvPr>
          <p:cNvPicPr>
            <a:picLocks noChangeAspect="1"/>
          </p:cNvPicPr>
          <p:nvPr/>
        </p:nvPicPr>
        <p:blipFill>
          <a:blip r:embed="rId7"/>
          <a:stretch>
            <a:fillRect/>
          </a:stretch>
        </p:blipFill>
        <p:spPr>
          <a:xfrm>
            <a:off x="9749073" y="2481151"/>
            <a:ext cx="1283212" cy="405225"/>
          </a:xfrm>
          <a:prstGeom prst="rect">
            <a:avLst/>
          </a:prstGeom>
        </p:spPr>
      </p:pic>
      <p:sp>
        <p:nvSpPr>
          <p:cNvPr id="7" name="Text 50">
            <a:extLst>
              <a:ext uri="{FF2B5EF4-FFF2-40B4-BE49-F238E27FC236}">
                <a16:creationId xmlns:a16="http://schemas.microsoft.com/office/drawing/2014/main" id="{ED57E31D-FE9E-CBF4-B4B1-6ADC3DA15817}"/>
              </a:ext>
            </a:extLst>
          </p:cNvPr>
          <p:cNvSpPr txBox="1"/>
          <p:nvPr/>
        </p:nvSpPr>
        <p:spPr>
          <a:xfrm>
            <a:off x="6951771" y="1571579"/>
            <a:ext cx="1783080" cy="228600"/>
          </a:xfrm>
          <a:prstGeom prst="rect">
            <a:avLst/>
          </a:prstGeom>
          <a:noFill/>
          <a:ln/>
        </p:spPr>
        <p:txBody>
          <a:bodyPr wrap="square" lIns="0" tIns="0" rIns="0" bIns="0" rtlCol="0" anchor="ctr"/>
          <a:lstStyle/>
          <a:p>
            <a:pPr marL="0" indent="0">
              <a:buNone/>
            </a:pPr>
            <a:r>
              <a:rPr lang="en-US" sz="1000" dirty="0">
                <a:solidFill>
                  <a:schemeClr val="tx2"/>
                </a:solidFill>
              </a:rPr>
              <a:t>Romain </a:t>
            </a:r>
            <a:r>
              <a:rPr lang="en-US" sz="1000" dirty="0" err="1">
                <a:solidFill>
                  <a:schemeClr val="tx2"/>
                </a:solidFill>
              </a:rPr>
              <a:t>Logean</a:t>
            </a:r>
            <a:endParaRPr lang="en-US" sz="1000" dirty="0"/>
          </a:p>
        </p:txBody>
      </p:sp>
      <p:sp>
        <p:nvSpPr>
          <p:cNvPr id="8" name="object 11">
            <a:extLst>
              <a:ext uri="{FF2B5EF4-FFF2-40B4-BE49-F238E27FC236}">
                <a16:creationId xmlns:a16="http://schemas.microsoft.com/office/drawing/2014/main" id="{3D8E978B-A604-17EC-56A0-3AED51023655}"/>
              </a:ext>
            </a:extLst>
          </p:cNvPr>
          <p:cNvSpPr/>
          <p:nvPr/>
        </p:nvSpPr>
        <p:spPr bwMode="auto">
          <a:xfrm>
            <a:off x="7230019" y="3855699"/>
            <a:ext cx="3848639" cy="2036732"/>
          </a:xfrm>
          <a:custGeom>
            <a:avLst/>
            <a:gdLst/>
            <a:ahLst/>
            <a:cxnLst/>
            <a:rect l="l" t="t" r="r" b="b"/>
            <a:pathLst>
              <a:path w="2877819" h="6055359" extrusionOk="0">
                <a:moveTo>
                  <a:pt x="2827528" y="0"/>
                </a:moveTo>
                <a:lnTo>
                  <a:pt x="49784" y="0"/>
                </a:lnTo>
                <a:lnTo>
                  <a:pt x="40018" y="960"/>
                </a:lnTo>
                <a:lnTo>
                  <a:pt x="8358" y="22155"/>
                </a:lnTo>
                <a:lnTo>
                  <a:pt x="0" y="49783"/>
                </a:lnTo>
                <a:lnTo>
                  <a:pt x="0" y="6005067"/>
                </a:lnTo>
                <a:lnTo>
                  <a:pt x="22155" y="6046493"/>
                </a:lnTo>
                <a:lnTo>
                  <a:pt x="49784" y="6054851"/>
                </a:lnTo>
                <a:lnTo>
                  <a:pt x="2827528" y="6054851"/>
                </a:lnTo>
                <a:lnTo>
                  <a:pt x="2868953" y="6032642"/>
                </a:lnTo>
                <a:lnTo>
                  <a:pt x="2877311" y="6005067"/>
                </a:lnTo>
                <a:lnTo>
                  <a:pt x="2877311" y="49783"/>
                </a:lnTo>
                <a:lnTo>
                  <a:pt x="2855156" y="8358"/>
                </a:lnTo>
                <a:lnTo>
                  <a:pt x="2827528" y="0"/>
                </a:lnTo>
                <a:close/>
              </a:path>
            </a:pathLst>
          </a:custGeom>
          <a:solidFill>
            <a:srgbClr val="45577F">
              <a:alpha val="8000"/>
            </a:srgbClr>
          </a:solidFill>
        </p:spPr>
        <p:txBody>
          <a:bodyPr wrap="square" lIns="0" tIns="0" rIns="0" bIns="0" rtlCol="0"/>
          <a:lstStyle/>
          <a:p>
            <a:pPr>
              <a:defRPr/>
            </a:pPr>
            <a:endParaRPr sz="1200"/>
          </a:p>
        </p:txBody>
      </p:sp>
      <p:pic>
        <p:nvPicPr>
          <p:cNvPr id="24" name="Image 23" descr="Profile image">
            <a:extLst>
              <a:ext uri="{FF2B5EF4-FFF2-40B4-BE49-F238E27FC236}">
                <a16:creationId xmlns:a16="http://schemas.microsoft.com/office/drawing/2014/main" id="{74B70EC9-2507-8EBB-8F3A-99ABBFA00952}"/>
              </a:ext>
            </a:extLst>
          </p:cNvPr>
          <p:cNvPicPr>
            <a:picLocks noChangeAspect="1"/>
          </p:cNvPicPr>
          <p:nvPr/>
        </p:nvPicPr>
        <p:blipFill>
          <a:blip r:embed="rId8"/>
          <a:stretch>
            <a:fillRect/>
          </a:stretch>
        </p:blipFill>
        <p:spPr>
          <a:xfrm>
            <a:off x="3191525" y="3603055"/>
            <a:ext cx="1553843" cy="1553843"/>
          </a:xfrm>
          <a:prstGeom prst="rect">
            <a:avLst/>
          </a:prstGeom>
        </p:spPr>
      </p:pic>
      <p:sp>
        <p:nvSpPr>
          <p:cNvPr id="41" name="object 11">
            <a:extLst>
              <a:ext uri="{FF2B5EF4-FFF2-40B4-BE49-F238E27FC236}">
                <a16:creationId xmlns:a16="http://schemas.microsoft.com/office/drawing/2014/main" id="{922015AD-5561-8FDB-7CE7-AD94FFCF3BDB}"/>
              </a:ext>
            </a:extLst>
          </p:cNvPr>
          <p:cNvSpPr/>
          <p:nvPr/>
        </p:nvSpPr>
        <p:spPr bwMode="auto">
          <a:xfrm>
            <a:off x="3182112" y="3591922"/>
            <a:ext cx="1582108" cy="1553843"/>
          </a:xfrm>
          <a:custGeom>
            <a:avLst/>
            <a:gdLst/>
            <a:ahLst/>
            <a:cxnLst/>
            <a:rect l="l" t="t" r="r" b="b"/>
            <a:pathLst>
              <a:path w="2877819" h="6055359" extrusionOk="0">
                <a:moveTo>
                  <a:pt x="2827528" y="0"/>
                </a:moveTo>
                <a:lnTo>
                  <a:pt x="49784" y="0"/>
                </a:lnTo>
                <a:lnTo>
                  <a:pt x="40018" y="960"/>
                </a:lnTo>
                <a:lnTo>
                  <a:pt x="8358" y="22155"/>
                </a:lnTo>
                <a:lnTo>
                  <a:pt x="0" y="49783"/>
                </a:lnTo>
                <a:lnTo>
                  <a:pt x="0" y="6005067"/>
                </a:lnTo>
                <a:lnTo>
                  <a:pt x="22155" y="6046493"/>
                </a:lnTo>
                <a:lnTo>
                  <a:pt x="49784" y="6054851"/>
                </a:lnTo>
                <a:lnTo>
                  <a:pt x="2827528" y="6054851"/>
                </a:lnTo>
                <a:lnTo>
                  <a:pt x="2868953" y="6032642"/>
                </a:lnTo>
                <a:lnTo>
                  <a:pt x="2877311" y="6005067"/>
                </a:lnTo>
                <a:lnTo>
                  <a:pt x="2877311" y="49783"/>
                </a:lnTo>
                <a:lnTo>
                  <a:pt x="2855156" y="8358"/>
                </a:lnTo>
                <a:lnTo>
                  <a:pt x="2827528" y="0"/>
                </a:lnTo>
                <a:close/>
              </a:path>
            </a:pathLst>
          </a:custGeom>
          <a:solidFill>
            <a:srgbClr val="45577F">
              <a:alpha val="43000"/>
            </a:srgbClr>
          </a:solidFill>
        </p:spPr>
        <p:txBody>
          <a:bodyPr wrap="square" lIns="0" tIns="0" rIns="0" bIns="0" rtlCol="0"/>
          <a:lstStyle/>
          <a:p>
            <a:pPr>
              <a:defRPr/>
            </a:pPr>
            <a:endParaRPr sz="1200"/>
          </a:p>
        </p:txBody>
      </p:sp>
      <p:pic>
        <p:nvPicPr>
          <p:cNvPr id="42" name="Image 41" descr="Profile image">
            <a:extLst>
              <a:ext uri="{FF2B5EF4-FFF2-40B4-BE49-F238E27FC236}">
                <a16:creationId xmlns:a16="http://schemas.microsoft.com/office/drawing/2014/main" id="{D7E5974E-44EB-A84E-4194-DFA71947EA3C}"/>
              </a:ext>
            </a:extLst>
          </p:cNvPr>
          <p:cNvPicPr>
            <a:picLocks noChangeAspect="1"/>
          </p:cNvPicPr>
          <p:nvPr/>
        </p:nvPicPr>
        <p:blipFill>
          <a:blip r:embed="rId9"/>
          <a:stretch>
            <a:fillRect/>
          </a:stretch>
        </p:blipFill>
        <p:spPr>
          <a:xfrm>
            <a:off x="657377" y="3610792"/>
            <a:ext cx="1547512" cy="1547512"/>
          </a:xfrm>
          <a:prstGeom prst="rect">
            <a:avLst/>
          </a:prstGeom>
        </p:spPr>
      </p:pic>
      <p:sp>
        <p:nvSpPr>
          <p:cNvPr id="45" name="object 11">
            <a:extLst>
              <a:ext uri="{FF2B5EF4-FFF2-40B4-BE49-F238E27FC236}">
                <a16:creationId xmlns:a16="http://schemas.microsoft.com/office/drawing/2014/main" id="{2FB56C43-4A4E-F91A-AEC2-46983EED059E}"/>
              </a:ext>
            </a:extLst>
          </p:cNvPr>
          <p:cNvSpPr/>
          <p:nvPr/>
        </p:nvSpPr>
        <p:spPr bwMode="auto">
          <a:xfrm>
            <a:off x="647951" y="3604461"/>
            <a:ext cx="1582108" cy="1553843"/>
          </a:xfrm>
          <a:custGeom>
            <a:avLst/>
            <a:gdLst/>
            <a:ahLst/>
            <a:cxnLst/>
            <a:rect l="l" t="t" r="r" b="b"/>
            <a:pathLst>
              <a:path w="2877819" h="6055359" extrusionOk="0">
                <a:moveTo>
                  <a:pt x="2827528" y="0"/>
                </a:moveTo>
                <a:lnTo>
                  <a:pt x="49784" y="0"/>
                </a:lnTo>
                <a:lnTo>
                  <a:pt x="40018" y="960"/>
                </a:lnTo>
                <a:lnTo>
                  <a:pt x="8358" y="22155"/>
                </a:lnTo>
                <a:lnTo>
                  <a:pt x="0" y="49783"/>
                </a:lnTo>
                <a:lnTo>
                  <a:pt x="0" y="6005067"/>
                </a:lnTo>
                <a:lnTo>
                  <a:pt x="22155" y="6046493"/>
                </a:lnTo>
                <a:lnTo>
                  <a:pt x="49784" y="6054851"/>
                </a:lnTo>
                <a:lnTo>
                  <a:pt x="2827528" y="6054851"/>
                </a:lnTo>
                <a:lnTo>
                  <a:pt x="2868953" y="6032642"/>
                </a:lnTo>
                <a:lnTo>
                  <a:pt x="2877311" y="6005067"/>
                </a:lnTo>
                <a:lnTo>
                  <a:pt x="2877311" y="49783"/>
                </a:lnTo>
                <a:lnTo>
                  <a:pt x="2855156" y="8358"/>
                </a:lnTo>
                <a:lnTo>
                  <a:pt x="2827528" y="0"/>
                </a:lnTo>
                <a:close/>
              </a:path>
            </a:pathLst>
          </a:custGeom>
          <a:solidFill>
            <a:srgbClr val="45577F">
              <a:alpha val="43000"/>
            </a:srgbClr>
          </a:solidFill>
        </p:spPr>
        <p:txBody>
          <a:bodyPr wrap="square" lIns="0" tIns="0" rIns="0" bIns="0" rtlCol="0"/>
          <a:lstStyle/>
          <a:p>
            <a:pPr>
              <a:defRPr/>
            </a:pPr>
            <a:endParaRPr sz="120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35FA83-972C-7A7E-F744-378D186F547B}"/>
            </a:ext>
          </a:extLst>
        </p:cNvPr>
        <p:cNvGrpSpPr/>
        <p:nvPr/>
      </p:nvGrpSpPr>
      <p:grpSpPr>
        <a:xfrm>
          <a:off x="0" y="0"/>
          <a:ext cx="0" cy="0"/>
          <a:chOff x="0" y="0"/>
          <a:chExt cx="0" cy="0"/>
        </a:xfrm>
      </p:grpSpPr>
      <p:sp>
        <p:nvSpPr>
          <p:cNvPr id="26" name="Slide Number Placeholder 0">
            <a:extLst>
              <a:ext uri="{FF2B5EF4-FFF2-40B4-BE49-F238E27FC236}">
                <a16:creationId xmlns:a16="http://schemas.microsoft.com/office/drawing/2014/main" id="{0732AC6F-DD07-1C1C-C1C4-05A090B35AB3}"/>
              </a:ext>
            </a:extLst>
          </p:cNvPr>
          <p:cNvSpPr>
            <a:spLocks noGrp="1"/>
          </p:cNvSpPr>
          <p:nvPr>
            <p:ph type="sldNum" sz="quarter" idx="4294967295"/>
          </p:nvPr>
        </p:nvSpPr>
        <p:spPr>
          <a:xfrm>
            <a:off x="11094415" y="6327648"/>
            <a:ext cx="548640" cy="274320"/>
          </a:xfrm>
          <a:prstGeom prst="rect">
            <a:avLst/>
          </a:prstGeom>
          <a:extLst>
            <a:ext uri="{C572A759-6A51-4108-AA02-DFA0A04FC94B}">
              <ma14:wrappingTextBoxFlag xmlns:ma14="http://schemas.microsoft.com/office/mac/drawingml/2011/main" xmlns="" val="0"/>
            </a:ext>
          </a:extLst>
        </p:spPr>
        <p:txBody>
          <a:bodyPr lIns="0" tIns="0" rIns="0" bIns="0" anchor="ctr"/>
          <a:lstStyle>
            <a:lvl1pPr>
              <a:defRPr sz="1000">
                <a:solidFill>
                  <a:srgbClr val="9AA3BD"/>
                </a:solidFill>
              </a:defRPr>
            </a:lvl1pPr>
          </a:lstStyle>
          <a:p>
            <a:pPr algn="r"/>
            <a:fld id="{F7021451-1387-4CA6-816F-3879F97B5CBC}" type="slidenum">
              <a:rPr lang="en-US" b="0"/>
              <a:t>2</a:t>
            </a:fld>
            <a:endParaRPr lang="en-US"/>
          </a:p>
        </p:txBody>
      </p:sp>
      <p:pic>
        <p:nvPicPr>
          <p:cNvPr id="31" name="Image 30">
            <a:extLst>
              <a:ext uri="{FF2B5EF4-FFF2-40B4-BE49-F238E27FC236}">
                <a16:creationId xmlns:a16="http://schemas.microsoft.com/office/drawing/2014/main" id="{68C30CDF-BD97-62CC-8D9F-F53CAA077479}"/>
              </a:ext>
            </a:extLst>
          </p:cNvPr>
          <p:cNvPicPr>
            <a:picLocks noChangeAspect="1"/>
          </p:cNvPicPr>
          <p:nvPr/>
        </p:nvPicPr>
        <p:blipFill>
          <a:blip r:embed="rId3"/>
          <a:stretch>
            <a:fillRect/>
          </a:stretch>
        </p:blipFill>
        <p:spPr>
          <a:xfrm>
            <a:off x="0" y="0"/>
            <a:ext cx="12204326" cy="5963478"/>
          </a:xfrm>
          <a:prstGeom prst="rect">
            <a:avLst/>
          </a:prstGeom>
          <a:effectLst>
            <a:glow rad="63500">
              <a:schemeClr val="accent5">
                <a:satMod val="175000"/>
                <a:alpha val="40000"/>
              </a:schemeClr>
            </a:glow>
          </a:effectLst>
        </p:spPr>
      </p:pic>
    </p:spTree>
    <p:extLst>
      <p:ext uri="{BB962C8B-B14F-4D97-AF65-F5344CB8AC3E}">
        <p14:creationId xmlns:p14="http://schemas.microsoft.com/office/powerpoint/2010/main" val="220649856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grpSp>
        <p:nvGrpSpPr>
          <p:cNvPr id="360948681" name="object 2"/>
          <p:cNvGrpSpPr/>
          <p:nvPr/>
        </p:nvGrpSpPr>
        <p:grpSpPr bwMode="auto">
          <a:xfrm>
            <a:off x="-2057" y="0"/>
            <a:ext cx="12192000" cy="6858000"/>
            <a:chOff x="-14514" y="0"/>
            <a:chExt cx="18288000" cy="10287000"/>
          </a:xfrm>
        </p:grpSpPr>
        <p:pic>
          <p:nvPicPr>
            <p:cNvPr id="3" name="object 3"/>
            <p:cNvPicPr/>
            <p:nvPr/>
          </p:nvPicPr>
          <p:blipFill rotWithShape="1">
            <a:blip r:embed="rId3"/>
            <a:stretch/>
          </p:blipFill>
          <p:spPr bwMode="auto">
            <a:xfrm>
              <a:off x="-14514" y="0"/>
              <a:ext cx="18288000" cy="10287000"/>
            </a:xfrm>
            <a:prstGeom prst="rect">
              <a:avLst/>
            </a:prstGeom>
          </p:spPr>
        </p:pic>
        <p:pic>
          <p:nvPicPr>
            <p:cNvPr id="4" name="object 4"/>
            <p:cNvPicPr/>
            <p:nvPr/>
          </p:nvPicPr>
          <p:blipFill rotWithShape="1">
            <a:blip r:embed="rId4"/>
            <a:stretch/>
          </p:blipFill>
          <p:spPr bwMode="auto">
            <a:xfrm>
              <a:off x="373379" y="2075688"/>
              <a:ext cx="4433316" cy="2859023"/>
            </a:xfrm>
            <a:prstGeom prst="rect">
              <a:avLst/>
            </a:prstGeom>
          </p:spPr>
        </p:pic>
        <p:sp>
          <p:nvSpPr>
            <p:cNvPr id="5" name="object 5"/>
            <p:cNvSpPr/>
            <p:nvPr/>
          </p:nvSpPr>
          <p:spPr bwMode="auto">
            <a:xfrm>
              <a:off x="362711" y="2039111"/>
              <a:ext cx="4444365" cy="2895600"/>
            </a:xfrm>
            <a:custGeom>
              <a:avLst/>
              <a:gdLst/>
              <a:ahLst/>
              <a:cxnLst/>
              <a:rect l="l" t="t" r="r" b="b"/>
              <a:pathLst>
                <a:path w="4444365" h="2895600" extrusionOk="0">
                  <a:moveTo>
                    <a:pt x="4420235" y="0"/>
                  </a:moveTo>
                  <a:lnTo>
                    <a:pt x="32283" y="0"/>
                  </a:lnTo>
                  <a:lnTo>
                    <a:pt x="23723" y="0"/>
                  </a:lnTo>
                  <a:lnTo>
                    <a:pt x="15506" y="3429"/>
                  </a:lnTo>
                  <a:lnTo>
                    <a:pt x="3403" y="15494"/>
                  </a:lnTo>
                  <a:lnTo>
                    <a:pt x="0" y="23749"/>
                  </a:lnTo>
                  <a:lnTo>
                    <a:pt x="0" y="2871851"/>
                  </a:lnTo>
                  <a:lnTo>
                    <a:pt x="3403" y="2880106"/>
                  </a:lnTo>
                  <a:lnTo>
                    <a:pt x="15506" y="2892171"/>
                  </a:lnTo>
                  <a:lnTo>
                    <a:pt x="23723" y="2895600"/>
                  </a:lnTo>
                  <a:lnTo>
                    <a:pt x="4420235" y="2895600"/>
                  </a:lnTo>
                  <a:lnTo>
                    <a:pt x="4428490" y="2892171"/>
                  </a:lnTo>
                  <a:lnTo>
                    <a:pt x="4440555" y="2880106"/>
                  </a:lnTo>
                  <a:lnTo>
                    <a:pt x="4443984" y="2871851"/>
                  </a:lnTo>
                  <a:lnTo>
                    <a:pt x="4443984" y="23749"/>
                  </a:lnTo>
                  <a:lnTo>
                    <a:pt x="4440555" y="15494"/>
                  </a:lnTo>
                  <a:lnTo>
                    <a:pt x="4428490" y="3429"/>
                  </a:lnTo>
                  <a:lnTo>
                    <a:pt x="4420235" y="0"/>
                  </a:lnTo>
                  <a:close/>
                </a:path>
              </a:pathLst>
            </a:custGeom>
            <a:solidFill>
              <a:srgbClr val="1B2E6A">
                <a:alpha val="32940"/>
              </a:srgbClr>
            </a:solidFill>
          </p:spPr>
          <p:txBody>
            <a:bodyPr wrap="square" lIns="0" tIns="0" rIns="0" bIns="0" rtlCol="0"/>
            <a:lstStyle/>
            <a:p>
              <a:pPr>
                <a:defRPr/>
              </a:pPr>
              <a:endParaRPr sz="1200"/>
            </a:p>
          </p:txBody>
        </p:sp>
        <p:pic>
          <p:nvPicPr>
            <p:cNvPr id="6" name="object 6"/>
            <p:cNvPicPr/>
            <p:nvPr/>
          </p:nvPicPr>
          <p:blipFill rotWithShape="1">
            <a:blip r:embed="rId5"/>
            <a:stretch/>
          </p:blipFill>
          <p:spPr bwMode="auto">
            <a:xfrm>
              <a:off x="2697479" y="3747515"/>
              <a:ext cx="601980" cy="603503"/>
            </a:xfrm>
            <a:prstGeom prst="rect">
              <a:avLst/>
            </a:prstGeom>
          </p:spPr>
        </p:pic>
        <p:pic>
          <p:nvPicPr>
            <p:cNvPr id="7" name="object 7"/>
            <p:cNvPicPr/>
            <p:nvPr/>
          </p:nvPicPr>
          <p:blipFill rotWithShape="1">
            <a:blip r:embed="rId6"/>
            <a:stretch/>
          </p:blipFill>
          <p:spPr bwMode="auto">
            <a:xfrm>
              <a:off x="3299459" y="3694176"/>
              <a:ext cx="716278" cy="710184"/>
            </a:xfrm>
            <a:prstGeom prst="rect">
              <a:avLst/>
            </a:prstGeom>
          </p:spPr>
        </p:pic>
        <p:pic>
          <p:nvPicPr>
            <p:cNvPr id="8" name="object 8"/>
            <p:cNvPicPr/>
            <p:nvPr/>
          </p:nvPicPr>
          <p:blipFill rotWithShape="1">
            <a:blip r:embed="rId7"/>
            <a:stretch/>
          </p:blipFill>
          <p:spPr bwMode="auto">
            <a:xfrm>
              <a:off x="4910328" y="2115311"/>
              <a:ext cx="3776472" cy="6051804"/>
            </a:xfrm>
            <a:prstGeom prst="rect">
              <a:avLst/>
            </a:prstGeom>
          </p:spPr>
        </p:pic>
        <p:sp>
          <p:nvSpPr>
            <p:cNvPr id="9" name="object 9"/>
            <p:cNvSpPr/>
            <p:nvPr/>
          </p:nvSpPr>
          <p:spPr bwMode="auto">
            <a:xfrm>
              <a:off x="8816340" y="2075688"/>
              <a:ext cx="2982595" cy="6091555"/>
            </a:xfrm>
            <a:custGeom>
              <a:avLst/>
              <a:gdLst/>
              <a:ahLst/>
              <a:cxnLst/>
              <a:rect l="l" t="t" r="r" b="b"/>
              <a:pathLst>
                <a:path w="2982595" h="6091555" extrusionOk="0">
                  <a:moveTo>
                    <a:pt x="2982468" y="0"/>
                  </a:moveTo>
                  <a:lnTo>
                    <a:pt x="0" y="0"/>
                  </a:lnTo>
                  <a:lnTo>
                    <a:pt x="0" y="6091428"/>
                  </a:lnTo>
                  <a:lnTo>
                    <a:pt x="2982468" y="6091428"/>
                  </a:lnTo>
                  <a:lnTo>
                    <a:pt x="2982468" y="0"/>
                  </a:lnTo>
                  <a:close/>
                </a:path>
              </a:pathLst>
            </a:custGeom>
            <a:solidFill>
              <a:srgbClr val="1B2E6A">
                <a:alpha val="55685"/>
              </a:srgbClr>
            </a:solidFill>
          </p:spPr>
          <p:txBody>
            <a:bodyPr wrap="square" lIns="0" tIns="0" rIns="0" bIns="0" rtlCol="0"/>
            <a:lstStyle/>
            <a:p>
              <a:pPr>
                <a:defRPr/>
              </a:pPr>
              <a:endParaRPr sz="1200"/>
            </a:p>
          </p:txBody>
        </p:sp>
        <p:pic>
          <p:nvPicPr>
            <p:cNvPr id="10" name="object 10"/>
            <p:cNvPicPr/>
            <p:nvPr/>
          </p:nvPicPr>
          <p:blipFill rotWithShape="1">
            <a:blip r:embed="rId8"/>
            <a:stretch/>
          </p:blipFill>
          <p:spPr bwMode="auto">
            <a:xfrm>
              <a:off x="15078456" y="2075688"/>
              <a:ext cx="2897124" cy="6039611"/>
            </a:xfrm>
            <a:prstGeom prst="rect">
              <a:avLst/>
            </a:prstGeom>
          </p:spPr>
        </p:pic>
        <p:sp>
          <p:nvSpPr>
            <p:cNvPr id="11" name="object 11"/>
            <p:cNvSpPr/>
            <p:nvPr/>
          </p:nvSpPr>
          <p:spPr bwMode="auto">
            <a:xfrm>
              <a:off x="15087600" y="2075688"/>
              <a:ext cx="2877821" cy="6055361"/>
            </a:xfrm>
            <a:custGeom>
              <a:avLst/>
              <a:gdLst/>
              <a:ahLst/>
              <a:cxnLst/>
              <a:rect l="l" t="t" r="r" b="b"/>
              <a:pathLst>
                <a:path w="2877819" h="6055359" extrusionOk="0">
                  <a:moveTo>
                    <a:pt x="2827528" y="0"/>
                  </a:moveTo>
                  <a:lnTo>
                    <a:pt x="49784" y="0"/>
                  </a:lnTo>
                  <a:lnTo>
                    <a:pt x="40018" y="960"/>
                  </a:lnTo>
                  <a:lnTo>
                    <a:pt x="8358" y="22155"/>
                  </a:lnTo>
                  <a:lnTo>
                    <a:pt x="0" y="49783"/>
                  </a:lnTo>
                  <a:lnTo>
                    <a:pt x="0" y="6005067"/>
                  </a:lnTo>
                  <a:lnTo>
                    <a:pt x="22155" y="6046493"/>
                  </a:lnTo>
                  <a:lnTo>
                    <a:pt x="49784" y="6054851"/>
                  </a:lnTo>
                  <a:lnTo>
                    <a:pt x="2827528" y="6054851"/>
                  </a:lnTo>
                  <a:lnTo>
                    <a:pt x="2868953" y="6032642"/>
                  </a:lnTo>
                  <a:lnTo>
                    <a:pt x="2877311" y="6005067"/>
                  </a:lnTo>
                  <a:lnTo>
                    <a:pt x="2877311" y="49783"/>
                  </a:lnTo>
                  <a:lnTo>
                    <a:pt x="2855156" y="8358"/>
                  </a:lnTo>
                  <a:lnTo>
                    <a:pt x="2827528" y="0"/>
                  </a:lnTo>
                  <a:close/>
                </a:path>
              </a:pathLst>
            </a:custGeom>
            <a:solidFill>
              <a:srgbClr val="1B2E6A">
                <a:alpha val="32940"/>
              </a:srgbClr>
            </a:solidFill>
          </p:spPr>
          <p:txBody>
            <a:bodyPr wrap="square" lIns="0" tIns="0" rIns="0" bIns="0" rtlCol="0"/>
            <a:lstStyle/>
            <a:p>
              <a:pPr>
                <a:defRPr/>
              </a:pPr>
              <a:endParaRPr sz="1200"/>
            </a:p>
          </p:txBody>
        </p:sp>
        <p:pic>
          <p:nvPicPr>
            <p:cNvPr id="12" name="object 12"/>
            <p:cNvPicPr/>
            <p:nvPr/>
          </p:nvPicPr>
          <p:blipFill rotWithShape="1">
            <a:blip r:embed="rId9"/>
            <a:stretch/>
          </p:blipFill>
          <p:spPr bwMode="auto">
            <a:xfrm>
              <a:off x="15338843" y="3391092"/>
              <a:ext cx="1505711" cy="801624"/>
            </a:xfrm>
            <a:prstGeom prst="rect">
              <a:avLst/>
            </a:prstGeom>
          </p:spPr>
        </p:pic>
        <p:sp>
          <p:nvSpPr>
            <p:cNvPr id="13" name="object 13"/>
            <p:cNvSpPr/>
            <p:nvPr/>
          </p:nvSpPr>
          <p:spPr bwMode="auto">
            <a:xfrm>
              <a:off x="10142728" y="3237377"/>
              <a:ext cx="407034" cy="928369"/>
            </a:xfrm>
            <a:custGeom>
              <a:avLst/>
              <a:gdLst/>
              <a:ahLst/>
              <a:cxnLst/>
              <a:rect l="l" t="t" r="r" b="b"/>
              <a:pathLst>
                <a:path w="407034" h="928370" extrusionOk="0">
                  <a:moveTo>
                    <a:pt x="117030" y="711566"/>
                  </a:moveTo>
                  <a:lnTo>
                    <a:pt x="90647" y="681885"/>
                  </a:lnTo>
                  <a:lnTo>
                    <a:pt x="81949" y="684868"/>
                  </a:lnTo>
                  <a:lnTo>
                    <a:pt x="75300" y="690916"/>
                  </a:lnTo>
                  <a:lnTo>
                    <a:pt x="71919" y="699613"/>
                  </a:lnTo>
                  <a:lnTo>
                    <a:pt x="71984" y="699130"/>
                  </a:lnTo>
                  <a:lnTo>
                    <a:pt x="71102" y="699011"/>
                  </a:lnTo>
                  <a:lnTo>
                    <a:pt x="6707" y="857052"/>
                  </a:lnTo>
                  <a:lnTo>
                    <a:pt x="1529" y="867804"/>
                  </a:lnTo>
                  <a:lnTo>
                    <a:pt x="13190" y="908230"/>
                  </a:lnTo>
                  <a:lnTo>
                    <a:pt x="27062" y="913794"/>
                  </a:lnTo>
                  <a:lnTo>
                    <a:pt x="29269" y="914188"/>
                  </a:lnTo>
                  <a:lnTo>
                    <a:pt x="32209" y="914658"/>
                  </a:lnTo>
                  <a:lnTo>
                    <a:pt x="79695" y="918357"/>
                  </a:lnTo>
                  <a:lnTo>
                    <a:pt x="96225" y="796583"/>
                  </a:lnTo>
                  <a:lnTo>
                    <a:pt x="117030" y="711566"/>
                  </a:lnTo>
                  <a:close/>
                </a:path>
                <a:path w="407034" h="928370" extrusionOk="0">
                  <a:moveTo>
                    <a:pt x="343246" y="620781"/>
                  </a:moveTo>
                  <a:lnTo>
                    <a:pt x="375814" y="380864"/>
                  </a:lnTo>
                  <a:lnTo>
                    <a:pt x="371927" y="405316"/>
                  </a:lnTo>
                  <a:lnTo>
                    <a:pt x="371978" y="404941"/>
                  </a:lnTo>
                  <a:lnTo>
                    <a:pt x="366978" y="434990"/>
                  </a:lnTo>
                  <a:lnTo>
                    <a:pt x="365612" y="441188"/>
                  </a:lnTo>
                  <a:lnTo>
                    <a:pt x="366615" y="433799"/>
                  </a:lnTo>
                  <a:lnTo>
                    <a:pt x="363045" y="457567"/>
                  </a:lnTo>
                  <a:lnTo>
                    <a:pt x="363840" y="451709"/>
                  </a:lnTo>
                  <a:lnTo>
                    <a:pt x="359723" y="466384"/>
                  </a:lnTo>
                  <a:lnTo>
                    <a:pt x="358843" y="472869"/>
                  </a:lnTo>
                  <a:lnTo>
                    <a:pt x="356612" y="480115"/>
                  </a:lnTo>
                  <a:lnTo>
                    <a:pt x="340710" y="523260"/>
                  </a:lnTo>
                  <a:lnTo>
                    <a:pt x="320659" y="564129"/>
                  </a:lnTo>
                  <a:lnTo>
                    <a:pt x="297307" y="602395"/>
                  </a:lnTo>
                  <a:lnTo>
                    <a:pt x="271419" y="637828"/>
                  </a:lnTo>
                  <a:lnTo>
                    <a:pt x="244129" y="670069"/>
                  </a:lnTo>
                  <a:lnTo>
                    <a:pt x="216083" y="699363"/>
                  </a:lnTo>
                  <a:lnTo>
                    <a:pt x="188048" y="725643"/>
                  </a:lnTo>
                  <a:lnTo>
                    <a:pt x="143257" y="762741"/>
                  </a:lnTo>
                  <a:lnTo>
                    <a:pt x="110888" y="786540"/>
                  </a:lnTo>
                  <a:lnTo>
                    <a:pt x="96225" y="796583"/>
                  </a:lnTo>
                  <a:lnTo>
                    <a:pt x="79695" y="918357"/>
                  </a:lnTo>
                  <a:lnTo>
                    <a:pt x="124069" y="921815"/>
                  </a:lnTo>
                  <a:lnTo>
                    <a:pt x="132590" y="859042"/>
                  </a:lnTo>
                  <a:lnTo>
                    <a:pt x="148636" y="846314"/>
                  </a:lnTo>
                  <a:lnTo>
                    <a:pt x="183912" y="816275"/>
                  </a:lnTo>
                  <a:lnTo>
                    <a:pt x="230539" y="771433"/>
                  </a:lnTo>
                  <a:lnTo>
                    <a:pt x="258711" y="740787"/>
                  </a:lnTo>
                  <a:lnTo>
                    <a:pt x="286723" y="706806"/>
                  </a:lnTo>
                  <a:lnTo>
                    <a:pt x="313815" y="669477"/>
                  </a:lnTo>
                  <a:lnTo>
                    <a:pt x="339074" y="628891"/>
                  </a:lnTo>
                  <a:lnTo>
                    <a:pt x="343246" y="620781"/>
                  </a:lnTo>
                  <a:close/>
                </a:path>
                <a:path w="407034" h="928370" extrusionOk="0">
                  <a:moveTo>
                    <a:pt x="235392" y="910392"/>
                  </a:moveTo>
                  <a:lnTo>
                    <a:pt x="216861" y="881300"/>
                  </a:lnTo>
                  <a:lnTo>
                    <a:pt x="215660" y="881050"/>
                  </a:lnTo>
                  <a:lnTo>
                    <a:pt x="214153" y="880736"/>
                  </a:lnTo>
                  <a:lnTo>
                    <a:pt x="132590" y="859042"/>
                  </a:lnTo>
                  <a:lnTo>
                    <a:pt x="124069" y="921815"/>
                  </a:lnTo>
                  <a:lnTo>
                    <a:pt x="194812" y="927327"/>
                  </a:lnTo>
                  <a:lnTo>
                    <a:pt x="206929" y="928123"/>
                  </a:lnTo>
                  <a:lnTo>
                    <a:pt x="216256" y="927926"/>
                  </a:lnTo>
                  <a:lnTo>
                    <a:pt x="216400" y="927923"/>
                  </a:lnTo>
                  <a:lnTo>
                    <a:pt x="224863" y="924797"/>
                  </a:lnTo>
                  <a:lnTo>
                    <a:pt x="231476" y="918901"/>
                  </a:lnTo>
                  <a:lnTo>
                    <a:pt x="235392" y="910392"/>
                  </a:lnTo>
                  <a:close/>
                </a:path>
                <a:path w="407034" h="928370" extrusionOk="0">
                  <a:moveTo>
                    <a:pt x="400832" y="456694"/>
                  </a:moveTo>
                  <a:lnTo>
                    <a:pt x="401538" y="448195"/>
                  </a:lnTo>
                  <a:lnTo>
                    <a:pt x="403548" y="433388"/>
                  </a:lnTo>
                  <a:lnTo>
                    <a:pt x="406150" y="391598"/>
                  </a:lnTo>
                  <a:lnTo>
                    <a:pt x="406885" y="383526"/>
                  </a:lnTo>
                  <a:lnTo>
                    <a:pt x="406644" y="375409"/>
                  </a:lnTo>
                  <a:lnTo>
                    <a:pt x="406232" y="343401"/>
                  </a:lnTo>
                  <a:lnTo>
                    <a:pt x="406346" y="335463"/>
                  </a:lnTo>
                  <a:lnTo>
                    <a:pt x="405669" y="327585"/>
                  </a:lnTo>
                  <a:lnTo>
                    <a:pt x="404913" y="319784"/>
                  </a:lnTo>
                  <a:lnTo>
                    <a:pt x="402894" y="296573"/>
                  </a:lnTo>
                  <a:lnTo>
                    <a:pt x="396335" y="251771"/>
                  </a:lnTo>
                  <a:lnTo>
                    <a:pt x="386935" y="209589"/>
                  </a:lnTo>
                  <a:lnTo>
                    <a:pt x="375165" y="170528"/>
                  </a:lnTo>
                  <a:lnTo>
                    <a:pt x="346827" y="103499"/>
                  </a:lnTo>
                  <a:lnTo>
                    <a:pt x="317432" y="52668"/>
                  </a:lnTo>
                  <a:lnTo>
                    <a:pt x="292711" y="18846"/>
                  </a:lnTo>
                  <a:lnTo>
                    <a:pt x="275951" y="0"/>
                  </a:lnTo>
                  <a:lnTo>
                    <a:pt x="277853" y="2233"/>
                  </a:lnTo>
                  <a:lnTo>
                    <a:pt x="283147" y="8919"/>
                  </a:lnTo>
                  <a:lnTo>
                    <a:pt x="313170" y="55401"/>
                  </a:lnTo>
                  <a:lnTo>
                    <a:pt x="338334" y="107606"/>
                  </a:lnTo>
                  <a:lnTo>
                    <a:pt x="361085" y="175064"/>
                  </a:lnTo>
                  <a:lnTo>
                    <a:pt x="369666" y="213761"/>
                  </a:lnTo>
                  <a:lnTo>
                    <a:pt x="375700" y="255112"/>
                  </a:lnTo>
                  <a:lnTo>
                    <a:pt x="378787" y="298567"/>
                  </a:lnTo>
                  <a:lnTo>
                    <a:pt x="378877" y="305953"/>
                  </a:lnTo>
                  <a:lnTo>
                    <a:pt x="379051" y="313412"/>
                  </a:lnTo>
                  <a:lnTo>
                    <a:pt x="379142" y="320920"/>
                  </a:lnTo>
                  <a:lnTo>
                    <a:pt x="379552" y="335960"/>
                  </a:lnTo>
                  <a:lnTo>
                    <a:pt x="378865" y="343557"/>
                  </a:lnTo>
                  <a:lnTo>
                    <a:pt x="378424" y="350672"/>
                  </a:lnTo>
                  <a:lnTo>
                    <a:pt x="378401" y="350841"/>
                  </a:lnTo>
                  <a:lnTo>
                    <a:pt x="378240" y="358807"/>
                  </a:lnTo>
                  <a:lnTo>
                    <a:pt x="377768" y="366468"/>
                  </a:lnTo>
                  <a:lnTo>
                    <a:pt x="343246" y="620781"/>
                  </a:lnTo>
                  <a:lnTo>
                    <a:pt x="361564" y="585184"/>
                  </a:lnTo>
                  <a:lnTo>
                    <a:pt x="380278" y="538837"/>
                  </a:lnTo>
                  <a:lnTo>
                    <a:pt x="394211" y="490328"/>
                  </a:lnTo>
                  <a:lnTo>
                    <a:pt x="395562" y="484063"/>
                  </a:lnTo>
                  <a:lnTo>
                    <a:pt x="400832" y="456694"/>
                  </a:lnTo>
                  <a:close/>
                </a:path>
              </a:pathLst>
            </a:custGeom>
            <a:solidFill>
              <a:srgbClr val="E62F5F"/>
            </a:solidFill>
          </p:spPr>
          <p:txBody>
            <a:bodyPr wrap="square" lIns="0" tIns="0" rIns="0" bIns="0" rtlCol="0"/>
            <a:lstStyle/>
            <a:p>
              <a:pPr>
                <a:defRPr/>
              </a:pPr>
              <a:endParaRPr sz="1200"/>
            </a:p>
          </p:txBody>
        </p:sp>
      </p:grpSp>
      <p:sp>
        <p:nvSpPr>
          <p:cNvPr id="648932578" name="object 14"/>
          <p:cNvSpPr txBox="1"/>
          <p:nvPr/>
        </p:nvSpPr>
        <p:spPr bwMode="auto">
          <a:xfrm>
            <a:off x="263941" y="257580"/>
            <a:ext cx="4012099" cy="562547"/>
          </a:xfrm>
          <a:prstGeom prst="rect">
            <a:avLst/>
          </a:prstGeom>
        </p:spPr>
        <p:txBody>
          <a:bodyPr vert="horz" wrap="square" lIns="0" tIns="8467" rIns="0" bIns="0" rtlCol="0">
            <a:spAutoFit/>
          </a:bodyPr>
          <a:lstStyle/>
          <a:p>
            <a:pPr marL="23284">
              <a:spcBef>
                <a:spcPts val="67"/>
              </a:spcBef>
              <a:defRPr/>
            </a:pPr>
            <a:r>
              <a:rPr sz="3600" b="1">
                <a:solidFill>
                  <a:srgbClr val="FFFFFF"/>
                </a:solidFill>
                <a:latin typeface="Aptos Bold"/>
                <a:ea typeface="Arial"/>
                <a:cs typeface="Calibri"/>
              </a:rPr>
              <a:t>Quobly in 2026</a:t>
            </a:r>
            <a:endParaRPr sz="1200"/>
          </a:p>
        </p:txBody>
      </p:sp>
      <p:sp>
        <p:nvSpPr>
          <p:cNvPr id="1553384547" name="object 15"/>
          <p:cNvSpPr txBox="1"/>
          <p:nvPr/>
        </p:nvSpPr>
        <p:spPr bwMode="auto">
          <a:xfrm>
            <a:off x="362983" y="1835439"/>
            <a:ext cx="2622973" cy="696580"/>
          </a:xfrm>
          <a:prstGeom prst="rect">
            <a:avLst/>
          </a:prstGeom>
        </p:spPr>
        <p:txBody>
          <a:bodyPr vert="horz" wrap="square" lIns="0" tIns="42333" rIns="0" bIns="0" rtlCol="0">
            <a:spAutoFit/>
          </a:bodyPr>
          <a:lstStyle/>
          <a:p>
            <a:pPr marL="8467">
              <a:spcBef>
                <a:spcPts val="333"/>
              </a:spcBef>
              <a:defRPr/>
            </a:pPr>
            <a:r>
              <a:rPr sz="1333" b="1" spc="63">
                <a:solidFill>
                  <a:srgbClr val="FFFFFF"/>
                </a:solidFill>
                <a:latin typeface="Aptos"/>
                <a:cs typeface="Calibri"/>
              </a:rPr>
              <a:t>Headquarters</a:t>
            </a:r>
            <a:r>
              <a:rPr sz="1333" b="1" spc="-30">
                <a:solidFill>
                  <a:srgbClr val="FFFFFF"/>
                </a:solidFill>
                <a:latin typeface="Aptos"/>
                <a:cs typeface="Calibri"/>
              </a:rPr>
              <a:t> </a:t>
            </a:r>
            <a:r>
              <a:rPr sz="1333" b="1" spc="40">
                <a:solidFill>
                  <a:srgbClr val="FFFFFF"/>
                </a:solidFill>
                <a:latin typeface="Aptos"/>
                <a:cs typeface="Calibri"/>
              </a:rPr>
              <a:t>in</a:t>
            </a:r>
            <a:r>
              <a:rPr sz="1333" b="1" spc="-23">
                <a:solidFill>
                  <a:srgbClr val="FFFFFF"/>
                </a:solidFill>
                <a:latin typeface="Aptos"/>
                <a:cs typeface="Calibri"/>
              </a:rPr>
              <a:t> </a:t>
            </a:r>
            <a:r>
              <a:rPr sz="1333" b="1" spc="53">
                <a:solidFill>
                  <a:srgbClr val="FFFFFF"/>
                </a:solidFill>
                <a:latin typeface="Aptos"/>
                <a:cs typeface="Calibri"/>
              </a:rPr>
              <a:t>Grenoble,</a:t>
            </a:r>
            <a:r>
              <a:rPr sz="1333" b="1" spc="-40">
                <a:solidFill>
                  <a:srgbClr val="FFFFFF"/>
                </a:solidFill>
                <a:latin typeface="Aptos"/>
                <a:cs typeface="Calibri"/>
              </a:rPr>
              <a:t> </a:t>
            </a:r>
            <a:r>
              <a:rPr sz="1333" b="1" spc="63">
                <a:solidFill>
                  <a:srgbClr val="FFFFFF"/>
                </a:solidFill>
                <a:latin typeface="Aptos"/>
                <a:cs typeface="Calibri"/>
              </a:rPr>
              <a:t>France</a:t>
            </a:r>
            <a:endParaRPr sz="1333">
              <a:latin typeface="Aptos"/>
              <a:cs typeface="Calibri"/>
            </a:endParaRPr>
          </a:p>
          <a:p>
            <a:pPr marL="8467">
              <a:spcBef>
                <a:spcPts val="263"/>
              </a:spcBef>
              <a:defRPr/>
            </a:pPr>
            <a:r>
              <a:rPr sz="1333" b="1" spc="67">
                <a:solidFill>
                  <a:srgbClr val="FFFFFF"/>
                </a:solidFill>
                <a:latin typeface="Aptos"/>
                <a:cs typeface="Calibri"/>
              </a:rPr>
              <a:t>Spin-</a:t>
            </a:r>
            <a:r>
              <a:rPr sz="1333" b="1">
                <a:solidFill>
                  <a:srgbClr val="FFFFFF"/>
                </a:solidFill>
                <a:latin typeface="Aptos"/>
                <a:cs typeface="Calibri"/>
              </a:rPr>
              <a:t>off</a:t>
            </a:r>
            <a:r>
              <a:rPr sz="1333" b="1" spc="47">
                <a:solidFill>
                  <a:srgbClr val="FFFFFF"/>
                </a:solidFill>
                <a:latin typeface="Aptos"/>
                <a:cs typeface="Calibri"/>
              </a:rPr>
              <a:t> </a:t>
            </a:r>
            <a:r>
              <a:rPr sz="1333" b="1" spc="40">
                <a:solidFill>
                  <a:srgbClr val="FFFFFF"/>
                </a:solidFill>
                <a:latin typeface="Aptos"/>
                <a:cs typeface="Calibri"/>
              </a:rPr>
              <a:t>in</a:t>
            </a:r>
            <a:r>
              <a:rPr sz="1333" b="1" spc="50">
                <a:solidFill>
                  <a:srgbClr val="FFFFFF"/>
                </a:solidFill>
                <a:latin typeface="Aptos"/>
                <a:cs typeface="Calibri"/>
              </a:rPr>
              <a:t> </a:t>
            </a:r>
            <a:r>
              <a:rPr sz="1333" b="1">
                <a:solidFill>
                  <a:srgbClr val="FFFFFF"/>
                </a:solidFill>
                <a:latin typeface="Aptos"/>
                <a:cs typeface="Calibri"/>
              </a:rPr>
              <a:t>2022</a:t>
            </a:r>
            <a:r>
              <a:rPr sz="1333" b="1" spc="17">
                <a:solidFill>
                  <a:srgbClr val="FFFFFF"/>
                </a:solidFill>
                <a:latin typeface="Aptos"/>
                <a:cs typeface="Calibri"/>
              </a:rPr>
              <a:t> </a:t>
            </a:r>
            <a:r>
              <a:rPr sz="1333" b="1" spc="23">
                <a:solidFill>
                  <a:srgbClr val="FFFFFF"/>
                </a:solidFill>
                <a:latin typeface="Aptos"/>
                <a:cs typeface="Calibri"/>
              </a:rPr>
              <a:t>from</a:t>
            </a:r>
            <a:endParaRPr sz="1333">
              <a:latin typeface="Aptos"/>
              <a:cs typeface="Calibri"/>
            </a:endParaRPr>
          </a:p>
        </p:txBody>
      </p:sp>
      <p:sp>
        <p:nvSpPr>
          <p:cNvPr id="593340521" name="object 16"/>
          <p:cNvSpPr txBox="1"/>
          <p:nvPr/>
        </p:nvSpPr>
        <p:spPr bwMode="auto">
          <a:xfrm>
            <a:off x="3312414" y="4176606"/>
            <a:ext cx="1184909" cy="829843"/>
          </a:xfrm>
          <a:prstGeom prst="rect">
            <a:avLst/>
          </a:prstGeom>
        </p:spPr>
        <p:txBody>
          <a:bodyPr vert="horz" wrap="square" lIns="0" tIns="8890" rIns="0" bIns="0" rtlCol="0">
            <a:spAutoFit/>
          </a:bodyPr>
          <a:lstStyle/>
          <a:p>
            <a:pPr marL="8467">
              <a:spcBef>
                <a:spcPts val="70"/>
              </a:spcBef>
              <a:defRPr/>
            </a:pPr>
            <a:r>
              <a:rPr lang="fr-FR" sz="5334" b="1" spc="113" dirty="0">
                <a:solidFill>
                  <a:srgbClr val="FFFFFF"/>
                </a:solidFill>
                <a:latin typeface="Aptos"/>
                <a:cs typeface="Calibri"/>
              </a:rPr>
              <a:t>6</a:t>
            </a:r>
            <a:r>
              <a:rPr sz="5334" b="1" spc="113" dirty="0">
                <a:solidFill>
                  <a:srgbClr val="FFFFFF"/>
                </a:solidFill>
                <a:latin typeface="Aptos"/>
                <a:cs typeface="Calibri"/>
              </a:rPr>
              <a:t>5</a:t>
            </a:r>
            <a:endParaRPr sz="5334" dirty="0">
              <a:latin typeface="Aptos"/>
              <a:cs typeface="Calibri"/>
            </a:endParaRPr>
          </a:p>
        </p:txBody>
      </p:sp>
      <p:sp>
        <p:nvSpPr>
          <p:cNvPr id="454940951" name="object 17"/>
          <p:cNvSpPr txBox="1"/>
          <p:nvPr/>
        </p:nvSpPr>
        <p:spPr bwMode="auto">
          <a:xfrm>
            <a:off x="3357541" y="4900676"/>
            <a:ext cx="1184909" cy="418790"/>
          </a:xfrm>
          <a:prstGeom prst="rect">
            <a:avLst/>
          </a:prstGeom>
        </p:spPr>
        <p:txBody>
          <a:bodyPr vert="horz" wrap="square" lIns="0" tIns="8467" rIns="0" bIns="0" rtlCol="0">
            <a:spAutoFit/>
          </a:bodyPr>
          <a:lstStyle/>
          <a:p>
            <a:pPr marL="8467">
              <a:spcBef>
                <a:spcPts val="67"/>
              </a:spcBef>
              <a:defRPr/>
            </a:pPr>
            <a:r>
              <a:rPr sz="1333">
                <a:solidFill>
                  <a:srgbClr val="FFFFFF"/>
                </a:solidFill>
                <a:latin typeface="Aptos"/>
                <a:cs typeface="Calibri"/>
              </a:rPr>
              <a:t>Patents</a:t>
            </a:r>
            <a:r>
              <a:rPr sz="1333" spc="173">
                <a:solidFill>
                  <a:srgbClr val="FFFFFF"/>
                </a:solidFill>
                <a:latin typeface="Aptos"/>
                <a:cs typeface="Calibri"/>
              </a:rPr>
              <a:t> </a:t>
            </a:r>
            <a:r>
              <a:rPr sz="1333" spc="30">
                <a:solidFill>
                  <a:srgbClr val="FFFFFF"/>
                </a:solidFill>
                <a:latin typeface="Aptos"/>
                <a:cs typeface="Calibri"/>
              </a:rPr>
              <a:t>families</a:t>
            </a:r>
            <a:endParaRPr sz="1333">
              <a:latin typeface="Aptos"/>
              <a:cs typeface="Calibri"/>
            </a:endParaRPr>
          </a:p>
        </p:txBody>
      </p:sp>
      <p:sp>
        <p:nvSpPr>
          <p:cNvPr id="1343059471" name="object 18"/>
          <p:cNvSpPr txBox="1"/>
          <p:nvPr/>
        </p:nvSpPr>
        <p:spPr bwMode="auto">
          <a:xfrm>
            <a:off x="5942669" y="1282446"/>
            <a:ext cx="1918547" cy="828560"/>
          </a:xfrm>
          <a:prstGeom prst="rect">
            <a:avLst/>
          </a:prstGeom>
        </p:spPr>
        <p:txBody>
          <a:bodyPr vert="horz" wrap="square" lIns="0" tIns="7620" rIns="0" bIns="0" rtlCol="0">
            <a:spAutoFit/>
          </a:bodyPr>
          <a:lstStyle/>
          <a:p>
            <a:pPr marL="8467">
              <a:spcBef>
                <a:spcPts val="60"/>
              </a:spcBef>
              <a:defRPr/>
            </a:pPr>
            <a:r>
              <a:rPr sz="5334" b="1" spc="120">
                <a:solidFill>
                  <a:srgbClr val="FFFFFF"/>
                </a:solidFill>
                <a:latin typeface="Aptos"/>
                <a:cs typeface="Calibri"/>
              </a:rPr>
              <a:t>1</a:t>
            </a:r>
            <a:r>
              <a:rPr lang="fr-FR" sz="5334" b="1" spc="120">
                <a:solidFill>
                  <a:srgbClr val="FFFFFF"/>
                </a:solidFill>
                <a:latin typeface="Aptos"/>
                <a:cs typeface="Calibri"/>
              </a:rPr>
              <a:t>2</a:t>
            </a:r>
            <a:r>
              <a:rPr sz="5334" b="1" spc="120">
                <a:solidFill>
                  <a:srgbClr val="FFFFFF"/>
                </a:solidFill>
                <a:latin typeface="Aptos"/>
                <a:cs typeface="Calibri"/>
              </a:rPr>
              <a:t>0+</a:t>
            </a:r>
            <a:endParaRPr sz="5334">
              <a:latin typeface="Aptos"/>
              <a:cs typeface="Calibri"/>
            </a:endParaRPr>
          </a:p>
        </p:txBody>
      </p:sp>
      <p:sp>
        <p:nvSpPr>
          <p:cNvPr id="1760529318" name="object 19"/>
          <p:cNvSpPr txBox="1"/>
          <p:nvPr/>
        </p:nvSpPr>
        <p:spPr bwMode="auto">
          <a:xfrm>
            <a:off x="6044437" y="2048087"/>
            <a:ext cx="691932" cy="213670"/>
          </a:xfrm>
          <a:prstGeom prst="rect">
            <a:avLst/>
          </a:prstGeom>
        </p:spPr>
        <p:txBody>
          <a:bodyPr vert="horz" wrap="square" lIns="0" tIns="8467" rIns="0" bIns="0" rtlCol="0">
            <a:spAutoFit/>
          </a:bodyPr>
          <a:lstStyle/>
          <a:p>
            <a:pPr marL="8467">
              <a:spcBef>
                <a:spcPts val="67"/>
              </a:spcBef>
              <a:defRPr/>
            </a:pPr>
            <a:r>
              <a:rPr sz="1333" spc="27">
                <a:solidFill>
                  <a:srgbClr val="FFFFFF"/>
                </a:solidFill>
                <a:latin typeface="Aptos"/>
                <a:cs typeface="Calibri"/>
              </a:rPr>
              <a:t>People</a:t>
            </a:r>
            <a:endParaRPr sz="1333">
              <a:latin typeface="Aptos"/>
              <a:cs typeface="Calibri"/>
            </a:endParaRPr>
          </a:p>
        </p:txBody>
      </p:sp>
      <p:sp>
        <p:nvSpPr>
          <p:cNvPr id="1289264531" name="object 20"/>
          <p:cNvSpPr txBox="1"/>
          <p:nvPr/>
        </p:nvSpPr>
        <p:spPr bwMode="auto">
          <a:xfrm>
            <a:off x="6247469" y="2288083"/>
            <a:ext cx="378883" cy="828987"/>
          </a:xfrm>
          <a:prstGeom prst="rect">
            <a:avLst/>
          </a:prstGeom>
        </p:spPr>
        <p:txBody>
          <a:bodyPr vert="horz" wrap="square" lIns="0" tIns="8043" rIns="0" bIns="0" rtlCol="0">
            <a:spAutoFit/>
          </a:bodyPr>
          <a:lstStyle/>
          <a:p>
            <a:pPr marL="8467">
              <a:spcBef>
                <a:spcPts val="63"/>
              </a:spcBef>
              <a:defRPr/>
            </a:pPr>
            <a:r>
              <a:rPr sz="5334" b="1" spc="100">
                <a:solidFill>
                  <a:srgbClr val="FFFFFF"/>
                </a:solidFill>
                <a:latin typeface="Aptos"/>
                <a:cs typeface="Calibri"/>
              </a:rPr>
              <a:t>3</a:t>
            </a:r>
            <a:endParaRPr sz="5334">
              <a:latin typeface="Aptos"/>
              <a:cs typeface="Calibri"/>
            </a:endParaRPr>
          </a:p>
        </p:txBody>
      </p:sp>
      <p:sp>
        <p:nvSpPr>
          <p:cNvPr id="1794481889" name="object 21"/>
          <p:cNvSpPr txBox="1"/>
          <p:nvPr/>
        </p:nvSpPr>
        <p:spPr bwMode="auto">
          <a:xfrm>
            <a:off x="5993469" y="2551260"/>
            <a:ext cx="260773" cy="500992"/>
          </a:xfrm>
          <a:prstGeom prst="rect">
            <a:avLst/>
          </a:prstGeom>
        </p:spPr>
        <p:txBody>
          <a:bodyPr vert="horz" wrap="square" lIns="0" tIns="8467" rIns="0" bIns="0" rtlCol="0">
            <a:spAutoFit/>
          </a:bodyPr>
          <a:lstStyle/>
          <a:p>
            <a:pPr marL="8467">
              <a:spcBef>
                <a:spcPts val="67"/>
              </a:spcBef>
              <a:defRPr/>
            </a:pPr>
            <a:r>
              <a:rPr sz="3200" b="1" spc="107">
                <a:solidFill>
                  <a:srgbClr val="FFFFFF"/>
                </a:solidFill>
                <a:latin typeface="Aptos"/>
                <a:cs typeface="Calibri"/>
              </a:rPr>
              <a:t>X</a:t>
            </a:r>
            <a:endParaRPr sz="3200">
              <a:latin typeface="Aptos"/>
              <a:cs typeface="Calibri"/>
            </a:endParaRPr>
          </a:p>
        </p:txBody>
      </p:sp>
      <p:sp>
        <p:nvSpPr>
          <p:cNvPr id="2019466397" name="object 22"/>
          <p:cNvSpPr txBox="1"/>
          <p:nvPr/>
        </p:nvSpPr>
        <p:spPr bwMode="auto">
          <a:xfrm>
            <a:off x="6044438" y="3035638"/>
            <a:ext cx="905510" cy="214098"/>
          </a:xfrm>
          <a:prstGeom prst="rect">
            <a:avLst/>
          </a:prstGeom>
        </p:spPr>
        <p:txBody>
          <a:bodyPr vert="horz" wrap="square" lIns="0" tIns="8890" rIns="0" bIns="0" rtlCol="0">
            <a:spAutoFit/>
          </a:bodyPr>
          <a:lstStyle/>
          <a:p>
            <a:pPr marL="8467">
              <a:spcBef>
                <a:spcPts val="70"/>
              </a:spcBef>
              <a:defRPr/>
            </a:pPr>
            <a:r>
              <a:rPr sz="1333">
                <a:solidFill>
                  <a:srgbClr val="FFFFFF"/>
                </a:solidFill>
                <a:latin typeface="Aptos"/>
                <a:cs typeface="Calibri"/>
              </a:rPr>
              <a:t>By</a:t>
            </a:r>
            <a:r>
              <a:rPr sz="1333" spc="3">
                <a:solidFill>
                  <a:srgbClr val="FFFFFF"/>
                </a:solidFill>
                <a:latin typeface="Aptos"/>
                <a:cs typeface="Calibri"/>
              </a:rPr>
              <a:t> </a:t>
            </a:r>
            <a:r>
              <a:rPr sz="1333" spc="40">
                <a:solidFill>
                  <a:srgbClr val="FFFFFF"/>
                </a:solidFill>
                <a:latin typeface="Aptos"/>
                <a:cs typeface="Calibri"/>
              </a:rPr>
              <a:t>mid</a:t>
            </a:r>
            <a:r>
              <a:rPr sz="1333" spc="-3">
                <a:solidFill>
                  <a:srgbClr val="FFFFFF"/>
                </a:solidFill>
                <a:latin typeface="Aptos"/>
                <a:cs typeface="Calibri"/>
              </a:rPr>
              <a:t> </a:t>
            </a:r>
            <a:r>
              <a:rPr sz="1333" spc="-13">
                <a:solidFill>
                  <a:srgbClr val="FFFFFF"/>
                </a:solidFill>
                <a:latin typeface="Aptos"/>
                <a:cs typeface="Calibri"/>
              </a:rPr>
              <a:t>2028</a:t>
            </a:r>
            <a:endParaRPr sz="1333">
              <a:latin typeface="Aptos"/>
              <a:cs typeface="Calibri"/>
            </a:endParaRPr>
          </a:p>
        </p:txBody>
      </p:sp>
      <p:sp>
        <p:nvSpPr>
          <p:cNvPr id="538338331" name="object 23"/>
          <p:cNvSpPr txBox="1"/>
          <p:nvPr/>
        </p:nvSpPr>
        <p:spPr bwMode="auto">
          <a:xfrm>
            <a:off x="5942669" y="3313684"/>
            <a:ext cx="1907395" cy="828560"/>
          </a:xfrm>
          <a:prstGeom prst="rect">
            <a:avLst/>
          </a:prstGeom>
        </p:spPr>
        <p:txBody>
          <a:bodyPr vert="horz" wrap="square" lIns="0" tIns="7620" rIns="0" bIns="0" rtlCol="0">
            <a:spAutoFit/>
          </a:bodyPr>
          <a:lstStyle/>
          <a:p>
            <a:pPr marL="8467">
              <a:spcBef>
                <a:spcPts val="60"/>
              </a:spcBef>
              <a:defRPr/>
            </a:pPr>
            <a:r>
              <a:rPr sz="5334" b="1" spc="260">
                <a:solidFill>
                  <a:srgbClr val="FFFFFF"/>
                </a:solidFill>
                <a:latin typeface="Aptos"/>
                <a:cs typeface="Calibri"/>
              </a:rPr>
              <a:t>54%</a:t>
            </a:r>
            <a:endParaRPr sz="5334">
              <a:latin typeface="Aptos"/>
              <a:cs typeface="Calibri"/>
            </a:endParaRPr>
          </a:p>
        </p:txBody>
      </p:sp>
      <p:sp>
        <p:nvSpPr>
          <p:cNvPr id="907888097" name="object 24"/>
          <p:cNvSpPr txBox="1"/>
          <p:nvPr/>
        </p:nvSpPr>
        <p:spPr bwMode="auto">
          <a:xfrm>
            <a:off x="6005564" y="4070547"/>
            <a:ext cx="581915" cy="214098"/>
          </a:xfrm>
          <a:prstGeom prst="rect">
            <a:avLst/>
          </a:prstGeom>
        </p:spPr>
        <p:txBody>
          <a:bodyPr vert="horz" wrap="square" lIns="0" tIns="8890" rIns="0" bIns="0" rtlCol="0">
            <a:spAutoFit/>
          </a:bodyPr>
          <a:lstStyle/>
          <a:p>
            <a:pPr marL="8467">
              <a:spcBef>
                <a:spcPts val="70"/>
              </a:spcBef>
              <a:defRPr/>
            </a:pPr>
            <a:r>
              <a:rPr sz="1333" spc="67">
                <a:solidFill>
                  <a:srgbClr val="FFFFFF"/>
                </a:solidFill>
                <a:latin typeface="Aptos"/>
                <a:cs typeface="Calibri"/>
              </a:rPr>
              <a:t>PhDs</a:t>
            </a:r>
            <a:endParaRPr sz="1333">
              <a:latin typeface="Aptos"/>
              <a:cs typeface="Calibri"/>
            </a:endParaRPr>
          </a:p>
        </p:txBody>
      </p:sp>
      <p:sp>
        <p:nvSpPr>
          <p:cNvPr id="1173143015" name="object 25"/>
          <p:cNvSpPr txBox="1"/>
          <p:nvPr/>
        </p:nvSpPr>
        <p:spPr bwMode="auto">
          <a:xfrm>
            <a:off x="5918108" y="4331086"/>
            <a:ext cx="1766969" cy="828560"/>
          </a:xfrm>
          <a:prstGeom prst="rect">
            <a:avLst/>
          </a:prstGeom>
        </p:spPr>
        <p:txBody>
          <a:bodyPr vert="horz" wrap="square" lIns="0" tIns="7620" rIns="0" bIns="0" rtlCol="0">
            <a:spAutoFit/>
          </a:bodyPr>
          <a:lstStyle/>
          <a:p>
            <a:pPr marL="8467">
              <a:spcBef>
                <a:spcPts val="60"/>
              </a:spcBef>
              <a:defRPr/>
            </a:pPr>
            <a:r>
              <a:rPr sz="5334" b="1" spc="117">
                <a:solidFill>
                  <a:srgbClr val="FFFFFF"/>
                </a:solidFill>
                <a:latin typeface="Aptos"/>
                <a:cs typeface="Calibri"/>
              </a:rPr>
              <a:t>18</a:t>
            </a:r>
            <a:endParaRPr sz="5334">
              <a:latin typeface="Aptos"/>
              <a:cs typeface="Calibri"/>
            </a:endParaRPr>
          </a:p>
        </p:txBody>
      </p:sp>
      <p:sp>
        <p:nvSpPr>
          <p:cNvPr id="1328212974" name="object 26"/>
          <p:cNvSpPr txBox="1"/>
          <p:nvPr/>
        </p:nvSpPr>
        <p:spPr bwMode="auto">
          <a:xfrm>
            <a:off x="5993469" y="5128789"/>
            <a:ext cx="1354916" cy="213670"/>
          </a:xfrm>
          <a:prstGeom prst="rect">
            <a:avLst/>
          </a:prstGeom>
        </p:spPr>
        <p:txBody>
          <a:bodyPr vert="horz" wrap="square" lIns="0" tIns="8467" rIns="0" bIns="0" rtlCol="0">
            <a:spAutoFit/>
          </a:bodyPr>
          <a:lstStyle/>
          <a:p>
            <a:pPr marL="8467">
              <a:spcBef>
                <a:spcPts val="67"/>
              </a:spcBef>
              <a:defRPr/>
            </a:pPr>
            <a:r>
              <a:rPr sz="1333" spc="27">
                <a:solidFill>
                  <a:srgbClr val="FFFFFF"/>
                </a:solidFill>
                <a:latin typeface="Aptos"/>
                <a:cs typeface="Calibri"/>
              </a:rPr>
              <a:t>Nationalities</a:t>
            </a:r>
            <a:endParaRPr sz="1333">
              <a:latin typeface="Aptos"/>
              <a:cs typeface="Calibri"/>
            </a:endParaRPr>
          </a:p>
        </p:txBody>
      </p:sp>
      <p:sp>
        <p:nvSpPr>
          <p:cNvPr id="433731567" name="object 27"/>
          <p:cNvSpPr txBox="1"/>
          <p:nvPr/>
        </p:nvSpPr>
        <p:spPr bwMode="auto">
          <a:xfrm>
            <a:off x="10107034" y="4050716"/>
            <a:ext cx="1905000" cy="1304246"/>
          </a:xfrm>
          <a:prstGeom prst="rect">
            <a:avLst/>
          </a:prstGeom>
          <a:solidFill>
            <a:srgbClr val="4F81BC">
              <a:alpha val="39999"/>
            </a:srgbClr>
          </a:solidFill>
        </p:spPr>
        <p:txBody>
          <a:bodyPr vert="horz" wrap="square" lIns="0" tIns="9313" rIns="0" bIns="0" rtlCol="0">
            <a:spAutoFit/>
          </a:bodyPr>
          <a:lstStyle/>
          <a:p>
            <a:pPr>
              <a:spcBef>
                <a:spcPts val="73"/>
              </a:spcBef>
              <a:defRPr/>
            </a:pPr>
            <a:r>
              <a:rPr sz="1333" b="1" spc="73">
                <a:solidFill>
                  <a:srgbClr val="FFFFFF"/>
                </a:solidFill>
                <a:latin typeface="Aptos"/>
                <a:cs typeface="Calibri"/>
              </a:rPr>
              <a:t>Exclusive</a:t>
            </a:r>
            <a:r>
              <a:rPr sz="1333" b="1" spc="-17">
                <a:solidFill>
                  <a:srgbClr val="FFFFFF"/>
                </a:solidFill>
                <a:latin typeface="Aptos"/>
                <a:cs typeface="Calibri"/>
              </a:rPr>
              <a:t> </a:t>
            </a:r>
            <a:r>
              <a:rPr sz="1333" b="1" spc="47">
                <a:solidFill>
                  <a:srgbClr val="FFFFFF"/>
                </a:solidFill>
                <a:latin typeface="Aptos"/>
                <a:cs typeface="Calibri"/>
              </a:rPr>
              <a:t>partnership</a:t>
            </a:r>
            <a:r>
              <a:rPr sz="1333" b="1" spc="-17">
                <a:solidFill>
                  <a:srgbClr val="FFFFFF"/>
                </a:solidFill>
                <a:latin typeface="Aptos"/>
                <a:cs typeface="Calibri"/>
              </a:rPr>
              <a:t> to</a:t>
            </a:r>
            <a:r>
              <a:rPr lang="fr-FR" sz="1333" b="1" spc="-17">
                <a:solidFill>
                  <a:srgbClr val="FFFFFF"/>
                </a:solidFill>
                <a:latin typeface="Aptos"/>
                <a:cs typeface="Calibri"/>
              </a:rPr>
              <a:t> </a:t>
            </a:r>
            <a:r>
              <a:rPr sz="1333" b="1" spc="50">
                <a:solidFill>
                  <a:srgbClr val="FFFFFF"/>
                </a:solidFill>
                <a:latin typeface="Aptos"/>
                <a:cs typeface="Calibri"/>
              </a:rPr>
              <a:t>develop</a:t>
            </a:r>
            <a:r>
              <a:rPr sz="1333" b="1" spc="-33">
                <a:solidFill>
                  <a:srgbClr val="FFFFFF"/>
                </a:solidFill>
                <a:latin typeface="Aptos"/>
                <a:cs typeface="Calibri"/>
              </a:rPr>
              <a:t> </a:t>
            </a:r>
            <a:r>
              <a:rPr sz="1333" b="1" spc="37">
                <a:solidFill>
                  <a:srgbClr val="FFFFFF"/>
                </a:solidFill>
                <a:latin typeface="Aptos"/>
                <a:cs typeface="Calibri"/>
              </a:rPr>
              <a:t>our</a:t>
            </a:r>
            <a:r>
              <a:rPr sz="1333" b="1" spc="-30">
                <a:solidFill>
                  <a:srgbClr val="FFFFFF"/>
                </a:solidFill>
                <a:latin typeface="Aptos"/>
                <a:cs typeface="Calibri"/>
              </a:rPr>
              <a:t> </a:t>
            </a:r>
            <a:r>
              <a:rPr sz="1333" b="1" spc="33">
                <a:solidFill>
                  <a:srgbClr val="FFFFFF"/>
                </a:solidFill>
                <a:latin typeface="Aptos"/>
                <a:cs typeface="Calibri"/>
              </a:rPr>
              <a:t>proprietary </a:t>
            </a:r>
            <a:r>
              <a:rPr sz="1333" b="1" spc="53">
                <a:solidFill>
                  <a:srgbClr val="FFFFFF"/>
                </a:solidFill>
                <a:latin typeface="Aptos"/>
                <a:cs typeface="Calibri"/>
              </a:rPr>
              <a:t>QSOI®</a:t>
            </a:r>
            <a:r>
              <a:rPr sz="1333" b="1" spc="-23">
                <a:solidFill>
                  <a:srgbClr val="FFFFFF"/>
                </a:solidFill>
                <a:latin typeface="Aptos"/>
                <a:cs typeface="Calibri"/>
              </a:rPr>
              <a:t> </a:t>
            </a:r>
            <a:r>
              <a:rPr sz="1333" b="1" spc="43">
                <a:solidFill>
                  <a:srgbClr val="FFFFFF"/>
                </a:solidFill>
                <a:latin typeface="Aptos"/>
                <a:cs typeface="Calibri"/>
              </a:rPr>
              <a:t>qubit</a:t>
            </a:r>
            <a:r>
              <a:rPr sz="1333" b="1" spc="-23">
                <a:solidFill>
                  <a:srgbClr val="FFFFFF"/>
                </a:solidFill>
                <a:latin typeface="Aptos"/>
                <a:cs typeface="Calibri"/>
              </a:rPr>
              <a:t> </a:t>
            </a:r>
            <a:r>
              <a:rPr sz="1333" b="1" spc="50">
                <a:solidFill>
                  <a:srgbClr val="FFFFFF"/>
                </a:solidFill>
                <a:latin typeface="Aptos"/>
                <a:cs typeface="Calibri"/>
              </a:rPr>
              <a:t>technology</a:t>
            </a:r>
            <a:endParaRPr sz="1333">
              <a:latin typeface="Aptos"/>
              <a:cs typeface="Calibri"/>
            </a:endParaRPr>
          </a:p>
          <a:p>
            <a:pPr>
              <a:spcBef>
                <a:spcPts val="156"/>
              </a:spcBef>
              <a:defRPr/>
            </a:pPr>
            <a:r>
              <a:rPr sz="1333" b="1" spc="60">
                <a:solidFill>
                  <a:srgbClr val="FFFFFF"/>
                </a:solidFill>
                <a:latin typeface="Aptos"/>
                <a:cs typeface="Calibri"/>
              </a:rPr>
              <a:t>and</a:t>
            </a:r>
            <a:r>
              <a:rPr sz="1333" b="1" spc="-20">
                <a:solidFill>
                  <a:srgbClr val="FFFFFF"/>
                </a:solidFill>
                <a:latin typeface="Aptos"/>
                <a:cs typeface="Calibri"/>
              </a:rPr>
              <a:t> </a:t>
            </a:r>
            <a:r>
              <a:rPr sz="1333" b="1" spc="63">
                <a:solidFill>
                  <a:srgbClr val="FFFFFF"/>
                </a:solidFill>
                <a:latin typeface="Aptos"/>
                <a:cs typeface="Calibri"/>
              </a:rPr>
              <a:t>produce</a:t>
            </a:r>
            <a:r>
              <a:rPr sz="1333" b="1" spc="-30">
                <a:solidFill>
                  <a:srgbClr val="FFFFFF"/>
                </a:solidFill>
                <a:latin typeface="Aptos"/>
                <a:cs typeface="Calibri"/>
              </a:rPr>
              <a:t> </a:t>
            </a:r>
            <a:r>
              <a:rPr sz="1333" b="1" spc="47">
                <a:solidFill>
                  <a:srgbClr val="FFFFFF"/>
                </a:solidFill>
                <a:latin typeface="Aptos"/>
                <a:cs typeface="Calibri"/>
              </a:rPr>
              <a:t>million-</a:t>
            </a:r>
            <a:endParaRPr sz="1333">
              <a:latin typeface="Aptos"/>
              <a:cs typeface="Calibri"/>
            </a:endParaRPr>
          </a:p>
          <a:p>
            <a:pPr>
              <a:spcBef>
                <a:spcPts val="263"/>
              </a:spcBef>
              <a:defRPr/>
            </a:pPr>
            <a:r>
              <a:rPr sz="1333" b="1" spc="43">
                <a:solidFill>
                  <a:srgbClr val="FFFFFF"/>
                </a:solidFill>
                <a:latin typeface="Aptos"/>
                <a:cs typeface="Calibri"/>
              </a:rPr>
              <a:t>qubit</a:t>
            </a:r>
            <a:r>
              <a:rPr sz="1333" b="1" spc="-30">
                <a:solidFill>
                  <a:srgbClr val="FFFFFF"/>
                </a:solidFill>
                <a:latin typeface="Aptos"/>
                <a:cs typeface="Calibri"/>
              </a:rPr>
              <a:t> </a:t>
            </a:r>
            <a:r>
              <a:rPr sz="1333" b="1" spc="87">
                <a:solidFill>
                  <a:srgbClr val="FFFFFF"/>
                </a:solidFill>
                <a:latin typeface="Aptos"/>
                <a:cs typeface="Calibri"/>
              </a:rPr>
              <a:t>chips</a:t>
            </a:r>
            <a:endParaRPr sz="1333">
              <a:latin typeface="Aptos"/>
              <a:cs typeface="Calibri"/>
            </a:endParaRPr>
          </a:p>
        </p:txBody>
      </p:sp>
      <p:sp>
        <p:nvSpPr>
          <p:cNvPr id="964638748" name="object 28"/>
          <p:cNvSpPr txBox="1"/>
          <p:nvPr/>
        </p:nvSpPr>
        <p:spPr bwMode="auto">
          <a:xfrm>
            <a:off x="7942072" y="1383793"/>
            <a:ext cx="2034117" cy="1985865"/>
          </a:xfrm>
          <a:prstGeom prst="rect">
            <a:avLst/>
          </a:prstGeom>
          <a:solidFill>
            <a:srgbClr val="1B2E6A">
              <a:alpha val="55685"/>
            </a:srgbClr>
          </a:solidFill>
        </p:spPr>
        <p:txBody>
          <a:bodyPr vert="horz" wrap="square" lIns="0" tIns="0" rIns="0" bIns="0" rtlCol="0">
            <a:spAutoFit/>
          </a:bodyPr>
          <a:lstStyle/>
          <a:p>
            <a:pPr marL="82554">
              <a:lnSpc>
                <a:spcPts val="6127"/>
              </a:lnSpc>
              <a:defRPr/>
            </a:pPr>
            <a:r>
              <a:rPr sz="5334" b="1" spc="437">
                <a:solidFill>
                  <a:srgbClr val="FFFFFF"/>
                </a:solidFill>
                <a:latin typeface="Aptos"/>
                <a:cs typeface="Calibri"/>
              </a:rPr>
              <a:t>5</a:t>
            </a:r>
            <a:r>
              <a:rPr sz="2000" spc="85" baseline="30000">
                <a:solidFill>
                  <a:srgbClr val="FFFFFF"/>
                </a:solidFill>
                <a:latin typeface="Aptos"/>
                <a:cs typeface="Calibri"/>
              </a:rPr>
              <a:t>L</a:t>
            </a:r>
            <a:r>
              <a:rPr sz="2000" spc="75" baseline="30000">
                <a:solidFill>
                  <a:srgbClr val="FFFFFF"/>
                </a:solidFill>
                <a:latin typeface="Aptos"/>
                <a:cs typeface="Calibri"/>
              </a:rPr>
              <a:t>oca</a:t>
            </a:r>
            <a:r>
              <a:rPr sz="2000" spc="85" baseline="30000">
                <a:solidFill>
                  <a:srgbClr val="FFFFFF"/>
                </a:solidFill>
                <a:latin typeface="Aptos"/>
                <a:cs typeface="Calibri"/>
              </a:rPr>
              <a:t>tions</a:t>
            </a:r>
            <a:endParaRPr sz="2000" baseline="30000">
              <a:latin typeface="Aptos"/>
              <a:cs typeface="Calibri"/>
            </a:endParaRPr>
          </a:p>
          <a:p>
            <a:pPr marL="82554" marR="662550">
              <a:lnSpc>
                <a:spcPct val="116700"/>
              </a:lnSpc>
              <a:spcBef>
                <a:spcPts val="17"/>
              </a:spcBef>
              <a:defRPr/>
            </a:pPr>
            <a:r>
              <a:rPr sz="1333" spc="33">
                <a:solidFill>
                  <a:srgbClr val="FFFFFF"/>
                </a:solidFill>
                <a:latin typeface="Aptos"/>
                <a:cs typeface="Calibri"/>
              </a:rPr>
              <a:t>Grenoble</a:t>
            </a:r>
            <a:r>
              <a:rPr sz="1333" spc="-33">
                <a:solidFill>
                  <a:srgbClr val="FFFFFF"/>
                </a:solidFill>
                <a:latin typeface="Aptos"/>
                <a:cs typeface="Calibri"/>
              </a:rPr>
              <a:t> </a:t>
            </a:r>
            <a:r>
              <a:rPr sz="1333" spc="80">
                <a:solidFill>
                  <a:srgbClr val="FFFFFF"/>
                </a:solidFill>
                <a:latin typeface="Aptos"/>
                <a:cs typeface="Calibri"/>
              </a:rPr>
              <a:t>FR</a:t>
            </a:r>
            <a:r>
              <a:rPr sz="1333" spc="-23">
                <a:solidFill>
                  <a:srgbClr val="FFFFFF"/>
                </a:solidFill>
                <a:latin typeface="Aptos"/>
                <a:cs typeface="Calibri"/>
              </a:rPr>
              <a:t> </a:t>
            </a:r>
            <a:r>
              <a:rPr sz="1333" spc="23">
                <a:solidFill>
                  <a:srgbClr val="FFFFFF"/>
                </a:solidFill>
                <a:latin typeface="Aptos"/>
                <a:cs typeface="Calibri"/>
              </a:rPr>
              <a:t>(HQ) </a:t>
            </a:r>
            <a:r>
              <a:rPr sz="1333" spc="37">
                <a:solidFill>
                  <a:srgbClr val="FFFFFF"/>
                </a:solidFill>
                <a:latin typeface="Aptos"/>
                <a:cs typeface="Calibri"/>
              </a:rPr>
              <a:t>Paris</a:t>
            </a:r>
            <a:r>
              <a:rPr sz="1333" spc="-17">
                <a:solidFill>
                  <a:srgbClr val="FFFFFF"/>
                </a:solidFill>
                <a:latin typeface="Aptos"/>
                <a:cs typeface="Calibri"/>
              </a:rPr>
              <a:t> </a:t>
            </a:r>
            <a:r>
              <a:rPr sz="1333" spc="60">
                <a:solidFill>
                  <a:srgbClr val="FFFFFF"/>
                </a:solidFill>
                <a:latin typeface="Aptos"/>
                <a:cs typeface="Calibri"/>
              </a:rPr>
              <a:t>FR </a:t>
            </a:r>
            <a:r>
              <a:rPr sz="1333" spc="7">
                <a:solidFill>
                  <a:srgbClr val="FFFFFF"/>
                </a:solidFill>
                <a:latin typeface="Aptos"/>
                <a:cs typeface="Calibri"/>
              </a:rPr>
              <a:t>Sherbrooke</a:t>
            </a:r>
            <a:r>
              <a:rPr sz="1333" spc="150">
                <a:solidFill>
                  <a:srgbClr val="FFFFFF"/>
                </a:solidFill>
                <a:latin typeface="Aptos"/>
                <a:cs typeface="Calibri"/>
              </a:rPr>
              <a:t> </a:t>
            </a:r>
            <a:r>
              <a:rPr sz="1333" spc="90">
                <a:solidFill>
                  <a:srgbClr val="FFFFFF"/>
                </a:solidFill>
                <a:latin typeface="Aptos"/>
                <a:cs typeface="Calibri"/>
              </a:rPr>
              <a:t>CA </a:t>
            </a:r>
            <a:r>
              <a:rPr sz="1333" spc="27">
                <a:solidFill>
                  <a:srgbClr val="FFFFFF"/>
                </a:solidFill>
                <a:latin typeface="Aptos"/>
                <a:cs typeface="Calibri"/>
              </a:rPr>
              <a:t>Singapore</a:t>
            </a:r>
            <a:endParaRPr sz="1333">
              <a:latin typeface="Aptos"/>
              <a:cs typeface="Calibri"/>
            </a:endParaRPr>
          </a:p>
          <a:p>
            <a:pPr marL="82554">
              <a:spcBef>
                <a:spcPts val="263"/>
              </a:spcBef>
              <a:defRPr/>
            </a:pPr>
            <a:r>
              <a:rPr sz="1333" spc="-7">
                <a:solidFill>
                  <a:srgbClr val="FFFFFF"/>
                </a:solidFill>
                <a:latin typeface="Aptos"/>
                <a:cs typeface="Calibri"/>
              </a:rPr>
              <a:t>Taiwan</a:t>
            </a:r>
            <a:endParaRPr sz="1333">
              <a:latin typeface="Aptos"/>
              <a:cs typeface="Calibri"/>
            </a:endParaRPr>
          </a:p>
        </p:txBody>
      </p:sp>
      <p:sp>
        <p:nvSpPr>
          <p:cNvPr id="1202482565" name="object 29"/>
          <p:cNvSpPr txBox="1"/>
          <p:nvPr/>
        </p:nvSpPr>
        <p:spPr bwMode="auto">
          <a:xfrm>
            <a:off x="241808" y="3372104"/>
            <a:ext cx="2962910" cy="1847579"/>
          </a:xfrm>
          <a:prstGeom prst="rect">
            <a:avLst/>
          </a:prstGeom>
          <a:solidFill>
            <a:srgbClr val="1B2E6A">
              <a:alpha val="55685"/>
            </a:srgbClr>
          </a:solidFill>
        </p:spPr>
        <p:txBody>
          <a:bodyPr vert="horz" wrap="square" lIns="0" tIns="394547" rIns="0" bIns="0" rtlCol="0">
            <a:spAutoFit/>
          </a:bodyPr>
          <a:lstStyle/>
          <a:p>
            <a:pPr marL="74934">
              <a:spcBef>
                <a:spcPts val="3107"/>
              </a:spcBef>
              <a:defRPr/>
            </a:pPr>
            <a:r>
              <a:rPr sz="5334" b="1" spc="-13">
                <a:solidFill>
                  <a:srgbClr val="FFFFFF"/>
                </a:solidFill>
                <a:latin typeface="Aptos"/>
                <a:cs typeface="Calibri"/>
              </a:rPr>
              <a:t>€10M</a:t>
            </a:r>
            <a:endParaRPr sz="5334">
              <a:latin typeface="Aptos"/>
              <a:cs typeface="Calibri"/>
            </a:endParaRPr>
          </a:p>
          <a:p>
            <a:pPr marL="74934">
              <a:lnSpc>
                <a:spcPts val="1757"/>
              </a:lnSpc>
              <a:spcBef>
                <a:spcPts val="7"/>
              </a:spcBef>
              <a:defRPr/>
            </a:pPr>
            <a:r>
              <a:rPr sz="1533" spc="30">
                <a:solidFill>
                  <a:srgbClr val="FFFFFF"/>
                </a:solidFill>
                <a:latin typeface="Aptos"/>
                <a:cs typeface="Calibri"/>
              </a:rPr>
              <a:t>Revenue</a:t>
            </a:r>
            <a:endParaRPr sz="1533">
              <a:latin typeface="Aptos"/>
              <a:cs typeface="Calibri"/>
            </a:endParaRPr>
          </a:p>
          <a:p>
            <a:pPr marL="74934">
              <a:lnSpc>
                <a:spcPts val="1517"/>
              </a:lnSpc>
              <a:defRPr/>
            </a:pPr>
            <a:r>
              <a:rPr sz="1333">
                <a:solidFill>
                  <a:srgbClr val="FFFFFF"/>
                </a:solidFill>
                <a:latin typeface="Aptos"/>
                <a:cs typeface="Calibri"/>
              </a:rPr>
              <a:t>First</a:t>
            </a:r>
            <a:r>
              <a:rPr sz="1333" spc="43">
                <a:solidFill>
                  <a:srgbClr val="FFFFFF"/>
                </a:solidFill>
                <a:latin typeface="Aptos"/>
                <a:cs typeface="Calibri"/>
              </a:rPr>
              <a:t> </a:t>
            </a:r>
            <a:r>
              <a:rPr sz="1333" spc="50">
                <a:solidFill>
                  <a:srgbClr val="FFFFFF"/>
                </a:solidFill>
                <a:latin typeface="Aptos"/>
                <a:cs typeface="Calibri"/>
              </a:rPr>
              <a:t>commercial</a:t>
            </a:r>
            <a:r>
              <a:rPr sz="1333" spc="13">
                <a:solidFill>
                  <a:srgbClr val="FFFFFF"/>
                </a:solidFill>
                <a:latin typeface="Aptos"/>
                <a:cs typeface="Calibri"/>
              </a:rPr>
              <a:t> </a:t>
            </a:r>
            <a:r>
              <a:rPr sz="1333" spc="23">
                <a:solidFill>
                  <a:srgbClr val="FFFFFF"/>
                </a:solidFill>
                <a:latin typeface="Aptos"/>
                <a:cs typeface="Calibri"/>
              </a:rPr>
              <a:t>contract</a:t>
            </a:r>
            <a:endParaRPr sz="1333">
              <a:latin typeface="Aptos"/>
              <a:cs typeface="Calibri"/>
            </a:endParaRPr>
          </a:p>
          <a:p>
            <a:pPr marL="74934">
              <a:defRPr/>
            </a:pPr>
            <a:r>
              <a:rPr sz="1333">
                <a:solidFill>
                  <a:srgbClr val="FFFFFF"/>
                </a:solidFill>
                <a:latin typeface="Aptos"/>
                <a:cs typeface="Calibri"/>
              </a:rPr>
              <a:t>through</a:t>
            </a:r>
            <a:r>
              <a:rPr sz="1333" spc="37">
                <a:solidFill>
                  <a:srgbClr val="FFFFFF"/>
                </a:solidFill>
                <a:latin typeface="Aptos"/>
                <a:cs typeface="Calibri"/>
              </a:rPr>
              <a:t> </a:t>
            </a:r>
            <a:r>
              <a:rPr sz="1333" spc="43">
                <a:solidFill>
                  <a:srgbClr val="FFFFFF"/>
                </a:solidFill>
                <a:latin typeface="Aptos"/>
                <a:cs typeface="Calibri"/>
              </a:rPr>
              <a:t>PROQCIMA</a:t>
            </a:r>
            <a:endParaRPr sz="1333">
              <a:latin typeface="Aptos"/>
              <a:cs typeface="Calibri"/>
            </a:endParaRPr>
          </a:p>
        </p:txBody>
      </p:sp>
      <p:sp>
        <p:nvSpPr>
          <p:cNvPr id="934088078" name="object 30"/>
          <p:cNvSpPr/>
          <p:nvPr/>
        </p:nvSpPr>
        <p:spPr bwMode="auto">
          <a:xfrm>
            <a:off x="7942072" y="3463543"/>
            <a:ext cx="2034117" cy="1981200"/>
          </a:xfrm>
          <a:custGeom>
            <a:avLst/>
            <a:gdLst/>
            <a:ahLst/>
            <a:cxnLst/>
            <a:rect l="l" t="t" r="r" b="b"/>
            <a:pathLst>
              <a:path w="3051175" h="2971800" extrusionOk="0">
                <a:moveTo>
                  <a:pt x="3051048" y="0"/>
                </a:moveTo>
                <a:lnTo>
                  <a:pt x="0" y="0"/>
                </a:lnTo>
                <a:lnTo>
                  <a:pt x="0" y="2971799"/>
                </a:lnTo>
                <a:lnTo>
                  <a:pt x="3051048" y="2971799"/>
                </a:lnTo>
                <a:lnTo>
                  <a:pt x="3051048" y="0"/>
                </a:lnTo>
                <a:close/>
              </a:path>
            </a:pathLst>
          </a:custGeom>
          <a:solidFill>
            <a:srgbClr val="1B2E6A">
              <a:alpha val="55685"/>
            </a:srgbClr>
          </a:solidFill>
        </p:spPr>
        <p:txBody>
          <a:bodyPr wrap="square" lIns="0" tIns="0" rIns="0" bIns="0" rtlCol="0"/>
          <a:lstStyle/>
          <a:p>
            <a:pPr>
              <a:defRPr/>
            </a:pPr>
            <a:endParaRPr sz="1200">
              <a:latin typeface="Aptos"/>
            </a:endParaRPr>
          </a:p>
        </p:txBody>
      </p:sp>
      <p:sp>
        <p:nvSpPr>
          <p:cNvPr id="667964972" name="object 31"/>
          <p:cNvSpPr txBox="1"/>
          <p:nvPr/>
        </p:nvSpPr>
        <p:spPr bwMode="auto">
          <a:xfrm>
            <a:off x="8024961" y="3636568"/>
            <a:ext cx="1413848" cy="829843"/>
          </a:xfrm>
          <a:prstGeom prst="rect">
            <a:avLst/>
          </a:prstGeom>
        </p:spPr>
        <p:txBody>
          <a:bodyPr vert="horz" wrap="square" lIns="0" tIns="8890" rIns="0" bIns="0" rtlCol="0">
            <a:spAutoFit/>
          </a:bodyPr>
          <a:lstStyle/>
          <a:p>
            <a:pPr>
              <a:spcBef>
                <a:spcPts val="70"/>
              </a:spcBef>
              <a:defRPr/>
            </a:pPr>
            <a:r>
              <a:rPr sz="5334" b="1" spc="140">
                <a:solidFill>
                  <a:srgbClr val="FFFFFF"/>
                </a:solidFill>
                <a:latin typeface="Aptos"/>
                <a:cs typeface="Calibri"/>
              </a:rPr>
              <a:t>20+</a:t>
            </a:r>
            <a:endParaRPr sz="5334">
              <a:latin typeface="Aptos"/>
              <a:cs typeface="Calibri"/>
            </a:endParaRPr>
          </a:p>
        </p:txBody>
      </p:sp>
      <p:sp>
        <p:nvSpPr>
          <p:cNvPr id="701286904" name="object 32"/>
          <p:cNvSpPr txBox="1"/>
          <p:nvPr/>
        </p:nvSpPr>
        <p:spPr bwMode="auto">
          <a:xfrm>
            <a:off x="8026822" y="4422902"/>
            <a:ext cx="1320377" cy="214098"/>
          </a:xfrm>
          <a:prstGeom prst="rect">
            <a:avLst/>
          </a:prstGeom>
        </p:spPr>
        <p:txBody>
          <a:bodyPr vert="horz" wrap="square" lIns="0" tIns="8890" rIns="0" bIns="0" rtlCol="0">
            <a:spAutoFit/>
          </a:bodyPr>
          <a:lstStyle/>
          <a:p>
            <a:pPr>
              <a:spcBef>
                <a:spcPts val="70"/>
              </a:spcBef>
              <a:defRPr/>
            </a:pPr>
            <a:r>
              <a:rPr sz="1333" spc="27">
                <a:solidFill>
                  <a:srgbClr val="FFFFFF"/>
                </a:solidFill>
                <a:latin typeface="Aptos"/>
                <a:cs typeface="Calibri"/>
              </a:rPr>
              <a:t>partnerships</a:t>
            </a:r>
            <a:endParaRPr sz="1333">
              <a:latin typeface="Aptos"/>
              <a:cs typeface="Calibri"/>
            </a:endParaRPr>
          </a:p>
        </p:txBody>
      </p:sp>
      <p:sp>
        <p:nvSpPr>
          <p:cNvPr id="1449834142" name="object 33"/>
          <p:cNvSpPr/>
          <p:nvPr/>
        </p:nvSpPr>
        <p:spPr bwMode="auto">
          <a:xfrm>
            <a:off x="3811753" y="6016029"/>
            <a:ext cx="4564380" cy="186716"/>
          </a:xfrm>
          <a:custGeom>
            <a:avLst/>
            <a:gdLst/>
            <a:ahLst/>
            <a:cxnLst/>
            <a:rect l="l" t="t" r="r" b="b"/>
            <a:pathLst>
              <a:path w="6530340" h="262254" extrusionOk="0">
                <a:moveTo>
                  <a:pt x="6530340" y="0"/>
                </a:moveTo>
                <a:lnTo>
                  <a:pt x="0" y="0"/>
                </a:lnTo>
                <a:lnTo>
                  <a:pt x="0" y="262127"/>
                </a:lnTo>
                <a:lnTo>
                  <a:pt x="6530340" y="262127"/>
                </a:lnTo>
                <a:lnTo>
                  <a:pt x="6530340" y="0"/>
                </a:lnTo>
                <a:close/>
              </a:path>
            </a:pathLst>
          </a:custGeom>
          <a:solidFill>
            <a:srgbClr val="E62F5F">
              <a:alpha val="50195"/>
            </a:srgbClr>
          </a:solidFill>
        </p:spPr>
        <p:txBody>
          <a:bodyPr wrap="square" lIns="0" tIns="0" rIns="0" bIns="0" rtlCol="0"/>
          <a:lstStyle/>
          <a:p>
            <a:pPr>
              <a:defRPr/>
            </a:pPr>
            <a:endParaRPr sz="1200">
              <a:latin typeface="Aptos"/>
            </a:endParaRPr>
          </a:p>
        </p:txBody>
      </p:sp>
      <p:sp>
        <p:nvSpPr>
          <p:cNvPr id="1641559272" name="object 34"/>
          <p:cNvSpPr txBox="1"/>
          <p:nvPr/>
        </p:nvSpPr>
        <p:spPr bwMode="auto">
          <a:xfrm>
            <a:off x="3911600" y="5806304"/>
            <a:ext cx="4658869" cy="336781"/>
          </a:xfrm>
          <a:prstGeom prst="rect">
            <a:avLst/>
          </a:prstGeom>
        </p:spPr>
        <p:txBody>
          <a:bodyPr vert="horz" wrap="square" lIns="0" tIns="8467" rIns="0" bIns="0" rtlCol="0">
            <a:spAutoFit/>
          </a:bodyPr>
          <a:lstStyle/>
          <a:p>
            <a:pPr marL="8467">
              <a:spcBef>
                <a:spcPts val="67"/>
              </a:spcBef>
              <a:defRPr/>
            </a:pPr>
            <a:r>
              <a:rPr sz="2133" b="1" spc="87">
                <a:solidFill>
                  <a:srgbClr val="FFFFFF"/>
                </a:solidFill>
                <a:latin typeface="Aptos"/>
                <a:cs typeface="Calibri"/>
              </a:rPr>
              <a:t>June</a:t>
            </a:r>
            <a:r>
              <a:rPr sz="2133" b="1" spc="-53">
                <a:solidFill>
                  <a:srgbClr val="FFFFFF"/>
                </a:solidFill>
                <a:latin typeface="Aptos"/>
                <a:cs typeface="Calibri"/>
              </a:rPr>
              <a:t> </a:t>
            </a:r>
            <a:r>
              <a:rPr sz="2133" b="1" spc="50">
                <a:solidFill>
                  <a:srgbClr val="FFFFFF"/>
                </a:solidFill>
                <a:latin typeface="Aptos"/>
                <a:cs typeface="Calibri"/>
              </a:rPr>
              <a:t>2026:</a:t>
            </a:r>
            <a:r>
              <a:rPr sz="2133" b="1" spc="-37">
                <a:solidFill>
                  <a:srgbClr val="FFFFFF"/>
                </a:solidFill>
                <a:latin typeface="Aptos"/>
                <a:cs typeface="Calibri"/>
              </a:rPr>
              <a:t> </a:t>
            </a:r>
            <a:r>
              <a:rPr sz="2133" b="1" spc="83">
                <a:solidFill>
                  <a:srgbClr val="FFFFFF"/>
                </a:solidFill>
                <a:latin typeface="Aptos"/>
                <a:cs typeface="Calibri"/>
              </a:rPr>
              <a:t>Quobly</a:t>
            </a:r>
            <a:r>
              <a:rPr sz="2133" b="1" spc="-43">
                <a:solidFill>
                  <a:srgbClr val="FFFFFF"/>
                </a:solidFill>
                <a:latin typeface="Aptos"/>
                <a:cs typeface="Calibri"/>
              </a:rPr>
              <a:t> </a:t>
            </a:r>
            <a:r>
              <a:rPr sz="2133" b="1" spc="150">
                <a:solidFill>
                  <a:srgbClr val="FFFFFF"/>
                </a:solidFill>
                <a:latin typeface="Aptos"/>
                <a:cs typeface="Calibri"/>
              </a:rPr>
              <a:t>secures</a:t>
            </a:r>
            <a:r>
              <a:rPr sz="2133" b="1" spc="-47">
                <a:solidFill>
                  <a:srgbClr val="FFFFFF"/>
                </a:solidFill>
                <a:latin typeface="Aptos"/>
                <a:cs typeface="Calibri"/>
              </a:rPr>
              <a:t> </a:t>
            </a:r>
            <a:r>
              <a:rPr sz="2133" b="1" spc="-7">
                <a:solidFill>
                  <a:srgbClr val="FFFFFF"/>
                </a:solidFill>
                <a:latin typeface="Aptos"/>
                <a:cs typeface="Calibri"/>
              </a:rPr>
              <a:t>115M€</a:t>
            </a:r>
            <a:endParaRPr sz="2133">
              <a:latin typeface="Aptos"/>
              <a:cs typeface="Calibri"/>
            </a:endParaRPr>
          </a:p>
        </p:txBody>
      </p:sp>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10"/>
          <p:cNvSpPr>
            <a:spLocks noGrp="1"/>
          </p:cNvSpPr>
          <p:nvPr>
            <p:ph type="title" idx="110" hasCustomPrompt="1"/>
          </p:nvPr>
        </p:nvSpPr>
        <p:spPr>
          <a:xfrm>
            <a:off x="548640" y="457200"/>
            <a:ext cx="11094415" cy="777240"/>
          </a:xfrm>
          <a:prstGeom prst="rect">
            <a:avLst/>
          </a:prstGeom>
          <a:noFill/>
          <a:ln/>
        </p:spPr>
        <p:txBody>
          <a:bodyPr wrap="square" lIns="0" tIns="0" rIns="0" bIns="0" rtlCol="0" anchor="t"/>
          <a:lstStyle/>
          <a:p>
            <a:pPr marL="0" indent="0" algn="l">
              <a:buNone/>
            </a:pPr>
            <a:r>
              <a:rPr lang="en-US" sz="3200" dirty="0">
                <a:solidFill>
                  <a:schemeClr val="tx1"/>
                </a:solidFill>
              </a:rPr>
              <a:t>Agenda</a:t>
            </a:r>
            <a:endParaRPr lang="en-US" sz="3200" dirty="0"/>
          </a:p>
        </p:txBody>
      </p:sp>
      <p:sp>
        <p:nvSpPr>
          <p:cNvPr id="3" name="Agenda item 1"/>
          <p:cNvSpPr/>
          <p:nvPr/>
        </p:nvSpPr>
        <p:spPr>
          <a:xfrm>
            <a:off x="548640" y="1463040"/>
            <a:ext cx="11094415" cy="731520"/>
          </a:xfrm>
          <a:prstGeom prst="roundRect">
            <a:avLst>
              <a:gd name="adj" fmla="val 12500"/>
            </a:avLst>
          </a:prstGeom>
          <a:solidFill>
            <a:schemeClr val="bg2"/>
          </a:solidFill>
          <a:ln w="9525">
            <a:solidFill>
              <a:schemeClr val="accent5"/>
            </a:solidFill>
            <a:prstDash val="solid"/>
          </a:ln>
        </p:spPr>
        <p:txBody>
          <a:bodyPr/>
          <a:lstStyle/>
          <a:p>
            <a:endParaRPr lang="fr-FR"/>
          </a:p>
        </p:txBody>
      </p:sp>
      <p:sp>
        <p:nvSpPr>
          <p:cNvPr id="4" name="Text 2"/>
          <p:cNvSpPr txBox="1"/>
          <p:nvPr/>
        </p:nvSpPr>
        <p:spPr>
          <a:xfrm>
            <a:off x="822960" y="1463040"/>
            <a:ext cx="731520" cy="731520"/>
          </a:xfrm>
          <a:prstGeom prst="rect">
            <a:avLst/>
          </a:prstGeom>
          <a:noFill/>
          <a:ln/>
        </p:spPr>
        <p:txBody>
          <a:bodyPr wrap="square" lIns="0" tIns="0" rIns="0" bIns="0" rtlCol="0" anchor="ctr"/>
          <a:lstStyle/>
          <a:p>
            <a:pPr marL="0" indent="0">
              <a:buNone/>
            </a:pPr>
            <a:r>
              <a:rPr lang="en-US" sz="2200" b="1" dirty="0">
                <a:solidFill>
                  <a:schemeClr val="accent2"/>
                </a:solidFill>
              </a:rPr>
              <a:t>01</a:t>
            </a:r>
            <a:endParaRPr lang="en-US" sz="2200" dirty="0"/>
          </a:p>
        </p:txBody>
      </p:sp>
      <p:sp>
        <p:nvSpPr>
          <p:cNvPr id="5" name="Text 3"/>
          <p:cNvSpPr txBox="1"/>
          <p:nvPr/>
        </p:nvSpPr>
        <p:spPr>
          <a:xfrm>
            <a:off x="1645920" y="1463040"/>
            <a:ext cx="5943600" cy="731520"/>
          </a:xfrm>
          <a:prstGeom prst="rect">
            <a:avLst/>
          </a:prstGeom>
          <a:noFill/>
          <a:ln/>
        </p:spPr>
        <p:txBody>
          <a:bodyPr wrap="square" lIns="0" tIns="0" rIns="0" bIns="0" rtlCol="0" anchor="ctr"/>
          <a:lstStyle/>
          <a:p>
            <a:r>
              <a:rPr lang="en-US" b="1" dirty="0"/>
              <a:t>Context and overview</a:t>
            </a:r>
            <a:endParaRPr lang="en-US" sz="1800" b="1" dirty="0"/>
          </a:p>
        </p:txBody>
      </p:sp>
      <p:sp>
        <p:nvSpPr>
          <p:cNvPr id="6" name="Text 4"/>
          <p:cNvSpPr txBox="1"/>
          <p:nvPr/>
        </p:nvSpPr>
        <p:spPr>
          <a:xfrm>
            <a:off x="7498080" y="1463040"/>
            <a:ext cx="2377440" cy="731520"/>
          </a:xfrm>
          <a:prstGeom prst="rect">
            <a:avLst/>
          </a:prstGeom>
          <a:noFill/>
          <a:ln/>
        </p:spPr>
        <p:txBody>
          <a:bodyPr wrap="square" lIns="0" tIns="0" rIns="0" bIns="0" rtlCol="0" anchor="ctr"/>
          <a:lstStyle/>
          <a:p>
            <a:pPr marL="0" indent="0">
              <a:buNone/>
            </a:pPr>
            <a:r>
              <a:rPr lang="en-US" sz="1400" dirty="0">
                <a:solidFill>
                  <a:schemeClr val="tx2"/>
                </a:solidFill>
              </a:rPr>
              <a:t>[Karla Baumann]</a:t>
            </a:r>
            <a:endParaRPr lang="en-US" sz="1400" dirty="0"/>
          </a:p>
        </p:txBody>
      </p:sp>
      <p:sp>
        <p:nvSpPr>
          <p:cNvPr id="7" name="Text 5"/>
          <p:cNvSpPr txBox="1"/>
          <p:nvPr/>
        </p:nvSpPr>
        <p:spPr>
          <a:xfrm>
            <a:off x="10271455" y="1463040"/>
            <a:ext cx="1097280" cy="731520"/>
          </a:xfrm>
          <a:prstGeom prst="rect">
            <a:avLst/>
          </a:prstGeom>
          <a:noFill/>
          <a:ln/>
        </p:spPr>
        <p:txBody>
          <a:bodyPr wrap="square" lIns="0" tIns="0" rIns="0" bIns="0" rtlCol="0" anchor="ctr"/>
          <a:lstStyle/>
          <a:p>
            <a:pPr marL="0" indent="0" algn="r">
              <a:buNone/>
            </a:pPr>
            <a:r>
              <a:rPr lang="en-US" sz="1400" dirty="0">
                <a:solidFill>
                  <a:schemeClr val="tx2"/>
                </a:solidFill>
              </a:rPr>
              <a:t>[10:00]</a:t>
            </a:r>
            <a:endParaRPr lang="en-US" sz="1400" dirty="0"/>
          </a:p>
        </p:txBody>
      </p:sp>
      <p:sp>
        <p:nvSpPr>
          <p:cNvPr id="8" name="Agenda item 2"/>
          <p:cNvSpPr/>
          <p:nvPr/>
        </p:nvSpPr>
        <p:spPr>
          <a:xfrm>
            <a:off x="548640" y="2377440"/>
            <a:ext cx="11094415" cy="731520"/>
          </a:xfrm>
          <a:prstGeom prst="roundRect">
            <a:avLst>
              <a:gd name="adj" fmla="val 12500"/>
            </a:avLst>
          </a:prstGeom>
          <a:solidFill>
            <a:schemeClr val="bg2"/>
          </a:solidFill>
          <a:ln w="9525">
            <a:solidFill>
              <a:schemeClr val="accent5"/>
            </a:solidFill>
            <a:prstDash val="solid"/>
          </a:ln>
        </p:spPr>
        <p:txBody>
          <a:bodyPr/>
          <a:lstStyle/>
          <a:p>
            <a:endParaRPr lang="fr-FR"/>
          </a:p>
        </p:txBody>
      </p:sp>
      <p:sp>
        <p:nvSpPr>
          <p:cNvPr id="9" name="Text 7"/>
          <p:cNvSpPr txBox="1"/>
          <p:nvPr/>
        </p:nvSpPr>
        <p:spPr>
          <a:xfrm>
            <a:off x="822960" y="2377440"/>
            <a:ext cx="731520" cy="731520"/>
          </a:xfrm>
          <a:prstGeom prst="rect">
            <a:avLst/>
          </a:prstGeom>
          <a:noFill/>
          <a:ln/>
        </p:spPr>
        <p:txBody>
          <a:bodyPr wrap="square" lIns="0" tIns="0" rIns="0" bIns="0" rtlCol="0" anchor="ctr"/>
          <a:lstStyle/>
          <a:p>
            <a:pPr marL="0" indent="0">
              <a:buNone/>
            </a:pPr>
            <a:r>
              <a:rPr lang="en-US" sz="2200" b="1" dirty="0">
                <a:solidFill>
                  <a:schemeClr val="accent2"/>
                </a:solidFill>
              </a:rPr>
              <a:t>02</a:t>
            </a:r>
            <a:endParaRPr lang="en-US" sz="2200" dirty="0"/>
          </a:p>
        </p:txBody>
      </p:sp>
      <p:sp>
        <p:nvSpPr>
          <p:cNvPr id="10" name="Text 8"/>
          <p:cNvSpPr txBox="1"/>
          <p:nvPr/>
        </p:nvSpPr>
        <p:spPr>
          <a:xfrm>
            <a:off x="1645920" y="2377440"/>
            <a:ext cx="5943600" cy="731520"/>
          </a:xfrm>
          <a:prstGeom prst="rect">
            <a:avLst/>
          </a:prstGeom>
          <a:noFill/>
          <a:ln/>
        </p:spPr>
        <p:txBody>
          <a:bodyPr wrap="square" lIns="0" tIns="0" rIns="0" bIns="0" rtlCol="0" anchor="ctr"/>
          <a:lstStyle/>
          <a:p>
            <a:r>
              <a:rPr lang="en-US" b="1" dirty="0"/>
              <a:t>Algorithmic foundation</a:t>
            </a:r>
            <a:endParaRPr lang="en-US" sz="1800" b="1" dirty="0"/>
          </a:p>
        </p:txBody>
      </p:sp>
      <p:sp>
        <p:nvSpPr>
          <p:cNvPr id="11" name="Text 9"/>
          <p:cNvSpPr txBox="1"/>
          <p:nvPr/>
        </p:nvSpPr>
        <p:spPr>
          <a:xfrm>
            <a:off x="7498080" y="2377440"/>
            <a:ext cx="2377440" cy="731520"/>
          </a:xfrm>
          <a:prstGeom prst="rect">
            <a:avLst/>
          </a:prstGeom>
          <a:noFill/>
          <a:ln/>
        </p:spPr>
        <p:txBody>
          <a:bodyPr wrap="square" lIns="0" tIns="0" rIns="0" bIns="0" rtlCol="0" anchor="ctr"/>
          <a:lstStyle/>
          <a:p>
            <a:pPr marL="0" indent="0">
              <a:buNone/>
            </a:pPr>
            <a:r>
              <a:rPr lang="en-US" sz="1400" dirty="0">
                <a:solidFill>
                  <a:schemeClr val="tx2"/>
                </a:solidFill>
              </a:rPr>
              <a:t>[Karla Baumann]</a:t>
            </a:r>
            <a:endParaRPr lang="en-US" sz="1400" dirty="0"/>
          </a:p>
        </p:txBody>
      </p:sp>
      <p:sp>
        <p:nvSpPr>
          <p:cNvPr id="12" name="Text 10"/>
          <p:cNvSpPr txBox="1"/>
          <p:nvPr/>
        </p:nvSpPr>
        <p:spPr>
          <a:xfrm>
            <a:off x="10271455" y="2377440"/>
            <a:ext cx="1097280" cy="731520"/>
          </a:xfrm>
          <a:prstGeom prst="rect">
            <a:avLst/>
          </a:prstGeom>
          <a:noFill/>
          <a:ln/>
        </p:spPr>
        <p:txBody>
          <a:bodyPr wrap="square" lIns="0" tIns="0" rIns="0" bIns="0" rtlCol="0" anchor="ctr"/>
          <a:lstStyle/>
          <a:p>
            <a:pPr marL="0" indent="0" algn="r">
              <a:buNone/>
            </a:pPr>
            <a:r>
              <a:rPr lang="en-US" sz="1400" dirty="0">
                <a:solidFill>
                  <a:schemeClr val="tx2"/>
                </a:solidFill>
              </a:rPr>
              <a:t>[40:00]</a:t>
            </a:r>
            <a:endParaRPr lang="en-US" sz="1400" dirty="0"/>
          </a:p>
        </p:txBody>
      </p:sp>
      <p:sp>
        <p:nvSpPr>
          <p:cNvPr id="13" name="Agenda item 3"/>
          <p:cNvSpPr/>
          <p:nvPr/>
        </p:nvSpPr>
        <p:spPr>
          <a:xfrm>
            <a:off x="548640" y="3291840"/>
            <a:ext cx="11094415" cy="1651096"/>
          </a:xfrm>
          <a:prstGeom prst="roundRect">
            <a:avLst>
              <a:gd name="adj" fmla="val 12500"/>
            </a:avLst>
          </a:prstGeom>
          <a:solidFill>
            <a:schemeClr val="bg2"/>
          </a:solidFill>
          <a:ln w="9525">
            <a:solidFill>
              <a:schemeClr val="accent5"/>
            </a:solidFill>
            <a:prstDash val="solid"/>
          </a:ln>
        </p:spPr>
        <p:txBody>
          <a:bodyPr/>
          <a:lstStyle/>
          <a:p>
            <a:endParaRPr lang="fr-FR"/>
          </a:p>
        </p:txBody>
      </p:sp>
      <p:sp>
        <p:nvSpPr>
          <p:cNvPr id="14" name="Text 12"/>
          <p:cNvSpPr txBox="1"/>
          <p:nvPr/>
        </p:nvSpPr>
        <p:spPr>
          <a:xfrm>
            <a:off x="822960" y="3291840"/>
            <a:ext cx="731520" cy="731520"/>
          </a:xfrm>
          <a:prstGeom prst="rect">
            <a:avLst/>
          </a:prstGeom>
          <a:noFill/>
          <a:ln/>
        </p:spPr>
        <p:txBody>
          <a:bodyPr wrap="square" lIns="0" tIns="0" rIns="0" bIns="0" rtlCol="0" anchor="ctr"/>
          <a:lstStyle/>
          <a:p>
            <a:pPr marL="0" indent="0">
              <a:buNone/>
            </a:pPr>
            <a:r>
              <a:rPr lang="en-US" sz="2200" b="1" dirty="0">
                <a:solidFill>
                  <a:schemeClr val="accent2"/>
                </a:solidFill>
              </a:rPr>
              <a:t>03</a:t>
            </a:r>
            <a:endParaRPr lang="en-US" sz="2200" dirty="0"/>
          </a:p>
        </p:txBody>
      </p:sp>
      <p:sp>
        <p:nvSpPr>
          <p:cNvPr id="15" name="Text 13"/>
          <p:cNvSpPr txBox="1"/>
          <p:nvPr/>
        </p:nvSpPr>
        <p:spPr>
          <a:xfrm>
            <a:off x="1645920" y="3604116"/>
            <a:ext cx="5943600" cy="731520"/>
          </a:xfrm>
          <a:prstGeom prst="rect">
            <a:avLst/>
          </a:prstGeom>
          <a:noFill/>
          <a:ln/>
        </p:spPr>
        <p:txBody>
          <a:bodyPr wrap="square" lIns="0" tIns="0" rIns="0" bIns="0" rtlCol="0" anchor="ctr"/>
          <a:lstStyle/>
          <a:p>
            <a:pPr marL="0" indent="0">
              <a:buNone/>
            </a:pPr>
            <a:r>
              <a:rPr lang="en-US" b="1" dirty="0"/>
              <a:t>Differential equations on silicon spin qubits:</a:t>
            </a:r>
          </a:p>
          <a:p>
            <a:pPr marL="0" indent="0">
              <a:buNone/>
            </a:pPr>
            <a:endParaRPr lang="en-US" sz="1800" b="1" dirty="0"/>
          </a:p>
          <a:p>
            <a:pPr marL="0" indent="0">
              <a:buNone/>
            </a:pPr>
            <a:r>
              <a:rPr lang="en-US" sz="1800" b="1" dirty="0"/>
              <a:t>a hands</a:t>
            </a:r>
            <a:r>
              <a:rPr lang="en-US" b="1" dirty="0"/>
              <a:t>-</a:t>
            </a:r>
            <a:r>
              <a:rPr lang="en-US" sz="1800" b="1" dirty="0"/>
              <a:t>on tutorial</a:t>
            </a:r>
            <a:endParaRPr lang="en-US" sz="1800" dirty="0"/>
          </a:p>
        </p:txBody>
      </p:sp>
      <p:sp>
        <p:nvSpPr>
          <p:cNvPr id="21" name="Text 19"/>
          <p:cNvSpPr txBox="1"/>
          <p:nvPr/>
        </p:nvSpPr>
        <p:spPr>
          <a:xfrm>
            <a:off x="7498080" y="3262510"/>
            <a:ext cx="3172796" cy="731520"/>
          </a:xfrm>
          <a:prstGeom prst="rect">
            <a:avLst/>
          </a:prstGeom>
          <a:noFill/>
          <a:ln/>
        </p:spPr>
        <p:txBody>
          <a:bodyPr wrap="square" lIns="0" tIns="0" rIns="0" bIns="0" rtlCol="0" anchor="ctr"/>
          <a:lstStyle/>
          <a:p>
            <a:pPr marL="0" indent="0">
              <a:buNone/>
            </a:pPr>
            <a:r>
              <a:rPr lang="en-US" sz="1400" dirty="0">
                <a:solidFill>
                  <a:schemeClr val="tx2"/>
                </a:solidFill>
              </a:rPr>
              <a:t>[Romain </a:t>
            </a:r>
            <a:r>
              <a:rPr lang="en-US" sz="1400" dirty="0" err="1">
                <a:solidFill>
                  <a:schemeClr val="tx2"/>
                </a:solidFill>
              </a:rPr>
              <a:t>Logean</a:t>
            </a:r>
            <a:r>
              <a:rPr lang="en-US" sz="1400" dirty="0">
                <a:solidFill>
                  <a:schemeClr val="tx2"/>
                </a:solidFill>
              </a:rPr>
              <a:t> and Karla Baumann]</a:t>
            </a:r>
            <a:endParaRPr lang="en-US" sz="1400" dirty="0"/>
          </a:p>
        </p:txBody>
      </p:sp>
      <p:sp>
        <p:nvSpPr>
          <p:cNvPr id="22" name="Text 20"/>
          <p:cNvSpPr txBox="1"/>
          <p:nvPr/>
        </p:nvSpPr>
        <p:spPr>
          <a:xfrm>
            <a:off x="10271455" y="3241807"/>
            <a:ext cx="1097280" cy="731520"/>
          </a:xfrm>
          <a:prstGeom prst="rect">
            <a:avLst/>
          </a:prstGeom>
          <a:noFill/>
          <a:ln/>
        </p:spPr>
        <p:txBody>
          <a:bodyPr wrap="square" lIns="0" tIns="0" rIns="0" bIns="0" rtlCol="0" anchor="ctr"/>
          <a:lstStyle/>
          <a:p>
            <a:pPr marL="0" indent="0" algn="r">
              <a:buNone/>
            </a:pPr>
            <a:r>
              <a:rPr lang="en-US" sz="1400" dirty="0">
                <a:solidFill>
                  <a:schemeClr val="tx2"/>
                </a:solidFill>
              </a:rPr>
              <a:t>[65:00]</a:t>
            </a:r>
            <a:endParaRPr lang="en-US" sz="1400" dirty="0"/>
          </a:p>
        </p:txBody>
      </p:sp>
      <p:sp>
        <p:nvSpPr>
          <p:cNvPr id="23" name="Agenda item 5"/>
          <p:cNvSpPr/>
          <p:nvPr/>
        </p:nvSpPr>
        <p:spPr>
          <a:xfrm>
            <a:off x="548640" y="5120640"/>
            <a:ext cx="11094415" cy="731520"/>
          </a:xfrm>
          <a:prstGeom prst="roundRect">
            <a:avLst>
              <a:gd name="adj" fmla="val 12500"/>
            </a:avLst>
          </a:prstGeom>
          <a:solidFill>
            <a:schemeClr val="bg2"/>
          </a:solidFill>
          <a:ln w="9525">
            <a:solidFill>
              <a:schemeClr val="accent5"/>
            </a:solidFill>
            <a:prstDash val="solid"/>
          </a:ln>
        </p:spPr>
        <p:txBody>
          <a:bodyPr/>
          <a:lstStyle/>
          <a:p>
            <a:endParaRPr lang="fr-FR"/>
          </a:p>
        </p:txBody>
      </p:sp>
      <p:sp>
        <p:nvSpPr>
          <p:cNvPr id="24" name="Text 22"/>
          <p:cNvSpPr txBox="1"/>
          <p:nvPr/>
        </p:nvSpPr>
        <p:spPr>
          <a:xfrm>
            <a:off x="822960" y="5120640"/>
            <a:ext cx="731520" cy="731520"/>
          </a:xfrm>
          <a:prstGeom prst="rect">
            <a:avLst/>
          </a:prstGeom>
          <a:noFill/>
          <a:ln/>
        </p:spPr>
        <p:txBody>
          <a:bodyPr wrap="square" lIns="0" tIns="0" rIns="0" bIns="0" rtlCol="0" anchor="ctr"/>
          <a:lstStyle/>
          <a:p>
            <a:pPr marL="0" indent="0">
              <a:buNone/>
            </a:pPr>
            <a:r>
              <a:rPr lang="en-US" sz="2200" b="1" dirty="0">
                <a:solidFill>
                  <a:schemeClr val="accent2"/>
                </a:solidFill>
              </a:rPr>
              <a:t>04</a:t>
            </a:r>
            <a:endParaRPr lang="en-US" sz="2200" dirty="0"/>
          </a:p>
        </p:txBody>
      </p:sp>
      <p:sp>
        <p:nvSpPr>
          <p:cNvPr id="25" name="Text 23"/>
          <p:cNvSpPr txBox="1"/>
          <p:nvPr/>
        </p:nvSpPr>
        <p:spPr>
          <a:xfrm>
            <a:off x="1645920" y="5120640"/>
            <a:ext cx="5943600" cy="731520"/>
          </a:xfrm>
          <a:prstGeom prst="rect">
            <a:avLst/>
          </a:prstGeom>
          <a:noFill/>
          <a:ln/>
        </p:spPr>
        <p:txBody>
          <a:bodyPr wrap="square" lIns="0" tIns="0" rIns="0" bIns="0" rtlCol="0" anchor="ctr"/>
          <a:lstStyle/>
          <a:p>
            <a:pPr marL="0" indent="0">
              <a:buNone/>
            </a:pPr>
            <a:r>
              <a:rPr lang="en-US" sz="1800" b="1" dirty="0">
                <a:solidFill>
                  <a:schemeClr val="tx1"/>
                </a:solidFill>
              </a:rPr>
              <a:t>Conclusions</a:t>
            </a:r>
            <a:endParaRPr lang="en-US" sz="1800" dirty="0"/>
          </a:p>
        </p:txBody>
      </p:sp>
      <p:sp>
        <p:nvSpPr>
          <p:cNvPr id="26" name="Text 24"/>
          <p:cNvSpPr txBox="1"/>
          <p:nvPr/>
        </p:nvSpPr>
        <p:spPr>
          <a:xfrm>
            <a:off x="7498080" y="5120640"/>
            <a:ext cx="2377440" cy="731520"/>
          </a:xfrm>
          <a:prstGeom prst="rect">
            <a:avLst/>
          </a:prstGeom>
          <a:noFill/>
          <a:ln/>
        </p:spPr>
        <p:txBody>
          <a:bodyPr wrap="square" lIns="0" tIns="0" rIns="0" bIns="0" rtlCol="0" anchor="ctr"/>
          <a:lstStyle/>
          <a:p>
            <a:pPr marL="0" indent="0">
              <a:buNone/>
            </a:pPr>
            <a:r>
              <a:rPr lang="en-US" sz="1400" dirty="0">
                <a:solidFill>
                  <a:schemeClr val="tx2"/>
                </a:solidFill>
              </a:rPr>
              <a:t>[Karla Baumann]</a:t>
            </a:r>
            <a:endParaRPr lang="en-US" sz="1400" dirty="0"/>
          </a:p>
        </p:txBody>
      </p:sp>
      <p:sp>
        <p:nvSpPr>
          <p:cNvPr id="27" name="Text 25"/>
          <p:cNvSpPr txBox="1"/>
          <p:nvPr/>
        </p:nvSpPr>
        <p:spPr>
          <a:xfrm>
            <a:off x="10271455" y="5120640"/>
            <a:ext cx="1097280" cy="731520"/>
          </a:xfrm>
          <a:prstGeom prst="rect">
            <a:avLst/>
          </a:prstGeom>
          <a:noFill/>
          <a:ln/>
        </p:spPr>
        <p:txBody>
          <a:bodyPr wrap="square" lIns="0" tIns="0" rIns="0" bIns="0" rtlCol="0" anchor="ctr"/>
          <a:lstStyle/>
          <a:p>
            <a:pPr marL="0" indent="0" algn="r">
              <a:buNone/>
            </a:pPr>
            <a:r>
              <a:rPr lang="en-US" sz="1400" dirty="0">
                <a:solidFill>
                  <a:schemeClr val="tx2"/>
                </a:solidFill>
              </a:rPr>
              <a:t>[05:00]</a:t>
            </a:r>
            <a:endParaRPr lang="en-US" sz="1400" dirty="0"/>
          </a:p>
        </p:txBody>
      </p:sp>
      <p:sp>
        <p:nvSpPr>
          <p:cNvPr id="28" name="Slide Number Placeholder 0"/>
          <p:cNvSpPr>
            <a:spLocks noGrp="1"/>
          </p:cNvSpPr>
          <p:nvPr>
            <p:ph type="sldNum" sz="quarter" idx="4294967295"/>
          </p:nvPr>
        </p:nvSpPr>
        <p:spPr>
          <a:xfrm>
            <a:off x="11094415" y="6327648"/>
            <a:ext cx="548640" cy="274320"/>
          </a:xfrm>
          <a:prstGeom prst="rect">
            <a:avLst/>
          </a:prstGeom>
          <a:extLst>
            <a:ext uri="{C572A759-6A51-4108-AA02-DFA0A04FC94B}">
              <ma14:wrappingTextBoxFlag xmlns="" xmlns:ma14="http://schemas.microsoft.com/office/mac/drawingml/2011/main" val="0"/>
            </a:ext>
          </a:extLst>
        </p:spPr>
        <p:txBody>
          <a:bodyPr lIns="0" tIns="0" rIns="0" bIns="0" anchor="ctr"/>
          <a:lstStyle>
            <a:lvl1pPr>
              <a:defRPr sz="1000">
                <a:solidFill>
                  <a:srgbClr val="9AA3BD"/>
                </a:solidFill>
              </a:defRPr>
            </a:lvl1pPr>
          </a:lstStyle>
          <a:p>
            <a:pPr algn="r"/>
            <a:fld id="{F7021451-1387-4CA6-816F-3879F97B5CBC}" type="slidenum">
              <a:rPr lang="en-US" b="0"/>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C11328-6B14-0AAD-8BAC-D16C44C18D82}"/>
            </a:ext>
          </a:extLst>
        </p:cNvPr>
        <p:cNvGrpSpPr/>
        <p:nvPr/>
      </p:nvGrpSpPr>
      <p:grpSpPr>
        <a:xfrm>
          <a:off x="0" y="0"/>
          <a:ext cx="0" cy="0"/>
          <a:chOff x="0" y="0"/>
          <a:chExt cx="0" cy="0"/>
        </a:xfrm>
      </p:grpSpPr>
      <p:sp>
        <p:nvSpPr>
          <p:cNvPr id="2" name="Text 10">
            <a:extLst>
              <a:ext uri="{FF2B5EF4-FFF2-40B4-BE49-F238E27FC236}">
                <a16:creationId xmlns:a16="http://schemas.microsoft.com/office/drawing/2014/main" id="{354981F4-D90B-FEA5-15D4-C13062B46618}"/>
              </a:ext>
            </a:extLst>
          </p:cNvPr>
          <p:cNvSpPr>
            <a:spLocks noGrp="1"/>
          </p:cNvSpPr>
          <p:nvPr>
            <p:ph type="body" idx="110" hasCustomPrompt="1"/>
          </p:nvPr>
        </p:nvSpPr>
        <p:spPr>
          <a:xfrm>
            <a:off x="548640" y="1463040"/>
            <a:ext cx="3657600" cy="1280160"/>
          </a:xfrm>
          <a:prstGeom prst="rect">
            <a:avLst/>
          </a:prstGeom>
          <a:noFill/>
          <a:ln/>
        </p:spPr>
        <p:txBody>
          <a:bodyPr wrap="square" lIns="0" tIns="0" rIns="0" bIns="0" rtlCol="0" anchor="b"/>
          <a:lstStyle/>
          <a:p>
            <a:pPr marL="0" indent="0" algn="l">
              <a:buNone/>
            </a:pPr>
            <a:r>
              <a:rPr lang="en-US" sz="9600" b="1" dirty="0">
                <a:solidFill>
                  <a:schemeClr val="accent1"/>
                </a:solidFill>
                <a:latin typeface="Aptos Display" pitchFamily="34" charset="0"/>
                <a:ea typeface="Aptos Display" pitchFamily="34" charset="-122"/>
                <a:cs typeface="Aptos Display" pitchFamily="34" charset="-120"/>
              </a:rPr>
              <a:t>0</a:t>
            </a:r>
            <a:r>
              <a:rPr lang="en-US" dirty="0"/>
              <a:t>1</a:t>
            </a:r>
            <a:endParaRPr lang="en-US" sz="9600" dirty="0"/>
          </a:p>
        </p:txBody>
      </p:sp>
      <p:sp>
        <p:nvSpPr>
          <p:cNvPr id="3" name="Text 10">
            <a:extLst>
              <a:ext uri="{FF2B5EF4-FFF2-40B4-BE49-F238E27FC236}">
                <a16:creationId xmlns:a16="http://schemas.microsoft.com/office/drawing/2014/main" id="{B5B7E198-3BB7-F142-AC3D-012059B6ABF8}"/>
              </a:ext>
            </a:extLst>
          </p:cNvPr>
          <p:cNvSpPr>
            <a:spLocks noGrp="1"/>
          </p:cNvSpPr>
          <p:nvPr>
            <p:ph type="title" idx="111" hasCustomPrompt="1"/>
          </p:nvPr>
        </p:nvSpPr>
        <p:spPr>
          <a:xfrm>
            <a:off x="548640" y="2926080"/>
            <a:ext cx="8229600" cy="914400"/>
          </a:xfrm>
          <a:prstGeom prst="rect">
            <a:avLst/>
          </a:prstGeom>
          <a:noFill/>
          <a:ln/>
        </p:spPr>
        <p:txBody>
          <a:bodyPr wrap="square" lIns="0" tIns="0" rIns="0" bIns="0" rtlCol="0" anchor="t"/>
          <a:lstStyle/>
          <a:p>
            <a:pPr marL="0" indent="0" algn="l">
              <a:buNone/>
            </a:pPr>
            <a:r>
              <a:rPr lang="en-US" dirty="0"/>
              <a:t>C</a:t>
            </a:r>
            <a:r>
              <a:rPr lang="en-US" sz="4000" dirty="0">
                <a:solidFill>
                  <a:schemeClr val="tx1"/>
                </a:solidFill>
              </a:rPr>
              <a:t>ontext and Overview</a:t>
            </a:r>
            <a:endParaRPr lang="en-US" sz="4000" dirty="0"/>
          </a:p>
        </p:txBody>
      </p:sp>
      <p:sp>
        <p:nvSpPr>
          <p:cNvPr id="4" name="Text 10">
            <a:extLst>
              <a:ext uri="{FF2B5EF4-FFF2-40B4-BE49-F238E27FC236}">
                <a16:creationId xmlns:a16="http://schemas.microsoft.com/office/drawing/2014/main" id="{F1DA67C9-8867-D9A2-4B86-9E0C52F1C9F7}"/>
              </a:ext>
            </a:extLst>
          </p:cNvPr>
          <p:cNvSpPr>
            <a:spLocks noGrp="1"/>
          </p:cNvSpPr>
          <p:nvPr>
            <p:ph type="body" idx="112" hasCustomPrompt="1"/>
          </p:nvPr>
        </p:nvSpPr>
        <p:spPr>
          <a:xfrm>
            <a:off x="548640" y="3931920"/>
            <a:ext cx="8781098" cy="822960"/>
          </a:xfrm>
          <a:prstGeom prst="rect">
            <a:avLst/>
          </a:prstGeom>
          <a:noFill/>
          <a:ln/>
        </p:spPr>
        <p:txBody>
          <a:bodyPr wrap="square" lIns="0" tIns="0" rIns="0" bIns="0" rtlCol="0" anchor="t"/>
          <a:lstStyle/>
          <a:p>
            <a:pPr>
              <a:lnSpc>
                <a:spcPts val="5037"/>
              </a:lnSpc>
              <a:defRPr/>
            </a:pPr>
            <a:r>
              <a:rPr lang="en-US" dirty="0"/>
              <a:t>Why are we interested in quantum computing for </a:t>
            </a:r>
            <a:r>
              <a:rPr lang="en-US" dirty="0" err="1"/>
              <a:t>mulitphysics</a:t>
            </a:r>
            <a:r>
              <a:rPr lang="en-US" dirty="0"/>
              <a:t> simulation and what is happening</a:t>
            </a:r>
          </a:p>
          <a:p>
            <a:pPr marL="0" indent="0" algn="l">
              <a:buNone/>
            </a:pPr>
            <a:endParaRPr lang="en-US" sz="1600" dirty="0"/>
          </a:p>
        </p:txBody>
      </p:sp>
      <p:sp>
        <p:nvSpPr>
          <p:cNvPr id="5" name="Detail square">
            <a:extLst>
              <a:ext uri="{FF2B5EF4-FFF2-40B4-BE49-F238E27FC236}">
                <a16:creationId xmlns:a16="http://schemas.microsoft.com/office/drawing/2014/main" id="{B736E853-0F58-A448-0C9A-119F63A7D41D}"/>
              </a:ext>
            </a:extLst>
          </p:cNvPr>
          <p:cNvSpPr/>
          <p:nvPr/>
        </p:nvSpPr>
        <p:spPr>
          <a:xfrm>
            <a:off x="594360" y="1325880"/>
            <a:ext cx="109728" cy="109728"/>
          </a:xfrm>
          <a:prstGeom prst="rect">
            <a:avLst/>
          </a:prstGeom>
          <a:solidFill>
            <a:schemeClr val="accent2"/>
          </a:solidFill>
          <a:ln/>
        </p:spPr>
        <p:txBody>
          <a:bodyPr/>
          <a:lstStyle/>
          <a:p>
            <a:endParaRPr lang="fr-FR"/>
          </a:p>
        </p:txBody>
      </p:sp>
      <p:sp>
        <p:nvSpPr>
          <p:cNvPr id="25" name="Slide Number Placeholder 0">
            <a:extLst>
              <a:ext uri="{FF2B5EF4-FFF2-40B4-BE49-F238E27FC236}">
                <a16:creationId xmlns:a16="http://schemas.microsoft.com/office/drawing/2014/main" id="{50AA1D6B-D588-038C-22ED-E089A88A0B51}"/>
              </a:ext>
            </a:extLst>
          </p:cNvPr>
          <p:cNvSpPr>
            <a:spLocks noGrp="1"/>
          </p:cNvSpPr>
          <p:nvPr>
            <p:ph type="sldNum" sz="quarter" idx="4294967295"/>
          </p:nvPr>
        </p:nvSpPr>
        <p:spPr>
          <a:xfrm>
            <a:off x="11094415" y="6327648"/>
            <a:ext cx="548640" cy="274320"/>
          </a:xfrm>
          <a:prstGeom prst="rect">
            <a:avLst/>
          </a:prstGeom>
          <a:extLst>
            <a:ext uri="{C572A759-6A51-4108-AA02-DFA0A04FC94B}">
              <ma14:wrappingTextBoxFlag xmlns="" xmlns:ma14="http://schemas.microsoft.com/office/mac/drawingml/2011/main" val="0"/>
            </a:ext>
          </a:extLst>
        </p:spPr>
        <p:txBody>
          <a:bodyPr lIns="0" tIns="0" rIns="0" bIns="0" anchor="ctr"/>
          <a:lstStyle>
            <a:lvl1pPr>
              <a:defRPr sz="1000">
                <a:solidFill>
                  <a:srgbClr val="9AA3BD"/>
                </a:solidFill>
              </a:defRPr>
            </a:lvl1pPr>
          </a:lstStyle>
          <a:p>
            <a:pPr algn="r"/>
            <a:fld id="{F7021451-1387-4CA6-816F-3879F97B5CBC}" type="slidenum">
              <a:rPr lang="en-US" b="0"/>
              <a:t>5</a:t>
            </a:fld>
            <a:endParaRPr lang="en-US"/>
          </a:p>
        </p:txBody>
      </p:sp>
      <p:pic>
        <p:nvPicPr>
          <p:cNvPr id="7" name="Image 6">
            <a:extLst>
              <a:ext uri="{FF2B5EF4-FFF2-40B4-BE49-F238E27FC236}">
                <a16:creationId xmlns:a16="http://schemas.microsoft.com/office/drawing/2014/main" id="{C5007599-9419-B896-BD0A-A6C5CF62044C}"/>
              </a:ext>
            </a:extLst>
          </p:cNvPr>
          <p:cNvPicPr>
            <a:picLocks noChangeAspect="1"/>
          </p:cNvPicPr>
          <p:nvPr/>
        </p:nvPicPr>
        <p:blipFill>
          <a:blip r:embed="rId3"/>
          <a:stretch>
            <a:fillRect/>
          </a:stretch>
        </p:blipFill>
        <p:spPr>
          <a:xfrm>
            <a:off x="9724644" y="-443705"/>
            <a:ext cx="2437453" cy="1723866"/>
          </a:xfrm>
          <a:prstGeom prst="rect">
            <a:avLst/>
          </a:prstGeom>
        </p:spPr>
      </p:pic>
    </p:spTree>
    <p:extLst>
      <p:ext uri="{BB962C8B-B14F-4D97-AF65-F5344CB8AC3E}">
        <p14:creationId xmlns:p14="http://schemas.microsoft.com/office/powerpoint/2010/main" val="124554006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10"/>
          <p:cNvSpPr>
            <a:spLocks noGrp="1"/>
          </p:cNvSpPr>
          <p:nvPr>
            <p:ph type="title" idx="110" hasCustomPrompt="1"/>
          </p:nvPr>
        </p:nvSpPr>
        <p:spPr>
          <a:xfrm>
            <a:off x="548640" y="457200"/>
            <a:ext cx="11094415" cy="777240"/>
          </a:xfrm>
          <a:prstGeom prst="rect">
            <a:avLst/>
          </a:prstGeom>
          <a:noFill/>
          <a:ln/>
        </p:spPr>
        <p:txBody>
          <a:bodyPr wrap="square" lIns="0" tIns="0" rIns="0" bIns="0" rtlCol="0" anchor="t"/>
          <a:lstStyle/>
          <a:p>
            <a:pPr marL="0" indent="0" algn="l">
              <a:buNone/>
            </a:pPr>
            <a:r>
              <a:rPr lang="en-US" sz="3200" dirty="0">
                <a:solidFill>
                  <a:schemeClr val="tx1"/>
                </a:solidFill>
              </a:rPr>
              <a:t>Why quantum? The simple version</a:t>
            </a:r>
            <a:endParaRPr lang="en-US" sz="3200" dirty="0"/>
          </a:p>
        </p:txBody>
      </p:sp>
      <p:sp>
        <p:nvSpPr>
          <p:cNvPr id="3" name="Text 1"/>
          <p:cNvSpPr txBox="1"/>
          <p:nvPr/>
        </p:nvSpPr>
        <p:spPr>
          <a:xfrm>
            <a:off x="548640" y="1097280"/>
            <a:ext cx="11094415" cy="365760"/>
          </a:xfrm>
          <a:prstGeom prst="rect">
            <a:avLst/>
          </a:prstGeom>
          <a:noFill/>
          <a:ln/>
        </p:spPr>
        <p:txBody>
          <a:bodyPr wrap="square" lIns="0" tIns="0" rIns="0" bIns="0" rtlCol="0" anchor="t"/>
          <a:lstStyle/>
          <a:p>
            <a:pPr marL="0" indent="0">
              <a:buNone/>
            </a:pPr>
            <a:r>
              <a:rPr lang="en-US" sz="1600" dirty="0">
                <a:solidFill>
                  <a:schemeClr val="tx2"/>
                </a:solidFill>
              </a:rPr>
              <a:t>Simulating physics means keeping track of an enormous number of values</a:t>
            </a:r>
            <a:endParaRPr lang="en-US" sz="1600" dirty="0"/>
          </a:p>
        </p:txBody>
      </p:sp>
      <p:sp>
        <p:nvSpPr>
          <p:cNvPr id="4" name="Classical"/>
          <p:cNvSpPr/>
          <p:nvPr/>
        </p:nvSpPr>
        <p:spPr>
          <a:xfrm>
            <a:off x="548640" y="1572768"/>
            <a:ext cx="5394960" cy="2606040"/>
          </a:xfrm>
          <a:prstGeom prst="roundRect">
            <a:avLst>
              <a:gd name="adj" fmla="val 5263"/>
            </a:avLst>
          </a:prstGeom>
          <a:solidFill>
            <a:schemeClr val="bg2"/>
          </a:solidFill>
          <a:ln w="9525">
            <a:solidFill>
              <a:schemeClr val="accent5"/>
            </a:solidFill>
            <a:prstDash val="solid"/>
          </a:ln>
        </p:spPr>
        <p:txBody>
          <a:bodyPr/>
          <a:lstStyle/>
          <a:p>
            <a:endParaRPr lang="fr-FR"/>
          </a:p>
        </p:txBody>
      </p:sp>
      <p:sp>
        <p:nvSpPr>
          <p:cNvPr id="5" name="Shape 3"/>
          <p:cNvSpPr/>
          <p:nvPr/>
        </p:nvSpPr>
        <p:spPr>
          <a:xfrm>
            <a:off x="868680" y="1892808"/>
            <a:ext cx="91440" cy="91440"/>
          </a:xfrm>
          <a:prstGeom prst="rect">
            <a:avLst/>
          </a:prstGeom>
          <a:solidFill>
            <a:schemeClr val="accent2"/>
          </a:solidFill>
          <a:ln/>
        </p:spPr>
        <p:txBody>
          <a:bodyPr/>
          <a:lstStyle/>
          <a:p>
            <a:endParaRPr lang="fr-FR"/>
          </a:p>
        </p:txBody>
      </p:sp>
      <p:sp>
        <p:nvSpPr>
          <p:cNvPr id="6" name="Text 4"/>
          <p:cNvSpPr txBox="1"/>
          <p:nvPr/>
        </p:nvSpPr>
        <p:spPr>
          <a:xfrm>
            <a:off x="1051560" y="1801368"/>
            <a:ext cx="3657600" cy="274320"/>
          </a:xfrm>
          <a:prstGeom prst="rect">
            <a:avLst/>
          </a:prstGeom>
          <a:noFill/>
          <a:ln/>
        </p:spPr>
        <p:txBody>
          <a:bodyPr wrap="square" lIns="0" tIns="0" rIns="0" bIns="0" rtlCol="0" anchor="ctr"/>
          <a:lstStyle/>
          <a:p>
            <a:pPr marL="0" indent="0">
              <a:buNone/>
            </a:pPr>
            <a:r>
              <a:rPr lang="en-US" sz="1100" b="1" kern="0" spc="200" dirty="0">
                <a:solidFill>
                  <a:schemeClr val="tx2"/>
                </a:solidFill>
              </a:rPr>
              <a:t>CLASSICAL COMPUTER</a:t>
            </a:r>
            <a:endParaRPr lang="en-US" sz="1100" dirty="0"/>
          </a:p>
        </p:txBody>
      </p:sp>
      <p:sp>
        <p:nvSpPr>
          <p:cNvPr id="7" name="Text 5"/>
          <p:cNvSpPr txBox="1"/>
          <p:nvPr/>
        </p:nvSpPr>
        <p:spPr>
          <a:xfrm>
            <a:off x="868680" y="2103120"/>
            <a:ext cx="4754880" cy="384048"/>
          </a:xfrm>
          <a:prstGeom prst="rect">
            <a:avLst/>
          </a:prstGeom>
          <a:noFill/>
          <a:ln/>
        </p:spPr>
        <p:txBody>
          <a:bodyPr wrap="square" lIns="0" tIns="0" rIns="0" bIns="0" rtlCol="0" anchor="ctr"/>
          <a:lstStyle/>
          <a:p>
            <a:pPr marL="0" indent="0">
              <a:buNone/>
            </a:pPr>
            <a:r>
              <a:rPr lang="en-US" sz="1900" b="1" dirty="0">
                <a:solidFill>
                  <a:schemeClr val="tx1"/>
                </a:solidFill>
              </a:rPr>
              <a:t>More detail, many more numbers</a:t>
            </a:r>
            <a:endParaRPr lang="en-US" sz="1900" dirty="0"/>
          </a:p>
        </p:txBody>
      </p:sp>
      <p:sp>
        <p:nvSpPr>
          <p:cNvPr id="8" name="Grid 4x4"/>
          <p:cNvSpPr/>
          <p:nvPr/>
        </p:nvSpPr>
        <p:spPr>
          <a:xfrm>
            <a:off x="1394460" y="2596896"/>
            <a:ext cx="868680" cy="868680"/>
          </a:xfrm>
          <a:prstGeom prst="rect">
            <a:avLst/>
          </a:prstGeom>
          <a:solidFill>
            <a:schemeClr val="accent4"/>
          </a:solidFill>
          <a:ln w="12700">
            <a:solidFill>
              <a:schemeClr val="accent1"/>
            </a:solidFill>
            <a:prstDash val="solid"/>
          </a:ln>
        </p:spPr>
        <p:txBody>
          <a:bodyPr/>
          <a:lstStyle/>
          <a:p>
            <a:endParaRPr lang="fr-FR"/>
          </a:p>
        </p:txBody>
      </p:sp>
      <p:sp>
        <p:nvSpPr>
          <p:cNvPr id="9" name="Shape 7"/>
          <p:cNvSpPr/>
          <p:nvPr/>
        </p:nvSpPr>
        <p:spPr>
          <a:xfrm>
            <a:off x="1611630" y="2596896"/>
            <a:ext cx="0" cy="868680"/>
          </a:xfrm>
          <a:prstGeom prst="line">
            <a:avLst/>
          </a:prstGeom>
          <a:noFill/>
          <a:ln w="9525">
            <a:solidFill>
              <a:srgbClr val="3B5287"/>
            </a:solidFill>
            <a:prstDash val="solid"/>
          </a:ln>
        </p:spPr>
        <p:txBody>
          <a:bodyPr/>
          <a:lstStyle/>
          <a:p>
            <a:endParaRPr lang="fr-FR"/>
          </a:p>
        </p:txBody>
      </p:sp>
      <p:sp>
        <p:nvSpPr>
          <p:cNvPr id="10" name="Shape 8"/>
          <p:cNvSpPr/>
          <p:nvPr/>
        </p:nvSpPr>
        <p:spPr>
          <a:xfrm>
            <a:off x="1394460" y="2814066"/>
            <a:ext cx="868680" cy="0"/>
          </a:xfrm>
          <a:prstGeom prst="line">
            <a:avLst/>
          </a:prstGeom>
          <a:noFill/>
          <a:ln w="9525">
            <a:solidFill>
              <a:srgbClr val="3B5287"/>
            </a:solidFill>
            <a:prstDash val="solid"/>
          </a:ln>
        </p:spPr>
        <p:txBody>
          <a:bodyPr/>
          <a:lstStyle/>
          <a:p>
            <a:endParaRPr lang="fr-FR"/>
          </a:p>
        </p:txBody>
      </p:sp>
      <p:sp>
        <p:nvSpPr>
          <p:cNvPr id="11" name="Shape 9"/>
          <p:cNvSpPr/>
          <p:nvPr/>
        </p:nvSpPr>
        <p:spPr>
          <a:xfrm>
            <a:off x="1828800" y="2596896"/>
            <a:ext cx="0" cy="868680"/>
          </a:xfrm>
          <a:prstGeom prst="line">
            <a:avLst/>
          </a:prstGeom>
          <a:noFill/>
          <a:ln w="9525">
            <a:solidFill>
              <a:srgbClr val="3B5287"/>
            </a:solidFill>
            <a:prstDash val="solid"/>
          </a:ln>
        </p:spPr>
        <p:txBody>
          <a:bodyPr/>
          <a:lstStyle/>
          <a:p>
            <a:endParaRPr lang="fr-FR"/>
          </a:p>
        </p:txBody>
      </p:sp>
      <p:sp>
        <p:nvSpPr>
          <p:cNvPr id="12" name="Shape 10"/>
          <p:cNvSpPr/>
          <p:nvPr/>
        </p:nvSpPr>
        <p:spPr>
          <a:xfrm>
            <a:off x="1394460" y="3031236"/>
            <a:ext cx="868680" cy="0"/>
          </a:xfrm>
          <a:prstGeom prst="line">
            <a:avLst/>
          </a:prstGeom>
          <a:noFill/>
          <a:ln w="9525">
            <a:solidFill>
              <a:srgbClr val="3B5287"/>
            </a:solidFill>
            <a:prstDash val="solid"/>
          </a:ln>
        </p:spPr>
        <p:txBody>
          <a:bodyPr/>
          <a:lstStyle/>
          <a:p>
            <a:endParaRPr lang="fr-FR"/>
          </a:p>
        </p:txBody>
      </p:sp>
      <p:sp>
        <p:nvSpPr>
          <p:cNvPr id="13" name="Shape 11"/>
          <p:cNvSpPr/>
          <p:nvPr/>
        </p:nvSpPr>
        <p:spPr>
          <a:xfrm>
            <a:off x="2045970" y="2596896"/>
            <a:ext cx="0" cy="868680"/>
          </a:xfrm>
          <a:prstGeom prst="line">
            <a:avLst/>
          </a:prstGeom>
          <a:noFill/>
          <a:ln w="9525">
            <a:solidFill>
              <a:srgbClr val="3B5287"/>
            </a:solidFill>
            <a:prstDash val="solid"/>
          </a:ln>
        </p:spPr>
        <p:txBody>
          <a:bodyPr/>
          <a:lstStyle/>
          <a:p>
            <a:endParaRPr lang="fr-FR"/>
          </a:p>
        </p:txBody>
      </p:sp>
      <p:sp>
        <p:nvSpPr>
          <p:cNvPr id="14" name="Shape 12"/>
          <p:cNvSpPr/>
          <p:nvPr/>
        </p:nvSpPr>
        <p:spPr>
          <a:xfrm>
            <a:off x="1394460" y="3248406"/>
            <a:ext cx="868680" cy="0"/>
          </a:xfrm>
          <a:prstGeom prst="line">
            <a:avLst/>
          </a:prstGeom>
          <a:noFill/>
          <a:ln w="9525">
            <a:solidFill>
              <a:srgbClr val="3B5287"/>
            </a:solidFill>
            <a:prstDash val="solid"/>
          </a:ln>
        </p:spPr>
        <p:txBody>
          <a:bodyPr/>
          <a:lstStyle/>
          <a:p>
            <a:endParaRPr lang="fr-FR"/>
          </a:p>
        </p:txBody>
      </p:sp>
      <p:sp>
        <p:nvSpPr>
          <p:cNvPr id="15" name="Text 13"/>
          <p:cNvSpPr txBox="1"/>
          <p:nvPr/>
        </p:nvSpPr>
        <p:spPr>
          <a:xfrm>
            <a:off x="1165860" y="3511296"/>
            <a:ext cx="1325880" cy="256032"/>
          </a:xfrm>
          <a:prstGeom prst="rect">
            <a:avLst/>
          </a:prstGeom>
          <a:noFill/>
          <a:ln/>
        </p:spPr>
        <p:txBody>
          <a:bodyPr wrap="square" lIns="0" tIns="0" rIns="0" bIns="0" rtlCol="0" anchor="ctr"/>
          <a:lstStyle/>
          <a:p>
            <a:pPr marL="0" indent="0" algn="ctr">
              <a:buNone/>
            </a:pPr>
            <a:r>
              <a:rPr lang="en-US" sz="1200" b="1" dirty="0">
                <a:solidFill>
                  <a:schemeClr val="tx1"/>
                </a:solidFill>
              </a:rPr>
              <a:t>16 cells</a:t>
            </a:r>
            <a:endParaRPr lang="en-US" sz="1200" dirty="0"/>
          </a:p>
        </p:txBody>
      </p:sp>
      <p:sp>
        <p:nvSpPr>
          <p:cNvPr id="16" name="Shape 14"/>
          <p:cNvSpPr/>
          <p:nvPr/>
        </p:nvSpPr>
        <p:spPr>
          <a:xfrm>
            <a:off x="2418588" y="2921508"/>
            <a:ext cx="237744" cy="219456"/>
          </a:xfrm>
          <a:prstGeom prst="rightArrow">
            <a:avLst/>
          </a:prstGeom>
          <a:solidFill>
            <a:schemeClr val="accent1"/>
          </a:solidFill>
          <a:ln/>
        </p:spPr>
        <p:txBody>
          <a:bodyPr/>
          <a:lstStyle/>
          <a:p>
            <a:endParaRPr lang="fr-FR"/>
          </a:p>
        </p:txBody>
      </p:sp>
      <p:sp>
        <p:nvSpPr>
          <p:cNvPr id="17" name="Grid 8x8"/>
          <p:cNvSpPr/>
          <p:nvPr/>
        </p:nvSpPr>
        <p:spPr>
          <a:xfrm>
            <a:off x="2811780" y="2596896"/>
            <a:ext cx="868680" cy="868680"/>
          </a:xfrm>
          <a:prstGeom prst="rect">
            <a:avLst/>
          </a:prstGeom>
          <a:solidFill>
            <a:schemeClr val="accent4"/>
          </a:solidFill>
          <a:ln w="12700">
            <a:solidFill>
              <a:schemeClr val="accent1"/>
            </a:solidFill>
            <a:prstDash val="solid"/>
          </a:ln>
        </p:spPr>
        <p:txBody>
          <a:bodyPr/>
          <a:lstStyle/>
          <a:p>
            <a:endParaRPr lang="fr-FR"/>
          </a:p>
        </p:txBody>
      </p:sp>
      <p:sp>
        <p:nvSpPr>
          <p:cNvPr id="18" name="Shape 16"/>
          <p:cNvSpPr/>
          <p:nvPr/>
        </p:nvSpPr>
        <p:spPr>
          <a:xfrm>
            <a:off x="2920365" y="2596896"/>
            <a:ext cx="0" cy="868680"/>
          </a:xfrm>
          <a:prstGeom prst="line">
            <a:avLst/>
          </a:prstGeom>
          <a:noFill/>
          <a:ln w="9525">
            <a:solidFill>
              <a:srgbClr val="3B5287"/>
            </a:solidFill>
            <a:prstDash val="solid"/>
          </a:ln>
        </p:spPr>
        <p:txBody>
          <a:bodyPr/>
          <a:lstStyle/>
          <a:p>
            <a:endParaRPr lang="fr-FR"/>
          </a:p>
        </p:txBody>
      </p:sp>
      <p:sp>
        <p:nvSpPr>
          <p:cNvPr id="19" name="Shape 17"/>
          <p:cNvSpPr/>
          <p:nvPr/>
        </p:nvSpPr>
        <p:spPr>
          <a:xfrm>
            <a:off x="2811780" y="2705481"/>
            <a:ext cx="868680" cy="0"/>
          </a:xfrm>
          <a:prstGeom prst="line">
            <a:avLst/>
          </a:prstGeom>
          <a:noFill/>
          <a:ln w="9525">
            <a:solidFill>
              <a:srgbClr val="3B5287"/>
            </a:solidFill>
            <a:prstDash val="solid"/>
          </a:ln>
        </p:spPr>
        <p:txBody>
          <a:bodyPr/>
          <a:lstStyle/>
          <a:p>
            <a:endParaRPr lang="fr-FR"/>
          </a:p>
        </p:txBody>
      </p:sp>
      <p:sp>
        <p:nvSpPr>
          <p:cNvPr id="20" name="Shape 18"/>
          <p:cNvSpPr/>
          <p:nvPr/>
        </p:nvSpPr>
        <p:spPr>
          <a:xfrm>
            <a:off x="3028950" y="2596896"/>
            <a:ext cx="0" cy="868680"/>
          </a:xfrm>
          <a:prstGeom prst="line">
            <a:avLst/>
          </a:prstGeom>
          <a:noFill/>
          <a:ln w="9525">
            <a:solidFill>
              <a:srgbClr val="3B5287"/>
            </a:solidFill>
            <a:prstDash val="solid"/>
          </a:ln>
        </p:spPr>
        <p:txBody>
          <a:bodyPr/>
          <a:lstStyle/>
          <a:p>
            <a:endParaRPr lang="fr-FR"/>
          </a:p>
        </p:txBody>
      </p:sp>
      <p:sp>
        <p:nvSpPr>
          <p:cNvPr id="21" name="Shape 19"/>
          <p:cNvSpPr/>
          <p:nvPr/>
        </p:nvSpPr>
        <p:spPr>
          <a:xfrm>
            <a:off x="2811780" y="2814066"/>
            <a:ext cx="868680" cy="0"/>
          </a:xfrm>
          <a:prstGeom prst="line">
            <a:avLst/>
          </a:prstGeom>
          <a:noFill/>
          <a:ln w="9525">
            <a:solidFill>
              <a:srgbClr val="3B5287"/>
            </a:solidFill>
            <a:prstDash val="solid"/>
          </a:ln>
        </p:spPr>
        <p:txBody>
          <a:bodyPr/>
          <a:lstStyle/>
          <a:p>
            <a:endParaRPr lang="fr-FR"/>
          </a:p>
        </p:txBody>
      </p:sp>
      <p:sp>
        <p:nvSpPr>
          <p:cNvPr id="22" name="Shape 20"/>
          <p:cNvSpPr/>
          <p:nvPr/>
        </p:nvSpPr>
        <p:spPr>
          <a:xfrm>
            <a:off x="3137535" y="2596896"/>
            <a:ext cx="0" cy="868680"/>
          </a:xfrm>
          <a:prstGeom prst="line">
            <a:avLst/>
          </a:prstGeom>
          <a:noFill/>
          <a:ln w="9525">
            <a:solidFill>
              <a:srgbClr val="3B5287"/>
            </a:solidFill>
            <a:prstDash val="solid"/>
          </a:ln>
        </p:spPr>
        <p:txBody>
          <a:bodyPr/>
          <a:lstStyle/>
          <a:p>
            <a:endParaRPr lang="fr-FR"/>
          </a:p>
        </p:txBody>
      </p:sp>
      <p:sp>
        <p:nvSpPr>
          <p:cNvPr id="23" name="Shape 21"/>
          <p:cNvSpPr/>
          <p:nvPr/>
        </p:nvSpPr>
        <p:spPr>
          <a:xfrm>
            <a:off x="2811780" y="2922651"/>
            <a:ext cx="868680" cy="0"/>
          </a:xfrm>
          <a:prstGeom prst="line">
            <a:avLst/>
          </a:prstGeom>
          <a:noFill/>
          <a:ln w="9525">
            <a:solidFill>
              <a:srgbClr val="3B5287"/>
            </a:solidFill>
            <a:prstDash val="solid"/>
          </a:ln>
        </p:spPr>
        <p:txBody>
          <a:bodyPr/>
          <a:lstStyle/>
          <a:p>
            <a:endParaRPr lang="fr-FR"/>
          </a:p>
        </p:txBody>
      </p:sp>
      <p:sp>
        <p:nvSpPr>
          <p:cNvPr id="24" name="Shape 22"/>
          <p:cNvSpPr/>
          <p:nvPr/>
        </p:nvSpPr>
        <p:spPr>
          <a:xfrm>
            <a:off x="3246120" y="2596896"/>
            <a:ext cx="0" cy="868680"/>
          </a:xfrm>
          <a:prstGeom prst="line">
            <a:avLst/>
          </a:prstGeom>
          <a:noFill/>
          <a:ln w="9525">
            <a:solidFill>
              <a:srgbClr val="3B5287"/>
            </a:solidFill>
            <a:prstDash val="solid"/>
          </a:ln>
        </p:spPr>
        <p:txBody>
          <a:bodyPr/>
          <a:lstStyle/>
          <a:p>
            <a:endParaRPr lang="fr-FR"/>
          </a:p>
        </p:txBody>
      </p:sp>
      <p:sp>
        <p:nvSpPr>
          <p:cNvPr id="25" name="Shape 23"/>
          <p:cNvSpPr/>
          <p:nvPr/>
        </p:nvSpPr>
        <p:spPr>
          <a:xfrm>
            <a:off x="2811780" y="3031236"/>
            <a:ext cx="868680" cy="0"/>
          </a:xfrm>
          <a:prstGeom prst="line">
            <a:avLst/>
          </a:prstGeom>
          <a:noFill/>
          <a:ln w="9525">
            <a:solidFill>
              <a:srgbClr val="3B5287"/>
            </a:solidFill>
            <a:prstDash val="solid"/>
          </a:ln>
        </p:spPr>
        <p:txBody>
          <a:bodyPr/>
          <a:lstStyle/>
          <a:p>
            <a:endParaRPr lang="fr-FR"/>
          </a:p>
        </p:txBody>
      </p:sp>
      <p:sp>
        <p:nvSpPr>
          <p:cNvPr id="26" name="Shape 24"/>
          <p:cNvSpPr/>
          <p:nvPr/>
        </p:nvSpPr>
        <p:spPr>
          <a:xfrm>
            <a:off x="3354705" y="2596896"/>
            <a:ext cx="0" cy="868680"/>
          </a:xfrm>
          <a:prstGeom prst="line">
            <a:avLst/>
          </a:prstGeom>
          <a:noFill/>
          <a:ln w="9525">
            <a:solidFill>
              <a:srgbClr val="3B5287"/>
            </a:solidFill>
            <a:prstDash val="solid"/>
          </a:ln>
        </p:spPr>
        <p:txBody>
          <a:bodyPr/>
          <a:lstStyle/>
          <a:p>
            <a:endParaRPr lang="fr-FR"/>
          </a:p>
        </p:txBody>
      </p:sp>
      <p:sp>
        <p:nvSpPr>
          <p:cNvPr id="27" name="Shape 25"/>
          <p:cNvSpPr/>
          <p:nvPr/>
        </p:nvSpPr>
        <p:spPr>
          <a:xfrm>
            <a:off x="2811780" y="3139821"/>
            <a:ext cx="868680" cy="0"/>
          </a:xfrm>
          <a:prstGeom prst="line">
            <a:avLst/>
          </a:prstGeom>
          <a:noFill/>
          <a:ln w="9525">
            <a:solidFill>
              <a:srgbClr val="3B5287"/>
            </a:solidFill>
            <a:prstDash val="solid"/>
          </a:ln>
        </p:spPr>
        <p:txBody>
          <a:bodyPr/>
          <a:lstStyle/>
          <a:p>
            <a:endParaRPr lang="fr-FR"/>
          </a:p>
        </p:txBody>
      </p:sp>
      <p:sp>
        <p:nvSpPr>
          <p:cNvPr id="28" name="Shape 26"/>
          <p:cNvSpPr/>
          <p:nvPr/>
        </p:nvSpPr>
        <p:spPr>
          <a:xfrm>
            <a:off x="3463290" y="2596896"/>
            <a:ext cx="0" cy="868680"/>
          </a:xfrm>
          <a:prstGeom prst="line">
            <a:avLst/>
          </a:prstGeom>
          <a:noFill/>
          <a:ln w="9525">
            <a:solidFill>
              <a:srgbClr val="3B5287"/>
            </a:solidFill>
            <a:prstDash val="solid"/>
          </a:ln>
        </p:spPr>
        <p:txBody>
          <a:bodyPr/>
          <a:lstStyle/>
          <a:p>
            <a:endParaRPr lang="fr-FR"/>
          </a:p>
        </p:txBody>
      </p:sp>
      <p:sp>
        <p:nvSpPr>
          <p:cNvPr id="29" name="Shape 27"/>
          <p:cNvSpPr/>
          <p:nvPr/>
        </p:nvSpPr>
        <p:spPr>
          <a:xfrm>
            <a:off x="2811780" y="3248406"/>
            <a:ext cx="868680" cy="0"/>
          </a:xfrm>
          <a:prstGeom prst="line">
            <a:avLst/>
          </a:prstGeom>
          <a:noFill/>
          <a:ln w="9525">
            <a:solidFill>
              <a:srgbClr val="3B5287"/>
            </a:solidFill>
            <a:prstDash val="solid"/>
          </a:ln>
        </p:spPr>
        <p:txBody>
          <a:bodyPr/>
          <a:lstStyle/>
          <a:p>
            <a:endParaRPr lang="fr-FR"/>
          </a:p>
        </p:txBody>
      </p:sp>
      <p:sp>
        <p:nvSpPr>
          <p:cNvPr id="30" name="Shape 28"/>
          <p:cNvSpPr/>
          <p:nvPr/>
        </p:nvSpPr>
        <p:spPr>
          <a:xfrm>
            <a:off x="3571875" y="2596896"/>
            <a:ext cx="0" cy="868680"/>
          </a:xfrm>
          <a:prstGeom prst="line">
            <a:avLst/>
          </a:prstGeom>
          <a:noFill/>
          <a:ln w="9525">
            <a:solidFill>
              <a:srgbClr val="3B5287"/>
            </a:solidFill>
            <a:prstDash val="solid"/>
          </a:ln>
        </p:spPr>
        <p:txBody>
          <a:bodyPr/>
          <a:lstStyle/>
          <a:p>
            <a:endParaRPr lang="fr-FR"/>
          </a:p>
        </p:txBody>
      </p:sp>
      <p:sp>
        <p:nvSpPr>
          <p:cNvPr id="31" name="Shape 29"/>
          <p:cNvSpPr/>
          <p:nvPr/>
        </p:nvSpPr>
        <p:spPr>
          <a:xfrm>
            <a:off x="2811780" y="3356991"/>
            <a:ext cx="868680" cy="0"/>
          </a:xfrm>
          <a:prstGeom prst="line">
            <a:avLst/>
          </a:prstGeom>
          <a:noFill/>
          <a:ln w="9525">
            <a:solidFill>
              <a:srgbClr val="3B5287"/>
            </a:solidFill>
            <a:prstDash val="solid"/>
          </a:ln>
        </p:spPr>
        <p:txBody>
          <a:bodyPr/>
          <a:lstStyle/>
          <a:p>
            <a:endParaRPr lang="fr-FR"/>
          </a:p>
        </p:txBody>
      </p:sp>
      <p:sp>
        <p:nvSpPr>
          <p:cNvPr id="32" name="Text 30"/>
          <p:cNvSpPr txBox="1"/>
          <p:nvPr/>
        </p:nvSpPr>
        <p:spPr>
          <a:xfrm>
            <a:off x="2583180" y="3511296"/>
            <a:ext cx="1325880" cy="256032"/>
          </a:xfrm>
          <a:prstGeom prst="rect">
            <a:avLst/>
          </a:prstGeom>
          <a:noFill/>
          <a:ln/>
        </p:spPr>
        <p:txBody>
          <a:bodyPr wrap="square" lIns="0" tIns="0" rIns="0" bIns="0" rtlCol="0" anchor="ctr"/>
          <a:lstStyle/>
          <a:p>
            <a:pPr marL="0" indent="0" algn="ctr">
              <a:buNone/>
            </a:pPr>
            <a:r>
              <a:rPr lang="en-US" sz="1200" b="1" dirty="0">
                <a:solidFill>
                  <a:schemeClr val="tx1"/>
                </a:solidFill>
              </a:rPr>
              <a:t>64 cells</a:t>
            </a:r>
            <a:endParaRPr lang="en-US" sz="1200" dirty="0"/>
          </a:p>
        </p:txBody>
      </p:sp>
      <p:sp>
        <p:nvSpPr>
          <p:cNvPr id="33" name="Shape 31"/>
          <p:cNvSpPr/>
          <p:nvPr/>
        </p:nvSpPr>
        <p:spPr>
          <a:xfrm>
            <a:off x="3835908" y="2921508"/>
            <a:ext cx="237744" cy="219456"/>
          </a:xfrm>
          <a:prstGeom prst="rightArrow">
            <a:avLst/>
          </a:prstGeom>
          <a:solidFill>
            <a:schemeClr val="accent1"/>
          </a:solidFill>
          <a:ln/>
        </p:spPr>
        <p:txBody>
          <a:bodyPr/>
          <a:lstStyle/>
          <a:p>
            <a:endParaRPr lang="fr-FR"/>
          </a:p>
        </p:txBody>
      </p:sp>
      <p:sp>
        <p:nvSpPr>
          <p:cNvPr id="34" name="Grid 16x16"/>
          <p:cNvSpPr/>
          <p:nvPr/>
        </p:nvSpPr>
        <p:spPr>
          <a:xfrm>
            <a:off x="4229100" y="2596896"/>
            <a:ext cx="868680" cy="868680"/>
          </a:xfrm>
          <a:prstGeom prst="rect">
            <a:avLst/>
          </a:prstGeom>
          <a:solidFill>
            <a:schemeClr val="accent4"/>
          </a:solidFill>
          <a:ln w="12700">
            <a:solidFill>
              <a:schemeClr val="accent1"/>
            </a:solidFill>
            <a:prstDash val="solid"/>
          </a:ln>
        </p:spPr>
        <p:txBody>
          <a:bodyPr/>
          <a:lstStyle/>
          <a:p>
            <a:endParaRPr lang="fr-FR"/>
          </a:p>
        </p:txBody>
      </p:sp>
      <p:sp>
        <p:nvSpPr>
          <p:cNvPr id="35" name="Shape 33"/>
          <p:cNvSpPr/>
          <p:nvPr/>
        </p:nvSpPr>
        <p:spPr>
          <a:xfrm>
            <a:off x="4283393" y="2596896"/>
            <a:ext cx="0" cy="868680"/>
          </a:xfrm>
          <a:prstGeom prst="line">
            <a:avLst/>
          </a:prstGeom>
          <a:noFill/>
          <a:ln w="9525">
            <a:solidFill>
              <a:srgbClr val="3B5287"/>
            </a:solidFill>
            <a:prstDash val="solid"/>
          </a:ln>
        </p:spPr>
        <p:txBody>
          <a:bodyPr/>
          <a:lstStyle/>
          <a:p>
            <a:endParaRPr lang="fr-FR"/>
          </a:p>
        </p:txBody>
      </p:sp>
      <p:sp>
        <p:nvSpPr>
          <p:cNvPr id="36" name="Shape 34"/>
          <p:cNvSpPr/>
          <p:nvPr/>
        </p:nvSpPr>
        <p:spPr>
          <a:xfrm>
            <a:off x="4229100" y="2651189"/>
            <a:ext cx="868680" cy="0"/>
          </a:xfrm>
          <a:prstGeom prst="line">
            <a:avLst/>
          </a:prstGeom>
          <a:noFill/>
          <a:ln w="9525">
            <a:solidFill>
              <a:srgbClr val="3B5287"/>
            </a:solidFill>
            <a:prstDash val="solid"/>
          </a:ln>
        </p:spPr>
        <p:txBody>
          <a:bodyPr/>
          <a:lstStyle/>
          <a:p>
            <a:endParaRPr lang="fr-FR"/>
          </a:p>
        </p:txBody>
      </p:sp>
      <p:sp>
        <p:nvSpPr>
          <p:cNvPr id="37" name="Shape 35"/>
          <p:cNvSpPr/>
          <p:nvPr/>
        </p:nvSpPr>
        <p:spPr>
          <a:xfrm>
            <a:off x="4337685" y="2596896"/>
            <a:ext cx="0" cy="868680"/>
          </a:xfrm>
          <a:prstGeom prst="line">
            <a:avLst/>
          </a:prstGeom>
          <a:noFill/>
          <a:ln w="9525">
            <a:solidFill>
              <a:srgbClr val="3B5287"/>
            </a:solidFill>
            <a:prstDash val="solid"/>
          </a:ln>
        </p:spPr>
        <p:txBody>
          <a:bodyPr/>
          <a:lstStyle/>
          <a:p>
            <a:endParaRPr lang="fr-FR"/>
          </a:p>
        </p:txBody>
      </p:sp>
      <p:sp>
        <p:nvSpPr>
          <p:cNvPr id="38" name="Shape 36"/>
          <p:cNvSpPr/>
          <p:nvPr/>
        </p:nvSpPr>
        <p:spPr>
          <a:xfrm>
            <a:off x="4229100" y="2705481"/>
            <a:ext cx="868680" cy="0"/>
          </a:xfrm>
          <a:prstGeom prst="line">
            <a:avLst/>
          </a:prstGeom>
          <a:noFill/>
          <a:ln w="9525">
            <a:solidFill>
              <a:srgbClr val="3B5287"/>
            </a:solidFill>
            <a:prstDash val="solid"/>
          </a:ln>
        </p:spPr>
        <p:txBody>
          <a:bodyPr/>
          <a:lstStyle/>
          <a:p>
            <a:endParaRPr lang="fr-FR"/>
          </a:p>
        </p:txBody>
      </p:sp>
      <p:sp>
        <p:nvSpPr>
          <p:cNvPr id="39" name="Shape 37"/>
          <p:cNvSpPr/>
          <p:nvPr/>
        </p:nvSpPr>
        <p:spPr>
          <a:xfrm>
            <a:off x="4391978" y="2596896"/>
            <a:ext cx="0" cy="868680"/>
          </a:xfrm>
          <a:prstGeom prst="line">
            <a:avLst/>
          </a:prstGeom>
          <a:noFill/>
          <a:ln w="9525">
            <a:solidFill>
              <a:srgbClr val="3B5287"/>
            </a:solidFill>
            <a:prstDash val="solid"/>
          </a:ln>
        </p:spPr>
        <p:txBody>
          <a:bodyPr/>
          <a:lstStyle/>
          <a:p>
            <a:endParaRPr lang="fr-FR"/>
          </a:p>
        </p:txBody>
      </p:sp>
      <p:sp>
        <p:nvSpPr>
          <p:cNvPr id="40" name="Shape 38"/>
          <p:cNvSpPr/>
          <p:nvPr/>
        </p:nvSpPr>
        <p:spPr>
          <a:xfrm>
            <a:off x="4229100" y="2759774"/>
            <a:ext cx="868680" cy="0"/>
          </a:xfrm>
          <a:prstGeom prst="line">
            <a:avLst/>
          </a:prstGeom>
          <a:noFill/>
          <a:ln w="9525">
            <a:solidFill>
              <a:srgbClr val="3B5287"/>
            </a:solidFill>
            <a:prstDash val="solid"/>
          </a:ln>
        </p:spPr>
        <p:txBody>
          <a:bodyPr/>
          <a:lstStyle/>
          <a:p>
            <a:endParaRPr lang="fr-FR"/>
          </a:p>
        </p:txBody>
      </p:sp>
      <p:sp>
        <p:nvSpPr>
          <p:cNvPr id="41" name="Shape 39"/>
          <p:cNvSpPr/>
          <p:nvPr/>
        </p:nvSpPr>
        <p:spPr>
          <a:xfrm>
            <a:off x="4446270" y="2596896"/>
            <a:ext cx="0" cy="868680"/>
          </a:xfrm>
          <a:prstGeom prst="line">
            <a:avLst/>
          </a:prstGeom>
          <a:noFill/>
          <a:ln w="9525">
            <a:solidFill>
              <a:srgbClr val="3B5287"/>
            </a:solidFill>
            <a:prstDash val="solid"/>
          </a:ln>
        </p:spPr>
        <p:txBody>
          <a:bodyPr/>
          <a:lstStyle/>
          <a:p>
            <a:endParaRPr lang="fr-FR"/>
          </a:p>
        </p:txBody>
      </p:sp>
      <p:sp>
        <p:nvSpPr>
          <p:cNvPr id="42" name="Shape 40"/>
          <p:cNvSpPr/>
          <p:nvPr/>
        </p:nvSpPr>
        <p:spPr>
          <a:xfrm>
            <a:off x="4229100" y="2814066"/>
            <a:ext cx="868680" cy="0"/>
          </a:xfrm>
          <a:prstGeom prst="line">
            <a:avLst/>
          </a:prstGeom>
          <a:noFill/>
          <a:ln w="9525">
            <a:solidFill>
              <a:srgbClr val="3B5287"/>
            </a:solidFill>
            <a:prstDash val="solid"/>
          </a:ln>
        </p:spPr>
        <p:txBody>
          <a:bodyPr/>
          <a:lstStyle/>
          <a:p>
            <a:endParaRPr lang="fr-FR"/>
          </a:p>
        </p:txBody>
      </p:sp>
      <p:sp>
        <p:nvSpPr>
          <p:cNvPr id="43" name="Shape 41"/>
          <p:cNvSpPr/>
          <p:nvPr/>
        </p:nvSpPr>
        <p:spPr>
          <a:xfrm>
            <a:off x="4500563" y="2596896"/>
            <a:ext cx="0" cy="868680"/>
          </a:xfrm>
          <a:prstGeom prst="line">
            <a:avLst/>
          </a:prstGeom>
          <a:noFill/>
          <a:ln w="9525">
            <a:solidFill>
              <a:srgbClr val="3B5287"/>
            </a:solidFill>
            <a:prstDash val="solid"/>
          </a:ln>
        </p:spPr>
        <p:txBody>
          <a:bodyPr/>
          <a:lstStyle/>
          <a:p>
            <a:endParaRPr lang="fr-FR"/>
          </a:p>
        </p:txBody>
      </p:sp>
      <p:sp>
        <p:nvSpPr>
          <p:cNvPr id="44" name="Shape 42"/>
          <p:cNvSpPr/>
          <p:nvPr/>
        </p:nvSpPr>
        <p:spPr>
          <a:xfrm>
            <a:off x="4229100" y="2868359"/>
            <a:ext cx="868680" cy="0"/>
          </a:xfrm>
          <a:prstGeom prst="line">
            <a:avLst/>
          </a:prstGeom>
          <a:noFill/>
          <a:ln w="9525">
            <a:solidFill>
              <a:srgbClr val="3B5287"/>
            </a:solidFill>
            <a:prstDash val="solid"/>
          </a:ln>
        </p:spPr>
        <p:txBody>
          <a:bodyPr/>
          <a:lstStyle/>
          <a:p>
            <a:endParaRPr lang="fr-FR"/>
          </a:p>
        </p:txBody>
      </p:sp>
      <p:sp>
        <p:nvSpPr>
          <p:cNvPr id="45" name="Shape 43"/>
          <p:cNvSpPr/>
          <p:nvPr/>
        </p:nvSpPr>
        <p:spPr>
          <a:xfrm>
            <a:off x="4554855" y="2596896"/>
            <a:ext cx="0" cy="868680"/>
          </a:xfrm>
          <a:prstGeom prst="line">
            <a:avLst/>
          </a:prstGeom>
          <a:noFill/>
          <a:ln w="9525">
            <a:solidFill>
              <a:srgbClr val="3B5287"/>
            </a:solidFill>
            <a:prstDash val="solid"/>
          </a:ln>
        </p:spPr>
        <p:txBody>
          <a:bodyPr/>
          <a:lstStyle/>
          <a:p>
            <a:endParaRPr lang="fr-FR"/>
          </a:p>
        </p:txBody>
      </p:sp>
      <p:sp>
        <p:nvSpPr>
          <p:cNvPr id="46" name="Shape 44"/>
          <p:cNvSpPr/>
          <p:nvPr/>
        </p:nvSpPr>
        <p:spPr>
          <a:xfrm>
            <a:off x="4229100" y="2922651"/>
            <a:ext cx="868680" cy="0"/>
          </a:xfrm>
          <a:prstGeom prst="line">
            <a:avLst/>
          </a:prstGeom>
          <a:noFill/>
          <a:ln w="9525">
            <a:solidFill>
              <a:srgbClr val="3B5287"/>
            </a:solidFill>
            <a:prstDash val="solid"/>
          </a:ln>
        </p:spPr>
        <p:txBody>
          <a:bodyPr/>
          <a:lstStyle/>
          <a:p>
            <a:endParaRPr lang="fr-FR"/>
          </a:p>
        </p:txBody>
      </p:sp>
      <p:sp>
        <p:nvSpPr>
          <p:cNvPr id="47" name="Shape 45"/>
          <p:cNvSpPr/>
          <p:nvPr/>
        </p:nvSpPr>
        <p:spPr>
          <a:xfrm>
            <a:off x="4609148" y="2596896"/>
            <a:ext cx="0" cy="868680"/>
          </a:xfrm>
          <a:prstGeom prst="line">
            <a:avLst/>
          </a:prstGeom>
          <a:noFill/>
          <a:ln w="9525">
            <a:solidFill>
              <a:srgbClr val="3B5287"/>
            </a:solidFill>
            <a:prstDash val="solid"/>
          </a:ln>
        </p:spPr>
        <p:txBody>
          <a:bodyPr/>
          <a:lstStyle/>
          <a:p>
            <a:endParaRPr lang="fr-FR"/>
          </a:p>
        </p:txBody>
      </p:sp>
      <p:sp>
        <p:nvSpPr>
          <p:cNvPr id="48" name="Shape 46"/>
          <p:cNvSpPr/>
          <p:nvPr/>
        </p:nvSpPr>
        <p:spPr>
          <a:xfrm>
            <a:off x="4229100" y="2976944"/>
            <a:ext cx="868680" cy="0"/>
          </a:xfrm>
          <a:prstGeom prst="line">
            <a:avLst/>
          </a:prstGeom>
          <a:noFill/>
          <a:ln w="9525">
            <a:solidFill>
              <a:srgbClr val="3B5287"/>
            </a:solidFill>
            <a:prstDash val="solid"/>
          </a:ln>
        </p:spPr>
        <p:txBody>
          <a:bodyPr/>
          <a:lstStyle/>
          <a:p>
            <a:endParaRPr lang="fr-FR"/>
          </a:p>
        </p:txBody>
      </p:sp>
      <p:sp>
        <p:nvSpPr>
          <p:cNvPr id="49" name="Shape 47"/>
          <p:cNvSpPr/>
          <p:nvPr/>
        </p:nvSpPr>
        <p:spPr>
          <a:xfrm>
            <a:off x="4663440" y="2596896"/>
            <a:ext cx="0" cy="868680"/>
          </a:xfrm>
          <a:prstGeom prst="line">
            <a:avLst/>
          </a:prstGeom>
          <a:noFill/>
          <a:ln w="9525">
            <a:solidFill>
              <a:srgbClr val="3B5287"/>
            </a:solidFill>
            <a:prstDash val="solid"/>
          </a:ln>
        </p:spPr>
        <p:txBody>
          <a:bodyPr/>
          <a:lstStyle/>
          <a:p>
            <a:endParaRPr lang="fr-FR"/>
          </a:p>
        </p:txBody>
      </p:sp>
      <p:sp>
        <p:nvSpPr>
          <p:cNvPr id="50" name="Shape 48"/>
          <p:cNvSpPr/>
          <p:nvPr/>
        </p:nvSpPr>
        <p:spPr>
          <a:xfrm>
            <a:off x="4229100" y="3031236"/>
            <a:ext cx="868680" cy="0"/>
          </a:xfrm>
          <a:prstGeom prst="line">
            <a:avLst/>
          </a:prstGeom>
          <a:noFill/>
          <a:ln w="9525">
            <a:solidFill>
              <a:srgbClr val="3B5287"/>
            </a:solidFill>
            <a:prstDash val="solid"/>
          </a:ln>
        </p:spPr>
        <p:txBody>
          <a:bodyPr/>
          <a:lstStyle/>
          <a:p>
            <a:endParaRPr lang="fr-FR"/>
          </a:p>
        </p:txBody>
      </p:sp>
      <p:sp>
        <p:nvSpPr>
          <p:cNvPr id="51" name="Shape 49"/>
          <p:cNvSpPr/>
          <p:nvPr/>
        </p:nvSpPr>
        <p:spPr>
          <a:xfrm>
            <a:off x="4717733" y="2596896"/>
            <a:ext cx="0" cy="868680"/>
          </a:xfrm>
          <a:prstGeom prst="line">
            <a:avLst/>
          </a:prstGeom>
          <a:noFill/>
          <a:ln w="9525">
            <a:solidFill>
              <a:srgbClr val="3B5287"/>
            </a:solidFill>
            <a:prstDash val="solid"/>
          </a:ln>
        </p:spPr>
        <p:txBody>
          <a:bodyPr/>
          <a:lstStyle/>
          <a:p>
            <a:endParaRPr lang="fr-FR"/>
          </a:p>
        </p:txBody>
      </p:sp>
      <p:sp>
        <p:nvSpPr>
          <p:cNvPr id="52" name="Shape 50"/>
          <p:cNvSpPr/>
          <p:nvPr/>
        </p:nvSpPr>
        <p:spPr>
          <a:xfrm>
            <a:off x="4229100" y="3085528"/>
            <a:ext cx="868680" cy="0"/>
          </a:xfrm>
          <a:prstGeom prst="line">
            <a:avLst/>
          </a:prstGeom>
          <a:noFill/>
          <a:ln w="9525">
            <a:solidFill>
              <a:srgbClr val="3B5287"/>
            </a:solidFill>
            <a:prstDash val="solid"/>
          </a:ln>
        </p:spPr>
        <p:txBody>
          <a:bodyPr/>
          <a:lstStyle/>
          <a:p>
            <a:endParaRPr lang="fr-FR"/>
          </a:p>
        </p:txBody>
      </p:sp>
      <p:sp>
        <p:nvSpPr>
          <p:cNvPr id="53" name="Shape 51"/>
          <p:cNvSpPr/>
          <p:nvPr/>
        </p:nvSpPr>
        <p:spPr>
          <a:xfrm>
            <a:off x="4772025" y="2596896"/>
            <a:ext cx="0" cy="868680"/>
          </a:xfrm>
          <a:prstGeom prst="line">
            <a:avLst/>
          </a:prstGeom>
          <a:noFill/>
          <a:ln w="9525">
            <a:solidFill>
              <a:srgbClr val="3B5287"/>
            </a:solidFill>
            <a:prstDash val="solid"/>
          </a:ln>
        </p:spPr>
        <p:txBody>
          <a:bodyPr/>
          <a:lstStyle/>
          <a:p>
            <a:endParaRPr lang="fr-FR"/>
          </a:p>
        </p:txBody>
      </p:sp>
      <p:sp>
        <p:nvSpPr>
          <p:cNvPr id="54" name="Shape 52"/>
          <p:cNvSpPr/>
          <p:nvPr/>
        </p:nvSpPr>
        <p:spPr>
          <a:xfrm>
            <a:off x="4229100" y="3139821"/>
            <a:ext cx="868680" cy="0"/>
          </a:xfrm>
          <a:prstGeom prst="line">
            <a:avLst/>
          </a:prstGeom>
          <a:noFill/>
          <a:ln w="9525">
            <a:solidFill>
              <a:srgbClr val="3B5287"/>
            </a:solidFill>
            <a:prstDash val="solid"/>
          </a:ln>
        </p:spPr>
        <p:txBody>
          <a:bodyPr/>
          <a:lstStyle/>
          <a:p>
            <a:endParaRPr lang="fr-FR"/>
          </a:p>
        </p:txBody>
      </p:sp>
      <p:sp>
        <p:nvSpPr>
          <p:cNvPr id="55" name="Shape 53"/>
          <p:cNvSpPr/>
          <p:nvPr/>
        </p:nvSpPr>
        <p:spPr>
          <a:xfrm>
            <a:off x="4826318" y="2596896"/>
            <a:ext cx="0" cy="868680"/>
          </a:xfrm>
          <a:prstGeom prst="line">
            <a:avLst/>
          </a:prstGeom>
          <a:noFill/>
          <a:ln w="9525">
            <a:solidFill>
              <a:srgbClr val="3B5287"/>
            </a:solidFill>
            <a:prstDash val="solid"/>
          </a:ln>
        </p:spPr>
        <p:txBody>
          <a:bodyPr/>
          <a:lstStyle/>
          <a:p>
            <a:endParaRPr lang="fr-FR"/>
          </a:p>
        </p:txBody>
      </p:sp>
      <p:sp>
        <p:nvSpPr>
          <p:cNvPr id="56" name="Shape 54"/>
          <p:cNvSpPr/>
          <p:nvPr/>
        </p:nvSpPr>
        <p:spPr>
          <a:xfrm>
            <a:off x="4229100" y="3194114"/>
            <a:ext cx="868680" cy="0"/>
          </a:xfrm>
          <a:prstGeom prst="line">
            <a:avLst/>
          </a:prstGeom>
          <a:noFill/>
          <a:ln w="9525">
            <a:solidFill>
              <a:srgbClr val="3B5287"/>
            </a:solidFill>
            <a:prstDash val="solid"/>
          </a:ln>
        </p:spPr>
        <p:txBody>
          <a:bodyPr/>
          <a:lstStyle/>
          <a:p>
            <a:endParaRPr lang="fr-FR"/>
          </a:p>
        </p:txBody>
      </p:sp>
      <p:sp>
        <p:nvSpPr>
          <p:cNvPr id="57" name="Shape 55"/>
          <p:cNvSpPr/>
          <p:nvPr/>
        </p:nvSpPr>
        <p:spPr>
          <a:xfrm>
            <a:off x="4880610" y="2596896"/>
            <a:ext cx="0" cy="868680"/>
          </a:xfrm>
          <a:prstGeom prst="line">
            <a:avLst/>
          </a:prstGeom>
          <a:noFill/>
          <a:ln w="9525">
            <a:solidFill>
              <a:srgbClr val="3B5287"/>
            </a:solidFill>
            <a:prstDash val="solid"/>
          </a:ln>
        </p:spPr>
        <p:txBody>
          <a:bodyPr/>
          <a:lstStyle/>
          <a:p>
            <a:endParaRPr lang="fr-FR"/>
          </a:p>
        </p:txBody>
      </p:sp>
      <p:sp>
        <p:nvSpPr>
          <p:cNvPr id="58" name="Shape 56"/>
          <p:cNvSpPr/>
          <p:nvPr/>
        </p:nvSpPr>
        <p:spPr>
          <a:xfrm>
            <a:off x="4229100" y="3248406"/>
            <a:ext cx="868680" cy="0"/>
          </a:xfrm>
          <a:prstGeom prst="line">
            <a:avLst/>
          </a:prstGeom>
          <a:noFill/>
          <a:ln w="9525">
            <a:solidFill>
              <a:srgbClr val="3B5287"/>
            </a:solidFill>
            <a:prstDash val="solid"/>
          </a:ln>
        </p:spPr>
        <p:txBody>
          <a:bodyPr/>
          <a:lstStyle/>
          <a:p>
            <a:endParaRPr lang="fr-FR"/>
          </a:p>
        </p:txBody>
      </p:sp>
      <p:sp>
        <p:nvSpPr>
          <p:cNvPr id="59" name="Shape 57"/>
          <p:cNvSpPr/>
          <p:nvPr/>
        </p:nvSpPr>
        <p:spPr>
          <a:xfrm>
            <a:off x="4934903" y="2596896"/>
            <a:ext cx="0" cy="868680"/>
          </a:xfrm>
          <a:prstGeom prst="line">
            <a:avLst/>
          </a:prstGeom>
          <a:noFill/>
          <a:ln w="9525">
            <a:solidFill>
              <a:srgbClr val="3B5287"/>
            </a:solidFill>
            <a:prstDash val="solid"/>
          </a:ln>
        </p:spPr>
        <p:txBody>
          <a:bodyPr/>
          <a:lstStyle/>
          <a:p>
            <a:endParaRPr lang="fr-FR"/>
          </a:p>
        </p:txBody>
      </p:sp>
      <p:sp>
        <p:nvSpPr>
          <p:cNvPr id="60" name="Shape 58"/>
          <p:cNvSpPr/>
          <p:nvPr/>
        </p:nvSpPr>
        <p:spPr>
          <a:xfrm>
            <a:off x="4229100" y="3302699"/>
            <a:ext cx="868680" cy="0"/>
          </a:xfrm>
          <a:prstGeom prst="line">
            <a:avLst/>
          </a:prstGeom>
          <a:noFill/>
          <a:ln w="9525">
            <a:solidFill>
              <a:srgbClr val="3B5287"/>
            </a:solidFill>
            <a:prstDash val="solid"/>
          </a:ln>
        </p:spPr>
        <p:txBody>
          <a:bodyPr/>
          <a:lstStyle/>
          <a:p>
            <a:endParaRPr lang="fr-FR"/>
          </a:p>
        </p:txBody>
      </p:sp>
      <p:sp>
        <p:nvSpPr>
          <p:cNvPr id="61" name="Shape 59"/>
          <p:cNvSpPr/>
          <p:nvPr/>
        </p:nvSpPr>
        <p:spPr>
          <a:xfrm>
            <a:off x="4989195" y="2596896"/>
            <a:ext cx="0" cy="868680"/>
          </a:xfrm>
          <a:prstGeom prst="line">
            <a:avLst/>
          </a:prstGeom>
          <a:noFill/>
          <a:ln w="9525">
            <a:solidFill>
              <a:srgbClr val="3B5287"/>
            </a:solidFill>
            <a:prstDash val="solid"/>
          </a:ln>
        </p:spPr>
        <p:txBody>
          <a:bodyPr/>
          <a:lstStyle/>
          <a:p>
            <a:endParaRPr lang="fr-FR"/>
          </a:p>
        </p:txBody>
      </p:sp>
      <p:sp>
        <p:nvSpPr>
          <p:cNvPr id="62" name="Shape 60"/>
          <p:cNvSpPr/>
          <p:nvPr/>
        </p:nvSpPr>
        <p:spPr>
          <a:xfrm>
            <a:off x="4229100" y="3356991"/>
            <a:ext cx="868680" cy="0"/>
          </a:xfrm>
          <a:prstGeom prst="line">
            <a:avLst/>
          </a:prstGeom>
          <a:noFill/>
          <a:ln w="9525">
            <a:solidFill>
              <a:srgbClr val="3B5287"/>
            </a:solidFill>
            <a:prstDash val="solid"/>
          </a:ln>
        </p:spPr>
        <p:txBody>
          <a:bodyPr/>
          <a:lstStyle/>
          <a:p>
            <a:endParaRPr lang="fr-FR"/>
          </a:p>
        </p:txBody>
      </p:sp>
      <p:sp>
        <p:nvSpPr>
          <p:cNvPr id="63" name="Shape 61"/>
          <p:cNvSpPr/>
          <p:nvPr/>
        </p:nvSpPr>
        <p:spPr>
          <a:xfrm>
            <a:off x="5043488" y="2596896"/>
            <a:ext cx="0" cy="868680"/>
          </a:xfrm>
          <a:prstGeom prst="line">
            <a:avLst/>
          </a:prstGeom>
          <a:noFill/>
          <a:ln w="9525">
            <a:solidFill>
              <a:srgbClr val="3B5287"/>
            </a:solidFill>
            <a:prstDash val="solid"/>
          </a:ln>
        </p:spPr>
        <p:txBody>
          <a:bodyPr/>
          <a:lstStyle/>
          <a:p>
            <a:endParaRPr lang="fr-FR"/>
          </a:p>
        </p:txBody>
      </p:sp>
      <p:sp>
        <p:nvSpPr>
          <p:cNvPr id="64" name="Shape 62"/>
          <p:cNvSpPr/>
          <p:nvPr/>
        </p:nvSpPr>
        <p:spPr>
          <a:xfrm>
            <a:off x="4229100" y="3411284"/>
            <a:ext cx="868680" cy="0"/>
          </a:xfrm>
          <a:prstGeom prst="line">
            <a:avLst/>
          </a:prstGeom>
          <a:noFill/>
          <a:ln w="9525">
            <a:solidFill>
              <a:srgbClr val="3B5287"/>
            </a:solidFill>
            <a:prstDash val="solid"/>
          </a:ln>
        </p:spPr>
        <p:txBody>
          <a:bodyPr/>
          <a:lstStyle/>
          <a:p>
            <a:endParaRPr lang="fr-FR"/>
          </a:p>
        </p:txBody>
      </p:sp>
      <p:sp>
        <p:nvSpPr>
          <p:cNvPr id="65" name="Text 63"/>
          <p:cNvSpPr txBox="1"/>
          <p:nvPr/>
        </p:nvSpPr>
        <p:spPr>
          <a:xfrm>
            <a:off x="4000500" y="3511296"/>
            <a:ext cx="1325880" cy="256032"/>
          </a:xfrm>
          <a:prstGeom prst="rect">
            <a:avLst/>
          </a:prstGeom>
          <a:noFill/>
          <a:ln/>
        </p:spPr>
        <p:txBody>
          <a:bodyPr wrap="square" lIns="0" tIns="0" rIns="0" bIns="0" rtlCol="0" anchor="ctr"/>
          <a:lstStyle/>
          <a:p>
            <a:pPr marL="0" indent="0" algn="ctr">
              <a:buNone/>
            </a:pPr>
            <a:r>
              <a:rPr lang="en-US" sz="1200" b="1" dirty="0">
                <a:solidFill>
                  <a:schemeClr val="tx1"/>
                </a:solidFill>
              </a:rPr>
              <a:t>256 cells</a:t>
            </a:r>
            <a:endParaRPr lang="en-US" sz="1200" dirty="0"/>
          </a:p>
        </p:txBody>
      </p:sp>
      <p:sp>
        <p:nvSpPr>
          <p:cNvPr id="66" name="Text 64"/>
          <p:cNvSpPr txBox="1"/>
          <p:nvPr/>
        </p:nvSpPr>
        <p:spPr>
          <a:xfrm>
            <a:off x="868680" y="3813048"/>
            <a:ext cx="4754880" cy="292608"/>
          </a:xfrm>
          <a:prstGeom prst="rect">
            <a:avLst/>
          </a:prstGeom>
          <a:noFill/>
          <a:ln/>
        </p:spPr>
        <p:txBody>
          <a:bodyPr wrap="square" lIns="0" tIns="0" rIns="0" bIns="0" rtlCol="0" anchor="ctr"/>
          <a:lstStyle/>
          <a:p>
            <a:pPr marL="0" indent="0">
              <a:buNone/>
            </a:pPr>
            <a:r>
              <a:rPr lang="en-US" sz="1300" dirty="0">
                <a:solidFill>
                  <a:schemeClr val="tx2"/>
                </a:solidFill>
              </a:rPr>
              <a:t>Halve the cell size in 3D and you need 8× more cells</a:t>
            </a:r>
            <a:endParaRPr lang="en-US" sz="1300" dirty="0"/>
          </a:p>
        </p:txBody>
      </p:sp>
      <p:sp>
        <p:nvSpPr>
          <p:cNvPr id="67" name="Quantum"/>
          <p:cNvSpPr/>
          <p:nvPr/>
        </p:nvSpPr>
        <p:spPr>
          <a:xfrm>
            <a:off x="6248095" y="1572768"/>
            <a:ext cx="5394960" cy="2606040"/>
          </a:xfrm>
          <a:prstGeom prst="roundRect">
            <a:avLst>
              <a:gd name="adj" fmla="val 5263"/>
            </a:avLst>
          </a:prstGeom>
          <a:solidFill>
            <a:schemeClr val="bg2"/>
          </a:solidFill>
          <a:ln w="12700">
            <a:solidFill>
              <a:schemeClr val="accent1"/>
            </a:solidFill>
            <a:prstDash val="solid"/>
          </a:ln>
        </p:spPr>
        <p:txBody>
          <a:bodyPr/>
          <a:lstStyle/>
          <a:p>
            <a:endParaRPr lang="fr-FR"/>
          </a:p>
        </p:txBody>
      </p:sp>
      <p:sp>
        <p:nvSpPr>
          <p:cNvPr id="68" name="Shape 66"/>
          <p:cNvSpPr/>
          <p:nvPr/>
        </p:nvSpPr>
        <p:spPr>
          <a:xfrm>
            <a:off x="6568135" y="1892808"/>
            <a:ext cx="91440" cy="91440"/>
          </a:xfrm>
          <a:prstGeom prst="rect">
            <a:avLst/>
          </a:prstGeom>
          <a:solidFill>
            <a:schemeClr val="accent2"/>
          </a:solidFill>
          <a:ln/>
        </p:spPr>
        <p:txBody>
          <a:bodyPr/>
          <a:lstStyle/>
          <a:p>
            <a:endParaRPr lang="fr-FR"/>
          </a:p>
        </p:txBody>
      </p:sp>
      <p:sp>
        <p:nvSpPr>
          <p:cNvPr id="69" name="Text 67"/>
          <p:cNvSpPr txBox="1"/>
          <p:nvPr/>
        </p:nvSpPr>
        <p:spPr>
          <a:xfrm>
            <a:off x="6751015" y="1801368"/>
            <a:ext cx="3657600" cy="274320"/>
          </a:xfrm>
          <a:prstGeom prst="rect">
            <a:avLst/>
          </a:prstGeom>
          <a:noFill/>
          <a:ln/>
        </p:spPr>
        <p:txBody>
          <a:bodyPr wrap="square" lIns="0" tIns="0" rIns="0" bIns="0" rtlCol="0" anchor="ctr"/>
          <a:lstStyle/>
          <a:p>
            <a:pPr marL="0" indent="0">
              <a:buNone/>
            </a:pPr>
            <a:r>
              <a:rPr lang="en-US" sz="1100" b="1" kern="0" spc="200" dirty="0">
                <a:solidFill>
                  <a:schemeClr val="tx2"/>
                </a:solidFill>
              </a:rPr>
              <a:t>QUANTUM COMPUTER</a:t>
            </a:r>
            <a:endParaRPr lang="en-US" sz="1100" dirty="0"/>
          </a:p>
        </p:txBody>
      </p:sp>
      <p:sp>
        <p:nvSpPr>
          <p:cNvPr id="70" name="Text 68"/>
          <p:cNvSpPr txBox="1"/>
          <p:nvPr/>
        </p:nvSpPr>
        <p:spPr>
          <a:xfrm>
            <a:off x="6568135" y="2103120"/>
            <a:ext cx="4754880" cy="384048"/>
          </a:xfrm>
          <a:prstGeom prst="rect">
            <a:avLst/>
          </a:prstGeom>
          <a:noFill/>
          <a:ln/>
        </p:spPr>
        <p:txBody>
          <a:bodyPr wrap="square" lIns="0" tIns="0" rIns="0" bIns="0" rtlCol="0" anchor="ctr"/>
          <a:lstStyle/>
          <a:p>
            <a:pPr marL="0" indent="0">
              <a:buNone/>
            </a:pPr>
            <a:r>
              <a:rPr lang="en-US" sz="1900" b="1" dirty="0">
                <a:solidFill>
                  <a:schemeClr val="tx1"/>
                </a:solidFill>
              </a:rPr>
              <a:t>Every qubit doubles the capacity</a:t>
            </a:r>
            <a:endParaRPr lang="en-US" sz="1900" dirty="0"/>
          </a:p>
        </p:txBody>
      </p:sp>
      <p:sp>
        <p:nvSpPr>
          <p:cNvPr id="71" name="Text 69"/>
          <p:cNvSpPr txBox="1"/>
          <p:nvPr/>
        </p:nvSpPr>
        <p:spPr>
          <a:xfrm>
            <a:off x="6568135" y="2578608"/>
            <a:ext cx="1143000" cy="274320"/>
          </a:xfrm>
          <a:prstGeom prst="rect">
            <a:avLst/>
          </a:prstGeom>
          <a:noFill/>
          <a:ln/>
        </p:spPr>
        <p:txBody>
          <a:bodyPr wrap="square" lIns="0" tIns="0" rIns="0" bIns="0" rtlCol="0" anchor="ctr"/>
          <a:lstStyle/>
          <a:p>
            <a:pPr marL="0" indent="0">
              <a:buNone/>
            </a:pPr>
            <a:r>
              <a:rPr lang="en-US" sz="1300" b="1" dirty="0">
                <a:solidFill>
                  <a:schemeClr val="tx1"/>
                </a:solidFill>
              </a:rPr>
              <a:t>1 qubit</a:t>
            </a:r>
            <a:endParaRPr lang="en-US" sz="1300" dirty="0"/>
          </a:p>
        </p:txBody>
      </p:sp>
      <p:sp>
        <p:nvSpPr>
          <p:cNvPr id="72" name="Bar 1 qubit"/>
          <p:cNvSpPr/>
          <p:nvPr/>
        </p:nvSpPr>
        <p:spPr>
          <a:xfrm>
            <a:off x="7756855" y="2624328"/>
            <a:ext cx="109728" cy="182880"/>
          </a:xfrm>
          <a:prstGeom prst="roundRect">
            <a:avLst>
              <a:gd name="adj" fmla="val 41667"/>
            </a:avLst>
          </a:prstGeom>
          <a:solidFill>
            <a:schemeClr val="accent1"/>
          </a:solidFill>
          <a:ln/>
        </p:spPr>
        <p:txBody>
          <a:bodyPr/>
          <a:lstStyle/>
          <a:p>
            <a:endParaRPr lang="fr-FR"/>
          </a:p>
        </p:txBody>
      </p:sp>
      <p:sp>
        <p:nvSpPr>
          <p:cNvPr id="73" name="Text 71"/>
          <p:cNvSpPr txBox="1"/>
          <p:nvPr/>
        </p:nvSpPr>
        <p:spPr>
          <a:xfrm>
            <a:off x="8003743" y="2578608"/>
            <a:ext cx="1737360" cy="274320"/>
          </a:xfrm>
          <a:prstGeom prst="rect">
            <a:avLst/>
          </a:prstGeom>
          <a:noFill/>
          <a:ln/>
        </p:spPr>
        <p:txBody>
          <a:bodyPr wrap="square" lIns="0" tIns="0" rIns="0" bIns="0" rtlCol="0" anchor="ctr"/>
          <a:lstStyle/>
          <a:p>
            <a:pPr marL="0" indent="0">
              <a:buNone/>
            </a:pPr>
            <a:r>
              <a:rPr lang="en-US" sz="1300" dirty="0">
                <a:solidFill>
                  <a:schemeClr val="tx2"/>
                </a:solidFill>
              </a:rPr>
              <a:t>2 values</a:t>
            </a:r>
            <a:endParaRPr lang="en-US" sz="1300" dirty="0"/>
          </a:p>
        </p:txBody>
      </p:sp>
      <p:sp>
        <p:nvSpPr>
          <p:cNvPr id="74" name="Text 72"/>
          <p:cNvSpPr txBox="1"/>
          <p:nvPr/>
        </p:nvSpPr>
        <p:spPr>
          <a:xfrm>
            <a:off x="6568135" y="2889504"/>
            <a:ext cx="1143000" cy="274320"/>
          </a:xfrm>
          <a:prstGeom prst="rect">
            <a:avLst/>
          </a:prstGeom>
          <a:noFill/>
          <a:ln/>
        </p:spPr>
        <p:txBody>
          <a:bodyPr wrap="square" lIns="0" tIns="0" rIns="0" bIns="0" rtlCol="0" anchor="ctr"/>
          <a:lstStyle/>
          <a:p>
            <a:pPr marL="0" indent="0">
              <a:buNone/>
            </a:pPr>
            <a:r>
              <a:rPr lang="en-US" sz="1300" b="1" dirty="0">
                <a:solidFill>
                  <a:schemeClr val="tx1"/>
                </a:solidFill>
              </a:rPr>
              <a:t>10 qubits</a:t>
            </a:r>
            <a:endParaRPr lang="en-US" sz="1300" dirty="0"/>
          </a:p>
        </p:txBody>
      </p:sp>
      <p:sp>
        <p:nvSpPr>
          <p:cNvPr id="75" name="Bar 10 qubits"/>
          <p:cNvSpPr/>
          <p:nvPr/>
        </p:nvSpPr>
        <p:spPr>
          <a:xfrm>
            <a:off x="7756855" y="2935224"/>
            <a:ext cx="457200" cy="182880"/>
          </a:xfrm>
          <a:prstGeom prst="roundRect">
            <a:avLst>
              <a:gd name="adj" fmla="val 25000"/>
            </a:avLst>
          </a:prstGeom>
          <a:solidFill>
            <a:schemeClr val="accent1"/>
          </a:solidFill>
          <a:ln/>
        </p:spPr>
        <p:txBody>
          <a:bodyPr/>
          <a:lstStyle/>
          <a:p>
            <a:endParaRPr lang="fr-FR"/>
          </a:p>
        </p:txBody>
      </p:sp>
      <p:sp>
        <p:nvSpPr>
          <p:cNvPr id="76" name="Text 74"/>
          <p:cNvSpPr txBox="1"/>
          <p:nvPr/>
        </p:nvSpPr>
        <p:spPr>
          <a:xfrm>
            <a:off x="8351215" y="2889504"/>
            <a:ext cx="1737360" cy="274320"/>
          </a:xfrm>
          <a:prstGeom prst="rect">
            <a:avLst/>
          </a:prstGeom>
          <a:noFill/>
          <a:ln/>
        </p:spPr>
        <p:txBody>
          <a:bodyPr wrap="square" lIns="0" tIns="0" rIns="0" bIns="0" rtlCol="0" anchor="ctr"/>
          <a:lstStyle/>
          <a:p>
            <a:pPr marL="0" indent="0">
              <a:buNone/>
            </a:pPr>
            <a:r>
              <a:rPr lang="en-US" sz="1300" dirty="0">
                <a:solidFill>
                  <a:schemeClr val="tx2"/>
                </a:solidFill>
              </a:rPr>
              <a:t>1,024</a:t>
            </a:r>
            <a:endParaRPr lang="en-US" sz="1300" dirty="0"/>
          </a:p>
        </p:txBody>
      </p:sp>
      <p:sp>
        <p:nvSpPr>
          <p:cNvPr id="77" name="Text 75"/>
          <p:cNvSpPr txBox="1"/>
          <p:nvPr/>
        </p:nvSpPr>
        <p:spPr>
          <a:xfrm>
            <a:off x="6568135" y="3200400"/>
            <a:ext cx="1143000" cy="274320"/>
          </a:xfrm>
          <a:prstGeom prst="rect">
            <a:avLst/>
          </a:prstGeom>
          <a:noFill/>
          <a:ln/>
        </p:spPr>
        <p:txBody>
          <a:bodyPr wrap="square" lIns="0" tIns="0" rIns="0" bIns="0" rtlCol="0" anchor="ctr"/>
          <a:lstStyle/>
          <a:p>
            <a:pPr marL="0" indent="0">
              <a:buNone/>
            </a:pPr>
            <a:r>
              <a:rPr lang="en-US" sz="1300" b="1" dirty="0">
                <a:solidFill>
                  <a:schemeClr val="tx1"/>
                </a:solidFill>
              </a:rPr>
              <a:t>20 qubits</a:t>
            </a:r>
            <a:endParaRPr lang="en-US" sz="1300" dirty="0"/>
          </a:p>
        </p:txBody>
      </p:sp>
      <p:sp>
        <p:nvSpPr>
          <p:cNvPr id="78" name="Bar 20 qubits"/>
          <p:cNvSpPr/>
          <p:nvPr/>
        </p:nvSpPr>
        <p:spPr>
          <a:xfrm>
            <a:off x="7756855" y="3246120"/>
            <a:ext cx="868680" cy="182880"/>
          </a:xfrm>
          <a:prstGeom prst="roundRect">
            <a:avLst>
              <a:gd name="adj" fmla="val 25000"/>
            </a:avLst>
          </a:prstGeom>
          <a:solidFill>
            <a:schemeClr val="accent1"/>
          </a:solidFill>
          <a:ln/>
        </p:spPr>
        <p:txBody>
          <a:bodyPr/>
          <a:lstStyle/>
          <a:p>
            <a:endParaRPr lang="fr-FR"/>
          </a:p>
        </p:txBody>
      </p:sp>
      <p:sp>
        <p:nvSpPr>
          <p:cNvPr id="79" name="Text 77"/>
          <p:cNvSpPr txBox="1"/>
          <p:nvPr/>
        </p:nvSpPr>
        <p:spPr>
          <a:xfrm>
            <a:off x="8762695" y="3200400"/>
            <a:ext cx="1737360" cy="274320"/>
          </a:xfrm>
          <a:prstGeom prst="rect">
            <a:avLst/>
          </a:prstGeom>
          <a:noFill/>
          <a:ln/>
        </p:spPr>
        <p:txBody>
          <a:bodyPr wrap="square" lIns="0" tIns="0" rIns="0" bIns="0" rtlCol="0" anchor="ctr"/>
          <a:lstStyle/>
          <a:p>
            <a:pPr marL="0" indent="0">
              <a:buNone/>
            </a:pPr>
            <a:r>
              <a:rPr lang="en-US" sz="1300" dirty="0">
                <a:solidFill>
                  <a:schemeClr val="tx2"/>
                </a:solidFill>
              </a:rPr>
              <a:t>≈ 1 million</a:t>
            </a:r>
            <a:endParaRPr lang="en-US" sz="1300" dirty="0"/>
          </a:p>
        </p:txBody>
      </p:sp>
      <p:sp>
        <p:nvSpPr>
          <p:cNvPr id="80" name="Text 78"/>
          <p:cNvSpPr txBox="1"/>
          <p:nvPr/>
        </p:nvSpPr>
        <p:spPr>
          <a:xfrm>
            <a:off x="6568135" y="3511296"/>
            <a:ext cx="1143000" cy="274320"/>
          </a:xfrm>
          <a:prstGeom prst="rect">
            <a:avLst/>
          </a:prstGeom>
          <a:noFill/>
          <a:ln/>
        </p:spPr>
        <p:txBody>
          <a:bodyPr wrap="square" lIns="0" tIns="0" rIns="0" bIns="0" rtlCol="0" anchor="ctr"/>
          <a:lstStyle/>
          <a:p>
            <a:pPr marL="0" indent="0">
              <a:buNone/>
            </a:pPr>
            <a:r>
              <a:rPr lang="en-US" sz="1300" b="1" dirty="0">
                <a:solidFill>
                  <a:schemeClr val="tx1"/>
                </a:solidFill>
              </a:rPr>
              <a:t>30 qubits</a:t>
            </a:r>
            <a:endParaRPr lang="en-US" sz="1300" dirty="0"/>
          </a:p>
        </p:txBody>
      </p:sp>
      <p:sp>
        <p:nvSpPr>
          <p:cNvPr id="81" name="Bar 30 qubits"/>
          <p:cNvSpPr/>
          <p:nvPr/>
        </p:nvSpPr>
        <p:spPr>
          <a:xfrm>
            <a:off x="7756855" y="3557016"/>
            <a:ext cx="1325880" cy="182880"/>
          </a:xfrm>
          <a:prstGeom prst="roundRect">
            <a:avLst>
              <a:gd name="adj" fmla="val 25000"/>
            </a:avLst>
          </a:prstGeom>
          <a:solidFill>
            <a:schemeClr val="accent1"/>
          </a:solidFill>
          <a:ln/>
        </p:spPr>
        <p:txBody>
          <a:bodyPr/>
          <a:lstStyle/>
          <a:p>
            <a:endParaRPr lang="fr-FR"/>
          </a:p>
        </p:txBody>
      </p:sp>
      <p:sp>
        <p:nvSpPr>
          <p:cNvPr id="82" name="Text 80"/>
          <p:cNvSpPr txBox="1"/>
          <p:nvPr/>
        </p:nvSpPr>
        <p:spPr>
          <a:xfrm>
            <a:off x="9219895" y="3511296"/>
            <a:ext cx="1737360" cy="274320"/>
          </a:xfrm>
          <a:prstGeom prst="rect">
            <a:avLst/>
          </a:prstGeom>
          <a:noFill/>
          <a:ln/>
        </p:spPr>
        <p:txBody>
          <a:bodyPr wrap="square" lIns="0" tIns="0" rIns="0" bIns="0" rtlCol="0" anchor="ctr"/>
          <a:lstStyle/>
          <a:p>
            <a:pPr marL="0" indent="0">
              <a:buNone/>
            </a:pPr>
            <a:r>
              <a:rPr lang="en-US" sz="1300" dirty="0">
                <a:solidFill>
                  <a:schemeClr val="tx2"/>
                </a:solidFill>
              </a:rPr>
              <a:t>≈ 1 billion</a:t>
            </a:r>
            <a:endParaRPr lang="en-US" sz="1300" dirty="0"/>
          </a:p>
        </p:txBody>
      </p:sp>
      <p:sp>
        <p:nvSpPr>
          <p:cNvPr id="83" name="Text 81"/>
          <p:cNvSpPr txBox="1"/>
          <p:nvPr/>
        </p:nvSpPr>
        <p:spPr>
          <a:xfrm>
            <a:off x="6568135" y="3822192"/>
            <a:ext cx="1143000" cy="274320"/>
          </a:xfrm>
          <a:prstGeom prst="rect">
            <a:avLst/>
          </a:prstGeom>
          <a:noFill/>
          <a:ln/>
        </p:spPr>
        <p:txBody>
          <a:bodyPr wrap="square" lIns="0" tIns="0" rIns="0" bIns="0" rtlCol="0" anchor="ctr"/>
          <a:lstStyle/>
          <a:p>
            <a:pPr marL="0" indent="0">
              <a:buNone/>
            </a:pPr>
            <a:r>
              <a:rPr lang="en-US" sz="1300" b="1" dirty="0">
                <a:solidFill>
                  <a:schemeClr val="tx1"/>
                </a:solidFill>
              </a:rPr>
              <a:t>50 qubits</a:t>
            </a:r>
            <a:endParaRPr lang="en-US" sz="1300" dirty="0"/>
          </a:p>
        </p:txBody>
      </p:sp>
      <p:sp>
        <p:nvSpPr>
          <p:cNvPr id="84" name="Bar 50 qubits"/>
          <p:cNvSpPr/>
          <p:nvPr/>
        </p:nvSpPr>
        <p:spPr>
          <a:xfrm>
            <a:off x="7756855" y="3867912"/>
            <a:ext cx="2103120" cy="182880"/>
          </a:xfrm>
          <a:prstGeom prst="roundRect">
            <a:avLst>
              <a:gd name="adj" fmla="val 25000"/>
            </a:avLst>
          </a:prstGeom>
          <a:solidFill>
            <a:schemeClr val="accent1"/>
          </a:solidFill>
          <a:ln/>
        </p:spPr>
        <p:txBody>
          <a:bodyPr/>
          <a:lstStyle/>
          <a:p>
            <a:endParaRPr lang="fr-FR"/>
          </a:p>
        </p:txBody>
      </p:sp>
      <p:sp>
        <p:nvSpPr>
          <p:cNvPr id="85" name="Shape 83"/>
          <p:cNvSpPr/>
          <p:nvPr/>
        </p:nvSpPr>
        <p:spPr>
          <a:xfrm>
            <a:off x="9750247" y="3913632"/>
            <a:ext cx="91440" cy="91440"/>
          </a:xfrm>
          <a:prstGeom prst="rect">
            <a:avLst/>
          </a:prstGeom>
          <a:solidFill>
            <a:schemeClr val="accent2"/>
          </a:solidFill>
          <a:ln/>
        </p:spPr>
        <p:txBody>
          <a:bodyPr/>
          <a:lstStyle/>
          <a:p>
            <a:endParaRPr lang="fr-FR"/>
          </a:p>
        </p:txBody>
      </p:sp>
      <p:sp>
        <p:nvSpPr>
          <p:cNvPr id="86" name="Text 84"/>
          <p:cNvSpPr txBox="1"/>
          <p:nvPr/>
        </p:nvSpPr>
        <p:spPr>
          <a:xfrm>
            <a:off x="9997135" y="3822192"/>
            <a:ext cx="1737360" cy="274320"/>
          </a:xfrm>
          <a:prstGeom prst="rect">
            <a:avLst/>
          </a:prstGeom>
          <a:noFill/>
          <a:ln/>
        </p:spPr>
        <p:txBody>
          <a:bodyPr wrap="square" lIns="0" tIns="0" rIns="0" bIns="0" rtlCol="0" anchor="ctr"/>
          <a:lstStyle/>
          <a:p>
            <a:pPr marL="0" indent="0">
              <a:buNone/>
            </a:pPr>
            <a:r>
              <a:rPr lang="en-US" sz="1300" dirty="0">
                <a:solidFill>
                  <a:schemeClr val="tx2"/>
                </a:solidFill>
              </a:rPr>
              <a:t>≈ 1 quadrillion</a:t>
            </a:r>
            <a:endParaRPr lang="en-US" sz="1300" dirty="0"/>
          </a:p>
        </p:txBody>
      </p:sp>
      <p:sp>
        <p:nvSpPr>
          <p:cNvPr id="87" name="Multi-scale"/>
          <p:cNvSpPr/>
          <p:nvPr/>
        </p:nvSpPr>
        <p:spPr>
          <a:xfrm>
            <a:off x="548640" y="4288536"/>
            <a:ext cx="11094415" cy="1097280"/>
          </a:xfrm>
          <a:prstGeom prst="roundRect">
            <a:avLst>
              <a:gd name="adj" fmla="val 12500"/>
            </a:avLst>
          </a:prstGeom>
          <a:solidFill>
            <a:schemeClr val="bg2"/>
          </a:solidFill>
          <a:ln w="12700">
            <a:solidFill>
              <a:schemeClr val="accent1"/>
            </a:solidFill>
            <a:prstDash val="solid"/>
          </a:ln>
        </p:spPr>
        <p:txBody>
          <a:bodyPr/>
          <a:lstStyle/>
          <a:p>
            <a:endParaRPr lang="fr-FR"/>
          </a:p>
        </p:txBody>
      </p:sp>
      <p:sp>
        <p:nvSpPr>
          <p:cNvPr id="88" name="Shape 86"/>
          <p:cNvSpPr/>
          <p:nvPr/>
        </p:nvSpPr>
        <p:spPr>
          <a:xfrm>
            <a:off x="868680" y="4562856"/>
            <a:ext cx="91440" cy="91440"/>
          </a:xfrm>
          <a:prstGeom prst="rect">
            <a:avLst/>
          </a:prstGeom>
          <a:solidFill>
            <a:schemeClr val="accent2"/>
          </a:solidFill>
          <a:ln/>
        </p:spPr>
        <p:txBody>
          <a:bodyPr/>
          <a:lstStyle/>
          <a:p>
            <a:endParaRPr lang="fr-FR"/>
          </a:p>
        </p:txBody>
      </p:sp>
      <p:sp>
        <p:nvSpPr>
          <p:cNvPr id="89" name="Text 87"/>
          <p:cNvSpPr txBox="1"/>
          <p:nvPr/>
        </p:nvSpPr>
        <p:spPr>
          <a:xfrm>
            <a:off x="1051560" y="4471416"/>
            <a:ext cx="2743200" cy="274320"/>
          </a:xfrm>
          <a:prstGeom prst="rect">
            <a:avLst/>
          </a:prstGeom>
          <a:noFill/>
          <a:ln/>
        </p:spPr>
        <p:txBody>
          <a:bodyPr wrap="square" lIns="0" tIns="0" rIns="0" bIns="0" rtlCol="0" anchor="ctr"/>
          <a:lstStyle/>
          <a:p>
            <a:pPr marL="0" indent="0">
              <a:buNone/>
            </a:pPr>
            <a:r>
              <a:rPr lang="en-US" sz="1100" b="1" kern="0" spc="200" dirty="0">
                <a:solidFill>
                  <a:schemeClr val="tx2"/>
                </a:solidFill>
              </a:rPr>
              <a:t>MULTI-SCALE</a:t>
            </a:r>
            <a:endParaRPr lang="en-US" sz="1100" dirty="0"/>
          </a:p>
        </p:txBody>
      </p:sp>
      <p:sp>
        <p:nvSpPr>
          <p:cNvPr id="90" name="Text 88"/>
          <p:cNvSpPr txBox="1"/>
          <p:nvPr/>
        </p:nvSpPr>
        <p:spPr>
          <a:xfrm>
            <a:off x="868680" y="4745736"/>
            <a:ext cx="4114800" cy="310896"/>
          </a:xfrm>
          <a:prstGeom prst="rect">
            <a:avLst/>
          </a:prstGeom>
          <a:noFill/>
          <a:ln/>
        </p:spPr>
        <p:txBody>
          <a:bodyPr wrap="square" lIns="0" tIns="0" rIns="0" bIns="0" rtlCol="0" anchor="ctr"/>
          <a:lstStyle/>
          <a:p>
            <a:pPr marL="0" indent="0">
              <a:buNone/>
            </a:pPr>
            <a:r>
              <a:rPr lang="en-US" sz="1800" b="1" dirty="0">
                <a:solidFill>
                  <a:schemeClr val="tx1"/>
                </a:solidFill>
              </a:rPr>
              <a:t>9 orders of magnitude, one model</a:t>
            </a:r>
            <a:endParaRPr lang="en-US" sz="1800" dirty="0"/>
          </a:p>
        </p:txBody>
      </p:sp>
      <p:sp>
        <p:nvSpPr>
          <p:cNvPr id="91" name="Text 89"/>
          <p:cNvSpPr txBox="1"/>
          <p:nvPr/>
        </p:nvSpPr>
        <p:spPr>
          <a:xfrm>
            <a:off x="868680" y="5056632"/>
            <a:ext cx="4114800" cy="256032"/>
          </a:xfrm>
          <a:prstGeom prst="rect">
            <a:avLst/>
          </a:prstGeom>
          <a:noFill/>
          <a:ln/>
        </p:spPr>
        <p:txBody>
          <a:bodyPr wrap="square" lIns="0" tIns="0" rIns="0" bIns="0" rtlCol="0" anchor="ctr"/>
          <a:lstStyle/>
          <a:p>
            <a:pPr marL="0" indent="0">
              <a:buNone/>
            </a:pPr>
            <a:r>
              <a:rPr lang="en-US" sz="1200" dirty="0">
                <a:solidFill>
                  <a:schemeClr val="tx2"/>
                </a:solidFill>
              </a:rPr>
              <a:t>Classical codes resolve one scale, model the rest</a:t>
            </a:r>
            <a:endParaRPr lang="en-US" sz="1200" dirty="0"/>
          </a:p>
        </p:txBody>
      </p:sp>
      <p:sp>
        <p:nvSpPr>
          <p:cNvPr id="92" name="Scale axis"/>
          <p:cNvSpPr/>
          <p:nvPr/>
        </p:nvSpPr>
        <p:spPr>
          <a:xfrm>
            <a:off x="5349240" y="4818888"/>
            <a:ext cx="5973775" cy="0"/>
          </a:xfrm>
          <a:prstGeom prst="line">
            <a:avLst/>
          </a:prstGeom>
          <a:noFill/>
          <a:ln w="31750">
            <a:solidFill>
              <a:srgbClr val="3B5287"/>
            </a:solidFill>
            <a:prstDash val="solid"/>
            <a:tailEnd type="triangle"/>
          </a:ln>
        </p:spPr>
        <p:txBody>
          <a:bodyPr/>
          <a:lstStyle/>
          <a:p>
            <a:endParaRPr lang="fr-FR"/>
          </a:p>
        </p:txBody>
      </p:sp>
      <p:sp>
        <p:nvSpPr>
          <p:cNvPr id="93" name="Shape 91"/>
          <p:cNvSpPr/>
          <p:nvPr/>
        </p:nvSpPr>
        <p:spPr>
          <a:xfrm>
            <a:off x="5861304" y="4736592"/>
            <a:ext cx="164592" cy="164592"/>
          </a:xfrm>
          <a:prstGeom prst="ellipse">
            <a:avLst/>
          </a:prstGeom>
          <a:solidFill>
            <a:schemeClr val="accent2"/>
          </a:solidFill>
          <a:ln w="19050">
            <a:solidFill>
              <a:schemeClr val="accent1"/>
            </a:solidFill>
            <a:prstDash val="solid"/>
          </a:ln>
        </p:spPr>
        <p:txBody>
          <a:bodyPr/>
          <a:lstStyle/>
          <a:p>
            <a:endParaRPr lang="fr-FR"/>
          </a:p>
        </p:txBody>
      </p:sp>
      <p:sp>
        <p:nvSpPr>
          <p:cNvPr id="94" name="Text 92"/>
          <p:cNvSpPr txBox="1"/>
          <p:nvPr/>
        </p:nvSpPr>
        <p:spPr>
          <a:xfrm>
            <a:off x="5394960" y="4407408"/>
            <a:ext cx="1097280" cy="274320"/>
          </a:xfrm>
          <a:prstGeom prst="rect">
            <a:avLst/>
          </a:prstGeom>
          <a:noFill/>
          <a:ln/>
        </p:spPr>
        <p:txBody>
          <a:bodyPr wrap="square" lIns="0" tIns="0" rIns="0" bIns="0" rtlCol="0" anchor="ctr"/>
          <a:lstStyle/>
          <a:p>
            <a:pPr marL="0" indent="0" algn="ctr">
              <a:buNone/>
            </a:pPr>
            <a:r>
              <a:rPr lang="en-US" sz="1400" b="1" dirty="0">
                <a:solidFill>
                  <a:schemeClr val="tx1"/>
                </a:solidFill>
              </a:rPr>
              <a:t>nm</a:t>
            </a:r>
            <a:endParaRPr lang="en-US" sz="1400" dirty="0"/>
          </a:p>
        </p:txBody>
      </p:sp>
      <p:sp>
        <p:nvSpPr>
          <p:cNvPr id="95" name="Text 93"/>
          <p:cNvSpPr txBox="1"/>
          <p:nvPr/>
        </p:nvSpPr>
        <p:spPr>
          <a:xfrm>
            <a:off x="5029200" y="4965192"/>
            <a:ext cx="1828800" cy="274320"/>
          </a:xfrm>
          <a:prstGeom prst="rect">
            <a:avLst/>
          </a:prstGeom>
          <a:noFill/>
          <a:ln/>
        </p:spPr>
        <p:txBody>
          <a:bodyPr wrap="square" lIns="0" tIns="0" rIns="0" bIns="0" rtlCol="0" anchor="ctr"/>
          <a:lstStyle/>
          <a:p>
            <a:pPr marL="0" indent="0" algn="ctr">
              <a:buNone/>
            </a:pPr>
            <a:r>
              <a:rPr lang="en-US" sz="1200" dirty="0">
                <a:solidFill>
                  <a:schemeClr val="tx2"/>
                </a:solidFill>
              </a:rPr>
              <a:t>atoms</a:t>
            </a:r>
            <a:endParaRPr lang="en-US" sz="1200" dirty="0"/>
          </a:p>
        </p:txBody>
      </p:sp>
      <p:sp>
        <p:nvSpPr>
          <p:cNvPr id="96" name="Shape 94"/>
          <p:cNvSpPr/>
          <p:nvPr/>
        </p:nvSpPr>
        <p:spPr>
          <a:xfrm>
            <a:off x="7319162" y="4736592"/>
            <a:ext cx="164592" cy="164592"/>
          </a:xfrm>
          <a:prstGeom prst="ellipse">
            <a:avLst/>
          </a:prstGeom>
          <a:solidFill>
            <a:schemeClr val="tx1"/>
          </a:solidFill>
          <a:ln w="19050">
            <a:solidFill>
              <a:schemeClr val="accent1"/>
            </a:solidFill>
            <a:prstDash val="solid"/>
          </a:ln>
        </p:spPr>
        <p:txBody>
          <a:bodyPr/>
          <a:lstStyle/>
          <a:p>
            <a:endParaRPr lang="fr-FR"/>
          </a:p>
        </p:txBody>
      </p:sp>
      <p:sp>
        <p:nvSpPr>
          <p:cNvPr id="97" name="Text 95"/>
          <p:cNvSpPr txBox="1"/>
          <p:nvPr/>
        </p:nvSpPr>
        <p:spPr>
          <a:xfrm>
            <a:off x="6852818" y="4407408"/>
            <a:ext cx="1097280" cy="274320"/>
          </a:xfrm>
          <a:prstGeom prst="rect">
            <a:avLst/>
          </a:prstGeom>
          <a:noFill/>
          <a:ln/>
        </p:spPr>
        <p:txBody>
          <a:bodyPr wrap="square" lIns="0" tIns="0" rIns="0" bIns="0" rtlCol="0" anchor="ctr"/>
          <a:lstStyle/>
          <a:p>
            <a:pPr marL="0" indent="0" algn="ctr">
              <a:buNone/>
            </a:pPr>
            <a:r>
              <a:rPr lang="en-US" sz="1400" b="1" dirty="0">
                <a:solidFill>
                  <a:schemeClr val="tx1"/>
                </a:solidFill>
              </a:rPr>
              <a:t>µm</a:t>
            </a:r>
            <a:endParaRPr lang="en-US" sz="1400" dirty="0"/>
          </a:p>
        </p:txBody>
      </p:sp>
      <p:sp>
        <p:nvSpPr>
          <p:cNvPr id="98" name="Text 96"/>
          <p:cNvSpPr txBox="1"/>
          <p:nvPr/>
        </p:nvSpPr>
        <p:spPr>
          <a:xfrm>
            <a:off x="6487058" y="4965192"/>
            <a:ext cx="1828800" cy="274320"/>
          </a:xfrm>
          <a:prstGeom prst="rect">
            <a:avLst/>
          </a:prstGeom>
          <a:noFill/>
          <a:ln/>
        </p:spPr>
        <p:txBody>
          <a:bodyPr wrap="square" lIns="0" tIns="0" rIns="0" bIns="0" rtlCol="0" anchor="ctr"/>
          <a:lstStyle/>
          <a:p>
            <a:pPr marL="0" indent="0" algn="ctr">
              <a:buNone/>
            </a:pPr>
            <a:r>
              <a:rPr lang="en-US" sz="1200" dirty="0">
                <a:solidFill>
                  <a:schemeClr val="tx2"/>
                </a:solidFill>
              </a:rPr>
              <a:t>grains, eddies</a:t>
            </a:r>
            <a:endParaRPr lang="en-US" sz="1200" dirty="0"/>
          </a:p>
        </p:txBody>
      </p:sp>
      <p:sp>
        <p:nvSpPr>
          <p:cNvPr id="99" name="Shape 97"/>
          <p:cNvSpPr/>
          <p:nvPr/>
        </p:nvSpPr>
        <p:spPr>
          <a:xfrm>
            <a:off x="8777021" y="4736592"/>
            <a:ext cx="164592" cy="164592"/>
          </a:xfrm>
          <a:prstGeom prst="ellipse">
            <a:avLst/>
          </a:prstGeom>
          <a:solidFill>
            <a:schemeClr val="tx1"/>
          </a:solidFill>
          <a:ln w="19050">
            <a:solidFill>
              <a:schemeClr val="accent1"/>
            </a:solidFill>
            <a:prstDash val="solid"/>
          </a:ln>
        </p:spPr>
        <p:txBody>
          <a:bodyPr/>
          <a:lstStyle/>
          <a:p>
            <a:endParaRPr lang="fr-FR"/>
          </a:p>
        </p:txBody>
      </p:sp>
      <p:sp>
        <p:nvSpPr>
          <p:cNvPr id="100" name="Text 98"/>
          <p:cNvSpPr txBox="1"/>
          <p:nvPr/>
        </p:nvSpPr>
        <p:spPr>
          <a:xfrm>
            <a:off x="8310677" y="4407408"/>
            <a:ext cx="1097280" cy="274320"/>
          </a:xfrm>
          <a:prstGeom prst="rect">
            <a:avLst/>
          </a:prstGeom>
          <a:noFill/>
          <a:ln/>
        </p:spPr>
        <p:txBody>
          <a:bodyPr wrap="square" lIns="0" tIns="0" rIns="0" bIns="0" rtlCol="0" anchor="ctr"/>
          <a:lstStyle/>
          <a:p>
            <a:pPr marL="0" indent="0" algn="ctr">
              <a:buNone/>
            </a:pPr>
            <a:r>
              <a:rPr lang="en-US" sz="1400" b="1" dirty="0">
                <a:solidFill>
                  <a:schemeClr val="tx1"/>
                </a:solidFill>
              </a:rPr>
              <a:t>mm</a:t>
            </a:r>
            <a:endParaRPr lang="en-US" sz="1400" dirty="0"/>
          </a:p>
        </p:txBody>
      </p:sp>
      <p:sp>
        <p:nvSpPr>
          <p:cNvPr id="101" name="Text 99"/>
          <p:cNvSpPr txBox="1"/>
          <p:nvPr/>
        </p:nvSpPr>
        <p:spPr>
          <a:xfrm>
            <a:off x="7944917" y="4965192"/>
            <a:ext cx="1828800" cy="274320"/>
          </a:xfrm>
          <a:prstGeom prst="rect">
            <a:avLst/>
          </a:prstGeom>
          <a:noFill/>
          <a:ln/>
        </p:spPr>
        <p:txBody>
          <a:bodyPr wrap="square" lIns="0" tIns="0" rIns="0" bIns="0" rtlCol="0" anchor="ctr"/>
          <a:lstStyle/>
          <a:p>
            <a:pPr marL="0" indent="0" algn="ctr">
              <a:buNone/>
            </a:pPr>
            <a:r>
              <a:rPr lang="en-US" sz="1200" dirty="0">
                <a:solidFill>
                  <a:schemeClr val="tx2"/>
                </a:solidFill>
              </a:rPr>
              <a:t>cracks, droplets</a:t>
            </a:r>
            <a:endParaRPr lang="en-US" sz="1200" dirty="0"/>
          </a:p>
        </p:txBody>
      </p:sp>
      <p:sp>
        <p:nvSpPr>
          <p:cNvPr id="102" name="Shape 100"/>
          <p:cNvSpPr/>
          <p:nvPr/>
        </p:nvSpPr>
        <p:spPr>
          <a:xfrm>
            <a:off x="10234879" y="4736592"/>
            <a:ext cx="164592" cy="164592"/>
          </a:xfrm>
          <a:prstGeom prst="ellipse">
            <a:avLst/>
          </a:prstGeom>
          <a:solidFill>
            <a:schemeClr val="tx1"/>
          </a:solidFill>
          <a:ln w="19050">
            <a:solidFill>
              <a:schemeClr val="accent1"/>
            </a:solidFill>
            <a:prstDash val="solid"/>
          </a:ln>
        </p:spPr>
        <p:txBody>
          <a:bodyPr/>
          <a:lstStyle/>
          <a:p>
            <a:endParaRPr lang="fr-FR"/>
          </a:p>
        </p:txBody>
      </p:sp>
      <p:sp>
        <p:nvSpPr>
          <p:cNvPr id="103" name="Text 101"/>
          <p:cNvSpPr txBox="1"/>
          <p:nvPr/>
        </p:nvSpPr>
        <p:spPr>
          <a:xfrm>
            <a:off x="9768535" y="4407408"/>
            <a:ext cx="1097280" cy="274320"/>
          </a:xfrm>
          <a:prstGeom prst="rect">
            <a:avLst/>
          </a:prstGeom>
          <a:noFill/>
          <a:ln/>
        </p:spPr>
        <p:txBody>
          <a:bodyPr wrap="square" lIns="0" tIns="0" rIns="0" bIns="0" rtlCol="0" anchor="ctr"/>
          <a:lstStyle/>
          <a:p>
            <a:pPr marL="0" indent="0" algn="ctr">
              <a:buNone/>
            </a:pPr>
            <a:r>
              <a:rPr lang="en-US" sz="1400" b="1" dirty="0">
                <a:solidFill>
                  <a:schemeClr val="tx1"/>
                </a:solidFill>
              </a:rPr>
              <a:t>m</a:t>
            </a:r>
            <a:endParaRPr lang="en-US" sz="1400" dirty="0"/>
          </a:p>
        </p:txBody>
      </p:sp>
      <p:sp>
        <p:nvSpPr>
          <p:cNvPr id="104" name="Text 102"/>
          <p:cNvSpPr txBox="1"/>
          <p:nvPr/>
        </p:nvSpPr>
        <p:spPr>
          <a:xfrm>
            <a:off x="9402775" y="4965192"/>
            <a:ext cx="1828800" cy="274320"/>
          </a:xfrm>
          <a:prstGeom prst="rect">
            <a:avLst/>
          </a:prstGeom>
          <a:noFill/>
          <a:ln/>
        </p:spPr>
        <p:txBody>
          <a:bodyPr wrap="square" lIns="0" tIns="0" rIns="0" bIns="0" rtlCol="0" anchor="ctr"/>
          <a:lstStyle/>
          <a:p>
            <a:pPr marL="0" indent="0" algn="ctr">
              <a:buNone/>
            </a:pPr>
            <a:r>
              <a:rPr lang="en-US" sz="1200" dirty="0">
                <a:solidFill>
                  <a:schemeClr val="tx2"/>
                </a:solidFill>
              </a:rPr>
              <a:t>wings, engines</a:t>
            </a:r>
            <a:endParaRPr lang="en-US" sz="1200" dirty="0"/>
          </a:p>
        </p:txBody>
      </p:sp>
      <p:sp>
        <p:nvSpPr>
          <p:cNvPr id="105" name="Takeaway"/>
          <p:cNvSpPr/>
          <p:nvPr/>
        </p:nvSpPr>
        <p:spPr>
          <a:xfrm>
            <a:off x="548640" y="5495544"/>
            <a:ext cx="11094415" cy="530352"/>
          </a:xfrm>
          <a:prstGeom prst="roundRect">
            <a:avLst>
              <a:gd name="adj" fmla="val 20690"/>
            </a:avLst>
          </a:prstGeom>
          <a:solidFill>
            <a:schemeClr val="accent1"/>
          </a:solidFill>
          <a:ln/>
        </p:spPr>
        <p:txBody>
          <a:bodyPr/>
          <a:lstStyle/>
          <a:p>
            <a:endParaRPr lang="fr-FR"/>
          </a:p>
        </p:txBody>
      </p:sp>
      <p:sp>
        <p:nvSpPr>
          <p:cNvPr id="106" name="Shape 104"/>
          <p:cNvSpPr/>
          <p:nvPr/>
        </p:nvSpPr>
        <p:spPr>
          <a:xfrm>
            <a:off x="868680" y="5715000"/>
            <a:ext cx="91440" cy="91440"/>
          </a:xfrm>
          <a:prstGeom prst="rect">
            <a:avLst/>
          </a:prstGeom>
          <a:solidFill>
            <a:schemeClr val="accent2"/>
          </a:solidFill>
          <a:ln/>
        </p:spPr>
        <p:txBody>
          <a:bodyPr/>
          <a:lstStyle/>
          <a:p>
            <a:endParaRPr lang="fr-FR"/>
          </a:p>
        </p:txBody>
      </p:sp>
      <p:sp>
        <p:nvSpPr>
          <p:cNvPr id="107" name="Text 105"/>
          <p:cNvSpPr txBox="1"/>
          <p:nvPr/>
        </p:nvSpPr>
        <p:spPr>
          <a:xfrm>
            <a:off x="1097280" y="5495544"/>
            <a:ext cx="10271455" cy="530352"/>
          </a:xfrm>
          <a:prstGeom prst="rect">
            <a:avLst/>
          </a:prstGeom>
          <a:noFill/>
          <a:ln/>
        </p:spPr>
        <p:txBody>
          <a:bodyPr wrap="square" lIns="0" tIns="0" rIns="0" bIns="0" rtlCol="0" anchor="ctr"/>
          <a:lstStyle/>
          <a:p>
            <a:pPr marL="0" indent="0">
              <a:buNone/>
            </a:pPr>
            <a:r>
              <a:rPr lang="en-US" sz="1800" dirty="0">
                <a:solidFill>
                  <a:schemeClr val="tx1"/>
                </a:solidFill>
              </a:rPr>
              <a:t>Classical: </a:t>
            </a:r>
            <a:r>
              <a:rPr lang="en-US" sz="1800" b="1" dirty="0">
                <a:solidFill>
                  <a:schemeClr val="tx1"/>
                </a:solidFill>
              </a:rPr>
              <a:t>add hardware, add capacity.</a:t>
            </a:r>
            <a:r>
              <a:rPr lang="en-US" sz="1800" dirty="0">
                <a:solidFill>
                  <a:schemeClr val="tx1"/>
                </a:solidFill>
              </a:rPr>
              <a:t>      Quantum: </a:t>
            </a:r>
            <a:r>
              <a:rPr lang="en-US" sz="1800" b="1" dirty="0">
                <a:solidFill>
                  <a:schemeClr val="tx1"/>
                </a:solidFill>
              </a:rPr>
              <a:t>add one qubit, double it.</a:t>
            </a:r>
            <a:endParaRPr lang="en-US" sz="1800" dirty="0"/>
          </a:p>
        </p:txBody>
      </p:sp>
      <p:sp>
        <p:nvSpPr>
          <p:cNvPr id="108" name="Slide Number Placeholder 0"/>
          <p:cNvSpPr>
            <a:spLocks noGrp="1"/>
          </p:cNvSpPr>
          <p:nvPr>
            <p:ph type="sldNum" sz="quarter" idx="4294967295"/>
          </p:nvPr>
        </p:nvSpPr>
        <p:spPr>
          <a:xfrm>
            <a:off x="11094415" y="6327648"/>
            <a:ext cx="548640" cy="274320"/>
          </a:xfrm>
          <a:prstGeom prst="rect">
            <a:avLst/>
          </a:prstGeom>
          <a:extLst>
            <a:ext uri="{C572A759-6A51-4108-AA02-DFA0A04FC94B}">
              <ma14:wrappingTextBoxFlag xmlns:ma14="http://schemas.microsoft.com/office/mac/drawingml/2011/main" xmlns="" val="0"/>
            </a:ext>
          </a:extLst>
        </p:spPr>
        <p:txBody>
          <a:bodyPr lIns="0" tIns="0" rIns="0" bIns="0" anchor="ctr"/>
          <a:lstStyle>
            <a:lvl1pPr>
              <a:defRPr sz="1000">
                <a:solidFill>
                  <a:srgbClr val="9AA3BD"/>
                </a:solidFill>
              </a:defRPr>
            </a:lvl1pPr>
          </a:lstStyle>
          <a:p>
            <a:pPr algn="r"/>
            <a:fld id="{F7021451-1387-4CA6-816F-3879F97B5CBC}" type="slidenum">
              <a:rPr lang="en-US" b="0"/>
              <a:t>6</a:t>
            </a:fld>
            <a:endParaRPr lang="en-US"/>
          </a:p>
        </p:txBody>
      </p:sp>
      <p:pic>
        <p:nvPicPr>
          <p:cNvPr id="110" name="Image 109">
            <a:extLst>
              <a:ext uri="{FF2B5EF4-FFF2-40B4-BE49-F238E27FC236}">
                <a16:creationId xmlns:a16="http://schemas.microsoft.com/office/drawing/2014/main" id="{A6A4E643-48C1-4967-AB31-309E67B69FC7}"/>
              </a:ext>
            </a:extLst>
          </p:cNvPr>
          <p:cNvPicPr>
            <a:picLocks noChangeAspect="1"/>
          </p:cNvPicPr>
          <p:nvPr/>
        </p:nvPicPr>
        <p:blipFill>
          <a:blip r:embed="rId3"/>
          <a:stretch>
            <a:fillRect/>
          </a:stretch>
        </p:blipFill>
        <p:spPr>
          <a:xfrm>
            <a:off x="9724644" y="-443705"/>
            <a:ext cx="2437453" cy="1723866"/>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10"/>
          <p:cNvSpPr>
            <a:spLocks noGrp="1"/>
          </p:cNvSpPr>
          <p:nvPr>
            <p:ph type="title" idx="110" hasCustomPrompt="1"/>
          </p:nvPr>
        </p:nvSpPr>
        <p:spPr>
          <a:xfrm>
            <a:off x="548640" y="457200"/>
            <a:ext cx="11094415" cy="777240"/>
          </a:xfrm>
          <a:prstGeom prst="rect">
            <a:avLst/>
          </a:prstGeom>
          <a:noFill/>
          <a:ln/>
        </p:spPr>
        <p:txBody>
          <a:bodyPr wrap="square" lIns="0" tIns="0" rIns="0" bIns="0" rtlCol="0" anchor="t"/>
          <a:lstStyle/>
          <a:p>
            <a:pPr marL="0" indent="0" algn="l">
              <a:buNone/>
            </a:pPr>
            <a:r>
              <a:rPr lang="en-US" sz="3200" dirty="0">
                <a:solidFill>
                  <a:schemeClr val="tx1"/>
                </a:solidFill>
              </a:rPr>
              <a:t>Why quantum-accelerated multi-physics simulation</a:t>
            </a:r>
            <a:endParaRPr lang="en-US" sz="3200" dirty="0"/>
          </a:p>
        </p:txBody>
      </p:sp>
      <p:sp>
        <p:nvSpPr>
          <p:cNvPr id="3" name="Text 1"/>
          <p:cNvSpPr txBox="1"/>
          <p:nvPr/>
        </p:nvSpPr>
        <p:spPr>
          <a:xfrm>
            <a:off x="548640" y="1097280"/>
            <a:ext cx="11094415" cy="365760"/>
          </a:xfrm>
          <a:prstGeom prst="rect">
            <a:avLst/>
          </a:prstGeom>
          <a:noFill/>
          <a:ln/>
        </p:spPr>
        <p:txBody>
          <a:bodyPr wrap="square" lIns="0" tIns="0" rIns="0" bIns="0" rtlCol="0" anchor="t"/>
          <a:lstStyle/>
          <a:p>
            <a:pPr marL="0" indent="0">
              <a:buNone/>
            </a:pPr>
            <a:r>
              <a:rPr lang="en-US" sz="1500" dirty="0">
                <a:solidFill>
                  <a:schemeClr val="tx2"/>
                </a:solidFill>
              </a:rPr>
              <a:t>Differential equations describe almost every physical system; the hardest classes exceed classical compute</a:t>
            </a:r>
            <a:endParaRPr lang="en-US" sz="1500" dirty="0"/>
          </a:p>
        </p:txBody>
      </p:sp>
      <p:sp>
        <p:nvSpPr>
          <p:cNvPr id="4" name="Class 1"/>
          <p:cNvSpPr/>
          <p:nvPr/>
        </p:nvSpPr>
        <p:spPr>
          <a:xfrm>
            <a:off x="548640" y="1691640"/>
            <a:ext cx="3454298" cy="3246120"/>
          </a:xfrm>
          <a:prstGeom prst="roundRect">
            <a:avLst>
              <a:gd name="adj" fmla="val 4225"/>
            </a:avLst>
          </a:prstGeom>
          <a:solidFill>
            <a:schemeClr val="bg2"/>
          </a:solidFill>
          <a:ln w="9525">
            <a:solidFill>
              <a:schemeClr val="accent5"/>
            </a:solidFill>
            <a:prstDash val="solid"/>
          </a:ln>
        </p:spPr>
        <p:txBody>
          <a:bodyPr/>
          <a:lstStyle/>
          <a:p>
            <a:endParaRPr lang="fr-FR"/>
          </a:p>
        </p:txBody>
      </p:sp>
      <p:sp>
        <p:nvSpPr>
          <p:cNvPr id="5" name="Shape 3"/>
          <p:cNvSpPr/>
          <p:nvPr/>
        </p:nvSpPr>
        <p:spPr>
          <a:xfrm>
            <a:off x="822960" y="1993392"/>
            <a:ext cx="91440" cy="91440"/>
          </a:xfrm>
          <a:prstGeom prst="rect">
            <a:avLst/>
          </a:prstGeom>
          <a:solidFill>
            <a:schemeClr val="accent2"/>
          </a:solidFill>
          <a:ln/>
        </p:spPr>
        <p:txBody>
          <a:bodyPr/>
          <a:lstStyle/>
          <a:p>
            <a:endParaRPr lang="fr-FR"/>
          </a:p>
        </p:txBody>
      </p:sp>
      <p:sp>
        <p:nvSpPr>
          <p:cNvPr id="6" name="Text 4"/>
          <p:cNvSpPr txBox="1"/>
          <p:nvPr/>
        </p:nvSpPr>
        <p:spPr>
          <a:xfrm>
            <a:off x="1005840" y="1901952"/>
            <a:ext cx="2722778" cy="274320"/>
          </a:xfrm>
          <a:prstGeom prst="rect">
            <a:avLst/>
          </a:prstGeom>
          <a:noFill/>
          <a:ln/>
        </p:spPr>
        <p:txBody>
          <a:bodyPr wrap="square" lIns="0" tIns="0" rIns="0" bIns="0" rtlCol="0" anchor="ctr"/>
          <a:lstStyle/>
          <a:p>
            <a:pPr marL="0" indent="0">
              <a:buNone/>
            </a:pPr>
            <a:r>
              <a:rPr lang="en-US" sz="1100" b="1" kern="0" spc="200" dirty="0">
                <a:solidFill>
                  <a:schemeClr val="tx2"/>
                </a:solidFill>
              </a:rPr>
              <a:t>01  ·  LINEAR</a:t>
            </a:r>
            <a:endParaRPr lang="en-US" sz="1100" dirty="0"/>
          </a:p>
        </p:txBody>
      </p:sp>
      <p:sp>
        <p:nvSpPr>
          <p:cNvPr id="7" name="Text 5"/>
          <p:cNvSpPr txBox="1"/>
          <p:nvPr/>
        </p:nvSpPr>
        <p:spPr>
          <a:xfrm>
            <a:off x="822960" y="2240280"/>
            <a:ext cx="2905658" cy="365760"/>
          </a:xfrm>
          <a:prstGeom prst="rect">
            <a:avLst/>
          </a:prstGeom>
          <a:noFill/>
          <a:ln/>
        </p:spPr>
        <p:txBody>
          <a:bodyPr wrap="square" lIns="0" tIns="0" rIns="0" bIns="0" rtlCol="0" anchor="ctr"/>
          <a:lstStyle/>
          <a:p>
            <a:pPr marL="0" indent="0">
              <a:buNone/>
            </a:pPr>
            <a:r>
              <a:rPr lang="en-US" sz="1800" b="1" dirty="0">
                <a:solidFill>
                  <a:schemeClr val="tx1"/>
                </a:solidFill>
              </a:rPr>
              <a:t>Linear PDEs and ODEs</a:t>
            </a:r>
            <a:endParaRPr lang="en-US" sz="1800" dirty="0"/>
          </a:p>
        </p:txBody>
      </p:sp>
      <p:sp>
        <p:nvSpPr>
          <p:cNvPr id="8" name="Text 6"/>
          <p:cNvSpPr txBox="1"/>
          <p:nvPr/>
        </p:nvSpPr>
        <p:spPr>
          <a:xfrm>
            <a:off x="822960" y="2679192"/>
            <a:ext cx="2905658" cy="566928"/>
          </a:xfrm>
          <a:prstGeom prst="rect">
            <a:avLst/>
          </a:prstGeom>
          <a:noFill/>
          <a:ln/>
        </p:spPr>
        <p:txBody>
          <a:bodyPr wrap="square" lIns="0" tIns="0" rIns="0" bIns="0" rtlCol="0" anchor="t"/>
          <a:lstStyle/>
          <a:p>
            <a:pPr marL="0" indent="0">
              <a:buNone/>
            </a:pPr>
            <a:r>
              <a:rPr lang="en-US" sz="1200" b="1" dirty="0">
                <a:solidFill>
                  <a:schemeClr val="tx1"/>
                </a:solidFill>
              </a:rPr>
              <a:t>Equations  </a:t>
            </a:r>
            <a:r>
              <a:rPr lang="en-US" sz="1200" dirty="0">
                <a:solidFill>
                  <a:schemeClr val="tx2"/>
                </a:solidFill>
              </a:rPr>
              <a:t>Heat/diffusion, wave, Poisson, Maxwell, Schrödinger</a:t>
            </a:r>
            <a:endParaRPr lang="en-US" sz="1200" dirty="0"/>
          </a:p>
        </p:txBody>
      </p:sp>
      <p:sp>
        <p:nvSpPr>
          <p:cNvPr id="9" name="Text 7"/>
          <p:cNvSpPr txBox="1"/>
          <p:nvPr/>
        </p:nvSpPr>
        <p:spPr>
          <a:xfrm>
            <a:off x="822960" y="3291840"/>
            <a:ext cx="2905658" cy="566928"/>
          </a:xfrm>
          <a:prstGeom prst="rect">
            <a:avLst/>
          </a:prstGeom>
          <a:noFill/>
          <a:ln/>
        </p:spPr>
        <p:txBody>
          <a:bodyPr wrap="square" lIns="0" tIns="0" rIns="0" bIns="0" rtlCol="0" anchor="t"/>
          <a:lstStyle/>
          <a:p>
            <a:pPr marL="0" indent="0">
              <a:buNone/>
            </a:pPr>
            <a:r>
              <a:rPr lang="en-US" sz="1200" b="1" dirty="0">
                <a:solidFill>
                  <a:schemeClr val="tx1"/>
                </a:solidFill>
              </a:rPr>
              <a:t>Models  </a:t>
            </a:r>
            <a:r>
              <a:rPr lang="en-US" sz="1200" dirty="0">
                <a:solidFill>
                  <a:schemeClr val="tx2"/>
                </a:solidFill>
              </a:rPr>
              <a:t>Heat transfer, acoustics, electromagnetics, structural vibration, pressure solves</a:t>
            </a:r>
            <a:endParaRPr lang="en-US" sz="1200" dirty="0"/>
          </a:p>
        </p:txBody>
      </p:sp>
      <p:sp>
        <p:nvSpPr>
          <p:cNvPr id="10" name="Quantum route 1"/>
          <p:cNvSpPr/>
          <p:nvPr/>
        </p:nvSpPr>
        <p:spPr>
          <a:xfrm>
            <a:off x="822960" y="3977640"/>
            <a:ext cx="2905658" cy="777240"/>
          </a:xfrm>
          <a:prstGeom prst="roundRect">
            <a:avLst>
              <a:gd name="adj" fmla="val 9412"/>
            </a:avLst>
          </a:prstGeom>
          <a:solidFill>
            <a:schemeClr val="accent1"/>
          </a:solidFill>
          <a:ln/>
        </p:spPr>
        <p:txBody>
          <a:bodyPr/>
          <a:lstStyle/>
          <a:p>
            <a:endParaRPr lang="fr-FR"/>
          </a:p>
        </p:txBody>
      </p:sp>
      <p:sp>
        <p:nvSpPr>
          <p:cNvPr id="11" name="Text 9"/>
          <p:cNvSpPr txBox="1"/>
          <p:nvPr/>
        </p:nvSpPr>
        <p:spPr>
          <a:xfrm>
            <a:off x="960120" y="3977640"/>
            <a:ext cx="2631338" cy="777240"/>
          </a:xfrm>
          <a:prstGeom prst="rect">
            <a:avLst/>
          </a:prstGeom>
          <a:noFill/>
          <a:ln/>
        </p:spPr>
        <p:txBody>
          <a:bodyPr wrap="square" lIns="0" tIns="0" rIns="0" bIns="0" rtlCol="0" anchor="ctr"/>
          <a:lstStyle/>
          <a:p>
            <a:pPr marL="0" indent="0">
              <a:buNone/>
            </a:pPr>
            <a:r>
              <a:rPr lang="en-US" sz="1200" b="1" dirty="0">
                <a:solidFill>
                  <a:schemeClr val="tx1"/>
                </a:solidFill>
              </a:rPr>
              <a:t>Native fit: Hamiltonian simulation and quantum linear-system solvers</a:t>
            </a:r>
            <a:endParaRPr lang="en-US" sz="1200" dirty="0"/>
          </a:p>
        </p:txBody>
      </p:sp>
      <p:sp>
        <p:nvSpPr>
          <p:cNvPr id="12" name="Shape 10"/>
          <p:cNvSpPr/>
          <p:nvPr/>
        </p:nvSpPr>
        <p:spPr>
          <a:xfrm>
            <a:off x="4076090" y="3177540"/>
            <a:ext cx="219456" cy="274320"/>
          </a:xfrm>
          <a:prstGeom prst="rightArrow">
            <a:avLst/>
          </a:prstGeom>
          <a:solidFill>
            <a:schemeClr val="accent1"/>
          </a:solidFill>
          <a:ln/>
        </p:spPr>
        <p:txBody>
          <a:bodyPr/>
          <a:lstStyle/>
          <a:p>
            <a:endParaRPr lang="fr-FR"/>
          </a:p>
        </p:txBody>
      </p:sp>
      <p:sp>
        <p:nvSpPr>
          <p:cNvPr id="13" name="Class 2"/>
          <p:cNvSpPr/>
          <p:nvPr/>
        </p:nvSpPr>
        <p:spPr>
          <a:xfrm>
            <a:off x="4368698" y="1691640"/>
            <a:ext cx="3454298" cy="3246120"/>
          </a:xfrm>
          <a:prstGeom prst="roundRect">
            <a:avLst>
              <a:gd name="adj" fmla="val 4225"/>
            </a:avLst>
          </a:prstGeom>
          <a:solidFill>
            <a:schemeClr val="bg2"/>
          </a:solidFill>
          <a:ln w="12700">
            <a:solidFill>
              <a:schemeClr val="accent1"/>
            </a:solidFill>
            <a:prstDash val="solid"/>
          </a:ln>
        </p:spPr>
        <p:txBody>
          <a:bodyPr/>
          <a:lstStyle/>
          <a:p>
            <a:endParaRPr lang="fr-FR"/>
          </a:p>
        </p:txBody>
      </p:sp>
      <p:sp>
        <p:nvSpPr>
          <p:cNvPr id="14" name="Shape 12"/>
          <p:cNvSpPr/>
          <p:nvPr/>
        </p:nvSpPr>
        <p:spPr>
          <a:xfrm>
            <a:off x="4643018" y="1993392"/>
            <a:ext cx="91440" cy="91440"/>
          </a:xfrm>
          <a:prstGeom prst="rect">
            <a:avLst/>
          </a:prstGeom>
          <a:solidFill>
            <a:schemeClr val="accent2"/>
          </a:solidFill>
          <a:ln/>
        </p:spPr>
        <p:txBody>
          <a:bodyPr/>
          <a:lstStyle/>
          <a:p>
            <a:endParaRPr lang="fr-FR"/>
          </a:p>
        </p:txBody>
      </p:sp>
      <p:sp>
        <p:nvSpPr>
          <p:cNvPr id="15" name="Text 13"/>
          <p:cNvSpPr txBox="1"/>
          <p:nvPr/>
        </p:nvSpPr>
        <p:spPr>
          <a:xfrm>
            <a:off x="4825898" y="1901952"/>
            <a:ext cx="2722778" cy="274320"/>
          </a:xfrm>
          <a:prstGeom prst="rect">
            <a:avLst/>
          </a:prstGeom>
          <a:noFill/>
          <a:ln/>
        </p:spPr>
        <p:txBody>
          <a:bodyPr wrap="square" lIns="0" tIns="0" rIns="0" bIns="0" rtlCol="0" anchor="ctr"/>
          <a:lstStyle/>
          <a:p>
            <a:pPr marL="0" indent="0">
              <a:buNone/>
            </a:pPr>
            <a:r>
              <a:rPr lang="en-US" sz="1100" b="1" kern="0" spc="200" dirty="0">
                <a:solidFill>
                  <a:schemeClr val="tx2"/>
                </a:solidFill>
              </a:rPr>
              <a:t>02  ·  NONLINEAR</a:t>
            </a:r>
            <a:endParaRPr lang="en-US" sz="1100" dirty="0"/>
          </a:p>
        </p:txBody>
      </p:sp>
      <p:sp>
        <p:nvSpPr>
          <p:cNvPr id="16" name="Text 14"/>
          <p:cNvSpPr txBox="1"/>
          <p:nvPr/>
        </p:nvSpPr>
        <p:spPr>
          <a:xfrm>
            <a:off x="4643018" y="2240280"/>
            <a:ext cx="2905658" cy="365760"/>
          </a:xfrm>
          <a:prstGeom prst="rect">
            <a:avLst/>
          </a:prstGeom>
          <a:noFill/>
          <a:ln/>
        </p:spPr>
        <p:txBody>
          <a:bodyPr wrap="square" lIns="0" tIns="0" rIns="0" bIns="0" rtlCol="0" anchor="ctr"/>
          <a:lstStyle/>
          <a:p>
            <a:pPr marL="0" indent="0">
              <a:buNone/>
            </a:pPr>
            <a:r>
              <a:rPr lang="en-US" sz="1800" b="1" dirty="0">
                <a:solidFill>
                  <a:schemeClr val="tx1"/>
                </a:solidFill>
              </a:rPr>
              <a:t>Nonlinear PDEs</a:t>
            </a:r>
            <a:endParaRPr lang="en-US" sz="1800" dirty="0"/>
          </a:p>
        </p:txBody>
      </p:sp>
      <p:sp>
        <p:nvSpPr>
          <p:cNvPr id="17" name="Text 15"/>
          <p:cNvSpPr txBox="1"/>
          <p:nvPr/>
        </p:nvSpPr>
        <p:spPr>
          <a:xfrm>
            <a:off x="4643018" y="2679192"/>
            <a:ext cx="2905658" cy="566928"/>
          </a:xfrm>
          <a:prstGeom prst="rect">
            <a:avLst/>
          </a:prstGeom>
          <a:noFill/>
          <a:ln/>
        </p:spPr>
        <p:txBody>
          <a:bodyPr wrap="square" lIns="0" tIns="0" rIns="0" bIns="0" rtlCol="0" anchor="t"/>
          <a:lstStyle/>
          <a:p>
            <a:pPr marL="0" indent="0">
              <a:buNone/>
            </a:pPr>
            <a:r>
              <a:rPr lang="en-US" sz="1200" b="1" dirty="0">
                <a:solidFill>
                  <a:schemeClr val="tx1"/>
                </a:solidFill>
              </a:rPr>
              <a:t>Equations  </a:t>
            </a:r>
            <a:r>
              <a:rPr lang="en-US" sz="1200" dirty="0">
                <a:solidFill>
                  <a:schemeClr val="tx2"/>
                </a:solidFill>
              </a:rPr>
              <a:t>Navier–Stokes, Burgers, reaction–diffusion, nonlinear elasticity, MHD</a:t>
            </a:r>
            <a:endParaRPr lang="en-US" sz="1200" dirty="0"/>
          </a:p>
        </p:txBody>
      </p:sp>
      <p:sp>
        <p:nvSpPr>
          <p:cNvPr id="18" name="Text 16"/>
          <p:cNvSpPr txBox="1"/>
          <p:nvPr/>
        </p:nvSpPr>
        <p:spPr>
          <a:xfrm>
            <a:off x="4643018" y="3291840"/>
            <a:ext cx="2905658" cy="566928"/>
          </a:xfrm>
          <a:prstGeom prst="rect">
            <a:avLst/>
          </a:prstGeom>
          <a:noFill/>
          <a:ln/>
        </p:spPr>
        <p:txBody>
          <a:bodyPr wrap="square" lIns="0" tIns="0" rIns="0" bIns="0" rtlCol="0" anchor="t"/>
          <a:lstStyle/>
          <a:p>
            <a:pPr marL="0" indent="0">
              <a:buNone/>
            </a:pPr>
            <a:r>
              <a:rPr lang="en-US" sz="1200" b="1" dirty="0">
                <a:solidFill>
                  <a:schemeClr val="tx1"/>
                </a:solidFill>
              </a:rPr>
              <a:t>Models  </a:t>
            </a:r>
            <a:r>
              <a:rPr lang="en-US" sz="1200" dirty="0">
                <a:solidFill>
                  <a:schemeClr val="tx2"/>
                </a:solidFill>
              </a:rPr>
              <a:t>Turbulence, aerodynamics, combustion, fracture and large deformation, plasma</a:t>
            </a:r>
            <a:endParaRPr lang="en-US" sz="1200" dirty="0"/>
          </a:p>
        </p:txBody>
      </p:sp>
      <p:sp>
        <p:nvSpPr>
          <p:cNvPr id="19" name="Quantum route 2"/>
          <p:cNvSpPr/>
          <p:nvPr/>
        </p:nvSpPr>
        <p:spPr>
          <a:xfrm>
            <a:off x="4643018" y="3977640"/>
            <a:ext cx="2905658" cy="777240"/>
          </a:xfrm>
          <a:prstGeom prst="roundRect">
            <a:avLst>
              <a:gd name="adj" fmla="val 9412"/>
            </a:avLst>
          </a:prstGeom>
          <a:solidFill>
            <a:schemeClr val="accent1"/>
          </a:solidFill>
          <a:ln/>
        </p:spPr>
        <p:txBody>
          <a:bodyPr/>
          <a:lstStyle/>
          <a:p>
            <a:endParaRPr lang="fr-FR"/>
          </a:p>
        </p:txBody>
      </p:sp>
      <p:sp>
        <p:nvSpPr>
          <p:cNvPr id="20" name="Text 18"/>
          <p:cNvSpPr txBox="1"/>
          <p:nvPr/>
        </p:nvSpPr>
        <p:spPr>
          <a:xfrm>
            <a:off x="4780178" y="3977640"/>
            <a:ext cx="2631338" cy="777240"/>
          </a:xfrm>
          <a:prstGeom prst="rect">
            <a:avLst/>
          </a:prstGeom>
          <a:noFill/>
          <a:ln/>
        </p:spPr>
        <p:txBody>
          <a:bodyPr wrap="square" lIns="0" tIns="0" rIns="0" bIns="0" rtlCol="0" anchor="ctr"/>
          <a:lstStyle/>
          <a:p>
            <a:pPr marL="0" indent="0">
              <a:buNone/>
            </a:pPr>
            <a:r>
              <a:rPr lang="en-US" sz="1200" b="1" dirty="0">
                <a:solidFill>
                  <a:schemeClr val="tx1"/>
                </a:solidFill>
              </a:rPr>
              <a:t>Embed in a larger linear system: Carleman, Koopman–von Neumann, lattice Boltzmann</a:t>
            </a:r>
            <a:endParaRPr lang="en-US" sz="1200" dirty="0"/>
          </a:p>
        </p:txBody>
      </p:sp>
      <p:sp>
        <p:nvSpPr>
          <p:cNvPr id="21" name="Shape 19"/>
          <p:cNvSpPr/>
          <p:nvPr/>
        </p:nvSpPr>
        <p:spPr>
          <a:xfrm>
            <a:off x="7896149" y="3177540"/>
            <a:ext cx="219456" cy="274320"/>
          </a:xfrm>
          <a:prstGeom prst="rightArrow">
            <a:avLst/>
          </a:prstGeom>
          <a:solidFill>
            <a:schemeClr val="accent1"/>
          </a:solidFill>
          <a:ln/>
        </p:spPr>
        <p:txBody>
          <a:bodyPr/>
          <a:lstStyle/>
          <a:p>
            <a:endParaRPr lang="fr-FR"/>
          </a:p>
        </p:txBody>
      </p:sp>
      <p:sp>
        <p:nvSpPr>
          <p:cNvPr id="22" name="Class 3"/>
          <p:cNvSpPr/>
          <p:nvPr/>
        </p:nvSpPr>
        <p:spPr>
          <a:xfrm>
            <a:off x="8188757" y="1691640"/>
            <a:ext cx="3454298" cy="3246120"/>
          </a:xfrm>
          <a:prstGeom prst="roundRect">
            <a:avLst>
              <a:gd name="adj" fmla="val 4225"/>
            </a:avLst>
          </a:prstGeom>
          <a:solidFill>
            <a:schemeClr val="bg2"/>
          </a:solidFill>
          <a:ln w="9525">
            <a:solidFill>
              <a:schemeClr val="accent5"/>
            </a:solidFill>
            <a:prstDash val="solid"/>
          </a:ln>
        </p:spPr>
        <p:txBody>
          <a:bodyPr/>
          <a:lstStyle/>
          <a:p>
            <a:endParaRPr lang="fr-FR"/>
          </a:p>
        </p:txBody>
      </p:sp>
      <p:sp>
        <p:nvSpPr>
          <p:cNvPr id="23" name="Shape 21"/>
          <p:cNvSpPr/>
          <p:nvPr/>
        </p:nvSpPr>
        <p:spPr>
          <a:xfrm>
            <a:off x="8463077" y="1993392"/>
            <a:ext cx="91440" cy="91440"/>
          </a:xfrm>
          <a:prstGeom prst="rect">
            <a:avLst/>
          </a:prstGeom>
          <a:solidFill>
            <a:schemeClr val="accent2"/>
          </a:solidFill>
          <a:ln/>
        </p:spPr>
        <p:txBody>
          <a:bodyPr/>
          <a:lstStyle/>
          <a:p>
            <a:endParaRPr lang="fr-FR"/>
          </a:p>
        </p:txBody>
      </p:sp>
      <p:sp>
        <p:nvSpPr>
          <p:cNvPr id="24" name="Text 22"/>
          <p:cNvSpPr txBox="1"/>
          <p:nvPr/>
        </p:nvSpPr>
        <p:spPr>
          <a:xfrm>
            <a:off x="8645957" y="1901952"/>
            <a:ext cx="2722778" cy="274320"/>
          </a:xfrm>
          <a:prstGeom prst="rect">
            <a:avLst/>
          </a:prstGeom>
          <a:noFill/>
          <a:ln/>
        </p:spPr>
        <p:txBody>
          <a:bodyPr wrap="square" lIns="0" tIns="0" rIns="0" bIns="0" rtlCol="0" anchor="ctr"/>
          <a:lstStyle/>
          <a:p>
            <a:pPr marL="0" indent="0">
              <a:buNone/>
            </a:pPr>
            <a:r>
              <a:rPr lang="en-US" sz="1100" b="1" kern="0" spc="200" dirty="0">
                <a:solidFill>
                  <a:schemeClr val="tx2"/>
                </a:solidFill>
              </a:rPr>
              <a:t>03  ·  STOCHASTIC</a:t>
            </a:r>
            <a:endParaRPr lang="en-US" sz="1100" dirty="0"/>
          </a:p>
        </p:txBody>
      </p:sp>
      <p:sp>
        <p:nvSpPr>
          <p:cNvPr id="25" name="Text 23"/>
          <p:cNvSpPr txBox="1"/>
          <p:nvPr/>
        </p:nvSpPr>
        <p:spPr>
          <a:xfrm>
            <a:off x="8463077" y="2240280"/>
            <a:ext cx="2905658" cy="365760"/>
          </a:xfrm>
          <a:prstGeom prst="rect">
            <a:avLst/>
          </a:prstGeom>
          <a:noFill/>
          <a:ln/>
        </p:spPr>
        <p:txBody>
          <a:bodyPr wrap="square" lIns="0" tIns="0" rIns="0" bIns="0" rtlCol="0" anchor="ctr"/>
          <a:lstStyle/>
          <a:p>
            <a:pPr marL="0" indent="0">
              <a:buNone/>
            </a:pPr>
            <a:r>
              <a:rPr lang="en-US" sz="1800" b="1" dirty="0">
                <a:solidFill>
                  <a:schemeClr val="tx1"/>
                </a:solidFill>
              </a:rPr>
              <a:t>Stochastic DEs</a:t>
            </a:r>
            <a:endParaRPr lang="en-US" sz="1800" dirty="0"/>
          </a:p>
        </p:txBody>
      </p:sp>
      <p:sp>
        <p:nvSpPr>
          <p:cNvPr id="26" name="Text 24"/>
          <p:cNvSpPr txBox="1"/>
          <p:nvPr/>
        </p:nvSpPr>
        <p:spPr>
          <a:xfrm>
            <a:off x="8463077" y="2679192"/>
            <a:ext cx="2905658" cy="566928"/>
          </a:xfrm>
          <a:prstGeom prst="rect">
            <a:avLst/>
          </a:prstGeom>
          <a:noFill/>
          <a:ln/>
        </p:spPr>
        <p:txBody>
          <a:bodyPr wrap="square" lIns="0" tIns="0" rIns="0" bIns="0" rtlCol="0" anchor="t"/>
          <a:lstStyle/>
          <a:p>
            <a:pPr marL="0" indent="0">
              <a:buNone/>
            </a:pPr>
            <a:r>
              <a:rPr lang="en-US" sz="1200" b="1" dirty="0">
                <a:solidFill>
                  <a:schemeClr val="tx1"/>
                </a:solidFill>
              </a:rPr>
              <a:t>Equations  </a:t>
            </a:r>
            <a:r>
              <a:rPr lang="en-US" sz="1200" dirty="0">
                <a:solidFill>
                  <a:schemeClr val="tx2"/>
                </a:solidFill>
              </a:rPr>
              <a:t>Langevin, Fokker–Planck / Kolmogorov, stochastic Navier–Stokes, Black–Scholes</a:t>
            </a:r>
            <a:endParaRPr lang="en-US" sz="1200" dirty="0"/>
          </a:p>
        </p:txBody>
      </p:sp>
      <p:sp>
        <p:nvSpPr>
          <p:cNvPr id="27" name="Text 25"/>
          <p:cNvSpPr txBox="1"/>
          <p:nvPr/>
        </p:nvSpPr>
        <p:spPr>
          <a:xfrm>
            <a:off x="8463077" y="3291840"/>
            <a:ext cx="2905658" cy="566928"/>
          </a:xfrm>
          <a:prstGeom prst="rect">
            <a:avLst/>
          </a:prstGeom>
          <a:noFill/>
          <a:ln/>
        </p:spPr>
        <p:txBody>
          <a:bodyPr wrap="square" lIns="0" tIns="0" rIns="0" bIns="0" rtlCol="0" anchor="t"/>
          <a:lstStyle/>
          <a:p>
            <a:pPr marL="0" indent="0">
              <a:buNone/>
            </a:pPr>
            <a:r>
              <a:rPr lang="en-US" sz="1200" b="1" dirty="0">
                <a:solidFill>
                  <a:schemeClr val="tx1"/>
                </a:solidFill>
              </a:rPr>
              <a:t>Models  </a:t>
            </a:r>
            <a:r>
              <a:rPr lang="en-US" sz="1200" dirty="0">
                <a:solidFill>
                  <a:schemeClr val="tx2"/>
                </a:solidFill>
              </a:rPr>
              <a:t>Noisy turbulence, weather and climate ensembles, molecular dynamics, risk and uncertainty</a:t>
            </a:r>
            <a:endParaRPr lang="en-US" sz="1200" dirty="0"/>
          </a:p>
        </p:txBody>
      </p:sp>
      <p:sp>
        <p:nvSpPr>
          <p:cNvPr id="28" name="Quantum route 3"/>
          <p:cNvSpPr/>
          <p:nvPr/>
        </p:nvSpPr>
        <p:spPr>
          <a:xfrm>
            <a:off x="8463077" y="3977640"/>
            <a:ext cx="2905658" cy="777240"/>
          </a:xfrm>
          <a:prstGeom prst="roundRect">
            <a:avLst>
              <a:gd name="adj" fmla="val 9412"/>
            </a:avLst>
          </a:prstGeom>
          <a:solidFill>
            <a:schemeClr val="accent1"/>
          </a:solidFill>
          <a:ln/>
        </p:spPr>
        <p:txBody>
          <a:bodyPr/>
          <a:lstStyle/>
          <a:p>
            <a:endParaRPr lang="fr-FR"/>
          </a:p>
        </p:txBody>
      </p:sp>
      <p:sp>
        <p:nvSpPr>
          <p:cNvPr id="29" name="Text 27"/>
          <p:cNvSpPr txBox="1"/>
          <p:nvPr/>
        </p:nvSpPr>
        <p:spPr>
          <a:xfrm>
            <a:off x="8600237" y="3977640"/>
            <a:ext cx="2631338" cy="777240"/>
          </a:xfrm>
          <a:prstGeom prst="rect">
            <a:avLst/>
          </a:prstGeom>
          <a:noFill/>
          <a:ln/>
        </p:spPr>
        <p:txBody>
          <a:bodyPr wrap="square" lIns="0" tIns="0" rIns="0" bIns="0" rtlCol="0" anchor="ctr"/>
          <a:lstStyle/>
          <a:p>
            <a:pPr marL="0" indent="0">
              <a:buNone/>
            </a:pPr>
            <a:r>
              <a:rPr lang="en-US" sz="1200" b="1" dirty="0">
                <a:solidFill>
                  <a:schemeClr val="tx1"/>
                </a:solidFill>
              </a:rPr>
              <a:t>Kolmogorov embedding: linear in observable space; dissipation and noise keep it efficient</a:t>
            </a:r>
            <a:endParaRPr lang="en-US" sz="1200" dirty="0"/>
          </a:p>
        </p:txBody>
      </p:sp>
      <p:sp>
        <p:nvSpPr>
          <p:cNvPr id="30" name="Text 28"/>
          <p:cNvSpPr txBox="1"/>
          <p:nvPr/>
        </p:nvSpPr>
        <p:spPr>
          <a:xfrm>
            <a:off x="6156655" y="4983480"/>
            <a:ext cx="5486400" cy="256032"/>
          </a:xfrm>
          <a:prstGeom prst="rect">
            <a:avLst/>
          </a:prstGeom>
          <a:noFill/>
          <a:ln/>
        </p:spPr>
        <p:txBody>
          <a:bodyPr wrap="square" lIns="0" tIns="0" rIns="0" bIns="0" rtlCol="0" anchor="ctr"/>
          <a:lstStyle/>
          <a:p>
            <a:pPr marL="0" indent="0" algn="r">
              <a:buNone/>
            </a:pPr>
            <a:r>
              <a:rPr lang="en-US" sz="1100" i="1" dirty="0">
                <a:solidFill>
                  <a:schemeClr val="tx2"/>
                </a:solidFill>
              </a:rPr>
              <a:t>Increasing difficulty: nonlinearity, dissipation, noise  →</a:t>
            </a:r>
            <a:endParaRPr lang="en-US" sz="1100" dirty="0"/>
          </a:p>
        </p:txBody>
      </p:sp>
      <p:sp>
        <p:nvSpPr>
          <p:cNvPr id="31" name="Text 29"/>
          <p:cNvSpPr txBox="1"/>
          <p:nvPr/>
        </p:nvSpPr>
        <p:spPr>
          <a:xfrm>
            <a:off x="548640" y="5349240"/>
            <a:ext cx="1463040" cy="777240"/>
          </a:xfrm>
          <a:prstGeom prst="rect">
            <a:avLst/>
          </a:prstGeom>
          <a:noFill/>
          <a:ln/>
        </p:spPr>
        <p:txBody>
          <a:bodyPr wrap="square" lIns="0" tIns="0" rIns="0" bIns="0" rtlCol="0" anchor="ctr"/>
          <a:lstStyle/>
          <a:p>
            <a:pPr marL="0" indent="0">
              <a:buNone/>
            </a:pPr>
            <a:r>
              <a:rPr lang="en-US" sz="2600" b="1" dirty="0">
                <a:solidFill>
                  <a:schemeClr val="tx1"/>
                </a:solidFill>
              </a:rPr>
              <a:t>Re</a:t>
            </a:r>
            <a:r>
              <a:rPr lang="en-US" sz="2600" b="1" baseline="30000" dirty="0">
                <a:solidFill>
                  <a:schemeClr val="tx1"/>
                </a:solidFill>
              </a:rPr>
              <a:t>9/4</a:t>
            </a:r>
            <a:endParaRPr lang="en-US" sz="2600" dirty="0"/>
          </a:p>
        </p:txBody>
      </p:sp>
      <p:sp>
        <p:nvSpPr>
          <p:cNvPr id="32" name="Text 30"/>
          <p:cNvSpPr txBox="1"/>
          <p:nvPr/>
        </p:nvSpPr>
        <p:spPr>
          <a:xfrm>
            <a:off x="2057400" y="5349240"/>
            <a:ext cx="1945538" cy="777240"/>
          </a:xfrm>
          <a:prstGeom prst="rect">
            <a:avLst/>
          </a:prstGeom>
          <a:noFill/>
          <a:ln/>
        </p:spPr>
        <p:txBody>
          <a:bodyPr wrap="square" lIns="0" tIns="0" rIns="0" bIns="0" rtlCol="0" anchor="ctr"/>
          <a:lstStyle/>
          <a:p>
            <a:pPr marL="0" indent="0">
              <a:buNone/>
            </a:pPr>
            <a:r>
              <a:rPr lang="en-US" sz="1100" dirty="0">
                <a:solidFill>
                  <a:schemeClr val="tx2"/>
                </a:solidFill>
              </a:rPr>
              <a:t>Grid points to resolve 3D turbulence directly; cost explodes at industrial Reynolds numbers</a:t>
            </a:r>
            <a:endParaRPr lang="en-US" sz="1100" dirty="0"/>
          </a:p>
        </p:txBody>
      </p:sp>
      <p:sp>
        <p:nvSpPr>
          <p:cNvPr id="33" name="Text 31"/>
          <p:cNvSpPr txBox="1"/>
          <p:nvPr/>
        </p:nvSpPr>
        <p:spPr>
          <a:xfrm>
            <a:off x="4368698" y="5349240"/>
            <a:ext cx="1463040" cy="777240"/>
          </a:xfrm>
          <a:prstGeom prst="rect">
            <a:avLst/>
          </a:prstGeom>
          <a:noFill/>
          <a:ln/>
        </p:spPr>
        <p:txBody>
          <a:bodyPr wrap="square" lIns="0" tIns="0" rIns="0" bIns="0" rtlCol="0" anchor="ctr"/>
          <a:lstStyle/>
          <a:p>
            <a:pPr marL="0" indent="0">
              <a:buNone/>
            </a:pPr>
            <a:r>
              <a:rPr lang="en-US" sz="2600" b="1" dirty="0">
                <a:solidFill>
                  <a:schemeClr val="tx1"/>
                </a:solidFill>
              </a:rPr>
              <a:t>2</a:t>
            </a:r>
            <a:r>
              <a:rPr lang="en-US" sz="2600" b="1" baseline="30000" dirty="0">
                <a:solidFill>
                  <a:schemeClr val="tx1"/>
                </a:solidFill>
              </a:rPr>
              <a:t>n</a:t>
            </a:r>
            <a:r>
              <a:rPr lang="en-US" sz="2600" b="1" dirty="0">
                <a:solidFill>
                  <a:schemeClr val="tx1"/>
                </a:solidFill>
              </a:rPr>
              <a:t> → n</a:t>
            </a:r>
            <a:endParaRPr lang="en-US" sz="2600" dirty="0"/>
          </a:p>
        </p:txBody>
      </p:sp>
      <p:sp>
        <p:nvSpPr>
          <p:cNvPr id="34" name="Text 32"/>
          <p:cNvSpPr txBox="1"/>
          <p:nvPr/>
        </p:nvSpPr>
        <p:spPr>
          <a:xfrm>
            <a:off x="5877458" y="5349240"/>
            <a:ext cx="1945538" cy="777240"/>
          </a:xfrm>
          <a:prstGeom prst="rect">
            <a:avLst/>
          </a:prstGeom>
          <a:noFill/>
          <a:ln/>
        </p:spPr>
        <p:txBody>
          <a:bodyPr wrap="square" lIns="0" tIns="0" rIns="0" bIns="0" rtlCol="0" anchor="ctr"/>
          <a:lstStyle/>
          <a:p>
            <a:pPr marL="0" indent="0">
              <a:buNone/>
            </a:pPr>
            <a:r>
              <a:rPr lang="en-US" sz="1100" dirty="0">
                <a:solidFill>
                  <a:schemeClr val="tx2"/>
                </a:solidFill>
              </a:rPr>
              <a:t>Grid values stored in the amplitudes of only n qubits</a:t>
            </a:r>
            <a:endParaRPr lang="en-US" sz="1100" dirty="0"/>
          </a:p>
        </p:txBody>
      </p:sp>
      <p:sp>
        <p:nvSpPr>
          <p:cNvPr id="35" name="Text 33"/>
          <p:cNvSpPr txBox="1"/>
          <p:nvPr/>
        </p:nvSpPr>
        <p:spPr>
          <a:xfrm>
            <a:off x="8188757" y="5349240"/>
            <a:ext cx="1463040" cy="777240"/>
          </a:xfrm>
          <a:prstGeom prst="rect">
            <a:avLst/>
          </a:prstGeom>
          <a:noFill/>
          <a:ln/>
        </p:spPr>
        <p:txBody>
          <a:bodyPr wrap="square" lIns="0" tIns="0" rIns="0" bIns="0" rtlCol="0" anchor="ctr"/>
          <a:lstStyle/>
          <a:p>
            <a:pPr marL="0" indent="0">
              <a:buNone/>
            </a:pPr>
            <a:r>
              <a:rPr lang="en-US" sz="2000" b="1" dirty="0">
                <a:solidFill>
                  <a:schemeClr val="tx1"/>
                </a:solidFill>
              </a:rPr>
              <a:t>poly(log N)</a:t>
            </a:r>
            <a:endParaRPr lang="en-US" sz="2000" dirty="0"/>
          </a:p>
        </p:txBody>
      </p:sp>
      <p:sp>
        <p:nvSpPr>
          <p:cNvPr id="36" name="Text 34"/>
          <p:cNvSpPr txBox="1"/>
          <p:nvPr/>
        </p:nvSpPr>
        <p:spPr>
          <a:xfrm>
            <a:off x="9697517" y="5349240"/>
            <a:ext cx="1945538" cy="777240"/>
          </a:xfrm>
          <a:prstGeom prst="rect">
            <a:avLst/>
          </a:prstGeom>
          <a:noFill/>
          <a:ln/>
        </p:spPr>
        <p:txBody>
          <a:bodyPr wrap="square" lIns="0" tIns="0" rIns="0" bIns="0" rtlCol="0" anchor="ctr"/>
          <a:lstStyle/>
          <a:p>
            <a:pPr marL="0" indent="0">
              <a:buNone/>
            </a:pPr>
            <a:r>
              <a:rPr lang="en-US" sz="1100" dirty="0">
                <a:solidFill>
                  <a:schemeClr val="tx2"/>
                </a:solidFill>
              </a:rPr>
              <a:t>Cost of provable algorithms for observables, under stated conditions</a:t>
            </a:r>
            <a:endParaRPr lang="en-US" sz="1100" dirty="0"/>
          </a:p>
        </p:txBody>
      </p:sp>
      <p:sp>
        <p:nvSpPr>
          <p:cNvPr id="37" name="Slide Number Placeholder 0"/>
          <p:cNvSpPr>
            <a:spLocks noGrp="1"/>
          </p:cNvSpPr>
          <p:nvPr>
            <p:ph type="sldNum" sz="quarter" idx="4294967295"/>
          </p:nvPr>
        </p:nvSpPr>
        <p:spPr>
          <a:xfrm>
            <a:off x="11094415" y="6327648"/>
            <a:ext cx="548640" cy="274320"/>
          </a:xfrm>
          <a:prstGeom prst="rect">
            <a:avLst/>
          </a:prstGeom>
          <a:extLst>
            <a:ext uri="{C572A759-6A51-4108-AA02-DFA0A04FC94B}">
              <ma14:wrappingTextBoxFlag xmlns="" xmlns:ma14="http://schemas.microsoft.com/office/mac/drawingml/2011/main" val="0"/>
            </a:ext>
          </a:extLst>
        </p:spPr>
        <p:txBody>
          <a:bodyPr lIns="0" tIns="0" rIns="0" bIns="0" anchor="ctr"/>
          <a:lstStyle>
            <a:lvl1pPr>
              <a:defRPr sz="1000">
                <a:solidFill>
                  <a:srgbClr val="9AA3BD"/>
                </a:solidFill>
              </a:defRPr>
            </a:lvl1pPr>
          </a:lstStyle>
          <a:p>
            <a:pPr algn="r"/>
            <a:fld id="{F7021451-1387-4CA6-816F-3879F97B5CBC}" type="slidenum">
              <a:rPr lang="en-US" b="0"/>
              <a:t>7</a:t>
            </a:fld>
            <a:endParaRPr lang="en-US"/>
          </a:p>
        </p:txBody>
      </p:sp>
      <p:pic>
        <p:nvPicPr>
          <p:cNvPr id="39" name="Image 38">
            <a:extLst>
              <a:ext uri="{FF2B5EF4-FFF2-40B4-BE49-F238E27FC236}">
                <a16:creationId xmlns:a16="http://schemas.microsoft.com/office/drawing/2014/main" id="{B6351AB5-6441-FC5E-C04C-32FCEAC3CB50}"/>
              </a:ext>
            </a:extLst>
          </p:cNvPr>
          <p:cNvPicPr>
            <a:picLocks noChangeAspect="1"/>
          </p:cNvPicPr>
          <p:nvPr/>
        </p:nvPicPr>
        <p:blipFill>
          <a:blip r:embed="rId3"/>
          <a:stretch>
            <a:fillRect/>
          </a:stretch>
        </p:blipFill>
        <p:spPr>
          <a:xfrm>
            <a:off x="9724644" y="-443705"/>
            <a:ext cx="2437453" cy="1723866"/>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0"/>
          <p:cNvSpPr>
            <a:spLocks noGrp="1"/>
          </p:cNvSpPr>
          <p:nvPr>
            <p:ph type="title" idx="110" hasCustomPrompt="1"/>
          </p:nvPr>
        </p:nvSpPr>
        <p:spPr>
          <a:xfrm>
            <a:off x="548640" y="457200"/>
            <a:ext cx="11094415" cy="777240"/>
          </a:xfrm>
          <a:prstGeom prst="rect">
            <a:avLst/>
          </a:prstGeom>
          <a:noFill/>
          <a:ln/>
        </p:spPr>
        <p:txBody>
          <a:bodyPr wrap="square" lIns="0" tIns="0" rIns="0" bIns="0" rtlCol="0" anchor="t"/>
          <a:lstStyle/>
          <a:p>
            <a:pPr marL="0" indent="0" algn="l">
              <a:buNone/>
            </a:pPr>
            <a:r>
              <a:rPr lang="en-US" sz="3200" dirty="0">
                <a:solidFill>
                  <a:schemeClr val="tx1"/>
                </a:solidFill>
              </a:rPr>
              <a:t>Fluid turbulence</a:t>
            </a:r>
            <a:endParaRPr lang="en-US" sz="3200" dirty="0"/>
          </a:p>
        </p:txBody>
      </p:sp>
      <p:sp>
        <p:nvSpPr>
          <p:cNvPr id="3" name="Text 1"/>
          <p:cNvSpPr txBox="1"/>
          <p:nvPr/>
        </p:nvSpPr>
        <p:spPr>
          <a:xfrm>
            <a:off x="548640" y="1463040"/>
            <a:ext cx="5760720" cy="1097280"/>
          </a:xfrm>
          <a:prstGeom prst="rect">
            <a:avLst/>
          </a:prstGeom>
          <a:noFill/>
          <a:ln/>
        </p:spPr>
        <p:txBody>
          <a:bodyPr wrap="square" lIns="0" tIns="0" rIns="0" bIns="0" rtlCol="0" anchor="t"/>
          <a:lstStyle/>
          <a:p>
            <a:pPr marL="0" indent="0">
              <a:buNone/>
            </a:pPr>
            <a:r>
              <a:rPr lang="en-US" sz="2200" b="1" dirty="0">
                <a:solidFill>
                  <a:schemeClr val="tx1"/>
                </a:solidFill>
              </a:rPr>
              <a:t>Highly turbulent regimes are beyond the capacity of classical computers (also future generations)</a:t>
            </a:r>
            <a:endParaRPr lang="en-US" sz="2200" dirty="0"/>
          </a:p>
        </p:txBody>
      </p:sp>
      <p:sp>
        <p:nvSpPr>
          <p:cNvPr id="4" name="Text 2"/>
          <p:cNvSpPr txBox="1"/>
          <p:nvPr/>
        </p:nvSpPr>
        <p:spPr>
          <a:xfrm>
            <a:off x="548640" y="2651760"/>
            <a:ext cx="5760720" cy="640080"/>
          </a:xfrm>
          <a:prstGeom prst="rect">
            <a:avLst/>
          </a:prstGeom>
          <a:noFill/>
          <a:ln/>
        </p:spPr>
        <p:txBody>
          <a:bodyPr wrap="square" lIns="0" tIns="0" rIns="0" bIns="0" rtlCol="0" anchor="t"/>
          <a:lstStyle/>
          <a:p>
            <a:pPr marL="0" indent="0">
              <a:buNone/>
            </a:pPr>
            <a:r>
              <a:rPr lang="en-US" sz="1600" dirty="0">
                <a:solidFill>
                  <a:schemeClr val="tx2"/>
                </a:solidFill>
              </a:rPr>
              <a:t>Navier–Stokes turbulence is a challenging nonlinear dissipative system.</a:t>
            </a:r>
            <a:endParaRPr lang="en-US" sz="1600" dirty="0"/>
          </a:p>
        </p:txBody>
      </p:sp>
      <p:sp>
        <p:nvSpPr>
          <p:cNvPr id="5" name="Turbulence image tile"/>
          <p:cNvSpPr/>
          <p:nvPr/>
        </p:nvSpPr>
        <p:spPr>
          <a:xfrm>
            <a:off x="6675120" y="1463040"/>
            <a:ext cx="4967935" cy="2148840"/>
          </a:xfrm>
          <a:prstGeom prst="roundRect">
            <a:avLst>
              <a:gd name="adj" fmla="val 4255"/>
            </a:avLst>
          </a:prstGeom>
          <a:solidFill>
            <a:schemeClr val="tx1"/>
          </a:solidFill>
          <a:ln/>
        </p:spPr>
        <p:txBody>
          <a:bodyPr/>
          <a:lstStyle/>
          <a:p>
            <a:endParaRPr lang="fr-FR"/>
          </a:p>
        </p:txBody>
      </p:sp>
      <p:pic>
        <p:nvPicPr>
          <p:cNvPr id="6" name="Image 0" descr="Turbulent flow simulation around a vehicle body"/>
          <p:cNvPicPr>
            <a:picLocks noChangeAspect="1"/>
          </p:cNvPicPr>
          <p:nvPr/>
        </p:nvPicPr>
        <p:blipFill>
          <a:blip r:embed="rId3"/>
          <a:stretch>
            <a:fillRect/>
          </a:stretch>
        </p:blipFill>
        <p:spPr>
          <a:xfrm>
            <a:off x="6952183" y="1581912"/>
            <a:ext cx="4416552" cy="1911096"/>
          </a:xfrm>
          <a:prstGeom prst="rect">
            <a:avLst/>
          </a:prstGeom>
        </p:spPr>
      </p:pic>
      <p:sp>
        <p:nvSpPr>
          <p:cNvPr id="7" name="Scale 1"/>
          <p:cNvSpPr/>
          <p:nvPr/>
        </p:nvSpPr>
        <p:spPr>
          <a:xfrm>
            <a:off x="548640" y="3931920"/>
            <a:ext cx="3454298" cy="2011680"/>
          </a:xfrm>
          <a:prstGeom prst="roundRect">
            <a:avLst>
              <a:gd name="adj" fmla="val 6818"/>
            </a:avLst>
          </a:prstGeom>
          <a:solidFill>
            <a:schemeClr val="bg2"/>
          </a:solidFill>
          <a:ln w="12700">
            <a:solidFill>
              <a:schemeClr val="accent1"/>
            </a:solidFill>
            <a:prstDash val="solid"/>
          </a:ln>
        </p:spPr>
        <p:txBody>
          <a:bodyPr/>
          <a:lstStyle/>
          <a:p>
            <a:endParaRPr lang="fr-FR"/>
          </a:p>
        </p:txBody>
      </p:sp>
      <p:sp>
        <p:nvSpPr>
          <p:cNvPr id="8" name="Text 5"/>
          <p:cNvSpPr txBox="1"/>
          <p:nvPr/>
        </p:nvSpPr>
        <p:spPr>
          <a:xfrm>
            <a:off x="868680" y="4206240"/>
            <a:ext cx="2814218" cy="822960"/>
          </a:xfrm>
          <a:prstGeom prst="rect">
            <a:avLst/>
          </a:prstGeom>
          <a:noFill/>
          <a:ln/>
        </p:spPr>
        <p:txBody>
          <a:bodyPr wrap="square" lIns="0" tIns="0" rIns="0" bIns="0" rtlCol="0" anchor="ctr"/>
          <a:lstStyle/>
          <a:p>
            <a:pPr marL="0" indent="0">
              <a:buNone/>
            </a:pPr>
            <a:r>
              <a:rPr lang="en-US" sz="4000" b="1" dirty="0">
                <a:solidFill>
                  <a:schemeClr val="tx1"/>
                </a:solidFill>
              </a:rPr>
              <a:t>Re ~ 10</a:t>
            </a:r>
            <a:r>
              <a:rPr lang="en-US" sz="4000" b="1" baseline="30000" dirty="0">
                <a:solidFill>
                  <a:schemeClr val="tx1"/>
                </a:solidFill>
              </a:rPr>
              <a:t>8</a:t>
            </a:r>
            <a:endParaRPr lang="en-US" sz="4000" dirty="0"/>
          </a:p>
        </p:txBody>
      </p:sp>
      <p:sp>
        <p:nvSpPr>
          <p:cNvPr id="9" name="Shape 6"/>
          <p:cNvSpPr/>
          <p:nvPr/>
        </p:nvSpPr>
        <p:spPr>
          <a:xfrm>
            <a:off x="886968" y="5276088"/>
            <a:ext cx="91440" cy="91440"/>
          </a:xfrm>
          <a:prstGeom prst="rect">
            <a:avLst/>
          </a:prstGeom>
          <a:solidFill>
            <a:schemeClr val="accent2"/>
          </a:solidFill>
          <a:ln/>
        </p:spPr>
        <p:txBody>
          <a:bodyPr/>
          <a:lstStyle/>
          <a:p>
            <a:endParaRPr lang="fr-FR"/>
          </a:p>
        </p:txBody>
      </p:sp>
      <p:sp>
        <p:nvSpPr>
          <p:cNvPr id="10" name="Text 7"/>
          <p:cNvSpPr txBox="1"/>
          <p:nvPr/>
        </p:nvSpPr>
        <p:spPr>
          <a:xfrm>
            <a:off x="1097280" y="5166360"/>
            <a:ext cx="2585618" cy="548640"/>
          </a:xfrm>
          <a:prstGeom prst="rect">
            <a:avLst/>
          </a:prstGeom>
          <a:noFill/>
          <a:ln/>
        </p:spPr>
        <p:txBody>
          <a:bodyPr wrap="square" lIns="0" tIns="0" rIns="0" bIns="0" rtlCol="0" anchor="t"/>
          <a:lstStyle/>
          <a:p>
            <a:pPr marL="0" indent="0">
              <a:buNone/>
            </a:pPr>
            <a:r>
              <a:rPr lang="en-US" sz="1400" dirty="0">
                <a:solidFill>
                  <a:schemeClr val="tx2"/>
                </a:solidFill>
              </a:rPr>
              <a:t>Range of scales accurate simulations must resolve</a:t>
            </a:r>
            <a:endParaRPr lang="en-US" sz="1400" dirty="0"/>
          </a:p>
        </p:txBody>
      </p:sp>
      <p:sp>
        <p:nvSpPr>
          <p:cNvPr id="11" name="Scale 2"/>
          <p:cNvSpPr/>
          <p:nvPr/>
        </p:nvSpPr>
        <p:spPr>
          <a:xfrm>
            <a:off x="4368698" y="3931920"/>
            <a:ext cx="3454298" cy="2011680"/>
          </a:xfrm>
          <a:prstGeom prst="roundRect">
            <a:avLst>
              <a:gd name="adj" fmla="val 6818"/>
            </a:avLst>
          </a:prstGeom>
          <a:solidFill>
            <a:schemeClr val="bg2"/>
          </a:solidFill>
          <a:ln w="9525">
            <a:solidFill>
              <a:schemeClr val="accent5"/>
            </a:solidFill>
            <a:prstDash val="solid"/>
          </a:ln>
        </p:spPr>
        <p:txBody>
          <a:bodyPr/>
          <a:lstStyle/>
          <a:p>
            <a:endParaRPr lang="fr-FR"/>
          </a:p>
        </p:txBody>
      </p:sp>
      <p:sp>
        <p:nvSpPr>
          <p:cNvPr id="12" name="Text 9"/>
          <p:cNvSpPr txBox="1"/>
          <p:nvPr/>
        </p:nvSpPr>
        <p:spPr>
          <a:xfrm>
            <a:off x="4688738" y="4206240"/>
            <a:ext cx="2814218" cy="822960"/>
          </a:xfrm>
          <a:prstGeom prst="rect">
            <a:avLst/>
          </a:prstGeom>
          <a:noFill/>
          <a:ln/>
        </p:spPr>
        <p:txBody>
          <a:bodyPr wrap="square" lIns="0" tIns="0" rIns="0" bIns="0" rtlCol="0" anchor="ctr"/>
          <a:lstStyle/>
          <a:p>
            <a:pPr marL="0" indent="0">
              <a:buNone/>
            </a:pPr>
            <a:r>
              <a:rPr lang="en-US" sz="4000" b="1" dirty="0">
                <a:solidFill>
                  <a:schemeClr val="tx1"/>
                </a:solidFill>
              </a:rPr>
              <a:t>Re ~ 10</a:t>
            </a:r>
            <a:r>
              <a:rPr lang="en-US" sz="4000" b="1" baseline="30000" dirty="0">
                <a:solidFill>
                  <a:schemeClr val="tx1"/>
                </a:solidFill>
              </a:rPr>
              <a:t>4</a:t>
            </a:r>
            <a:endParaRPr lang="en-US" sz="4000" dirty="0"/>
          </a:p>
        </p:txBody>
      </p:sp>
      <p:sp>
        <p:nvSpPr>
          <p:cNvPr id="13" name="Shape 10"/>
          <p:cNvSpPr/>
          <p:nvPr/>
        </p:nvSpPr>
        <p:spPr>
          <a:xfrm>
            <a:off x="4707026" y="5276088"/>
            <a:ext cx="91440" cy="91440"/>
          </a:xfrm>
          <a:prstGeom prst="rect">
            <a:avLst/>
          </a:prstGeom>
          <a:solidFill>
            <a:schemeClr val="accent2"/>
          </a:solidFill>
          <a:ln/>
        </p:spPr>
        <p:txBody>
          <a:bodyPr/>
          <a:lstStyle/>
          <a:p>
            <a:endParaRPr lang="fr-FR"/>
          </a:p>
        </p:txBody>
      </p:sp>
      <p:sp>
        <p:nvSpPr>
          <p:cNvPr id="14" name="Text 11"/>
          <p:cNvSpPr txBox="1"/>
          <p:nvPr/>
        </p:nvSpPr>
        <p:spPr>
          <a:xfrm>
            <a:off x="4917338" y="5166360"/>
            <a:ext cx="2585618" cy="548640"/>
          </a:xfrm>
          <a:prstGeom prst="rect">
            <a:avLst/>
          </a:prstGeom>
          <a:noFill/>
          <a:ln/>
        </p:spPr>
        <p:txBody>
          <a:bodyPr wrap="square" lIns="0" tIns="0" rIns="0" bIns="0" rtlCol="0" anchor="t"/>
          <a:lstStyle/>
          <a:p>
            <a:pPr marL="0" indent="0">
              <a:buNone/>
            </a:pPr>
            <a:r>
              <a:rPr lang="en-US" sz="1400" dirty="0">
                <a:solidFill>
                  <a:schemeClr val="tx2"/>
                </a:solidFill>
              </a:rPr>
              <a:t>What current methods reach</a:t>
            </a:r>
            <a:endParaRPr lang="en-US" sz="1400" dirty="0"/>
          </a:p>
        </p:txBody>
      </p:sp>
      <p:sp>
        <p:nvSpPr>
          <p:cNvPr id="15" name="Scale 3"/>
          <p:cNvSpPr/>
          <p:nvPr/>
        </p:nvSpPr>
        <p:spPr>
          <a:xfrm>
            <a:off x="8188757" y="3931920"/>
            <a:ext cx="3454298" cy="2011680"/>
          </a:xfrm>
          <a:prstGeom prst="roundRect">
            <a:avLst>
              <a:gd name="adj" fmla="val 6818"/>
            </a:avLst>
          </a:prstGeom>
          <a:solidFill>
            <a:schemeClr val="bg2"/>
          </a:solidFill>
          <a:ln w="9525">
            <a:solidFill>
              <a:schemeClr val="accent5"/>
            </a:solidFill>
            <a:prstDash val="solid"/>
          </a:ln>
        </p:spPr>
        <p:txBody>
          <a:bodyPr/>
          <a:lstStyle/>
          <a:p>
            <a:endParaRPr lang="fr-FR"/>
          </a:p>
        </p:txBody>
      </p:sp>
      <p:sp>
        <p:nvSpPr>
          <p:cNvPr id="16" name="Text 13"/>
          <p:cNvSpPr txBox="1"/>
          <p:nvPr/>
        </p:nvSpPr>
        <p:spPr>
          <a:xfrm>
            <a:off x="8508797" y="4206240"/>
            <a:ext cx="2814218" cy="822960"/>
          </a:xfrm>
          <a:prstGeom prst="rect">
            <a:avLst/>
          </a:prstGeom>
          <a:noFill/>
          <a:ln/>
        </p:spPr>
        <p:txBody>
          <a:bodyPr wrap="square" lIns="0" tIns="0" rIns="0" bIns="0" rtlCol="0" anchor="ctr"/>
          <a:lstStyle/>
          <a:p>
            <a:pPr marL="0" indent="0">
              <a:buNone/>
            </a:pPr>
            <a:r>
              <a:rPr lang="en-US" sz="4000" b="1" dirty="0">
                <a:solidFill>
                  <a:schemeClr val="tx1"/>
                </a:solidFill>
              </a:rPr>
              <a:t>N ∝ Re</a:t>
            </a:r>
            <a:r>
              <a:rPr lang="en-US" sz="4000" b="1" baseline="30000" dirty="0">
                <a:solidFill>
                  <a:schemeClr val="tx1"/>
                </a:solidFill>
              </a:rPr>
              <a:t>2</a:t>
            </a:r>
            <a:endParaRPr lang="en-US" sz="4000" dirty="0"/>
          </a:p>
        </p:txBody>
      </p:sp>
      <p:sp>
        <p:nvSpPr>
          <p:cNvPr id="17" name="Shape 14"/>
          <p:cNvSpPr/>
          <p:nvPr/>
        </p:nvSpPr>
        <p:spPr>
          <a:xfrm>
            <a:off x="8527085" y="5276088"/>
            <a:ext cx="91440" cy="91440"/>
          </a:xfrm>
          <a:prstGeom prst="rect">
            <a:avLst/>
          </a:prstGeom>
          <a:solidFill>
            <a:schemeClr val="accent2"/>
          </a:solidFill>
          <a:ln/>
        </p:spPr>
        <p:txBody>
          <a:bodyPr/>
          <a:lstStyle/>
          <a:p>
            <a:endParaRPr lang="fr-FR"/>
          </a:p>
        </p:txBody>
      </p:sp>
      <p:sp>
        <p:nvSpPr>
          <p:cNvPr id="18" name="Text 15"/>
          <p:cNvSpPr txBox="1"/>
          <p:nvPr/>
        </p:nvSpPr>
        <p:spPr>
          <a:xfrm>
            <a:off x="8737397" y="5166360"/>
            <a:ext cx="2585618" cy="548640"/>
          </a:xfrm>
          <a:prstGeom prst="rect">
            <a:avLst/>
          </a:prstGeom>
          <a:noFill/>
          <a:ln/>
        </p:spPr>
        <p:txBody>
          <a:bodyPr wrap="square" lIns="0" tIns="0" rIns="0" bIns="0" rtlCol="0" anchor="t"/>
          <a:lstStyle/>
          <a:p>
            <a:pPr marL="0" indent="0">
              <a:buNone/>
            </a:pPr>
            <a:r>
              <a:rPr lang="en-US" sz="1400" dirty="0">
                <a:solidFill>
                  <a:schemeClr val="tx2"/>
                </a:solidFill>
              </a:rPr>
              <a:t>Approximate scaling of the number of degrees of freedom</a:t>
            </a:r>
            <a:endParaRPr lang="en-US" sz="1400" dirty="0"/>
          </a:p>
        </p:txBody>
      </p:sp>
      <p:sp>
        <p:nvSpPr>
          <p:cNvPr id="25" name="Slide Number Placeholder 0"/>
          <p:cNvSpPr>
            <a:spLocks noGrp="1"/>
          </p:cNvSpPr>
          <p:nvPr>
            <p:ph type="sldNum" sz="quarter" idx="4294967295"/>
          </p:nvPr>
        </p:nvSpPr>
        <p:spPr>
          <a:xfrm>
            <a:off x="11094415" y="6327648"/>
            <a:ext cx="548640" cy="274320"/>
          </a:xfrm>
          <a:prstGeom prst="rect">
            <a:avLst/>
          </a:prstGeom>
          <a:extLst>
            <a:ext uri="{C572A759-6A51-4108-AA02-DFA0A04FC94B}">
              <ma14:wrappingTextBoxFlag xmlns:ma14="http://schemas.microsoft.com/office/mac/drawingml/2011/main" xmlns="" val="0"/>
            </a:ext>
          </a:extLst>
        </p:spPr>
        <p:txBody>
          <a:bodyPr lIns="0" tIns="0" rIns="0" bIns="0" anchor="ctr"/>
          <a:lstStyle>
            <a:lvl1pPr>
              <a:defRPr sz="1000">
                <a:solidFill>
                  <a:srgbClr val="9AA3BD"/>
                </a:solidFill>
              </a:defRPr>
            </a:lvl1pPr>
          </a:lstStyle>
          <a:p>
            <a:pPr algn="r"/>
            <a:fld id="{F7021451-1387-4CA6-816F-3879F97B5CBC}" type="slidenum">
              <a:rPr lang="en-US" b="0"/>
              <a:t>8</a:t>
            </a:fld>
            <a:endParaRPr lang="en-US"/>
          </a:p>
        </p:txBody>
      </p:sp>
      <p:pic>
        <p:nvPicPr>
          <p:cNvPr id="20" name="Image 19">
            <a:extLst>
              <a:ext uri="{FF2B5EF4-FFF2-40B4-BE49-F238E27FC236}">
                <a16:creationId xmlns:a16="http://schemas.microsoft.com/office/drawing/2014/main" id="{1AD0BC07-08FB-80B3-46AD-5C02820D2F7D}"/>
              </a:ext>
            </a:extLst>
          </p:cNvPr>
          <p:cNvPicPr>
            <a:picLocks noChangeAspect="1"/>
          </p:cNvPicPr>
          <p:nvPr/>
        </p:nvPicPr>
        <p:blipFill>
          <a:blip r:embed="rId4"/>
          <a:stretch>
            <a:fillRect/>
          </a:stretch>
        </p:blipFill>
        <p:spPr>
          <a:xfrm>
            <a:off x="9724644" y="-443705"/>
            <a:ext cx="2437453" cy="1723866"/>
          </a:xfrm>
          <a:prstGeom prst="rect">
            <a:avLst/>
          </a:prstGeom>
        </p:spPr>
      </p:pic>
      <p:sp>
        <p:nvSpPr>
          <p:cNvPr id="26" name="object 11">
            <a:extLst>
              <a:ext uri="{FF2B5EF4-FFF2-40B4-BE49-F238E27FC236}">
                <a16:creationId xmlns:a16="http://schemas.microsoft.com/office/drawing/2014/main" id="{0E7ACDAE-E2F3-CFAD-1312-F9D5F8DC8DBA}"/>
              </a:ext>
            </a:extLst>
          </p:cNvPr>
          <p:cNvSpPr/>
          <p:nvPr/>
        </p:nvSpPr>
        <p:spPr bwMode="auto">
          <a:xfrm>
            <a:off x="6952183" y="1581912"/>
            <a:ext cx="4416552" cy="1911096"/>
          </a:xfrm>
          <a:custGeom>
            <a:avLst/>
            <a:gdLst/>
            <a:ahLst/>
            <a:cxnLst/>
            <a:rect l="l" t="t" r="r" b="b"/>
            <a:pathLst>
              <a:path w="2877819" h="6055359" extrusionOk="0">
                <a:moveTo>
                  <a:pt x="2827528" y="0"/>
                </a:moveTo>
                <a:lnTo>
                  <a:pt x="49784" y="0"/>
                </a:lnTo>
                <a:lnTo>
                  <a:pt x="40018" y="960"/>
                </a:lnTo>
                <a:lnTo>
                  <a:pt x="8358" y="22155"/>
                </a:lnTo>
                <a:lnTo>
                  <a:pt x="0" y="49783"/>
                </a:lnTo>
                <a:lnTo>
                  <a:pt x="0" y="6005067"/>
                </a:lnTo>
                <a:lnTo>
                  <a:pt x="22155" y="6046493"/>
                </a:lnTo>
                <a:lnTo>
                  <a:pt x="49784" y="6054851"/>
                </a:lnTo>
                <a:lnTo>
                  <a:pt x="2827528" y="6054851"/>
                </a:lnTo>
                <a:lnTo>
                  <a:pt x="2868953" y="6032642"/>
                </a:lnTo>
                <a:lnTo>
                  <a:pt x="2877311" y="6005067"/>
                </a:lnTo>
                <a:lnTo>
                  <a:pt x="2877311" y="49783"/>
                </a:lnTo>
                <a:lnTo>
                  <a:pt x="2855156" y="8358"/>
                </a:lnTo>
                <a:lnTo>
                  <a:pt x="2827528" y="0"/>
                </a:lnTo>
                <a:close/>
              </a:path>
            </a:pathLst>
          </a:custGeom>
          <a:solidFill>
            <a:srgbClr val="353E77">
              <a:alpha val="12000"/>
            </a:srgbClr>
          </a:solidFill>
        </p:spPr>
        <p:txBody>
          <a:bodyPr wrap="square" lIns="0" tIns="0" rIns="0" bIns="0" rtlCol="0"/>
          <a:lstStyle/>
          <a:p>
            <a:pPr>
              <a:defRPr/>
            </a:pPr>
            <a:endParaRPr sz="120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10"/>
          <p:cNvSpPr>
            <a:spLocks noGrp="1"/>
          </p:cNvSpPr>
          <p:nvPr>
            <p:ph type="title" idx="110" hasCustomPrompt="1"/>
          </p:nvPr>
        </p:nvSpPr>
        <p:spPr>
          <a:xfrm>
            <a:off x="548640" y="457200"/>
            <a:ext cx="11094415" cy="777240"/>
          </a:xfrm>
          <a:prstGeom prst="rect">
            <a:avLst/>
          </a:prstGeom>
          <a:noFill/>
          <a:ln/>
        </p:spPr>
        <p:txBody>
          <a:bodyPr wrap="square" lIns="0" tIns="0" rIns="0" bIns="0" rtlCol="0" anchor="t"/>
          <a:lstStyle/>
          <a:p>
            <a:pPr marL="0" indent="0" algn="l">
              <a:buNone/>
            </a:pPr>
            <a:r>
              <a:rPr lang="en-US" sz="3200" dirty="0">
                <a:solidFill>
                  <a:schemeClr val="tx1"/>
                </a:solidFill>
              </a:rPr>
              <a:t>What is happening in quantum-based simulation</a:t>
            </a:r>
            <a:endParaRPr lang="en-US" sz="3200" dirty="0"/>
          </a:p>
        </p:txBody>
      </p:sp>
      <p:sp>
        <p:nvSpPr>
          <p:cNvPr id="3" name="Text 1"/>
          <p:cNvSpPr txBox="1"/>
          <p:nvPr/>
        </p:nvSpPr>
        <p:spPr>
          <a:xfrm>
            <a:off x="548640" y="1097280"/>
            <a:ext cx="11094415" cy="365760"/>
          </a:xfrm>
          <a:prstGeom prst="rect">
            <a:avLst/>
          </a:prstGeom>
          <a:noFill/>
          <a:ln/>
        </p:spPr>
        <p:txBody>
          <a:bodyPr wrap="square" lIns="0" tIns="0" rIns="0" bIns="0" rtlCol="0" anchor="t"/>
          <a:lstStyle/>
          <a:p>
            <a:pPr marL="0" indent="0">
              <a:buNone/>
            </a:pPr>
            <a:r>
              <a:rPr lang="en-US" sz="1600" dirty="0">
                <a:solidFill>
                  <a:schemeClr val="tx2"/>
                </a:solidFill>
              </a:rPr>
              <a:t>CFD and partial differential equations on real quantum computers</a:t>
            </a:r>
            <a:endParaRPr lang="en-US" sz="1600" dirty="0"/>
          </a:p>
        </p:txBody>
      </p:sp>
      <p:sp>
        <p:nvSpPr>
          <p:cNvPr id="4" name="Milestone 1"/>
          <p:cNvSpPr/>
          <p:nvPr/>
        </p:nvSpPr>
        <p:spPr>
          <a:xfrm>
            <a:off x="548640" y="1600200"/>
            <a:ext cx="6858000" cy="1371600"/>
          </a:xfrm>
          <a:prstGeom prst="roundRect">
            <a:avLst>
              <a:gd name="adj" fmla="val 10000"/>
            </a:avLst>
          </a:prstGeom>
          <a:solidFill>
            <a:schemeClr val="bg2"/>
          </a:solidFill>
          <a:ln w="9525">
            <a:solidFill>
              <a:schemeClr val="accent5"/>
            </a:solidFill>
            <a:prstDash val="solid"/>
          </a:ln>
        </p:spPr>
        <p:txBody>
          <a:bodyPr/>
          <a:lstStyle/>
          <a:p>
            <a:endParaRPr lang="fr-FR"/>
          </a:p>
        </p:txBody>
      </p:sp>
      <p:sp>
        <p:nvSpPr>
          <p:cNvPr id="5" name="Text 3"/>
          <p:cNvSpPr txBox="1"/>
          <p:nvPr/>
        </p:nvSpPr>
        <p:spPr>
          <a:xfrm>
            <a:off x="822960" y="1783080"/>
            <a:ext cx="457200" cy="274320"/>
          </a:xfrm>
          <a:prstGeom prst="rect">
            <a:avLst/>
          </a:prstGeom>
          <a:noFill/>
          <a:ln/>
        </p:spPr>
        <p:txBody>
          <a:bodyPr wrap="square" lIns="0" tIns="0" rIns="0" bIns="0" rtlCol="0" anchor="ctr"/>
          <a:lstStyle/>
          <a:p>
            <a:pPr marL="0" indent="0">
              <a:buNone/>
            </a:pPr>
            <a:r>
              <a:rPr lang="en-US" sz="1400" b="1" dirty="0">
                <a:solidFill>
                  <a:schemeClr val="accent2"/>
                </a:solidFill>
              </a:rPr>
              <a:t>01</a:t>
            </a:r>
            <a:endParaRPr lang="en-US" sz="1400" dirty="0"/>
          </a:p>
        </p:txBody>
      </p:sp>
      <p:sp>
        <p:nvSpPr>
          <p:cNvPr id="6" name="Text 4"/>
          <p:cNvSpPr txBox="1"/>
          <p:nvPr/>
        </p:nvSpPr>
        <p:spPr>
          <a:xfrm>
            <a:off x="1325880" y="1783080"/>
            <a:ext cx="5852160" cy="274320"/>
          </a:xfrm>
          <a:prstGeom prst="rect">
            <a:avLst/>
          </a:prstGeom>
          <a:noFill/>
          <a:ln/>
        </p:spPr>
        <p:txBody>
          <a:bodyPr wrap="square" lIns="0" tIns="0" rIns="0" bIns="0" rtlCol="0" anchor="t"/>
          <a:lstStyle/>
          <a:p>
            <a:pPr marL="0" indent="0">
              <a:buNone/>
            </a:pPr>
            <a:r>
              <a:rPr lang="en-US" sz="1500" b="1" dirty="0">
                <a:solidFill>
                  <a:schemeClr val="tx1"/>
                </a:solidFill>
              </a:rPr>
              <a:t>First nonlinear partial differential equation solved</a:t>
            </a:r>
            <a:endParaRPr lang="en-US" sz="1500" dirty="0"/>
          </a:p>
        </p:txBody>
      </p:sp>
      <p:sp>
        <p:nvSpPr>
          <p:cNvPr id="7" name="Text 5"/>
          <p:cNvSpPr txBox="1"/>
          <p:nvPr/>
        </p:nvSpPr>
        <p:spPr>
          <a:xfrm>
            <a:off x="1325880" y="2130552"/>
            <a:ext cx="5852160" cy="457200"/>
          </a:xfrm>
          <a:prstGeom prst="rect">
            <a:avLst/>
          </a:prstGeom>
          <a:noFill/>
          <a:ln/>
        </p:spPr>
        <p:txBody>
          <a:bodyPr wrap="square" lIns="0" tIns="0" rIns="0" bIns="0" rtlCol="0" anchor="t"/>
          <a:lstStyle/>
          <a:p>
            <a:pPr marL="0" indent="0">
              <a:buNone/>
            </a:pPr>
            <a:r>
              <a:rPr lang="en-US" sz="1300" dirty="0">
                <a:solidFill>
                  <a:schemeClr val="tx2"/>
                </a:solidFill>
              </a:rPr>
              <a:t>Using VQA-based spectral methods with QUICK-PDE, a Qiskit Function by ColibriTD, running on 50+ qubit chips (IBM Heron)</a:t>
            </a:r>
            <a:endParaRPr lang="en-US" sz="1300" dirty="0"/>
          </a:p>
        </p:txBody>
      </p:sp>
      <p:sp>
        <p:nvSpPr>
          <p:cNvPr id="8" name="Text 6"/>
          <p:cNvSpPr txBox="1"/>
          <p:nvPr/>
        </p:nvSpPr>
        <p:spPr>
          <a:xfrm>
            <a:off x="1325880" y="2651760"/>
            <a:ext cx="5852160" cy="256032"/>
          </a:xfrm>
          <a:prstGeom prst="rect">
            <a:avLst/>
          </a:prstGeom>
          <a:noFill/>
          <a:ln/>
        </p:spPr>
        <p:txBody>
          <a:bodyPr wrap="square" lIns="0" tIns="0" rIns="0" bIns="0" rtlCol="0" anchor="ctr"/>
          <a:lstStyle/>
          <a:p>
            <a:pPr marL="0" indent="0">
              <a:buNone/>
            </a:pPr>
            <a:r>
              <a:rPr lang="en-US" sz="1300" b="1" dirty="0">
                <a:solidFill>
                  <a:schemeClr val="accent3"/>
                </a:solidFill>
              </a:rPr>
              <a:t>Inviscid Burgers equation, Euler equation, and material deformation</a:t>
            </a:r>
            <a:endParaRPr lang="en-US" sz="1300" dirty="0"/>
          </a:p>
        </p:txBody>
      </p:sp>
      <p:sp>
        <p:nvSpPr>
          <p:cNvPr id="9" name="Milestone 2"/>
          <p:cNvSpPr/>
          <p:nvPr/>
        </p:nvSpPr>
        <p:spPr>
          <a:xfrm>
            <a:off x="548640" y="3081528"/>
            <a:ext cx="6858000" cy="1371600"/>
          </a:xfrm>
          <a:prstGeom prst="roundRect">
            <a:avLst>
              <a:gd name="adj" fmla="val 10000"/>
            </a:avLst>
          </a:prstGeom>
          <a:solidFill>
            <a:schemeClr val="bg2"/>
          </a:solidFill>
          <a:ln w="9525">
            <a:solidFill>
              <a:schemeClr val="accent5"/>
            </a:solidFill>
            <a:prstDash val="solid"/>
          </a:ln>
        </p:spPr>
        <p:txBody>
          <a:bodyPr/>
          <a:lstStyle/>
          <a:p>
            <a:endParaRPr lang="fr-FR"/>
          </a:p>
        </p:txBody>
      </p:sp>
      <p:sp>
        <p:nvSpPr>
          <p:cNvPr id="10" name="Text 8"/>
          <p:cNvSpPr txBox="1"/>
          <p:nvPr/>
        </p:nvSpPr>
        <p:spPr>
          <a:xfrm>
            <a:off x="822960" y="3264408"/>
            <a:ext cx="457200" cy="274320"/>
          </a:xfrm>
          <a:prstGeom prst="rect">
            <a:avLst/>
          </a:prstGeom>
          <a:noFill/>
          <a:ln/>
        </p:spPr>
        <p:txBody>
          <a:bodyPr wrap="square" lIns="0" tIns="0" rIns="0" bIns="0" rtlCol="0" anchor="ctr"/>
          <a:lstStyle/>
          <a:p>
            <a:pPr marL="0" indent="0">
              <a:buNone/>
            </a:pPr>
            <a:r>
              <a:rPr lang="en-US" sz="1400" b="1" dirty="0">
                <a:solidFill>
                  <a:schemeClr val="accent2"/>
                </a:solidFill>
              </a:rPr>
              <a:t>02</a:t>
            </a:r>
            <a:endParaRPr lang="en-US" sz="1400" dirty="0"/>
          </a:p>
        </p:txBody>
      </p:sp>
      <p:sp>
        <p:nvSpPr>
          <p:cNvPr id="11" name="Text 9"/>
          <p:cNvSpPr txBox="1"/>
          <p:nvPr/>
        </p:nvSpPr>
        <p:spPr>
          <a:xfrm>
            <a:off x="1325880" y="3264408"/>
            <a:ext cx="5852160" cy="274320"/>
          </a:xfrm>
          <a:prstGeom prst="rect">
            <a:avLst/>
          </a:prstGeom>
          <a:noFill/>
          <a:ln/>
        </p:spPr>
        <p:txBody>
          <a:bodyPr wrap="square" lIns="0" tIns="0" rIns="0" bIns="0" rtlCol="0" anchor="t"/>
          <a:lstStyle/>
          <a:p>
            <a:pPr marL="0" indent="0">
              <a:buNone/>
            </a:pPr>
            <a:r>
              <a:rPr lang="en-US" sz="1500" b="1" dirty="0">
                <a:solidFill>
                  <a:schemeClr val="tx1"/>
                </a:solidFill>
              </a:rPr>
              <a:t>First real CFD hardware demos achieved</a:t>
            </a:r>
            <a:endParaRPr lang="en-US" sz="1500" dirty="0"/>
          </a:p>
        </p:txBody>
      </p:sp>
      <p:sp>
        <p:nvSpPr>
          <p:cNvPr id="12" name="Text 10"/>
          <p:cNvSpPr txBox="1"/>
          <p:nvPr/>
        </p:nvSpPr>
        <p:spPr>
          <a:xfrm>
            <a:off x="1325880" y="3611880"/>
            <a:ext cx="5852160" cy="457200"/>
          </a:xfrm>
          <a:prstGeom prst="rect">
            <a:avLst/>
          </a:prstGeom>
          <a:noFill/>
          <a:ln/>
        </p:spPr>
        <p:txBody>
          <a:bodyPr wrap="square" lIns="0" tIns="0" rIns="0" bIns="0" rtlCol="0" anchor="t"/>
          <a:lstStyle/>
          <a:p>
            <a:pPr marL="0" indent="0">
              <a:buNone/>
            </a:pPr>
            <a:r>
              <a:rPr lang="en-US" sz="1300" dirty="0">
                <a:solidFill>
                  <a:schemeClr val="tx2"/>
                </a:solidFill>
              </a:rPr>
              <a:t>Using lattice Boltzmann methods: 3D fluid simulations now running on 50+ qubit chips (IBM Heron R3)</a:t>
            </a:r>
            <a:endParaRPr lang="en-US" sz="1300" dirty="0"/>
          </a:p>
        </p:txBody>
      </p:sp>
      <p:sp>
        <p:nvSpPr>
          <p:cNvPr id="13" name="Text 11"/>
          <p:cNvSpPr txBox="1"/>
          <p:nvPr/>
        </p:nvSpPr>
        <p:spPr>
          <a:xfrm>
            <a:off x="1325880" y="4133088"/>
            <a:ext cx="5852160" cy="256032"/>
          </a:xfrm>
          <a:prstGeom prst="rect">
            <a:avLst/>
          </a:prstGeom>
          <a:noFill/>
          <a:ln/>
        </p:spPr>
        <p:txBody>
          <a:bodyPr wrap="square" lIns="0" tIns="0" rIns="0" bIns="0" rtlCol="0" anchor="ctr"/>
          <a:lstStyle/>
          <a:p>
            <a:pPr marL="0" indent="0">
              <a:buNone/>
            </a:pPr>
            <a:r>
              <a:rPr lang="en-US" sz="1300" b="1" dirty="0">
                <a:solidFill>
                  <a:schemeClr val="accent3"/>
                </a:solidFill>
              </a:rPr>
              <a:t>Nonlinear Navier–Stokes flow with obstacles demonstrated</a:t>
            </a:r>
            <a:endParaRPr lang="en-US" sz="1300" dirty="0"/>
          </a:p>
        </p:txBody>
      </p:sp>
      <p:sp>
        <p:nvSpPr>
          <p:cNvPr id="14" name="Milestone 3"/>
          <p:cNvSpPr/>
          <p:nvPr/>
        </p:nvSpPr>
        <p:spPr>
          <a:xfrm>
            <a:off x="548640" y="4562856"/>
            <a:ext cx="6858000" cy="1572768"/>
          </a:xfrm>
          <a:prstGeom prst="roundRect">
            <a:avLst>
              <a:gd name="adj" fmla="val 8721"/>
            </a:avLst>
          </a:prstGeom>
          <a:solidFill>
            <a:schemeClr val="bg2"/>
          </a:solidFill>
          <a:ln w="9525">
            <a:solidFill>
              <a:schemeClr val="accent5"/>
            </a:solidFill>
            <a:prstDash val="solid"/>
          </a:ln>
        </p:spPr>
        <p:txBody>
          <a:bodyPr/>
          <a:lstStyle/>
          <a:p>
            <a:endParaRPr lang="fr-FR"/>
          </a:p>
        </p:txBody>
      </p:sp>
      <p:sp>
        <p:nvSpPr>
          <p:cNvPr id="15" name="Text 13"/>
          <p:cNvSpPr txBox="1"/>
          <p:nvPr/>
        </p:nvSpPr>
        <p:spPr>
          <a:xfrm>
            <a:off x="822960" y="4745736"/>
            <a:ext cx="457200" cy="274320"/>
          </a:xfrm>
          <a:prstGeom prst="rect">
            <a:avLst/>
          </a:prstGeom>
          <a:noFill/>
          <a:ln/>
        </p:spPr>
        <p:txBody>
          <a:bodyPr wrap="square" lIns="0" tIns="0" rIns="0" bIns="0" rtlCol="0" anchor="ctr"/>
          <a:lstStyle/>
          <a:p>
            <a:pPr marL="0" indent="0">
              <a:buNone/>
            </a:pPr>
            <a:r>
              <a:rPr lang="en-US" sz="1400" b="1" dirty="0">
                <a:solidFill>
                  <a:schemeClr val="accent2"/>
                </a:solidFill>
              </a:rPr>
              <a:t>03</a:t>
            </a:r>
            <a:endParaRPr lang="en-US" sz="1400" dirty="0"/>
          </a:p>
        </p:txBody>
      </p:sp>
      <p:sp>
        <p:nvSpPr>
          <p:cNvPr id="16" name="Text 14"/>
          <p:cNvSpPr txBox="1"/>
          <p:nvPr/>
        </p:nvSpPr>
        <p:spPr>
          <a:xfrm>
            <a:off x="1325880" y="4745736"/>
            <a:ext cx="5852160" cy="457200"/>
          </a:xfrm>
          <a:prstGeom prst="rect">
            <a:avLst/>
          </a:prstGeom>
          <a:noFill/>
          <a:ln/>
        </p:spPr>
        <p:txBody>
          <a:bodyPr wrap="square" lIns="0" tIns="0" rIns="0" bIns="0" rtlCol="0" anchor="t"/>
          <a:lstStyle/>
          <a:p>
            <a:pPr marL="0" indent="0">
              <a:buNone/>
            </a:pPr>
            <a:r>
              <a:rPr lang="en-US" sz="1500" b="1" dirty="0">
                <a:solidFill>
                  <a:schemeClr val="tx1"/>
                </a:solidFill>
              </a:rPr>
              <a:t>Quantum remeshing and efficient encoding for fracture mechanics</a:t>
            </a:r>
            <a:endParaRPr lang="en-US" sz="1500" dirty="0"/>
          </a:p>
        </p:txBody>
      </p:sp>
      <p:sp>
        <p:nvSpPr>
          <p:cNvPr id="17" name="Text 15"/>
          <p:cNvSpPr txBox="1"/>
          <p:nvPr/>
        </p:nvSpPr>
        <p:spPr>
          <a:xfrm>
            <a:off x="1325880" y="5276088"/>
            <a:ext cx="5852160" cy="457200"/>
          </a:xfrm>
          <a:prstGeom prst="rect">
            <a:avLst/>
          </a:prstGeom>
          <a:noFill/>
          <a:ln/>
        </p:spPr>
        <p:txBody>
          <a:bodyPr wrap="square" lIns="0" tIns="0" rIns="0" bIns="0" rtlCol="0" anchor="t"/>
          <a:lstStyle/>
          <a:p>
            <a:pPr marL="0" indent="0">
              <a:buNone/>
            </a:pPr>
            <a:r>
              <a:rPr lang="en-US" sz="1300" dirty="0">
                <a:solidFill>
                  <a:schemeClr val="tx2"/>
                </a:solidFill>
              </a:rPr>
              <a:t>Method experimentally validated on Quandela's photonic quantum processor Ascella</a:t>
            </a:r>
            <a:endParaRPr lang="en-US" sz="1300" dirty="0"/>
          </a:p>
        </p:txBody>
      </p:sp>
      <p:sp>
        <p:nvSpPr>
          <p:cNvPr id="18" name="Text 16"/>
          <p:cNvSpPr txBox="1"/>
          <p:nvPr/>
        </p:nvSpPr>
        <p:spPr>
          <a:xfrm>
            <a:off x="1325880" y="5797296"/>
            <a:ext cx="5852160" cy="256032"/>
          </a:xfrm>
          <a:prstGeom prst="rect">
            <a:avLst/>
          </a:prstGeom>
          <a:noFill/>
          <a:ln/>
        </p:spPr>
        <p:txBody>
          <a:bodyPr wrap="square" lIns="0" tIns="0" rIns="0" bIns="0" rtlCol="0" anchor="ctr"/>
          <a:lstStyle/>
          <a:p>
            <a:pPr marL="0" indent="0">
              <a:buNone/>
            </a:pPr>
            <a:r>
              <a:rPr lang="en-US" sz="1300" b="1" dirty="0">
                <a:solidFill>
                  <a:schemeClr val="accent3"/>
                </a:solidFill>
              </a:rPr>
              <a:t>Cracking fracture mechanics on a quantum processor</a:t>
            </a:r>
            <a:endParaRPr lang="en-US" sz="1300" dirty="0"/>
          </a:p>
        </p:txBody>
      </p:sp>
      <p:sp>
        <p:nvSpPr>
          <p:cNvPr id="19" name="Scale results"/>
          <p:cNvSpPr/>
          <p:nvPr/>
        </p:nvSpPr>
        <p:spPr>
          <a:xfrm>
            <a:off x="7726680" y="1600200"/>
            <a:ext cx="3916375" cy="4526280"/>
          </a:xfrm>
          <a:prstGeom prst="roundRect">
            <a:avLst>
              <a:gd name="adj" fmla="val 3502"/>
            </a:avLst>
          </a:prstGeom>
          <a:solidFill>
            <a:schemeClr val="bg2"/>
          </a:solidFill>
          <a:ln w="12700">
            <a:solidFill>
              <a:schemeClr val="accent1"/>
            </a:solidFill>
            <a:prstDash val="solid"/>
          </a:ln>
        </p:spPr>
        <p:txBody>
          <a:bodyPr/>
          <a:lstStyle/>
          <a:p>
            <a:endParaRPr lang="fr-FR"/>
          </a:p>
        </p:txBody>
      </p:sp>
      <p:sp>
        <p:nvSpPr>
          <p:cNvPr id="20" name="Shape 18"/>
          <p:cNvSpPr/>
          <p:nvPr/>
        </p:nvSpPr>
        <p:spPr>
          <a:xfrm>
            <a:off x="8001000" y="1965960"/>
            <a:ext cx="91440" cy="91440"/>
          </a:xfrm>
          <a:prstGeom prst="rect">
            <a:avLst/>
          </a:prstGeom>
          <a:solidFill>
            <a:schemeClr val="accent2"/>
          </a:solidFill>
          <a:ln/>
        </p:spPr>
        <p:txBody>
          <a:bodyPr/>
          <a:lstStyle/>
          <a:p>
            <a:endParaRPr lang="fr-FR"/>
          </a:p>
        </p:txBody>
      </p:sp>
      <p:sp>
        <p:nvSpPr>
          <p:cNvPr id="21" name="Text 19"/>
          <p:cNvSpPr txBox="1"/>
          <p:nvPr/>
        </p:nvSpPr>
        <p:spPr>
          <a:xfrm>
            <a:off x="8183880" y="1874520"/>
            <a:ext cx="2743200" cy="274320"/>
          </a:xfrm>
          <a:prstGeom prst="rect">
            <a:avLst/>
          </a:prstGeom>
          <a:noFill/>
          <a:ln/>
        </p:spPr>
        <p:txBody>
          <a:bodyPr wrap="square" lIns="0" tIns="0" rIns="0" bIns="0" rtlCol="0" anchor="ctr"/>
          <a:lstStyle/>
          <a:p>
            <a:pPr marL="0" indent="0">
              <a:buNone/>
            </a:pPr>
            <a:r>
              <a:rPr lang="en-US" sz="1100" b="1" kern="0" spc="200" dirty="0">
                <a:solidFill>
                  <a:schemeClr val="tx2"/>
                </a:solidFill>
              </a:rPr>
              <a:t>SCALE RESULTS</a:t>
            </a:r>
            <a:endParaRPr lang="en-US" sz="1100" dirty="0"/>
          </a:p>
        </p:txBody>
      </p:sp>
      <p:sp>
        <p:nvSpPr>
          <p:cNvPr id="22" name="Partner logos"/>
          <p:cNvSpPr/>
          <p:nvPr/>
        </p:nvSpPr>
        <p:spPr>
          <a:xfrm>
            <a:off x="8001000" y="2286000"/>
            <a:ext cx="2103120" cy="548640"/>
          </a:xfrm>
          <a:prstGeom prst="roundRect">
            <a:avLst>
              <a:gd name="adj" fmla="val 16667"/>
            </a:avLst>
          </a:prstGeom>
          <a:solidFill>
            <a:schemeClr val="tx1"/>
          </a:solidFill>
          <a:ln/>
        </p:spPr>
        <p:txBody>
          <a:bodyPr/>
          <a:lstStyle/>
          <a:p>
            <a:endParaRPr lang="fr-FR"/>
          </a:p>
        </p:txBody>
      </p:sp>
      <p:pic>
        <p:nvPicPr>
          <p:cNvPr id="23" name="Image 0" descr="Ansys logo"/>
          <p:cNvPicPr>
            <a:picLocks noChangeAspect="1"/>
          </p:cNvPicPr>
          <p:nvPr/>
        </p:nvPicPr>
        <p:blipFill>
          <a:blip r:embed="rId3"/>
          <a:stretch>
            <a:fillRect/>
          </a:stretch>
        </p:blipFill>
        <p:spPr>
          <a:xfrm>
            <a:off x="8138160" y="2395728"/>
            <a:ext cx="1014984" cy="329184"/>
          </a:xfrm>
          <a:prstGeom prst="rect">
            <a:avLst/>
          </a:prstGeom>
        </p:spPr>
      </p:pic>
      <p:pic>
        <p:nvPicPr>
          <p:cNvPr id="24" name="Image 1" descr="NVIDIA logo"/>
          <p:cNvPicPr>
            <a:picLocks noChangeAspect="1"/>
          </p:cNvPicPr>
          <p:nvPr/>
        </p:nvPicPr>
        <p:blipFill>
          <a:blip r:embed="rId4"/>
          <a:stretch>
            <a:fillRect/>
          </a:stretch>
        </p:blipFill>
        <p:spPr>
          <a:xfrm>
            <a:off x="9372600" y="2354580"/>
            <a:ext cx="512064" cy="411480"/>
          </a:xfrm>
          <a:prstGeom prst="rect">
            <a:avLst/>
          </a:prstGeom>
        </p:spPr>
      </p:pic>
      <p:sp>
        <p:nvSpPr>
          <p:cNvPr id="25" name="Text 21"/>
          <p:cNvSpPr txBox="1"/>
          <p:nvPr/>
        </p:nvSpPr>
        <p:spPr>
          <a:xfrm>
            <a:off x="8001000" y="2926080"/>
            <a:ext cx="3367735" cy="594360"/>
          </a:xfrm>
          <a:prstGeom prst="rect">
            <a:avLst/>
          </a:prstGeom>
          <a:noFill/>
          <a:ln/>
        </p:spPr>
        <p:txBody>
          <a:bodyPr wrap="square" lIns="0" tIns="0" rIns="0" bIns="0" rtlCol="0" anchor="t"/>
          <a:lstStyle/>
          <a:p>
            <a:pPr marL="0" indent="0">
              <a:buNone/>
            </a:pPr>
            <a:r>
              <a:rPr lang="en-US" sz="1300" dirty="0">
                <a:solidFill>
                  <a:schemeClr val="tx2"/>
                </a:solidFill>
              </a:rPr>
              <a:t>Ansys, working with NVIDIA's CUDA-Q platform, simulated uniform advection-diffusion of a 2D sinusoid</a:t>
            </a:r>
            <a:endParaRPr lang="en-US" sz="1300" dirty="0"/>
          </a:p>
        </p:txBody>
      </p:sp>
      <p:sp>
        <p:nvSpPr>
          <p:cNvPr id="26" name="Text 22"/>
          <p:cNvSpPr txBox="1"/>
          <p:nvPr/>
        </p:nvSpPr>
        <p:spPr>
          <a:xfrm>
            <a:off x="8001000" y="3520440"/>
            <a:ext cx="914400" cy="457200"/>
          </a:xfrm>
          <a:prstGeom prst="rect">
            <a:avLst/>
          </a:prstGeom>
          <a:noFill/>
          <a:ln/>
        </p:spPr>
        <p:txBody>
          <a:bodyPr wrap="square" lIns="0" tIns="0" rIns="0" bIns="0" rtlCol="0" anchor="b"/>
          <a:lstStyle/>
          <a:p>
            <a:pPr marL="0" indent="0">
              <a:buNone/>
            </a:pPr>
            <a:r>
              <a:rPr lang="en-US" sz="2800" b="1" dirty="0">
                <a:solidFill>
                  <a:schemeClr val="tx1"/>
                </a:solidFill>
              </a:rPr>
              <a:t>39</a:t>
            </a:r>
            <a:endParaRPr lang="en-US" sz="2800" dirty="0"/>
          </a:p>
        </p:txBody>
      </p:sp>
      <p:sp>
        <p:nvSpPr>
          <p:cNvPr id="27" name="Text 23"/>
          <p:cNvSpPr txBox="1"/>
          <p:nvPr/>
        </p:nvSpPr>
        <p:spPr>
          <a:xfrm>
            <a:off x="8001000" y="3977640"/>
            <a:ext cx="914400" cy="228600"/>
          </a:xfrm>
          <a:prstGeom prst="rect">
            <a:avLst/>
          </a:prstGeom>
          <a:noFill/>
          <a:ln/>
        </p:spPr>
        <p:txBody>
          <a:bodyPr wrap="square" lIns="0" tIns="0" rIns="0" bIns="0" rtlCol="0" anchor="ctr"/>
          <a:lstStyle/>
          <a:p>
            <a:pPr marL="0" indent="0">
              <a:buNone/>
            </a:pPr>
            <a:r>
              <a:rPr lang="en-US" sz="1100" dirty="0">
                <a:solidFill>
                  <a:schemeClr val="tx2"/>
                </a:solidFill>
              </a:rPr>
              <a:t>qubits</a:t>
            </a:r>
            <a:endParaRPr lang="en-US" sz="1100" dirty="0"/>
          </a:p>
        </p:txBody>
      </p:sp>
      <p:sp>
        <p:nvSpPr>
          <p:cNvPr id="28" name="Text 24"/>
          <p:cNvSpPr txBox="1"/>
          <p:nvPr/>
        </p:nvSpPr>
        <p:spPr>
          <a:xfrm>
            <a:off x="8869680" y="3520440"/>
            <a:ext cx="2651760" cy="457200"/>
          </a:xfrm>
          <a:prstGeom prst="rect">
            <a:avLst/>
          </a:prstGeom>
          <a:noFill/>
          <a:ln/>
        </p:spPr>
        <p:txBody>
          <a:bodyPr wrap="square" lIns="0" tIns="0" rIns="0" bIns="0" rtlCol="0" anchor="b"/>
          <a:lstStyle/>
          <a:p>
            <a:pPr marL="0" indent="0">
              <a:buNone/>
            </a:pPr>
            <a:r>
              <a:rPr lang="en-US" sz="2000" b="1" dirty="0">
                <a:solidFill>
                  <a:schemeClr val="tx1"/>
                </a:solidFill>
              </a:rPr>
              <a:t>262,144 × 262,144</a:t>
            </a:r>
            <a:endParaRPr lang="en-US" sz="2000" dirty="0"/>
          </a:p>
        </p:txBody>
      </p:sp>
      <p:sp>
        <p:nvSpPr>
          <p:cNvPr id="29" name="Text 25"/>
          <p:cNvSpPr txBox="1"/>
          <p:nvPr/>
        </p:nvSpPr>
        <p:spPr>
          <a:xfrm>
            <a:off x="8869680" y="3977640"/>
            <a:ext cx="2560320" cy="228600"/>
          </a:xfrm>
          <a:prstGeom prst="rect">
            <a:avLst/>
          </a:prstGeom>
          <a:noFill/>
          <a:ln/>
        </p:spPr>
        <p:txBody>
          <a:bodyPr wrap="square" lIns="0" tIns="0" rIns="0" bIns="0" rtlCol="0" anchor="ctr"/>
          <a:lstStyle/>
          <a:p>
            <a:pPr marL="0" indent="0">
              <a:buNone/>
            </a:pPr>
            <a:r>
              <a:rPr lang="en-US" sz="1100" dirty="0">
                <a:solidFill>
                  <a:schemeClr val="tx2"/>
                </a:solidFill>
              </a:rPr>
              <a:t>grid</a:t>
            </a:r>
            <a:endParaRPr lang="en-US" sz="1100" dirty="0"/>
          </a:p>
        </p:txBody>
      </p:sp>
      <p:sp>
        <p:nvSpPr>
          <p:cNvPr id="30" name="Shape 26"/>
          <p:cNvSpPr/>
          <p:nvPr/>
        </p:nvSpPr>
        <p:spPr>
          <a:xfrm>
            <a:off x="8001000" y="4389120"/>
            <a:ext cx="3367735" cy="0"/>
          </a:xfrm>
          <a:prstGeom prst="line">
            <a:avLst/>
          </a:prstGeom>
          <a:noFill/>
          <a:ln w="9525">
            <a:solidFill>
              <a:srgbClr val="3C3F4C"/>
            </a:solidFill>
            <a:prstDash val="solid"/>
          </a:ln>
        </p:spPr>
        <p:txBody>
          <a:bodyPr/>
          <a:lstStyle/>
          <a:p>
            <a:endParaRPr lang="fr-FR"/>
          </a:p>
        </p:txBody>
      </p:sp>
      <p:sp>
        <p:nvSpPr>
          <p:cNvPr id="31" name="Text 27"/>
          <p:cNvSpPr txBox="1"/>
          <p:nvPr/>
        </p:nvSpPr>
        <p:spPr>
          <a:xfrm>
            <a:off x="8001000" y="4480560"/>
            <a:ext cx="3367735" cy="594360"/>
          </a:xfrm>
          <a:prstGeom prst="rect">
            <a:avLst/>
          </a:prstGeom>
          <a:noFill/>
          <a:ln/>
        </p:spPr>
        <p:txBody>
          <a:bodyPr wrap="square" lIns="0" tIns="0" rIns="0" bIns="0" rtlCol="0" anchor="t"/>
          <a:lstStyle/>
          <a:p>
            <a:pPr marL="0" indent="0">
              <a:buNone/>
            </a:pPr>
            <a:r>
              <a:rPr lang="en-US" sz="1300" dirty="0">
                <a:solidFill>
                  <a:schemeClr val="tx2"/>
                </a:solidFill>
              </a:rPr>
              <a:t>Near-term quantum computer simulations: 2D Poiseuille flow and an unsteady acoustic wave</a:t>
            </a:r>
            <a:endParaRPr lang="en-US" sz="1300" dirty="0"/>
          </a:p>
        </p:txBody>
      </p:sp>
      <p:sp>
        <p:nvSpPr>
          <p:cNvPr id="32" name="Text 28"/>
          <p:cNvSpPr txBox="1"/>
          <p:nvPr/>
        </p:nvSpPr>
        <p:spPr>
          <a:xfrm>
            <a:off x="8001000" y="5074920"/>
            <a:ext cx="1280160" cy="457200"/>
          </a:xfrm>
          <a:prstGeom prst="rect">
            <a:avLst/>
          </a:prstGeom>
          <a:noFill/>
          <a:ln/>
        </p:spPr>
        <p:txBody>
          <a:bodyPr wrap="square" lIns="0" tIns="0" rIns="0" bIns="0" rtlCol="0" anchor="b"/>
          <a:lstStyle/>
          <a:p>
            <a:pPr marL="0" indent="0">
              <a:buNone/>
            </a:pPr>
            <a:r>
              <a:rPr lang="en-US" sz="2800" b="1" dirty="0">
                <a:solidFill>
                  <a:schemeClr val="tx1"/>
                </a:solidFill>
              </a:rPr>
              <a:t>&lt;0.2%</a:t>
            </a:r>
            <a:endParaRPr lang="en-US" sz="2800" dirty="0"/>
          </a:p>
        </p:txBody>
      </p:sp>
      <p:sp>
        <p:nvSpPr>
          <p:cNvPr id="33" name="Text 29"/>
          <p:cNvSpPr txBox="1"/>
          <p:nvPr/>
        </p:nvSpPr>
        <p:spPr>
          <a:xfrm>
            <a:off x="8001000" y="5532120"/>
            <a:ext cx="1737360" cy="228600"/>
          </a:xfrm>
          <a:prstGeom prst="rect">
            <a:avLst/>
          </a:prstGeom>
          <a:noFill/>
          <a:ln/>
        </p:spPr>
        <p:txBody>
          <a:bodyPr wrap="square" lIns="0" tIns="0" rIns="0" bIns="0" rtlCol="0" anchor="ctr"/>
          <a:lstStyle/>
          <a:p>
            <a:pPr marL="0" indent="0">
              <a:buNone/>
            </a:pPr>
            <a:r>
              <a:rPr lang="en-US" sz="1100" dirty="0">
                <a:solidFill>
                  <a:schemeClr val="tx2"/>
                </a:solidFill>
              </a:rPr>
              <a:t>relative error (Poiseuille)</a:t>
            </a:r>
            <a:endParaRPr lang="en-US" sz="1100" dirty="0"/>
          </a:p>
        </p:txBody>
      </p:sp>
      <p:sp>
        <p:nvSpPr>
          <p:cNvPr id="34" name="Text 30"/>
          <p:cNvSpPr txBox="1"/>
          <p:nvPr/>
        </p:nvSpPr>
        <p:spPr>
          <a:xfrm>
            <a:off x="9738360" y="5074920"/>
            <a:ext cx="1463040" cy="457200"/>
          </a:xfrm>
          <a:prstGeom prst="rect">
            <a:avLst/>
          </a:prstGeom>
          <a:noFill/>
          <a:ln/>
        </p:spPr>
        <p:txBody>
          <a:bodyPr wrap="square" lIns="0" tIns="0" rIns="0" bIns="0" rtlCol="0" anchor="b"/>
          <a:lstStyle/>
          <a:p>
            <a:pPr marL="0" indent="0">
              <a:buNone/>
            </a:pPr>
            <a:r>
              <a:rPr lang="en-US" sz="2800" b="1" dirty="0">
                <a:solidFill>
                  <a:schemeClr val="tx1"/>
                </a:solidFill>
              </a:rPr>
              <a:t>5,043</a:t>
            </a:r>
            <a:endParaRPr lang="en-US" sz="2800" dirty="0"/>
          </a:p>
        </p:txBody>
      </p:sp>
      <p:sp>
        <p:nvSpPr>
          <p:cNvPr id="35" name="Text 31"/>
          <p:cNvSpPr txBox="1"/>
          <p:nvPr/>
        </p:nvSpPr>
        <p:spPr>
          <a:xfrm>
            <a:off x="9738360" y="5532120"/>
            <a:ext cx="1783080" cy="365760"/>
          </a:xfrm>
          <a:prstGeom prst="rect">
            <a:avLst/>
          </a:prstGeom>
          <a:noFill/>
          <a:ln/>
        </p:spPr>
        <p:txBody>
          <a:bodyPr wrap="square" lIns="0" tIns="0" rIns="0" bIns="0" rtlCol="0" anchor="t"/>
          <a:lstStyle/>
          <a:p>
            <a:pPr marL="0" indent="0">
              <a:buNone/>
            </a:pPr>
            <a:r>
              <a:rPr lang="en-US" sz="1100" dirty="0">
                <a:solidFill>
                  <a:schemeClr val="tx2"/>
                </a:solidFill>
              </a:rPr>
              <a:t>-dimensional matrix solved (acoustic)</a:t>
            </a:r>
            <a:endParaRPr lang="en-US" sz="1100" dirty="0"/>
          </a:p>
        </p:txBody>
      </p:sp>
      <p:sp>
        <p:nvSpPr>
          <p:cNvPr id="36" name="Slide Number Placeholder 0"/>
          <p:cNvSpPr>
            <a:spLocks noGrp="1"/>
          </p:cNvSpPr>
          <p:nvPr>
            <p:ph type="sldNum" sz="quarter" idx="4294967295"/>
          </p:nvPr>
        </p:nvSpPr>
        <p:spPr>
          <a:xfrm>
            <a:off x="11094415" y="6327648"/>
            <a:ext cx="548640" cy="274320"/>
          </a:xfrm>
          <a:prstGeom prst="rect">
            <a:avLst/>
          </a:prstGeom>
          <a:extLst>
            <a:ext uri="{C572A759-6A51-4108-AA02-DFA0A04FC94B}">
              <ma14:wrappingTextBoxFlag xmlns:ma14="http://schemas.microsoft.com/office/mac/drawingml/2011/main" xmlns="" val="0"/>
            </a:ext>
          </a:extLst>
        </p:spPr>
        <p:txBody>
          <a:bodyPr lIns="0" tIns="0" rIns="0" bIns="0" anchor="ctr"/>
          <a:lstStyle>
            <a:lvl1pPr>
              <a:defRPr sz="1000">
                <a:solidFill>
                  <a:srgbClr val="9AA3BD"/>
                </a:solidFill>
              </a:defRPr>
            </a:lvl1pPr>
          </a:lstStyle>
          <a:p>
            <a:pPr algn="r"/>
            <a:fld id="{F7021451-1387-4CA6-816F-3879F97B5CBC}" type="slidenum">
              <a:rPr lang="en-US" b="0"/>
              <a:t>9</a:t>
            </a:fld>
            <a:endParaRPr lang="en-US"/>
          </a:p>
        </p:txBody>
      </p:sp>
      <p:pic>
        <p:nvPicPr>
          <p:cNvPr id="38" name="Image 37">
            <a:extLst>
              <a:ext uri="{FF2B5EF4-FFF2-40B4-BE49-F238E27FC236}">
                <a16:creationId xmlns:a16="http://schemas.microsoft.com/office/drawing/2014/main" id="{4D6EE1DE-D970-43BD-5658-452D0BB0A0FB}"/>
              </a:ext>
            </a:extLst>
          </p:cNvPr>
          <p:cNvPicPr>
            <a:picLocks noChangeAspect="1"/>
          </p:cNvPicPr>
          <p:nvPr/>
        </p:nvPicPr>
        <p:blipFill>
          <a:blip r:embed="rId5"/>
          <a:stretch>
            <a:fillRect/>
          </a:stretch>
        </p:blipFill>
        <p:spPr>
          <a:xfrm>
            <a:off x="9724644" y="-443705"/>
            <a:ext cx="2437453" cy="1723866"/>
          </a:xfrm>
          <a:prstGeom prst="rect">
            <a:avLst/>
          </a:prstGeom>
        </p:spPr>
      </p:pic>
      <p:pic>
        <p:nvPicPr>
          <p:cNvPr id="37" name="Graphique 36">
            <a:extLst>
              <a:ext uri="{FF2B5EF4-FFF2-40B4-BE49-F238E27FC236}">
                <a16:creationId xmlns:a16="http://schemas.microsoft.com/office/drawing/2014/main" id="{7F253494-787E-B491-2E08-250704D2C630}"/>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6477617" y="1759912"/>
            <a:ext cx="814723" cy="286058"/>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10"/>
          <p:cNvSpPr>
            <a:spLocks noGrp="1"/>
          </p:cNvSpPr>
          <p:nvPr>
            <p:ph type="title" idx="110" hasCustomPrompt="1"/>
          </p:nvPr>
        </p:nvSpPr>
        <p:spPr>
          <a:xfrm>
            <a:off x="548640" y="457200"/>
            <a:ext cx="11094415" cy="777240"/>
          </a:xfrm>
          <a:prstGeom prst="rect">
            <a:avLst/>
          </a:prstGeom>
          <a:noFill/>
          <a:ln/>
        </p:spPr>
        <p:txBody>
          <a:bodyPr wrap="square" lIns="0" tIns="0" rIns="0" bIns="0" rtlCol="0" anchor="t"/>
          <a:lstStyle/>
          <a:p>
            <a:pPr marL="0" indent="0" algn="l">
              <a:buNone/>
            </a:pPr>
            <a:r>
              <a:rPr lang="en-US" sz="3200" dirty="0">
                <a:solidFill>
                  <a:schemeClr val="tx1"/>
                </a:solidFill>
              </a:rPr>
              <a:t>What can a quantum computer handle and what not?</a:t>
            </a:r>
            <a:endParaRPr lang="en-US" sz="3200" dirty="0"/>
          </a:p>
        </p:txBody>
      </p:sp>
      <p:sp>
        <p:nvSpPr>
          <p:cNvPr id="3" name="Text 1"/>
          <p:cNvSpPr txBox="1"/>
          <p:nvPr/>
        </p:nvSpPr>
        <p:spPr>
          <a:xfrm>
            <a:off x="548640" y="1097280"/>
            <a:ext cx="11094415" cy="365760"/>
          </a:xfrm>
          <a:prstGeom prst="rect">
            <a:avLst/>
          </a:prstGeom>
          <a:noFill/>
          <a:ln/>
        </p:spPr>
        <p:txBody>
          <a:bodyPr wrap="square" lIns="0" tIns="0" rIns="0" bIns="0" rtlCol="0" anchor="t"/>
          <a:lstStyle/>
          <a:p>
            <a:pPr marL="0" indent="0">
              <a:buNone/>
            </a:pPr>
            <a:r>
              <a:rPr lang="en-US" sz="1600" dirty="0">
                <a:solidFill>
                  <a:schemeClr val="tx2"/>
                </a:solidFill>
              </a:rPr>
              <a:t>Many classical problems feature </a:t>
            </a:r>
            <a:r>
              <a:rPr lang="en-US" sz="1600" b="1" dirty="0">
                <a:solidFill>
                  <a:schemeClr val="tx2"/>
                </a:solidFill>
              </a:rPr>
              <a:t>two major hurdles for quantum computing</a:t>
            </a:r>
            <a:r>
              <a:rPr lang="en-US" sz="1600" dirty="0">
                <a:solidFill>
                  <a:schemeClr val="tx2"/>
                </a:solidFill>
              </a:rPr>
              <a:t>:</a:t>
            </a:r>
            <a:endParaRPr lang="en-US" sz="1600" dirty="0"/>
          </a:p>
        </p:txBody>
      </p:sp>
      <p:sp>
        <p:nvSpPr>
          <p:cNvPr id="4" name="Shape 2"/>
          <p:cNvSpPr/>
          <p:nvPr/>
        </p:nvSpPr>
        <p:spPr>
          <a:xfrm>
            <a:off x="548640" y="1783080"/>
            <a:ext cx="91440" cy="91440"/>
          </a:xfrm>
          <a:prstGeom prst="rect">
            <a:avLst/>
          </a:prstGeom>
          <a:solidFill>
            <a:schemeClr val="accent2"/>
          </a:solidFill>
          <a:ln/>
        </p:spPr>
        <p:txBody>
          <a:bodyPr/>
          <a:lstStyle/>
          <a:p>
            <a:endParaRPr lang="fr-FR"/>
          </a:p>
        </p:txBody>
      </p:sp>
      <p:sp>
        <p:nvSpPr>
          <p:cNvPr id="5" name="Text 3"/>
          <p:cNvSpPr txBox="1"/>
          <p:nvPr/>
        </p:nvSpPr>
        <p:spPr>
          <a:xfrm>
            <a:off x="731520" y="1691640"/>
            <a:ext cx="5486400" cy="274320"/>
          </a:xfrm>
          <a:prstGeom prst="rect">
            <a:avLst/>
          </a:prstGeom>
          <a:noFill/>
          <a:ln/>
        </p:spPr>
        <p:txBody>
          <a:bodyPr wrap="square" lIns="0" tIns="0" rIns="0" bIns="0" rtlCol="0" anchor="ctr"/>
          <a:lstStyle/>
          <a:p>
            <a:pPr marL="0" indent="0">
              <a:buNone/>
            </a:pPr>
            <a:r>
              <a:rPr lang="en-US" sz="1100" b="1" kern="0" spc="200" dirty="0">
                <a:solidFill>
                  <a:schemeClr val="tx2"/>
                </a:solidFill>
              </a:rPr>
              <a:t>NONLINEARITY AND NON-UNITARITY (DISSIPATION)</a:t>
            </a:r>
            <a:endParaRPr lang="en-US" sz="1100" dirty="0"/>
          </a:p>
        </p:txBody>
      </p:sp>
      <p:sp>
        <p:nvSpPr>
          <p:cNvPr id="6" name="Chain 1"/>
          <p:cNvSpPr/>
          <p:nvPr/>
        </p:nvSpPr>
        <p:spPr>
          <a:xfrm>
            <a:off x="548640" y="2148840"/>
            <a:ext cx="1508760" cy="868680"/>
          </a:xfrm>
          <a:prstGeom prst="roundRect">
            <a:avLst>
              <a:gd name="adj" fmla="val 10526"/>
            </a:avLst>
          </a:prstGeom>
          <a:solidFill>
            <a:schemeClr val="accent1"/>
          </a:solidFill>
          <a:ln w="9525">
            <a:solidFill>
              <a:schemeClr val="accent1"/>
            </a:solidFill>
            <a:prstDash val="solid"/>
          </a:ln>
        </p:spPr>
        <p:txBody>
          <a:bodyPr/>
          <a:lstStyle/>
          <a:p>
            <a:endParaRPr lang="fr-FR"/>
          </a:p>
        </p:txBody>
      </p:sp>
      <p:sp>
        <p:nvSpPr>
          <p:cNvPr id="7" name="Text 5"/>
          <p:cNvSpPr txBox="1"/>
          <p:nvPr/>
        </p:nvSpPr>
        <p:spPr>
          <a:xfrm>
            <a:off x="658368" y="2148840"/>
            <a:ext cx="1289304" cy="868680"/>
          </a:xfrm>
          <a:prstGeom prst="rect">
            <a:avLst/>
          </a:prstGeom>
          <a:noFill/>
          <a:ln/>
        </p:spPr>
        <p:txBody>
          <a:bodyPr wrap="square" lIns="0" tIns="0" rIns="0" bIns="0" rtlCol="0" anchor="ctr"/>
          <a:lstStyle/>
          <a:p>
            <a:pPr marL="0" indent="0" algn="ctr">
              <a:buNone/>
            </a:pPr>
            <a:r>
              <a:rPr lang="en-US" sz="1400" b="1" dirty="0">
                <a:solidFill>
                  <a:schemeClr val="tx1"/>
                </a:solidFill>
              </a:rPr>
              <a:t>Nonlinearity</a:t>
            </a:r>
            <a:endParaRPr lang="en-US" sz="1400" dirty="0"/>
          </a:p>
        </p:txBody>
      </p:sp>
      <p:sp>
        <p:nvSpPr>
          <p:cNvPr id="8" name="Shape 6"/>
          <p:cNvSpPr/>
          <p:nvPr/>
        </p:nvSpPr>
        <p:spPr>
          <a:xfrm>
            <a:off x="2121408" y="2450592"/>
            <a:ext cx="192024" cy="256032"/>
          </a:xfrm>
          <a:prstGeom prst="rightArrow">
            <a:avLst/>
          </a:prstGeom>
          <a:solidFill>
            <a:schemeClr val="accent1"/>
          </a:solidFill>
          <a:ln/>
        </p:spPr>
        <p:txBody>
          <a:bodyPr/>
          <a:lstStyle/>
          <a:p>
            <a:endParaRPr lang="fr-FR"/>
          </a:p>
        </p:txBody>
      </p:sp>
      <p:sp>
        <p:nvSpPr>
          <p:cNvPr id="9" name="Chain 2"/>
          <p:cNvSpPr/>
          <p:nvPr/>
        </p:nvSpPr>
        <p:spPr>
          <a:xfrm>
            <a:off x="2377440" y="2148840"/>
            <a:ext cx="1508760" cy="868680"/>
          </a:xfrm>
          <a:prstGeom prst="roundRect">
            <a:avLst>
              <a:gd name="adj" fmla="val 10526"/>
            </a:avLst>
          </a:prstGeom>
          <a:solidFill>
            <a:schemeClr val="bg2"/>
          </a:solidFill>
          <a:ln w="9525">
            <a:solidFill>
              <a:schemeClr val="accent5"/>
            </a:solidFill>
            <a:prstDash val="solid"/>
          </a:ln>
        </p:spPr>
        <p:txBody>
          <a:bodyPr/>
          <a:lstStyle/>
          <a:p>
            <a:endParaRPr lang="fr-FR"/>
          </a:p>
        </p:txBody>
      </p:sp>
      <p:sp>
        <p:nvSpPr>
          <p:cNvPr id="10" name="Text 8"/>
          <p:cNvSpPr txBox="1"/>
          <p:nvPr/>
        </p:nvSpPr>
        <p:spPr>
          <a:xfrm>
            <a:off x="2487168" y="2148840"/>
            <a:ext cx="1289304" cy="868680"/>
          </a:xfrm>
          <a:prstGeom prst="rect">
            <a:avLst/>
          </a:prstGeom>
          <a:noFill/>
          <a:ln/>
        </p:spPr>
        <p:txBody>
          <a:bodyPr wrap="square" lIns="0" tIns="0" rIns="0" bIns="0" rtlCol="0" anchor="ctr"/>
          <a:lstStyle/>
          <a:p>
            <a:pPr marL="0" indent="0" algn="ctr">
              <a:buNone/>
            </a:pPr>
            <a:r>
              <a:rPr lang="en-US" sz="1400" dirty="0">
                <a:solidFill>
                  <a:schemeClr val="tx1"/>
                </a:solidFill>
              </a:rPr>
              <a:t>Dephasing</a:t>
            </a:r>
            <a:endParaRPr lang="en-US" sz="1400" dirty="0"/>
          </a:p>
        </p:txBody>
      </p:sp>
      <p:sp>
        <p:nvSpPr>
          <p:cNvPr id="11" name="Shape 9"/>
          <p:cNvSpPr/>
          <p:nvPr/>
        </p:nvSpPr>
        <p:spPr>
          <a:xfrm>
            <a:off x="3950208" y="2450592"/>
            <a:ext cx="192024" cy="256032"/>
          </a:xfrm>
          <a:prstGeom prst="rightArrow">
            <a:avLst/>
          </a:prstGeom>
          <a:solidFill>
            <a:schemeClr val="accent1"/>
          </a:solidFill>
          <a:ln/>
        </p:spPr>
        <p:txBody>
          <a:bodyPr/>
          <a:lstStyle/>
          <a:p>
            <a:endParaRPr lang="fr-FR"/>
          </a:p>
        </p:txBody>
      </p:sp>
      <p:sp>
        <p:nvSpPr>
          <p:cNvPr id="12" name="Chain 3"/>
          <p:cNvSpPr/>
          <p:nvPr/>
        </p:nvSpPr>
        <p:spPr>
          <a:xfrm>
            <a:off x="4206240" y="2148840"/>
            <a:ext cx="1508760" cy="868680"/>
          </a:xfrm>
          <a:prstGeom prst="roundRect">
            <a:avLst>
              <a:gd name="adj" fmla="val 10526"/>
            </a:avLst>
          </a:prstGeom>
          <a:solidFill>
            <a:schemeClr val="bg2"/>
          </a:solidFill>
          <a:ln w="9525">
            <a:solidFill>
              <a:schemeClr val="accent5"/>
            </a:solidFill>
            <a:prstDash val="solid"/>
          </a:ln>
        </p:spPr>
        <p:txBody>
          <a:bodyPr/>
          <a:lstStyle/>
          <a:p>
            <a:endParaRPr lang="fr-FR"/>
          </a:p>
        </p:txBody>
      </p:sp>
      <p:sp>
        <p:nvSpPr>
          <p:cNvPr id="13" name="Text 11"/>
          <p:cNvSpPr txBox="1"/>
          <p:nvPr/>
        </p:nvSpPr>
        <p:spPr>
          <a:xfrm>
            <a:off x="4315968" y="2148840"/>
            <a:ext cx="1289304" cy="868680"/>
          </a:xfrm>
          <a:prstGeom prst="rect">
            <a:avLst/>
          </a:prstGeom>
          <a:noFill/>
          <a:ln/>
        </p:spPr>
        <p:txBody>
          <a:bodyPr wrap="square" lIns="0" tIns="0" rIns="0" bIns="0" rtlCol="0" anchor="ctr"/>
          <a:lstStyle/>
          <a:p>
            <a:pPr marL="0" indent="0" algn="ctr">
              <a:buNone/>
            </a:pPr>
            <a:r>
              <a:rPr lang="en-US" sz="1400" dirty="0">
                <a:solidFill>
                  <a:schemeClr val="tx1"/>
                </a:solidFill>
              </a:rPr>
              <a:t>Loss of orthogonality</a:t>
            </a:r>
            <a:endParaRPr lang="en-US" sz="1400" dirty="0"/>
          </a:p>
        </p:txBody>
      </p:sp>
      <p:sp>
        <p:nvSpPr>
          <p:cNvPr id="14" name="Shape 12"/>
          <p:cNvSpPr/>
          <p:nvPr/>
        </p:nvSpPr>
        <p:spPr>
          <a:xfrm>
            <a:off x="5779008" y="2450592"/>
            <a:ext cx="192024" cy="256032"/>
          </a:xfrm>
          <a:prstGeom prst="rightArrow">
            <a:avLst/>
          </a:prstGeom>
          <a:solidFill>
            <a:schemeClr val="accent1"/>
          </a:solidFill>
          <a:ln/>
        </p:spPr>
        <p:txBody>
          <a:bodyPr/>
          <a:lstStyle/>
          <a:p>
            <a:endParaRPr lang="fr-FR"/>
          </a:p>
        </p:txBody>
      </p:sp>
      <p:sp>
        <p:nvSpPr>
          <p:cNvPr id="15" name="Chain 4"/>
          <p:cNvSpPr/>
          <p:nvPr/>
        </p:nvSpPr>
        <p:spPr>
          <a:xfrm>
            <a:off x="6035040" y="2148840"/>
            <a:ext cx="1508760" cy="868680"/>
          </a:xfrm>
          <a:prstGeom prst="roundRect">
            <a:avLst>
              <a:gd name="adj" fmla="val 10526"/>
            </a:avLst>
          </a:prstGeom>
          <a:solidFill>
            <a:schemeClr val="bg2"/>
          </a:solidFill>
          <a:ln w="9525">
            <a:solidFill>
              <a:schemeClr val="accent5"/>
            </a:solidFill>
            <a:prstDash val="solid"/>
          </a:ln>
        </p:spPr>
        <p:txBody>
          <a:bodyPr/>
          <a:lstStyle/>
          <a:p>
            <a:endParaRPr lang="fr-FR"/>
          </a:p>
        </p:txBody>
      </p:sp>
      <p:sp>
        <p:nvSpPr>
          <p:cNvPr id="16" name="Text 14"/>
          <p:cNvSpPr txBox="1"/>
          <p:nvPr/>
        </p:nvSpPr>
        <p:spPr>
          <a:xfrm>
            <a:off x="6144768" y="2148840"/>
            <a:ext cx="1289304" cy="868680"/>
          </a:xfrm>
          <a:prstGeom prst="rect">
            <a:avLst/>
          </a:prstGeom>
          <a:noFill/>
          <a:ln/>
        </p:spPr>
        <p:txBody>
          <a:bodyPr wrap="square" lIns="0" tIns="0" rIns="0" bIns="0" rtlCol="0" anchor="ctr"/>
          <a:lstStyle/>
          <a:p>
            <a:pPr marL="0" indent="0" algn="ctr">
              <a:buNone/>
            </a:pPr>
            <a:r>
              <a:rPr lang="en-US" sz="1400" dirty="0">
                <a:solidFill>
                  <a:schemeClr val="tx1"/>
                </a:solidFill>
              </a:rPr>
              <a:t>Loss of information</a:t>
            </a:r>
            <a:endParaRPr lang="en-US" sz="1400" dirty="0"/>
          </a:p>
        </p:txBody>
      </p:sp>
      <p:sp>
        <p:nvSpPr>
          <p:cNvPr id="17" name="Reynolds note"/>
          <p:cNvSpPr/>
          <p:nvPr/>
        </p:nvSpPr>
        <p:spPr>
          <a:xfrm>
            <a:off x="7955280" y="2148840"/>
            <a:ext cx="3687775" cy="868680"/>
          </a:xfrm>
          <a:prstGeom prst="roundRect">
            <a:avLst>
              <a:gd name="adj" fmla="val 15789"/>
            </a:avLst>
          </a:prstGeom>
          <a:solidFill>
            <a:schemeClr val="bg2"/>
          </a:solidFill>
          <a:ln w="12700">
            <a:solidFill>
              <a:schemeClr val="accent1"/>
            </a:solidFill>
            <a:prstDash val="solid"/>
          </a:ln>
        </p:spPr>
        <p:txBody>
          <a:bodyPr/>
          <a:lstStyle/>
          <a:p>
            <a:endParaRPr lang="fr-FR"/>
          </a:p>
        </p:txBody>
      </p:sp>
      <p:sp>
        <p:nvSpPr>
          <p:cNvPr id="18" name="Shape 16"/>
          <p:cNvSpPr/>
          <p:nvPr/>
        </p:nvSpPr>
        <p:spPr>
          <a:xfrm>
            <a:off x="8229600" y="2542032"/>
            <a:ext cx="91440" cy="91440"/>
          </a:xfrm>
          <a:prstGeom prst="rect">
            <a:avLst/>
          </a:prstGeom>
          <a:solidFill>
            <a:schemeClr val="accent2"/>
          </a:solidFill>
          <a:ln/>
        </p:spPr>
        <p:txBody>
          <a:bodyPr/>
          <a:lstStyle/>
          <a:p>
            <a:endParaRPr lang="fr-FR"/>
          </a:p>
        </p:txBody>
      </p:sp>
      <p:sp>
        <p:nvSpPr>
          <p:cNvPr id="19" name="Text 17"/>
          <p:cNvSpPr txBox="1"/>
          <p:nvPr/>
        </p:nvSpPr>
        <p:spPr>
          <a:xfrm>
            <a:off x="8412480" y="2148840"/>
            <a:ext cx="3047695" cy="868680"/>
          </a:xfrm>
          <a:prstGeom prst="rect">
            <a:avLst/>
          </a:prstGeom>
          <a:noFill/>
          <a:ln/>
        </p:spPr>
        <p:txBody>
          <a:bodyPr wrap="square" lIns="0" tIns="0" rIns="0" bIns="0" rtlCol="0" anchor="ctr"/>
          <a:lstStyle/>
          <a:p>
            <a:pPr marL="0" indent="0">
              <a:buNone/>
            </a:pPr>
            <a:r>
              <a:rPr lang="en-US" sz="1500" b="1" dirty="0">
                <a:solidFill>
                  <a:schemeClr val="tx1"/>
                </a:solidFill>
              </a:rPr>
              <a:t>Inevitable problem at high Reynolds number</a:t>
            </a:r>
            <a:endParaRPr lang="en-US" sz="1500" dirty="0"/>
          </a:p>
        </p:txBody>
      </p:sp>
      <p:sp>
        <p:nvSpPr>
          <p:cNvPr id="20" name="Text 18"/>
          <p:cNvSpPr txBox="1"/>
          <p:nvPr/>
        </p:nvSpPr>
        <p:spPr>
          <a:xfrm>
            <a:off x="548640" y="3246120"/>
            <a:ext cx="7315200" cy="411480"/>
          </a:xfrm>
          <a:prstGeom prst="rect">
            <a:avLst/>
          </a:prstGeom>
          <a:noFill/>
          <a:ln/>
        </p:spPr>
        <p:txBody>
          <a:bodyPr wrap="square" lIns="0" tIns="0" rIns="0" bIns="0" rtlCol="0" anchor="ctr"/>
          <a:lstStyle/>
          <a:p>
            <a:pPr marL="0" indent="0">
              <a:buNone/>
            </a:pPr>
            <a:r>
              <a:rPr lang="en-US" sz="1800" b="1" dirty="0">
                <a:solidFill>
                  <a:schemeClr val="tx1"/>
                </a:solidFill>
              </a:rPr>
              <a:t>Dissipation</a:t>
            </a:r>
            <a:r>
              <a:rPr lang="en-US" sz="1800" dirty="0">
                <a:solidFill>
                  <a:schemeClr val="tx2"/>
                </a:solidFill>
              </a:rPr>
              <a:t> cannot be dealt with exactly by deterministic unitaries</a:t>
            </a:r>
            <a:endParaRPr lang="en-US" sz="1800" dirty="0"/>
          </a:p>
        </p:txBody>
      </p:sp>
      <p:pic>
        <p:nvPicPr>
          <p:cNvPr id="21" name="Image 0" descr="Quantum computer cryostat"/>
          <p:cNvPicPr>
            <a:picLocks noChangeAspect="1"/>
          </p:cNvPicPr>
          <p:nvPr/>
        </p:nvPicPr>
        <p:blipFill>
          <a:blip r:embed="rId3"/>
          <a:srcRect/>
          <a:stretch/>
        </p:blipFill>
        <p:spPr>
          <a:xfrm>
            <a:off x="548640" y="3931920"/>
            <a:ext cx="3749040" cy="2103120"/>
          </a:xfrm>
          <a:prstGeom prst="rect">
            <a:avLst/>
          </a:prstGeom>
        </p:spPr>
      </p:pic>
      <p:sp>
        <p:nvSpPr>
          <p:cNvPr id="22" name="Key statement"/>
          <p:cNvSpPr/>
          <p:nvPr/>
        </p:nvSpPr>
        <p:spPr>
          <a:xfrm>
            <a:off x="4572000" y="3931920"/>
            <a:ext cx="7071055" cy="2103120"/>
          </a:xfrm>
          <a:prstGeom prst="roundRect">
            <a:avLst>
              <a:gd name="adj" fmla="val 6522"/>
            </a:avLst>
          </a:prstGeom>
          <a:solidFill>
            <a:schemeClr val="bg2"/>
          </a:solidFill>
          <a:ln w="12700">
            <a:solidFill>
              <a:schemeClr val="accent1"/>
            </a:solidFill>
            <a:prstDash val="solid"/>
          </a:ln>
        </p:spPr>
        <p:txBody>
          <a:bodyPr/>
          <a:lstStyle/>
          <a:p>
            <a:endParaRPr lang="fr-FR"/>
          </a:p>
        </p:txBody>
      </p:sp>
      <p:sp>
        <p:nvSpPr>
          <p:cNvPr id="23" name="Shape 20"/>
          <p:cNvSpPr/>
          <p:nvPr/>
        </p:nvSpPr>
        <p:spPr>
          <a:xfrm>
            <a:off x="4937760" y="4297680"/>
            <a:ext cx="91440" cy="91440"/>
          </a:xfrm>
          <a:prstGeom prst="rect">
            <a:avLst/>
          </a:prstGeom>
          <a:solidFill>
            <a:schemeClr val="accent2"/>
          </a:solidFill>
          <a:ln/>
        </p:spPr>
        <p:txBody>
          <a:bodyPr/>
          <a:lstStyle/>
          <a:p>
            <a:endParaRPr lang="fr-FR"/>
          </a:p>
        </p:txBody>
      </p:sp>
      <p:sp>
        <p:nvSpPr>
          <p:cNvPr id="24" name="Text 21"/>
          <p:cNvSpPr txBox="1"/>
          <p:nvPr/>
        </p:nvSpPr>
        <p:spPr>
          <a:xfrm>
            <a:off x="4937760" y="4480560"/>
            <a:ext cx="6339535" cy="1188720"/>
          </a:xfrm>
          <a:prstGeom prst="rect">
            <a:avLst/>
          </a:prstGeom>
          <a:noFill/>
          <a:ln/>
        </p:spPr>
        <p:txBody>
          <a:bodyPr wrap="square" lIns="0" tIns="0" rIns="0" bIns="0" rtlCol="0" anchor="t"/>
          <a:lstStyle/>
          <a:p>
            <a:pPr marL="0" indent="0">
              <a:buNone/>
            </a:pPr>
            <a:r>
              <a:rPr lang="en-US" sz="2600" dirty="0">
                <a:solidFill>
                  <a:schemeClr val="tx2"/>
                </a:solidFill>
              </a:rPr>
              <a:t>But quantum computers are fundamentally </a:t>
            </a:r>
            <a:r>
              <a:rPr lang="en-US" sz="2600" b="1" u="sng" dirty="0">
                <a:solidFill>
                  <a:schemeClr val="tx1"/>
                </a:solidFill>
              </a:rPr>
              <a:t>linear</a:t>
            </a:r>
            <a:r>
              <a:rPr lang="en-US" sz="2600" dirty="0">
                <a:solidFill>
                  <a:schemeClr val="tx2"/>
                </a:solidFill>
              </a:rPr>
              <a:t> and </a:t>
            </a:r>
            <a:r>
              <a:rPr lang="en-US" sz="2600" b="1" u="sng" dirty="0">
                <a:solidFill>
                  <a:schemeClr val="tx1"/>
                </a:solidFill>
              </a:rPr>
              <a:t>unitary</a:t>
            </a:r>
            <a:r>
              <a:rPr lang="en-US" sz="2600" dirty="0">
                <a:solidFill>
                  <a:schemeClr val="tx2"/>
                </a:solidFill>
              </a:rPr>
              <a:t> machines</a:t>
            </a:r>
            <a:endParaRPr lang="en-US" sz="2600" dirty="0"/>
          </a:p>
        </p:txBody>
      </p:sp>
      <p:sp>
        <p:nvSpPr>
          <p:cNvPr id="25" name="Slide Number Placeholder 0"/>
          <p:cNvSpPr>
            <a:spLocks noGrp="1"/>
          </p:cNvSpPr>
          <p:nvPr>
            <p:ph type="sldNum" sz="quarter" idx="4294967295"/>
          </p:nvPr>
        </p:nvSpPr>
        <p:spPr>
          <a:xfrm>
            <a:off x="11094415" y="6327648"/>
            <a:ext cx="548640" cy="274320"/>
          </a:xfrm>
          <a:prstGeom prst="rect">
            <a:avLst/>
          </a:prstGeom>
          <a:extLst>
            <a:ext uri="{C572A759-6A51-4108-AA02-DFA0A04FC94B}">
              <ma14:wrappingTextBoxFlag xmlns:ma14="http://schemas.microsoft.com/office/mac/drawingml/2011/main" xmlns="" val="0"/>
            </a:ext>
          </a:extLst>
        </p:spPr>
        <p:txBody>
          <a:bodyPr lIns="0" tIns="0" rIns="0" bIns="0" anchor="ctr"/>
          <a:lstStyle>
            <a:lvl1pPr>
              <a:defRPr sz="1000">
                <a:solidFill>
                  <a:srgbClr val="9AA3BD"/>
                </a:solidFill>
              </a:defRPr>
            </a:lvl1pPr>
          </a:lstStyle>
          <a:p>
            <a:pPr algn="r"/>
            <a:fld id="{F7021451-1387-4CA6-816F-3879F97B5CBC}" type="slidenum">
              <a:rPr lang="en-US" b="0"/>
              <a:t>10</a:t>
            </a:fld>
            <a:endParaRPr lang="en-US"/>
          </a:p>
        </p:txBody>
      </p:sp>
      <p:pic>
        <p:nvPicPr>
          <p:cNvPr id="27" name="Image 26">
            <a:extLst>
              <a:ext uri="{FF2B5EF4-FFF2-40B4-BE49-F238E27FC236}">
                <a16:creationId xmlns:a16="http://schemas.microsoft.com/office/drawing/2014/main" id="{469A6509-A53F-5872-890F-60E135348649}"/>
              </a:ext>
            </a:extLst>
          </p:cNvPr>
          <p:cNvPicPr>
            <a:picLocks noChangeAspect="1"/>
          </p:cNvPicPr>
          <p:nvPr/>
        </p:nvPicPr>
        <p:blipFill>
          <a:blip r:embed="rId4"/>
          <a:stretch>
            <a:fillRect/>
          </a:stretch>
        </p:blipFill>
        <p:spPr>
          <a:xfrm>
            <a:off x="9724644" y="-443705"/>
            <a:ext cx="2437453" cy="1723866"/>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10"/>
          <p:cNvSpPr>
            <a:spLocks noGrp="1"/>
          </p:cNvSpPr>
          <p:nvPr>
            <p:ph type="body" idx="110" hasCustomPrompt="1"/>
          </p:nvPr>
        </p:nvSpPr>
        <p:spPr>
          <a:xfrm>
            <a:off x="548640" y="1463040"/>
            <a:ext cx="3657600" cy="1280160"/>
          </a:xfrm>
          <a:prstGeom prst="rect">
            <a:avLst/>
          </a:prstGeom>
          <a:noFill/>
          <a:ln/>
        </p:spPr>
        <p:txBody>
          <a:bodyPr wrap="square" lIns="0" tIns="0" rIns="0" bIns="0" rtlCol="0" anchor="b"/>
          <a:lstStyle/>
          <a:p>
            <a:pPr marL="0" indent="0" algn="l">
              <a:buNone/>
            </a:pPr>
            <a:r>
              <a:rPr lang="en-US" sz="9600" b="1" dirty="0">
                <a:solidFill>
                  <a:schemeClr val="accent1"/>
                </a:solidFill>
                <a:latin typeface="Aptos Display" pitchFamily="34" charset="0"/>
                <a:ea typeface="Aptos Display" pitchFamily="34" charset="-122"/>
                <a:cs typeface="Aptos Display" pitchFamily="34" charset="-120"/>
              </a:rPr>
              <a:t>02</a:t>
            </a:r>
            <a:endParaRPr lang="en-US" sz="9600" dirty="0"/>
          </a:p>
        </p:txBody>
      </p:sp>
      <p:sp>
        <p:nvSpPr>
          <p:cNvPr id="3" name="Text 10"/>
          <p:cNvSpPr>
            <a:spLocks noGrp="1"/>
          </p:cNvSpPr>
          <p:nvPr>
            <p:ph type="title" idx="111" hasCustomPrompt="1"/>
          </p:nvPr>
        </p:nvSpPr>
        <p:spPr>
          <a:xfrm>
            <a:off x="548640" y="2926080"/>
            <a:ext cx="8229600" cy="914400"/>
          </a:xfrm>
          <a:prstGeom prst="rect">
            <a:avLst/>
          </a:prstGeom>
          <a:noFill/>
          <a:ln/>
        </p:spPr>
        <p:txBody>
          <a:bodyPr wrap="square" lIns="0" tIns="0" rIns="0" bIns="0" rtlCol="0" anchor="t"/>
          <a:lstStyle/>
          <a:p>
            <a:pPr marL="0" indent="0" algn="l">
              <a:buNone/>
            </a:pPr>
            <a:r>
              <a:rPr lang="en-US" sz="4000" dirty="0">
                <a:solidFill>
                  <a:schemeClr val="tx1"/>
                </a:solidFill>
              </a:rPr>
              <a:t>Algorithmic Foundation</a:t>
            </a:r>
            <a:endParaRPr lang="en-US" sz="4000" dirty="0"/>
          </a:p>
        </p:txBody>
      </p:sp>
      <p:sp>
        <p:nvSpPr>
          <p:cNvPr id="4" name="Text 10"/>
          <p:cNvSpPr>
            <a:spLocks noGrp="1"/>
          </p:cNvSpPr>
          <p:nvPr>
            <p:ph type="body" idx="112" hasCustomPrompt="1"/>
          </p:nvPr>
        </p:nvSpPr>
        <p:spPr>
          <a:xfrm>
            <a:off x="548640" y="3931920"/>
            <a:ext cx="6858000" cy="822960"/>
          </a:xfrm>
          <a:prstGeom prst="rect">
            <a:avLst/>
          </a:prstGeom>
          <a:noFill/>
          <a:ln/>
        </p:spPr>
        <p:txBody>
          <a:bodyPr wrap="square" lIns="0" tIns="0" rIns="0" bIns="0" rtlCol="0" anchor="t"/>
          <a:lstStyle/>
          <a:p>
            <a:pPr>
              <a:lnSpc>
                <a:spcPts val="5037"/>
              </a:lnSpc>
              <a:defRPr/>
            </a:pPr>
            <a:r>
              <a:rPr lang="en-US" dirty="0"/>
              <a:t>What enables quantum-</a:t>
            </a:r>
            <a:r>
              <a:rPr lang="en-US" dirty="0" err="1"/>
              <a:t>accelarated</a:t>
            </a:r>
            <a:r>
              <a:rPr lang="en-US" dirty="0"/>
              <a:t> </a:t>
            </a:r>
            <a:r>
              <a:rPr lang="en-US" dirty="0" err="1"/>
              <a:t>multiphysics</a:t>
            </a:r>
            <a:r>
              <a:rPr lang="en-US" dirty="0"/>
              <a:t> simulation</a:t>
            </a:r>
          </a:p>
          <a:p>
            <a:pPr marL="0" indent="0" algn="l">
              <a:buNone/>
            </a:pPr>
            <a:endParaRPr lang="en-US" sz="1600" dirty="0"/>
          </a:p>
        </p:txBody>
      </p:sp>
      <p:sp>
        <p:nvSpPr>
          <p:cNvPr id="5" name="Detail square"/>
          <p:cNvSpPr/>
          <p:nvPr/>
        </p:nvSpPr>
        <p:spPr>
          <a:xfrm>
            <a:off x="594360" y="1325880"/>
            <a:ext cx="109728" cy="109728"/>
          </a:xfrm>
          <a:prstGeom prst="rect">
            <a:avLst/>
          </a:prstGeom>
          <a:solidFill>
            <a:schemeClr val="accent2"/>
          </a:solidFill>
          <a:ln/>
        </p:spPr>
        <p:txBody>
          <a:bodyPr/>
          <a:lstStyle/>
          <a:p>
            <a:endParaRPr lang="fr-FR"/>
          </a:p>
        </p:txBody>
      </p:sp>
      <p:sp>
        <p:nvSpPr>
          <p:cNvPr id="25" name="Slide Number Placeholder 0"/>
          <p:cNvSpPr>
            <a:spLocks noGrp="1"/>
          </p:cNvSpPr>
          <p:nvPr>
            <p:ph type="sldNum" sz="quarter" idx="4294967295"/>
          </p:nvPr>
        </p:nvSpPr>
        <p:spPr>
          <a:xfrm>
            <a:off x="11094415" y="6327648"/>
            <a:ext cx="548640" cy="274320"/>
          </a:xfrm>
          <a:prstGeom prst="rect">
            <a:avLst/>
          </a:prstGeom>
          <a:extLst>
            <a:ext uri="{C572A759-6A51-4108-AA02-DFA0A04FC94B}">
              <ma14:wrappingTextBoxFlag xmlns="" xmlns:ma14="http://schemas.microsoft.com/office/mac/drawingml/2011/main" val="0"/>
            </a:ext>
          </a:extLst>
        </p:spPr>
        <p:txBody>
          <a:bodyPr lIns="0" tIns="0" rIns="0" bIns="0" anchor="ctr"/>
          <a:lstStyle>
            <a:lvl1pPr>
              <a:defRPr sz="1000">
                <a:solidFill>
                  <a:srgbClr val="9AA3BD"/>
                </a:solidFill>
              </a:defRPr>
            </a:lvl1pPr>
          </a:lstStyle>
          <a:p>
            <a:pPr algn="r"/>
            <a:fld id="{F7021451-1387-4CA6-816F-3879F97B5CBC}" type="slidenum">
              <a:rPr lang="en-US" b="0"/>
              <a:t>11</a:t>
            </a:fld>
            <a:endParaRPr lang="en-US"/>
          </a:p>
        </p:txBody>
      </p:sp>
      <p:pic>
        <p:nvPicPr>
          <p:cNvPr id="11" name="Image 10">
            <a:extLst>
              <a:ext uri="{FF2B5EF4-FFF2-40B4-BE49-F238E27FC236}">
                <a16:creationId xmlns:a16="http://schemas.microsoft.com/office/drawing/2014/main" id="{3FDD0D23-C2B9-F372-4FAB-9A1B9E3A0D0C}"/>
              </a:ext>
            </a:extLst>
          </p:cNvPr>
          <p:cNvPicPr>
            <a:picLocks noChangeAspect="1"/>
          </p:cNvPicPr>
          <p:nvPr/>
        </p:nvPicPr>
        <p:blipFill>
          <a:blip r:embed="rId3"/>
          <a:stretch>
            <a:fillRect/>
          </a:stretch>
        </p:blipFill>
        <p:spPr>
          <a:xfrm>
            <a:off x="9724644" y="-443705"/>
            <a:ext cx="2437453" cy="1723866"/>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0"/>
          <p:cNvSpPr>
            <a:spLocks noGrp="1"/>
          </p:cNvSpPr>
          <p:nvPr>
            <p:ph type="title" idx="110" hasCustomPrompt="1"/>
          </p:nvPr>
        </p:nvSpPr>
        <p:spPr>
          <a:xfrm>
            <a:off x="548640" y="457200"/>
            <a:ext cx="11094415" cy="777240"/>
          </a:xfrm>
          <a:prstGeom prst="rect">
            <a:avLst/>
          </a:prstGeom>
          <a:noFill/>
          <a:ln/>
        </p:spPr>
        <p:txBody>
          <a:bodyPr wrap="square" lIns="0" tIns="0" rIns="0" bIns="0" rtlCol="0" anchor="t"/>
          <a:lstStyle/>
          <a:p>
            <a:pPr marL="0" indent="0" algn="l">
              <a:buNone/>
            </a:pPr>
            <a:r>
              <a:rPr lang="en-US" sz="3200" dirty="0">
                <a:solidFill>
                  <a:schemeClr val="tx1"/>
                </a:solidFill>
              </a:rPr>
              <a:t>The basic toolbox</a:t>
            </a:r>
            <a:endParaRPr lang="en-US" sz="3200" dirty="0"/>
          </a:p>
        </p:txBody>
      </p:sp>
      <p:sp>
        <p:nvSpPr>
          <p:cNvPr id="3" name="Text 1"/>
          <p:cNvSpPr txBox="1"/>
          <p:nvPr/>
        </p:nvSpPr>
        <p:spPr>
          <a:xfrm>
            <a:off x="548640" y="1097280"/>
            <a:ext cx="11094415" cy="365760"/>
          </a:xfrm>
          <a:prstGeom prst="rect">
            <a:avLst/>
          </a:prstGeom>
          <a:noFill/>
          <a:ln/>
        </p:spPr>
        <p:txBody>
          <a:bodyPr wrap="square" lIns="0" tIns="0" rIns="0" bIns="0" rtlCol="0" anchor="t"/>
          <a:lstStyle/>
          <a:p>
            <a:pPr marL="0" indent="0">
              <a:buNone/>
            </a:pPr>
            <a:r>
              <a:rPr lang="en-US" sz="1600" dirty="0">
                <a:solidFill>
                  <a:schemeClr val="tx2"/>
                </a:solidFill>
              </a:rPr>
              <a:t>From nonlinear PDE to quantum algorithm</a:t>
            </a:r>
            <a:endParaRPr lang="en-US" sz="1600" dirty="0"/>
          </a:p>
        </p:txBody>
      </p:sp>
      <p:sp>
        <p:nvSpPr>
          <p:cNvPr id="4" name="Step 1"/>
          <p:cNvSpPr/>
          <p:nvPr/>
        </p:nvSpPr>
        <p:spPr>
          <a:xfrm>
            <a:off x="548640" y="1691640"/>
            <a:ext cx="2464994" cy="3657600"/>
          </a:xfrm>
          <a:prstGeom prst="roundRect">
            <a:avLst>
              <a:gd name="adj" fmla="val 5564"/>
            </a:avLst>
          </a:prstGeom>
          <a:solidFill>
            <a:schemeClr val="bg2"/>
          </a:solidFill>
          <a:ln w="12700">
            <a:solidFill>
              <a:schemeClr val="accent1"/>
            </a:solidFill>
            <a:prstDash val="solid"/>
          </a:ln>
        </p:spPr>
        <p:txBody>
          <a:bodyPr/>
          <a:lstStyle/>
          <a:p>
            <a:endParaRPr lang="fr-FR"/>
          </a:p>
        </p:txBody>
      </p:sp>
      <p:sp>
        <p:nvSpPr>
          <p:cNvPr id="5" name="Shape 3"/>
          <p:cNvSpPr/>
          <p:nvPr/>
        </p:nvSpPr>
        <p:spPr>
          <a:xfrm>
            <a:off x="822960" y="1965960"/>
            <a:ext cx="457200" cy="457200"/>
          </a:xfrm>
          <a:prstGeom prst="ellipse">
            <a:avLst/>
          </a:prstGeom>
          <a:solidFill>
            <a:schemeClr val="accent1"/>
          </a:solidFill>
          <a:ln/>
        </p:spPr>
        <p:txBody>
          <a:bodyPr/>
          <a:lstStyle/>
          <a:p>
            <a:endParaRPr lang="fr-FR"/>
          </a:p>
        </p:txBody>
      </p:sp>
      <p:sp>
        <p:nvSpPr>
          <p:cNvPr id="6" name="Text 4"/>
          <p:cNvSpPr txBox="1"/>
          <p:nvPr/>
        </p:nvSpPr>
        <p:spPr>
          <a:xfrm>
            <a:off x="822960" y="1965960"/>
            <a:ext cx="457200" cy="457200"/>
          </a:xfrm>
          <a:prstGeom prst="rect">
            <a:avLst/>
          </a:prstGeom>
          <a:noFill/>
          <a:ln/>
        </p:spPr>
        <p:txBody>
          <a:bodyPr wrap="square" lIns="0" tIns="0" rIns="0" bIns="0" rtlCol="0" anchor="ctr"/>
          <a:lstStyle/>
          <a:p>
            <a:pPr marL="0" indent="0" algn="ctr">
              <a:buNone/>
            </a:pPr>
            <a:r>
              <a:rPr lang="en-US" sz="1600" b="1" dirty="0">
                <a:solidFill>
                  <a:schemeClr val="tx1"/>
                </a:solidFill>
              </a:rPr>
              <a:t>1</a:t>
            </a:r>
            <a:endParaRPr lang="en-US" sz="1600" dirty="0"/>
          </a:p>
        </p:txBody>
      </p:sp>
      <p:sp>
        <p:nvSpPr>
          <p:cNvPr id="7" name="Text 5"/>
          <p:cNvSpPr txBox="1"/>
          <p:nvPr/>
        </p:nvSpPr>
        <p:spPr>
          <a:xfrm>
            <a:off x="822960" y="2560320"/>
            <a:ext cx="1916354" cy="365760"/>
          </a:xfrm>
          <a:prstGeom prst="rect">
            <a:avLst/>
          </a:prstGeom>
          <a:noFill/>
          <a:ln/>
        </p:spPr>
        <p:txBody>
          <a:bodyPr wrap="square" lIns="0" tIns="0" rIns="0" bIns="0" rtlCol="0" anchor="ctr"/>
          <a:lstStyle/>
          <a:p>
            <a:pPr marL="0" indent="0">
              <a:buNone/>
            </a:pPr>
            <a:r>
              <a:rPr lang="en-US" sz="1800" b="1" dirty="0">
                <a:solidFill>
                  <a:schemeClr val="tx1"/>
                </a:solidFill>
              </a:rPr>
              <a:t>Linearize</a:t>
            </a:r>
            <a:endParaRPr lang="en-US" sz="1800" dirty="0"/>
          </a:p>
        </p:txBody>
      </p:sp>
      <p:sp>
        <p:nvSpPr>
          <p:cNvPr id="8" name="Text 6"/>
          <p:cNvSpPr txBox="1"/>
          <p:nvPr/>
        </p:nvSpPr>
        <p:spPr>
          <a:xfrm>
            <a:off x="822960" y="2971800"/>
            <a:ext cx="1916354" cy="685800"/>
          </a:xfrm>
          <a:prstGeom prst="rect">
            <a:avLst/>
          </a:prstGeom>
          <a:noFill/>
          <a:ln/>
        </p:spPr>
        <p:txBody>
          <a:bodyPr wrap="square" lIns="0" tIns="0" rIns="0" bIns="0" rtlCol="0" anchor="t"/>
          <a:lstStyle/>
          <a:p>
            <a:pPr marL="0" indent="0">
              <a:buNone/>
            </a:pPr>
            <a:r>
              <a:rPr lang="en-US" sz="1400" dirty="0">
                <a:solidFill>
                  <a:schemeClr val="tx2"/>
                </a:solidFill>
              </a:rPr>
              <a:t>Embed the nonlinear system in a larger linear one</a:t>
            </a:r>
            <a:endParaRPr lang="en-US" sz="1400" dirty="0"/>
          </a:p>
        </p:txBody>
      </p:sp>
      <p:sp>
        <p:nvSpPr>
          <p:cNvPr id="9" name="Shape 7"/>
          <p:cNvSpPr/>
          <p:nvPr/>
        </p:nvSpPr>
        <p:spPr>
          <a:xfrm>
            <a:off x="822960" y="3703320"/>
            <a:ext cx="1916354" cy="457200"/>
          </a:xfrm>
          <a:prstGeom prst="roundRect">
            <a:avLst>
              <a:gd name="adj" fmla="val 16000"/>
            </a:avLst>
          </a:prstGeom>
          <a:solidFill>
            <a:schemeClr val="accent4"/>
          </a:solidFill>
          <a:ln/>
        </p:spPr>
        <p:txBody>
          <a:bodyPr/>
          <a:lstStyle/>
          <a:p>
            <a:endParaRPr lang="fr-FR"/>
          </a:p>
        </p:txBody>
      </p:sp>
      <p:sp>
        <p:nvSpPr>
          <p:cNvPr id="10" name="Text 8"/>
          <p:cNvSpPr txBox="1"/>
          <p:nvPr/>
        </p:nvSpPr>
        <p:spPr>
          <a:xfrm>
            <a:off x="932688" y="3703320"/>
            <a:ext cx="1696898" cy="457200"/>
          </a:xfrm>
          <a:prstGeom prst="rect">
            <a:avLst/>
          </a:prstGeom>
          <a:noFill/>
          <a:ln/>
        </p:spPr>
        <p:txBody>
          <a:bodyPr wrap="square" lIns="0" tIns="0" rIns="0" bIns="0" rtlCol="0" anchor="ctr"/>
          <a:lstStyle/>
          <a:p>
            <a:pPr marL="0" indent="0">
              <a:buNone/>
            </a:pPr>
            <a:r>
              <a:rPr lang="en-US" sz="1200" dirty="0">
                <a:solidFill>
                  <a:schemeClr val="tx1"/>
                </a:solidFill>
              </a:rPr>
              <a:t>Carleman</a:t>
            </a:r>
            <a:endParaRPr lang="en-US" sz="1200" dirty="0"/>
          </a:p>
        </p:txBody>
      </p:sp>
      <p:sp>
        <p:nvSpPr>
          <p:cNvPr id="11" name="Shape 9"/>
          <p:cNvSpPr/>
          <p:nvPr/>
        </p:nvSpPr>
        <p:spPr>
          <a:xfrm>
            <a:off x="822960" y="4233672"/>
            <a:ext cx="1916354" cy="457200"/>
          </a:xfrm>
          <a:prstGeom prst="roundRect">
            <a:avLst>
              <a:gd name="adj" fmla="val 16000"/>
            </a:avLst>
          </a:prstGeom>
          <a:solidFill>
            <a:schemeClr val="accent4"/>
          </a:solidFill>
          <a:ln/>
        </p:spPr>
        <p:txBody>
          <a:bodyPr/>
          <a:lstStyle/>
          <a:p>
            <a:endParaRPr lang="fr-FR"/>
          </a:p>
        </p:txBody>
      </p:sp>
      <p:sp>
        <p:nvSpPr>
          <p:cNvPr id="12" name="Text 10"/>
          <p:cNvSpPr txBox="1"/>
          <p:nvPr/>
        </p:nvSpPr>
        <p:spPr>
          <a:xfrm>
            <a:off x="932688" y="4233672"/>
            <a:ext cx="1696898" cy="457200"/>
          </a:xfrm>
          <a:prstGeom prst="rect">
            <a:avLst/>
          </a:prstGeom>
          <a:noFill/>
          <a:ln/>
        </p:spPr>
        <p:txBody>
          <a:bodyPr wrap="square" lIns="0" tIns="0" rIns="0" bIns="0" rtlCol="0" anchor="ctr"/>
          <a:lstStyle/>
          <a:p>
            <a:pPr marL="0" indent="0">
              <a:buNone/>
            </a:pPr>
            <a:r>
              <a:rPr lang="en-US" sz="1200" dirty="0">
                <a:solidFill>
                  <a:schemeClr val="tx1"/>
                </a:solidFill>
              </a:rPr>
              <a:t>Koopman–von Neumann</a:t>
            </a:r>
            <a:endParaRPr lang="en-US" sz="1200" dirty="0"/>
          </a:p>
        </p:txBody>
      </p:sp>
      <p:sp>
        <p:nvSpPr>
          <p:cNvPr id="13" name="Shape 11"/>
          <p:cNvSpPr/>
          <p:nvPr/>
        </p:nvSpPr>
        <p:spPr>
          <a:xfrm>
            <a:off x="822960" y="4764024"/>
            <a:ext cx="1916354" cy="457200"/>
          </a:xfrm>
          <a:prstGeom prst="roundRect">
            <a:avLst>
              <a:gd name="adj" fmla="val 16000"/>
            </a:avLst>
          </a:prstGeom>
          <a:solidFill>
            <a:schemeClr val="accent4"/>
          </a:solidFill>
          <a:ln/>
        </p:spPr>
        <p:txBody>
          <a:bodyPr/>
          <a:lstStyle/>
          <a:p>
            <a:endParaRPr lang="fr-FR"/>
          </a:p>
        </p:txBody>
      </p:sp>
      <p:sp>
        <p:nvSpPr>
          <p:cNvPr id="14" name="Text 12"/>
          <p:cNvSpPr txBox="1"/>
          <p:nvPr/>
        </p:nvSpPr>
        <p:spPr>
          <a:xfrm>
            <a:off x="932688" y="4764024"/>
            <a:ext cx="1696898" cy="457200"/>
          </a:xfrm>
          <a:prstGeom prst="rect">
            <a:avLst/>
          </a:prstGeom>
          <a:noFill/>
          <a:ln/>
        </p:spPr>
        <p:txBody>
          <a:bodyPr wrap="square" lIns="0" tIns="0" rIns="0" bIns="0" rtlCol="0" anchor="ctr"/>
          <a:lstStyle/>
          <a:p>
            <a:pPr marL="0" indent="0">
              <a:buNone/>
            </a:pPr>
            <a:r>
              <a:rPr lang="en-US" sz="1200" dirty="0">
                <a:solidFill>
                  <a:schemeClr val="tx1"/>
                </a:solidFill>
              </a:rPr>
              <a:t>Lattice Boltzmann + Carleman</a:t>
            </a:r>
            <a:endParaRPr lang="en-US" sz="1200" dirty="0"/>
          </a:p>
        </p:txBody>
      </p:sp>
      <p:sp>
        <p:nvSpPr>
          <p:cNvPr id="15" name="Shape 13"/>
          <p:cNvSpPr/>
          <p:nvPr/>
        </p:nvSpPr>
        <p:spPr>
          <a:xfrm>
            <a:off x="3105074" y="3383280"/>
            <a:ext cx="228600" cy="274320"/>
          </a:xfrm>
          <a:prstGeom prst="rightArrow">
            <a:avLst/>
          </a:prstGeom>
          <a:solidFill>
            <a:schemeClr val="accent3"/>
          </a:solidFill>
          <a:ln/>
        </p:spPr>
        <p:txBody>
          <a:bodyPr/>
          <a:lstStyle/>
          <a:p>
            <a:endParaRPr lang="fr-FR"/>
          </a:p>
        </p:txBody>
      </p:sp>
      <p:sp>
        <p:nvSpPr>
          <p:cNvPr id="16" name="Step 2"/>
          <p:cNvSpPr/>
          <p:nvPr/>
        </p:nvSpPr>
        <p:spPr>
          <a:xfrm>
            <a:off x="3425114" y="1691640"/>
            <a:ext cx="2464994" cy="3657600"/>
          </a:xfrm>
          <a:prstGeom prst="roundRect">
            <a:avLst>
              <a:gd name="adj" fmla="val 5564"/>
            </a:avLst>
          </a:prstGeom>
          <a:solidFill>
            <a:schemeClr val="bg2"/>
          </a:solidFill>
          <a:ln w="9525">
            <a:solidFill>
              <a:schemeClr val="accent5"/>
            </a:solidFill>
            <a:prstDash val="solid"/>
          </a:ln>
        </p:spPr>
        <p:txBody>
          <a:bodyPr/>
          <a:lstStyle/>
          <a:p>
            <a:endParaRPr lang="fr-FR"/>
          </a:p>
        </p:txBody>
      </p:sp>
      <p:sp>
        <p:nvSpPr>
          <p:cNvPr id="17" name="Shape 15"/>
          <p:cNvSpPr/>
          <p:nvPr/>
        </p:nvSpPr>
        <p:spPr>
          <a:xfrm>
            <a:off x="3699434" y="1965960"/>
            <a:ext cx="457200" cy="457200"/>
          </a:xfrm>
          <a:prstGeom prst="ellipse">
            <a:avLst/>
          </a:prstGeom>
          <a:solidFill>
            <a:schemeClr val="accent1"/>
          </a:solidFill>
          <a:ln/>
        </p:spPr>
        <p:txBody>
          <a:bodyPr/>
          <a:lstStyle/>
          <a:p>
            <a:endParaRPr lang="fr-FR"/>
          </a:p>
        </p:txBody>
      </p:sp>
      <p:sp>
        <p:nvSpPr>
          <p:cNvPr id="18" name="Text 16"/>
          <p:cNvSpPr txBox="1"/>
          <p:nvPr/>
        </p:nvSpPr>
        <p:spPr>
          <a:xfrm>
            <a:off x="3699434" y="1965960"/>
            <a:ext cx="457200" cy="457200"/>
          </a:xfrm>
          <a:prstGeom prst="rect">
            <a:avLst/>
          </a:prstGeom>
          <a:noFill/>
          <a:ln/>
        </p:spPr>
        <p:txBody>
          <a:bodyPr wrap="square" lIns="0" tIns="0" rIns="0" bIns="0" rtlCol="0" anchor="ctr"/>
          <a:lstStyle/>
          <a:p>
            <a:pPr marL="0" indent="0" algn="ctr">
              <a:buNone/>
            </a:pPr>
            <a:r>
              <a:rPr lang="en-US" sz="1600" b="1" dirty="0">
                <a:solidFill>
                  <a:schemeClr val="tx1"/>
                </a:solidFill>
              </a:rPr>
              <a:t>2</a:t>
            </a:r>
            <a:endParaRPr lang="en-US" sz="1600" dirty="0"/>
          </a:p>
        </p:txBody>
      </p:sp>
      <p:sp>
        <p:nvSpPr>
          <p:cNvPr id="19" name="Text 17"/>
          <p:cNvSpPr txBox="1"/>
          <p:nvPr/>
        </p:nvSpPr>
        <p:spPr>
          <a:xfrm>
            <a:off x="3699434" y="2560320"/>
            <a:ext cx="1916354" cy="365760"/>
          </a:xfrm>
          <a:prstGeom prst="rect">
            <a:avLst/>
          </a:prstGeom>
          <a:noFill/>
          <a:ln/>
        </p:spPr>
        <p:txBody>
          <a:bodyPr wrap="square" lIns="0" tIns="0" rIns="0" bIns="0" rtlCol="0" anchor="ctr"/>
          <a:lstStyle/>
          <a:p>
            <a:pPr marL="0" indent="0">
              <a:buNone/>
            </a:pPr>
            <a:r>
              <a:rPr lang="en-US" sz="1800" b="1" dirty="0">
                <a:solidFill>
                  <a:schemeClr val="tx1"/>
                </a:solidFill>
              </a:rPr>
              <a:t>Solve linear ODE</a:t>
            </a:r>
            <a:endParaRPr lang="en-US" sz="1800" dirty="0"/>
          </a:p>
        </p:txBody>
      </p:sp>
      <p:sp>
        <p:nvSpPr>
          <p:cNvPr id="20" name="Text 18"/>
          <p:cNvSpPr txBox="1"/>
          <p:nvPr/>
        </p:nvSpPr>
        <p:spPr>
          <a:xfrm>
            <a:off x="3699434" y="2971800"/>
            <a:ext cx="1916354" cy="685800"/>
          </a:xfrm>
          <a:prstGeom prst="rect">
            <a:avLst/>
          </a:prstGeom>
          <a:noFill/>
          <a:ln/>
        </p:spPr>
        <p:txBody>
          <a:bodyPr wrap="square" lIns="0" tIns="0" rIns="0" bIns="0" rtlCol="0" anchor="t"/>
          <a:lstStyle/>
          <a:p>
            <a:pPr marL="0" indent="0">
              <a:buNone/>
            </a:pPr>
            <a:r>
              <a:rPr lang="en-US" sz="1400" dirty="0">
                <a:solidFill>
                  <a:schemeClr val="tx2"/>
                </a:solidFill>
              </a:rPr>
              <a:t>Turn dx/dt = Ax + b into unitary operations</a:t>
            </a:r>
            <a:endParaRPr lang="en-US" sz="1400" dirty="0"/>
          </a:p>
        </p:txBody>
      </p:sp>
      <p:sp>
        <p:nvSpPr>
          <p:cNvPr id="21" name="Shape 19"/>
          <p:cNvSpPr/>
          <p:nvPr/>
        </p:nvSpPr>
        <p:spPr>
          <a:xfrm>
            <a:off x="3699434" y="3703320"/>
            <a:ext cx="1916354" cy="457200"/>
          </a:xfrm>
          <a:prstGeom prst="roundRect">
            <a:avLst>
              <a:gd name="adj" fmla="val 16000"/>
            </a:avLst>
          </a:prstGeom>
          <a:solidFill>
            <a:schemeClr val="accent4"/>
          </a:solidFill>
          <a:ln/>
        </p:spPr>
        <p:txBody>
          <a:bodyPr/>
          <a:lstStyle/>
          <a:p>
            <a:endParaRPr lang="fr-FR"/>
          </a:p>
        </p:txBody>
      </p:sp>
      <p:sp>
        <p:nvSpPr>
          <p:cNvPr id="22" name="Text 20"/>
          <p:cNvSpPr txBox="1"/>
          <p:nvPr/>
        </p:nvSpPr>
        <p:spPr>
          <a:xfrm>
            <a:off x="3809162" y="3703320"/>
            <a:ext cx="1696898" cy="457200"/>
          </a:xfrm>
          <a:prstGeom prst="rect">
            <a:avLst/>
          </a:prstGeom>
          <a:noFill/>
          <a:ln/>
        </p:spPr>
        <p:txBody>
          <a:bodyPr wrap="square" lIns="0" tIns="0" rIns="0" bIns="0" rtlCol="0" anchor="ctr"/>
          <a:lstStyle/>
          <a:p>
            <a:pPr marL="0" indent="0">
              <a:buNone/>
            </a:pPr>
            <a:r>
              <a:rPr lang="en-US" sz="1200" dirty="0">
                <a:solidFill>
                  <a:schemeClr val="tx1"/>
                </a:solidFill>
              </a:rPr>
              <a:t>LCHS</a:t>
            </a:r>
            <a:endParaRPr lang="en-US" sz="1200" dirty="0"/>
          </a:p>
        </p:txBody>
      </p:sp>
      <p:sp>
        <p:nvSpPr>
          <p:cNvPr id="23" name="Shape 21"/>
          <p:cNvSpPr/>
          <p:nvPr/>
        </p:nvSpPr>
        <p:spPr>
          <a:xfrm>
            <a:off x="3699434" y="4233672"/>
            <a:ext cx="1916354" cy="457200"/>
          </a:xfrm>
          <a:prstGeom prst="roundRect">
            <a:avLst>
              <a:gd name="adj" fmla="val 16000"/>
            </a:avLst>
          </a:prstGeom>
          <a:solidFill>
            <a:schemeClr val="accent4"/>
          </a:solidFill>
          <a:ln/>
        </p:spPr>
        <p:txBody>
          <a:bodyPr/>
          <a:lstStyle/>
          <a:p>
            <a:endParaRPr lang="fr-FR"/>
          </a:p>
        </p:txBody>
      </p:sp>
      <p:sp>
        <p:nvSpPr>
          <p:cNvPr id="24" name="Text 22"/>
          <p:cNvSpPr txBox="1"/>
          <p:nvPr/>
        </p:nvSpPr>
        <p:spPr>
          <a:xfrm>
            <a:off x="3809162" y="4233672"/>
            <a:ext cx="1696898" cy="457200"/>
          </a:xfrm>
          <a:prstGeom prst="rect">
            <a:avLst/>
          </a:prstGeom>
          <a:noFill/>
          <a:ln/>
        </p:spPr>
        <p:txBody>
          <a:bodyPr wrap="square" lIns="0" tIns="0" rIns="0" bIns="0" rtlCol="0" anchor="ctr"/>
          <a:lstStyle/>
          <a:p>
            <a:pPr marL="0" indent="0">
              <a:buNone/>
            </a:pPr>
            <a:r>
              <a:rPr lang="en-US" sz="1200" dirty="0">
                <a:solidFill>
                  <a:schemeClr val="tx1"/>
                </a:solidFill>
              </a:rPr>
              <a:t>Schrödingerisation</a:t>
            </a:r>
            <a:endParaRPr lang="en-US" sz="1200" dirty="0"/>
          </a:p>
        </p:txBody>
      </p:sp>
      <p:sp>
        <p:nvSpPr>
          <p:cNvPr id="25" name="Shape 23"/>
          <p:cNvSpPr/>
          <p:nvPr/>
        </p:nvSpPr>
        <p:spPr>
          <a:xfrm>
            <a:off x="3699434" y="4764024"/>
            <a:ext cx="1916354" cy="457200"/>
          </a:xfrm>
          <a:prstGeom prst="roundRect">
            <a:avLst>
              <a:gd name="adj" fmla="val 16000"/>
            </a:avLst>
          </a:prstGeom>
          <a:solidFill>
            <a:schemeClr val="accent4"/>
          </a:solidFill>
          <a:ln/>
        </p:spPr>
        <p:txBody>
          <a:bodyPr/>
          <a:lstStyle/>
          <a:p>
            <a:endParaRPr lang="fr-FR"/>
          </a:p>
        </p:txBody>
      </p:sp>
      <p:sp>
        <p:nvSpPr>
          <p:cNvPr id="26" name="Text 24"/>
          <p:cNvSpPr txBox="1"/>
          <p:nvPr/>
        </p:nvSpPr>
        <p:spPr>
          <a:xfrm>
            <a:off x="3809162" y="4764024"/>
            <a:ext cx="1696898" cy="457200"/>
          </a:xfrm>
          <a:prstGeom prst="rect">
            <a:avLst/>
          </a:prstGeom>
          <a:noFill/>
          <a:ln/>
        </p:spPr>
        <p:txBody>
          <a:bodyPr wrap="square" lIns="0" tIns="0" rIns="0" bIns="0" rtlCol="0" anchor="ctr"/>
          <a:lstStyle/>
          <a:p>
            <a:pPr marL="0" indent="0">
              <a:buNone/>
            </a:pPr>
            <a:r>
              <a:rPr lang="en-US" sz="1200" dirty="0">
                <a:solidFill>
                  <a:schemeClr val="tx1"/>
                </a:solidFill>
              </a:rPr>
              <a:t>Linear-system solvers</a:t>
            </a:r>
            <a:endParaRPr lang="en-US" sz="1200" dirty="0"/>
          </a:p>
        </p:txBody>
      </p:sp>
      <p:sp>
        <p:nvSpPr>
          <p:cNvPr id="27" name="Shape 25"/>
          <p:cNvSpPr/>
          <p:nvPr/>
        </p:nvSpPr>
        <p:spPr>
          <a:xfrm>
            <a:off x="5981548" y="3383280"/>
            <a:ext cx="228600" cy="274320"/>
          </a:xfrm>
          <a:prstGeom prst="rightArrow">
            <a:avLst/>
          </a:prstGeom>
          <a:solidFill>
            <a:schemeClr val="accent3"/>
          </a:solidFill>
          <a:ln/>
        </p:spPr>
        <p:txBody>
          <a:bodyPr/>
          <a:lstStyle/>
          <a:p>
            <a:endParaRPr lang="fr-FR"/>
          </a:p>
        </p:txBody>
      </p:sp>
      <p:sp>
        <p:nvSpPr>
          <p:cNvPr id="28" name="Step 3"/>
          <p:cNvSpPr/>
          <p:nvPr/>
        </p:nvSpPr>
        <p:spPr>
          <a:xfrm>
            <a:off x="6301588" y="1691640"/>
            <a:ext cx="2464994" cy="3657600"/>
          </a:xfrm>
          <a:prstGeom prst="roundRect">
            <a:avLst>
              <a:gd name="adj" fmla="val 5564"/>
            </a:avLst>
          </a:prstGeom>
          <a:solidFill>
            <a:schemeClr val="bg2"/>
          </a:solidFill>
          <a:ln w="9525">
            <a:solidFill>
              <a:schemeClr val="accent5"/>
            </a:solidFill>
            <a:prstDash val="solid"/>
          </a:ln>
        </p:spPr>
        <p:txBody>
          <a:bodyPr/>
          <a:lstStyle/>
          <a:p>
            <a:endParaRPr lang="fr-FR"/>
          </a:p>
        </p:txBody>
      </p:sp>
      <p:sp>
        <p:nvSpPr>
          <p:cNvPr id="29" name="Shape 27"/>
          <p:cNvSpPr/>
          <p:nvPr/>
        </p:nvSpPr>
        <p:spPr>
          <a:xfrm>
            <a:off x="6575908" y="1965960"/>
            <a:ext cx="457200" cy="457200"/>
          </a:xfrm>
          <a:prstGeom prst="ellipse">
            <a:avLst/>
          </a:prstGeom>
          <a:solidFill>
            <a:schemeClr val="accent1"/>
          </a:solidFill>
          <a:ln/>
        </p:spPr>
        <p:txBody>
          <a:bodyPr/>
          <a:lstStyle/>
          <a:p>
            <a:endParaRPr lang="fr-FR"/>
          </a:p>
        </p:txBody>
      </p:sp>
      <p:sp>
        <p:nvSpPr>
          <p:cNvPr id="30" name="Text 28"/>
          <p:cNvSpPr txBox="1"/>
          <p:nvPr/>
        </p:nvSpPr>
        <p:spPr>
          <a:xfrm>
            <a:off x="6575908" y="1965960"/>
            <a:ext cx="457200" cy="457200"/>
          </a:xfrm>
          <a:prstGeom prst="rect">
            <a:avLst/>
          </a:prstGeom>
          <a:noFill/>
          <a:ln/>
        </p:spPr>
        <p:txBody>
          <a:bodyPr wrap="square" lIns="0" tIns="0" rIns="0" bIns="0" rtlCol="0" anchor="ctr"/>
          <a:lstStyle/>
          <a:p>
            <a:pPr marL="0" indent="0" algn="ctr">
              <a:buNone/>
            </a:pPr>
            <a:r>
              <a:rPr lang="en-US" sz="1600" b="1" dirty="0">
                <a:solidFill>
                  <a:schemeClr val="tx1"/>
                </a:solidFill>
              </a:rPr>
              <a:t>3</a:t>
            </a:r>
            <a:endParaRPr lang="en-US" sz="1600" dirty="0"/>
          </a:p>
        </p:txBody>
      </p:sp>
      <p:sp>
        <p:nvSpPr>
          <p:cNvPr id="31" name="Text 29"/>
          <p:cNvSpPr txBox="1"/>
          <p:nvPr/>
        </p:nvSpPr>
        <p:spPr>
          <a:xfrm>
            <a:off x="6575908" y="2560320"/>
            <a:ext cx="1916354" cy="365760"/>
          </a:xfrm>
          <a:prstGeom prst="rect">
            <a:avLst/>
          </a:prstGeom>
          <a:noFill/>
          <a:ln/>
        </p:spPr>
        <p:txBody>
          <a:bodyPr wrap="square" lIns="0" tIns="0" rIns="0" bIns="0" rtlCol="0" anchor="ctr"/>
          <a:lstStyle/>
          <a:p>
            <a:pPr marL="0" indent="0">
              <a:buNone/>
            </a:pPr>
            <a:r>
              <a:rPr lang="en-US" sz="1800" b="1" dirty="0">
                <a:solidFill>
                  <a:schemeClr val="tx1"/>
                </a:solidFill>
              </a:rPr>
              <a:t>Building blocks</a:t>
            </a:r>
            <a:endParaRPr lang="en-US" sz="1800" dirty="0"/>
          </a:p>
        </p:txBody>
      </p:sp>
      <p:sp>
        <p:nvSpPr>
          <p:cNvPr id="32" name="Text 30"/>
          <p:cNvSpPr txBox="1"/>
          <p:nvPr/>
        </p:nvSpPr>
        <p:spPr>
          <a:xfrm>
            <a:off x="6575908" y="2971800"/>
            <a:ext cx="1916354" cy="685800"/>
          </a:xfrm>
          <a:prstGeom prst="rect">
            <a:avLst/>
          </a:prstGeom>
          <a:noFill/>
          <a:ln/>
        </p:spPr>
        <p:txBody>
          <a:bodyPr wrap="square" lIns="0" tIns="0" rIns="0" bIns="0" rtlCol="0" anchor="t"/>
          <a:lstStyle/>
          <a:p>
            <a:pPr marL="0" indent="0">
              <a:buNone/>
            </a:pPr>
            <a:r>
              <a:rPr lang="en-US" sz="1400" dirty="0">
                <a:solidFill>
                  <a:schemeClr val="tx2"/>
                </a:solidFill>
              </a:rPr>
              <a:t>Access the matrix A and evolve under it</a:t>
            </a:r>
            <a:endParaRPr lang="en-US" sz="1400" dirty="0"/>
          </a:p>
        </p:txBody>
      </p:sp>
      <p:sp>
        <p:nvSpPr>
          <p:cNvPr id="33" name="Shape 31"/>
          <p:cNvSpPr/>
          <p:nvPr/>
        </p:nvSpPr>
        <p:spPr>
          <a:xfrm>
            <a:off x="6575908" y="3703320"/>
            <a:ext cx="1916354" cy="457200"/>
          </a:xfrm>
          <a:prstGeom prst="roundRect">
            <a:avLst>
              <a:gd name="adj" fmla="val 16000"/>
            </a:avLst>
          </a:prstGeom>
          <a:solidFill>
            <a:schemeClr val="accent4"/>
          </a:solidFill>
          <a:ln/>
        </p:spPr>
        <p:txBody>
          <a:bodyPr/>
          <a:lstStyle/>
          <a:p>
            <a:endParaRPr lang="fr-FR"/>
          </a:p>
        </p:txBody>
      </p:sp>
      <p:sp>
        <p:nvSpPr>
          <p:cNvPr id="34" name="Text 32"/>
          <p:cNvSpPr txBox="1"/>
          <p:nvPr/>
        </p:nvSpPr>
        <p:spPr>
          <a:xfrm>
            <a:off x="6685636" y="3703320"/>
            <a:ext cx="1696898" cy="457200"/>
          </a:xfrm>
          <a:prstGeom prst="rect">
            <a:avLst/>
          </a:prstGeom>
          <a:noFill/>
          <a:ln/>
        </p:spPr>
        <p:txBody>
          <a:bodyPr wrap="square" lIns="0" tIns="0" rIns="0" bIns="0" rtlCol="0" anchor="ctr"/>
          <a:lstStyle/>
          <a:p>
            <a:pPr marL="0" indent="0">
              <a:buNone/>
            </a:pPr>
            <a:r>
              <a:rPr lang="en-US" sz="1200" dirty="0">
                <a:solidFill>
                  <a:schemeClr val="tx1"/>
                </a:solidFill>
              </a:rPr>
              <a:t>Block encoding</a:t>
            </a:r>
            <a:endParaRPr lang="en-US" sz="1200" dirty="0"/>
          </a:p>
        </p:txBody>
      </p:sp>
      <p:sp>
        <p:nvSpPr>
          <p:cNvPr id="35" name="Shape 33"/>
          <p:cNvSpPr/>
          <p:nvPr/>
        </p:nvSpPr>
        <p:spPr>
          <a:xfrm>
            <a:off x="6575908" y="4233672"/>
            <a:ext cx="1916354" cy="457200"/>
          </a:xfrm>
          <a:prstGeom prst="roundRect">
            <a:avLst>
              <a:gd name="adj" fmla="val 16000"/>
            </a:avLst>
          </a:prstGeom>
          <a:solidFill>
            <a:schemeClr val="accent4"/>
          </a:solidFill>
          <a:ln/>
        </p:spPr>
        <p:txBody>
          <a:bodyPr/>
          <a:lstStyle/>
          <a:p>
            <a:endParaRPr lang="fr-FR"/>
          </a:p>
        </p:txBody>
      </p:sp>
      <p:sp>
        <p:nvSpPr>
          <p:cNvPr id="36" name="Text 34"/>
          <p:cNvSpPr txBox="1"/>
          <p:nvPr/>
        </p:nvSpPr>
        <p:spPr>
          <a:xfrm>
            <a:off x="6685636" y="4233672"/>
            <a:ext cx="1696898" cy="457200"/>
          </a:xfrm>
          <a:prstGeom prst="rect">
            <a:avLst/>
          </a:prstGeom>
          <a:noFill/>
          <a:ln/>
        </p:spPr>
        <p:txBody>
          <a:bodyPr wrap="square" lIns="0" tIns="0" rIns="0" bIns="0" rtlCol="0" anchor="ctr"/>
          <a:lstStyle/>
          <a:p>
            <a:pPr marL="0" indent="0">
              <a:buNone/>
            </a:pPr>
            <a:r>
              <a:rPr lang="en-US" sz="1200" dirty="0">
                <a:solidFill>
                  <a:schemeClr val="tx1"/>
                </a:solidFill>
              </a:rPr>
              <a:t>QSP / QSVT</a:t>
            </a:r>
            <a:endParaRPr lang="en-US" sz="1200" dirty="0"/>
          </a:p>
        </p:txBody>
      </p:sp>
      <p:sp>
        <p:nvSpPr>
          <p:cNvPr id="37" name="Shape 35"/>
          <p:cNvSpPr/>
          <p:nvPr/>
        </p:nvSpPr>
        <p:spPr>
          <a:xfrm>
            <a:off x="6575908" y="4764024"/>
            <a:ext cx="1916354" cy="457200"/>
          </a:xfrm>
          <a:prstGeom prst="roundRect">
            <a:avLst>
              <a:gd name="adj" fmla="val 16000"/>
            </a:avLst>
          </a:prstGeom>
          <a:solidFill>
            <a:schemeClr val="accent4"/>
          </a:solidFill>
          <a:ln/>
        </p:spPr>
        <p:txBody>
          <a:bodyPr/>
          <a:lstStyle/>
          <a:p>
            <a:endParaRPr lang="fr-FR"/>
          </a:p>
        </p:txBody>
      </p:sp>
      <p:sp>
        <p:nvSpPr>
          <p:cNvPr id="38" name="Text 36"/>
          <p:cNvSpPr txBox="1"/>
          <p:nvPr/>
        </p:nvSpPr>
        <p:spPr>
          <a:xfrm>
            <a:off x="6685636" y="4764024"/>
            <a:ext cx="1696898" cy="457200"/>
          </a:xfrm>
          <a:prstGeom prst="rect">
            <a:avLst/>
          </a:prstGeom>
          <a:noFill/>
          <a:ln/>
        </p:spPr>
        <p:txBody>
          <a:bodyPr wrap="square" lIns="0" tIns="0" rIns="0" bIns="0" rtlCol="0" anchor="ctr"/>
          <a:lstStyle/>
          <a:p>
            <a:pPr marL="0" indent="0">
              <a:buNone/>
            </a:pPr>
            <a:r>
              <a:rPr lang="en-US" sz="1200" dirty="0">
                <a:solidFill>
                  <a:schemeClr val="tx1"/>
                </a:solidFill>
              </a:rPr>
              <a:t>Hamiltonian simulation</a:t>
            </a:r>
            <a:endParaRPr lang="en-US" sz="1200" dirty="0"/>
          </a:p>
        </p:txBody>
      </p:sp>
      <p:sp>
        <p:nvSpPr>
          <p:cNvPr id="39" name="Shape 37"/>
          <p:cNvSpPr/>
          <p:nvPr/>
        </p:nvSpPr>
        <p:spPr>
          <a:xfrm>
            <a:off x="8858021" y="3383280"/>
            <a:ext cx="228600" cy="274320"/>
          </a:xfrm>
          <a:prstGeom prst="rightArrow">
            <a:avLst/>
          </a:prstGeom>
          <a:solidFill>
            <a:schemeClr val="accent3"/>
          </a:solidFill>
          <a:ln/>
        </p:spPr>
        <p:txBody>
          <a:bodyPr/>
          <a:lstStyle/>
          <a:p>
            <a:endParaRPr lang="fr-FR"/>
          </a:p>
        </p:txBody>
      </p:sp>
      <p:sp>
        <p:nvSpPr>
          <p:cNvPr id="40" name="Step 4"/>
          <p:cNvSpPr/>
          <p:nvPr/>
        </p:nvSpPr>
        <p:spPr>
          <a:xfrm>
            <a:off x="9178061" y="1691640"/>
            <a:ext cx="2464994" cy="3657600"/>
          </a:xfrm>
          <a:prstGeom prst="roundRect">
            <a:avLst>
              <a:gd name="adj" fmla="val 5564"/>
            </a:avLst>
          </a:prstGeom>
          <a:solidFill>
            <a:schemeClr val="bg2"/>
          </a:solidFill>
          <a:ln w="9525">
            <a:solidFill>
              <a:schemeClr val="accent5"/>
            </a:solidFill>
            <a:prstDash val="solid"/>
          </a:ln>
        </p:spPr>
        <p:txBody>
          <a:bodyPr/>
          <a:lstStyle/>
          <a:p>
            <a:endParaRPr lang="fr-FR"/>
          </a:p>
        </p:txBody>
      </p:sp>
      <p:sp>
        <p:nvSpPr>
          <p:cNvPr id="41" name="Shape 39"/>
          <p:cNvSpPr/>
          <p:nvPr/>
        </p:nvSpPr>
        <p:spPr>
          <a:xfrm>
            <a:off x="9452381" y="1965960"/>
            <a:ext cx="457200" cy="457200"/>
          </a:xfrm>
          <a:prstGeom prst="ellipse">
            <a:avLst/>
          </a:prstGeom>
          <a:solidFill>
            <a:schemeClr val="accent1"/>
          </a:solidFill>
          <a:ln/>
        </p:spPr>
        <p:txBody>
          <a:bodyPr/>
          <a:lstStyle/>
          <a:p>
            <a:endParaRPr lang="fr-FR"/>
          </a:p>
        </p:txBody>
      </p:sp>
      <p:sp>
        <p:nvSpPr>
          <p:cNvPr id="42" name="Text 40"/>
          <p:cNvSpPr txBox="1"/>
          <p:nvPr/>
        </p:nvSpPr>
        <p:spPr>
          <a:xfrm>
            <a:off x="9452381" y="1965960"/>
            <a:ext cx="457200" cy="457200"/>
          </a:xfrm>
          <a:prstGeom prst="rect">
            <a:avLst/>
          </a:prstGeom>
          <a:noFill/>
          <a:ln/>
        </p:spPr>
        <p:txBody>
          <a:bodyPr wrap="square" lIns="0" tIns="0" rIns="0" bIns="0" rtlCol="0" anchor="ctr"/>
          <a:lstStyle/>
          <a:p>
            <a:pPr marL="0" indent="0" algn="ctr">
              <a:buNone/>
            </a:pPr>
            <a:r>
              <a:rPr lang="en-US" sz="1600" b="1" dirty="0">
                <a:solidFill>
                  <a:schemeClr val="tx1"/>
                </a:solidFill>
              </a:rPr>
              <a:t>4</a:t>
            </a:r>
            <a:endParaRPr lang="en-US" sz="1600" dirty="0"/>
          </a:p>
        </p:txBody>
      </p:sp>
      <p:sp>
        <p:nvSpPr>
          <p:cNvPr id="43" name="Text 41"/>
          <p:cNvSpPr txBox="1"/>
          <p:nvPr/>
        </p:nvSpPr>
        <p:spPr>
          <a:xfrm>
            <a:off x="9452381" y="2560320"/>
            <a:ext cx="1916354" cy="365760"/>
          </a:xfrm>
          <a:prstGeom prst="rect">
            <a:avLst/>
          </a:prstGeom>
          <a:noFill/>
          <a:ln/>
        </p:spPr>
        <p:txBody>
          <a:bodyPr wrap="square" lIns="0" tIns="0" rIns="0" bIns="0" rtlCol="0" anchor="ctr"/>
          <a:lstStyle/>
          <a:p>
            <a:pPr marL="0" indent="0">
              <a:buNone/>
            </a:pPr>
            <a:r>
              <a:rPr lang="en-US" sz="1800" b="1" dirty="0">
                <a:solidFill>
                  <a:schemeClr val="tx1"/>
                </a:solidFill>
              </a:rPr>
              <a:t>Readout</a:t>
            </a:r>
            <a:endParaRPr lang="en-US" sz="1800" dirty="0"/>
          </a:p>
        </p:txBody>
      </p:sp>
      <p:sp>
        <p:nvSpPr>
          <p:cNvPr id="44" name="Text 42"/>
          <p:cNvSpPr txBox="1"/>
          <p:nvPr/>
        </p:nvSpPr>
        <p:spPr>
          <a:xfrm>
            <a:off x="9452381" y="2971800"/>
            <a:ext cx="1916354" cy="685800"/>
          </a:xfrm>
          <a:prstGeom prst="rect">
            <a:avLst/>
          </a:prstGeom>
          <a:noFill/>
          <a:ln/>
        </p:spPr>
        <p:txBody>
          <a:bodyPr wrap="square" lIns="0" tIns="0" rIns="0" bIns="0" rtlCol="0" anchor="t"/>
          <a:lstStyle/>
          <a:p>
            <a:pPr marL="0" indent="0">
              <a:buNone/>
            </a:pPr>
            <a:r>
              <a:rPr lang="en-US" sz="1400" dirty="0">
                <a:solidFill>
                  <a:schemeClr val="tx2"/>
                </a:solidFill>
              </a:rPr>
              <a:t>Extract only the quantities needed</a:t>
            </a:r>
            <a:endParaRPr lang="en-US" sz="1400" dirty="0"/>
          </a:p>
        </p:txBody>
      </p:sp>
      <p:sp>
        <p:nvSpPr>
          <p:cNvPr id="45" name="Shape 43"/>
          <p:cNvSpPr/>
          <p:nvPr/>
        </p:nvSpPr>
        <p:spPr>
          <a:xfrm>
            <a:off x="9452381" y="3703320"/>
            <a:ext cx="1916354" cy="457200"/>
          </a:xfrm>
          <a:prstGeom prst="roundRect">
            <a:avLst>
              <a:gd name="adj" fmla="val 16000"/>
            </a:avLst>
          </a:prstGeom>
          <a:solidFill>
            <a:schemeClr val="accent4"/>
          </a:solidFill>
          <a:ln/>
        </p:spPr>
        <p:txBody>
          <a:bodyPr/>
          <a:lstStyle/>
          <a:p>
            <a:endParaRPr lang="fr-FR"/>
          </a:p>
        </p:txBody>
      </p:sp>
      <p:sp>
        <p:nvSpPr>
          <p:cNvPr id="46" name="Text 44"/>
          <p:cNvSpPr txBox="1"/>
          <p:nvPr/>
        </p:nvSpPr>
        <p:spPr>
          <a:xfrm>
            <a:off x="9562109" y="3703320"/>
            <a:ext cx="1696898" cy="457200"/>
          </a:xfrm>
          <a:prstGeom prst="rect">
            <a:avLst/>
          </a:prstGeom>
          <a:noFill/>
          <a:ln/>
        </p:spPr>
        <p:txBody>
          <a:bodyPr wrap="square" lIns="0" tIns="0" rIns="0" bIns="0" rtlCol="0" anchor="ctr"/>
          <a:lstStyle/>
          <a:p>
            <a:pPr marL="0" indent="0">
              <a:buNone/>
            </a:pPr>
            <a:r>
              <a:rPr lang="en-US" sz="1200" dirty="0">
                <a:solidFill>
                  <a:schemeClr val="tx1"/>
                </a:solidFill>
              </a:rPr>
              <a:t>Expectation values</a:t>
            </a:r>
            <a:endParaRPr lang="en-US" sz="1200" dirty="0"/>
          </a:p>
        </p:txBody>
      </p:sp>
      <p:sp>
        <p:nvSpPr>
          <p:cNvPr id="47" name="Shape 45"/>
          <p:cNvSpPr/>
          <p:nvPr/>
        </p:nvSpPr>
        <p:spPr>
          <a:xfrm>
            <a:off x="9452381" y="4233672"/>
            <a:ext cx="1916354" cy="457200"/>
          </a:xfrm>
          <a:prstGeom prst="roundRect">
            <a:avLst>
              <a:gd name="adj" fmla="val 16000"/>
            </a:avLst>
          </a:prstGeom>
          <a:solidFill>
            <a:schemeClr val="accent4"/>
          </a:solidFill>
          <a:ln/>
        </p:spPr>
        <p:txBody>
          <a:bodyPr/>
          <a:lstStyle/>
          <a:p>
            <a:endParaRPr lang="fr-FR"/>
          </a:p>
        </p:txBody>
      </p:sp>
      <p:sp>
        <p:nvSpPr>
          <p:cNvPr id="48" name="Text 46"/>
          <p:cNvSpPr txBox="1"/>
          <p:nvPr/>
        </p:nvSpPr>
        <p:spPr>
          <a:xfrm>
            <a:off x="9562109" y="4233672"/>
            <a:ext cx="1696898" cy="457200"/>
          </a:xfrm>
          <a:prstGeom prst="rect">
            <a:avLst/>
          </a:prstGeom>
          <a:noFill/>
          <a:ln/>
        </p:spPr>
        <p:txBody>
          <a:bodyPr wrap="square" lIns="0" tIns="0" rIns="0" bIns="0" rtlCol="0" anchor="ctr"/>
          <a:lstStyle/>
          <a:p>
            <a:pPr marL="0" indent="0">
              <a:buNone/>
            </a:pPr>
            <a:r>
              <a:rPr lang="en-US" sz="1200" dirty="0">
                <a:solidFill>
                  <a:schemeClr val="tx1"/>
                </a:solidFill>
              </a:rPr>
              <a:t>Amplitude estimation</a:t>
            </a:r>
            <a:endParaRPr lang="en-US" sz="1200" dirty="0"/>
          </a:p>
        </p:txBody>
      </p:sp>
      <p:sp>
        <p:nvSpPr>
          <p:cNvPr id="49" name="Shape 47"/>
          <p:cNvSpPr/>
          <p:nvPr/>
        </p:nvSpPr>
        <p:spPr>
          <a:xfrm>
            <a:off x="9452381" y="4764024"/>
            <a:ext cx="1916354" cy="457200"/>
          </a:xfrm>
          <a:prstGeom prst="roundRect">
            <a:avLst>
              <a:gd name="adj" fmla="val 16000"/>
            </a:avLst>
          </a:prstGeom>
          <a:solidFill>
            <a:schemeClr val="accent4"/>
          </a:solidFill>
          <a:ln/>
        </p:spPr>
        <p:txBody>
          <a:bodyPr/>
          <a:lstStyle/>
          <a:p>
            <a:endParaRPr lang="fr-FR"/>
          </a:p>
        </p:txBody>
      </p:sp>
      <p:sp>
        <p:nvSpPr>
          <p:cNvPr id="50" name="Text 48"/>
          <p:cNvSpPr txBox="1"/>
          <p:nvPr/>
        </p:nvSpPr>
        <p:spPr>
          <a:xfrm>
            <a:off x="9562109" y="4764024"/>
            <a:ext cx="1696898" cy="457200"/>
          </a:xfrm>
          <a:prstGeom prst="rect">
            <a:avLst/>
          </a:prstGeom>
          <a:noFill/>
          <a:ln/>
        </p:spPr>
        <p:txBody>
          <a:bodyPr wrap="square" lIns="0" tIns="0" rIns="0" bIns="0" rtlCol="0" anchor="ctr"/>
          <a:lstStyle/>
          <a:p>
            <a:pPr marL="0" indent="0">
              <a:buNone/>
            </a:pPr>
            <a:r>
              <a:rPr lang="en-US" sz="1200" dirty="0">
                <a:solidFill>
                  <a:schemeClr val="tx1"/>
                </a:solidFill>
              </a:rPr>
              <a:t>Correlation functions</a:t>
            </a:r>
            <a:endParaRPr lang="en-US" sz="1200" dirty="0"/>
          </a:p>
        </p:txBody>
      </p:sp>
      <p:sp>
        <p:nvSpPr>
          <p:cNvPr id="51" name="Shape 49"/>
          <p:cNvSpPr/>
          <p:nvPr/>
        </p:nvSpPr>
        <p:spPr>
          <a:xfrm>
            <a:off x="566928" y="5705856"/>
            <a:ext cx="91440" cy="91440"/>
          </a:xfrm>
          <a:prstGeom prst="rect">
            <a:avLst/>
          </a:prstGeom>
          <a:solidFill>
            <a:schemeClr val="accent2"/>
          </a:solidFill>
          <a:ln/>
        </p:spPr>
        <p:txBody>
          <a:bodyPr/>
          <a:lstStyle/>
          <a:p>
            <a:endParaRPr lang="fr-FR"/>
          </a:p>
        </p:txBody>
      </p:sp>
      <p:sp>
        <p:nvSpPr>
          <p:cNvPr id="52" name="Text 50"/>
          <p:cNvSpPr txBox="1"/>
          <p:nvPr/>
        </p:nvSpPr>
        <p:spPr>
          <a:xfrm>
            <a:off x="749808" y="5577840"/>
            <a:ext cx="10893247" cy="347472"/>
          </a:xfrm>
          <a:prstGeom prst="rect">
            <a:avLst/>
          </a:prstGeom>
          <a:noFill/>
          <a:ln/>
        </p:spPr>
        <p:txBody>
          <a:bodyPr wrap="square" lIns="0" tIns="0" rIns="0" bIns="0" rtlCol="0" anchor="ctr"/>
          <a:lstStyle/>
          <a:p>
            <a:pPr marL="0" indent="0">
              <a:buNone/>
            </a:pPr>
            <a:r>
              <a:rPr lang="en-US" sz="1400" b="1" dirty="0">
                <a:solidFill>
                  <a:schemeClr val="tx1"/>
                </a:solidFill>
              </a:rPr>
              <a:t>Main cost drivers: </a:t>
            </a:r>
            <a:r>
              <a:rPr lang="en-US" sz="1400" dirty="0">
                <a:solidFill>
                  <a:schemeClr val="tx2"/>
                </a:solidFill>
              </a:rPr>
              <a:t>linearization error, norm of A × simulation time, stability of A, state preparation and readout.</a:t>
            </a:r>
            <a:endParaRPr lang="en-US" sz="1400" dirty="0"/>
          </a:p>
        </p:txBody>
      </p:sp>
      <p:sp>
        <p:nvSpPr>
          <p:cNvPr id="53" name="Slide Number Placeholder 0"/>
          <p:cNvSpPr>
            <a:spLocks noGrp="1"/>
          </p:cNvSpPr>
          <p:nvPr>
            <p:ph type="sldNum" sz="quarter" idx="4294967295"/>
          </p:nvPr>
        </p:nvSpPr>
        <p:spPr>
          <a:xfrm>
            <a:off x="11094415" y="6327648"/>
            <a:ext cx="548640" cy="274320"/>
          </a:xfrm>
          <a:prstGeom prst="rect">
            <a:avLst/>
          </a:prstGeom>
          <a:extLst>
            <a:ext uri="{C572A759-6A51-4108-AA02-DFA0A04FC94B}">
              <ma14:wrappingTextBoxFlag xmlns:ma14="http://schemas.microsoft.com/office/mac/drawingml/2011/main" xmlns="" val="0"/>
            </a:ext>
          </a:extLst>
        </p:spPr>
        <p:txBody>
          <a:bodyPr lIns="0" tIns="0" rIns="0" bIns="0" anchor="ctr"/>
          <a:lstStyle>
            <a:lvl1pPr>
              <a:defRPr sz="1000">
                <a:solidFill>
                  <a:srgbClr val="9AA3BD"/>
                </a:solidFill>
              </a:defRPr>
            </a:lvl1pPr>
          </a:lstStyle>
          <a:p>
            <a:pPr algn="r"/>
            <a:fld id="{F7021451-1387-4CA6-816F-3879F97B5CBC}" type="slidenum">
              <a:rPr lang="en-US" b="0"/>
              <a:t>12</a:t>
            </a:fld>
            <a:endParaRPr lang="en-US"/>
          </a:p>
        </p:txBody>
      </p:sp>
      <p:pic>
        <p:nvPicPr>
          <p:cNvPr id="55" name="Image 54">
            <a:extLst>
              <a:ext uri="{FF2B5EF4-FFF2-40B4-BE49-F238E27FC236}">
                <a16:creationId xmlns:a16="http://schemas.microsoft.com/office/drawing/2014/main" id="{AF567AB7-87A8-7FC2-2230-6DA1847B3084}"/>
              </a:ext>
            </a:extLst>
          </p:cNvPr>
          <p:cNvPicPr>
            <a:picLocks noChangeAspect="1"/>
          </p:cNvPicPr>
          <p:nvPr/>
        </p:nvPicPr>
        <p:blipFill>
          <a:blip r:embed="rId3"/>
          <a:stretch>
            <a:fillRect/>
          </a:stretch>
        </p:blipFill>
        <p:spPr>
          <a:xfrm>
            <a:off x="9724644" y="-443705"/>
            <a:ext cx="2437453" cy="1723866"/>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0"/>
          <p:cNvSpPr>
            <a:spLocks noGrp="1"/>
          </p:cNvSpPr>
          <p:nvPr>
            <p:ph type="title" idx="110" hasCustomPrompt="1"/>
          </p:nvPr>
        </p:nvSpPr>
        <p:spPr>
          <a:xfrm>
            <a:off x="548640" y="457200"/>
            <a:ext cx="11094415" cy="777240"/>
          </a:xfrm>
          <a:prstGeom prst="rect">
            <a:avLst/>
          </a:prstGeom>
          <a:noFill/>
          <a:ln/>
        </p:spPr>
        <p:txBody>
          <a:bodyPr wrap="square" lIns="0" tIns="0" rIns="0" bIns="0" rtlCol="0" anchor="t"/>
          <a:lstStyle/>
          <a:p>
            <a:pPr marL="0" indent="0" algn="l">
              <a:buNone/>
            </a:pPr>
            <a:r>
              <a:rPr lang="en-US" sz="3200" dirty="0">
                <a:solidFill>
                  <a:schemeClr val="tx1"/>
                </a:solidFill>
              </a:rPr>
              <a:t>Essential references</a:t>
            </a:r>
            <a:endParaRPr lang="en-US" sz="3200" dirty="0"/>
          </a:p>
        </p:txBody>
      </p:sp>
      <p:graphicFrame>
        <p:nvGraphicFramePr>
          <p:cNvPr id="5" name="References table"/>
          <p:cNvGraphicFramePr>
            <a:graphicFrameLocks noGrp="1"/>
          </p:cNvGraphicFramePr>
          <p:nvPr>
            <p:extLst>
              <p:ext uri="{D42A27DB-BD31-4B8C-83A1-F6EECF244321}">
                <p14:modId xmlns:p14="http://schemas.microsoft.com/office/powerpoint/2010/main" val="1579011935"/>
              </p:ext>
            </p:extLst>
          </p:nvPr>
        </p:nvGraphicFramePr>
        <p:xfrm>
          <a:off x="548640" y="1371600"/>
          <a:ext cx="11094415" cy="4389120"/>
        </p:xfrm>
        <a:graphic>
          <a:graphicData uri="http://schemas.openxmlformats.org/drawingml/2006/table">
            <a:tbl>
              <a:tblPr/>
              <a:tblGrid>
                <a:gridCol w="3108960">
                  <a:extLst>
                    <a:ext uri="{9D8B030D-6E8A-4147-A177-3AD203B41FA5}">
                      <a16:colId xmlns:a16="http://schemas.microsoft.com/office/drawing/2014/main" val="20000"/>
                    </a:ext>
                  </a:extLst>
                </a:gridCol>
                <a:gridCol w="3657600">
                  <a:extLst>
                    <a:ext uri="{9D8B030D-6E8A-4147-A177-3AD203B41FA5}">
                      <a16:colId xmlns:a16="http://schemas.microsoft.com/office/drawing/2014/main" val="20001"/>
                    </a:ext>
                  </a:extLst>
                </a:gridCol>
                <a:gridCol w="4327855">
                  <a:extLst>
                    <a:ext uri="{9D8B030D-6E8A-4147-A177-3AD203B41FA5}">
                      <a16:colId xmlns:a16="http://schemas.microsoft.com/office/drawing/2014/main" val="20002"/>
                    </a:ext>
                  </a:extLst>
                </a:gridCol>
              </a:tblGrid>
              <a:tr h="365760">
                <a:tc>
                  <a:txBody>
                    <a:bodyPr/>
                    <a:lstStyle/>
                    <a:p>
                      <a:pPr marL="0" indent="0">
                        <a:buNone/>
                      </a:pPr>
                      <a:r>
                        <a:rPr lang="en-US" sz="1100" b="1" kern="0" spc="200" dirty="0">
                          <a:solidFill>
                            <a:srgbClr val="9AA3BD"/>
                          </a:solidFill>
                          <a:latin typeface="Aptos" pitchFamily="34" charset="0"/>
                          <a:ea typeface="Aptos" pitchFamily="34" charset="-122"/>
                          <a:cs typeface="Aptos" pitchFamily="34" charset="-120"/>
                        </a:rPr>
                        <a:t>TOOL</a:t>
                      </a:r>
                      <a:endParaRPr lang="en-US" sz="1100" dirty="0">
                        <a:latin typeface="Aptos" charset="0"/>
                        <a:ea typeface="Aptos" charset="0"/>
                        <a:cs typeface="Aptos" charset="0"/>
                      </a:endParaRPr>
                    </a:p>
                  </a:txBody>
                  <a:tcPr marL="137160" marR="137160" marT="0" marB="0" anchor="ctr">
                    <a:lnL w="9525" cap="flat" cmpd="sng" algn="ctr">
                      <a:solidFill>
                        <a:srgbClr val="3C3F4C"/>
                      </a:solidFill>
                      <a:prstDash val="solid"/>
                      <a:round/>
                      <a:headEnd type="none" w="med" len="med"/>
                      <a:tailEnd type="none" w="med" len="med"/>
                    </a:lnL>
                    <a:lnR w="9525" cap="flat" cmpd="sng" algn="ctr">
                      <a:solidFill>
                        <a:srgbClr val="3C3F4C"/>
                      </a:solidFill>
                      <a:prstDash val="solid"/>
                      <a:round/>
                      <a:headEnd type="none" w="med" len="med"/>
                      <a:tailEnd type="none" w="med" len="med"/>
                    </a:lnR>
                    <a:lnT w="9525" cap="flat" cmpd="sng" algn="ctr">
                      <a:solidFill>
                        <a:srgbClr val="3C3F4C"/>
                      </a:solidFill>
                      <a:prstDash val="solid"/>
                      <a:round/>
                      <a:headEnd type="none" w="med" len="med"/>
                      <a:tailEnd type="none" w="med" len="med"/>
                    </a:lnT>
                    <a:lnB w="9525" cap="flat" cmpd="sng" algn="ctr">
                      <a:solidFill>
                        <a:srgbClr val="3C3F4C"/>
                      </a:solidFill>
                      <a:prstDash val="solid"/>
                      <a:round/>
                      <a:headEnd type="none" w="med" len="med"/>
                      <a:tailEnd type="none" w="med" len="med"/>
                    </a:lnB>
                    <a:solidFill>
                      <a:srgbClr val="161B30"/>
                    </a:solidFill>
                  </a:tcPr>
                </a:tc>
                <a:tc>
                  <a:txBody>
                    <a:bodyPr/>
                    <a:lstStyle/>
                    <a:p>
                      <a:pPr marL="0" indent="0">
                        <a:buNone/>
                      </a:pPr>
                      <a:r>
                        <a:rPr lang="en-US" sz="1100" b="1" kern="0" spc="200" dirty="0">
                          <a:solidFill>
                            <a:srgbClr val="9AA3BD"/>
                          </a:solidFill>
                          <a:latin typeface="Aptos" pitchFamily="34" charset="0"/>
                          <a:ea typeface="Aptos" pitchFamily="34" charset="-122"/>
                          <a:cs typeface="Aptos" pitchFamily="34" charset="-120"/>
                        </a:rPr>
                        <a:t>AUTHORS</a:t>
                      </a:r>
                      <a:endParaRPr lang="en-US" sz="1100" dirty="0">
                        <a:latin typeface="Aptos" charset="0"/>
                        <a:ea typeface="Aptos" charset="0"/>
                        <a:cs typeface="Aptos" charset="0"/>
                      </a:endParaRPr>
                    </a:p>
                  </a:txBody>
                  <a:tcPr marL="137160" marR="137160" marT="0" marB="0" anchor="ctr">
                    <a:lnL w="9525" cap="flat" cmpd="sng" algn="ctr">
                      <a:solidFill>
                        <a:srgbClr val="3C3F4C"/>
                      </a:solidFill>
                      <a:prstDash val="solid"/>
                      <a:round/>
                      <a:headEnd type="none" w="med" len="med"/>
                      <a:tailEnd type="none" w="med" len="med"/>
                    </a:lnL>
                    <a:lnR w="9525" cap="flat" cmpd="sng" algn="ctr">
                      <a:solidFill>
                        <a:srgbClr val="3C3F4C"/>
                      </a:solidFill>
                      <a:prstDash val="solid"/>
                      <a:round/>
                      <a:headEnd type="none" w="med" len="med"/>
                      <a:tailEnd type="none" w="med" len="med"/>
                    </a:lnR>
                    <a:lnT w="9525" cap="flat" cmpd="sng" algn="ctr">
                      <a:solidFill>
                        <a:srgbClr val="3C3F4C"/>
                      </a:solidFill>
                      <a:prstDash val="solid"/>
                      <a:round/>
                      <a:headEnd type="none" w="med" len="med"/>
                      <a:tailEnd type="none" w="med" len="med"/>
                    </a:lnT>
                    <a:lnB w="9525" cap="flat" cmpd="sng" algn="ctr">
                      <a:solidFill>
                        <a:srgbClr val="3C3F4C"/>
                      </a:solidFill>
                      <a:prstDash val="solid"/>
                      <a:round/>
                      <a:headEnd type="none" w="med" len="med"/>
                      <a:tailEnd type="none" w="med" len="med"/>
                    </a:lnB>
                    <a:solidFill>
                      <a:srgbClr val="161B30"/>
                    </a:solidFill>
                  </a:tcPr>
                </a:tc>
                <a:tc>
                  <a:txBody>
                    <a:bodyPr/>
                    <a:lstStyle/>
                    <a:p>
                      <a:pPr marL="0" indent="0">
                        <a:buNone/>
                      </a:pPr>
                      <a:r>
                        <a:rPr lang="en-US" sz="1100" b="1" kern="0" spc="200" dirty="0">
                          <a:solidFill>
                            <a:srgbClr val="9AA3BD"/>
                          </a:solidFill>
                          <a:latin typeface="Aptos" pitchFamily="34" charset="0"/>
                          <a:ea typeface="Aptos" pitchFamily="34" charset="-122"/>
                          <a:cs typeface="Aptos" pitchFamily="34" charset="-120"/>
                        </a:rPr>
                        <a:t>REFERENCE</a:t>
                      </a:r>
                      <a:endParaRPr lang="en-US" sz="1100" dirty="0">
                        <a:latin typeface="Aptos" charset="0"/>
                        <a:ea typeface="Aptos" charset="0"/>
                        <a:cs typeface="Aptos" charset="0"/>
                      </a:endParaRPr>
                    </a:p>
                  </a:txBody>
                  <a:tcPr marL="137160" marR="137160" marT="0" marB="0" anchor="ctr">
                    <a:lnL w="9525" cap="flat" cmpd="sng" algn="ctr">
                      <a:solidFill>
                        <a:srgbClr val="3C3F4C"/>
                      </a:solidFill>
                      <a:prstDash val="solid"/>
                      <a:round/>
                      <a:headEnd type="none" w="med" len="med"/>
                      <a:tailEnd type="none" w="med" len="med"/>
                    </a:lnL>
                    <a:lnR w="9525" cap="flat" cmpd="sng" algn="ctr">
                      <a:solidFill>
                        <a:srgbClr val="3C3F4C"/>
                      </a:solidFill>
                      <a:prstDash val="solid"/>
                      <a:round/>
                      <a:headEnd type="none" w="med" len="med"/>
                      <a:tailEnd type="none" w="med" len="med"/>
                    </a:lnR>
                    <a:lnT w="9525" cap="flat" cmpd="sng" algn="ctr">
                      <a:solidFill>
                        <a:srgbClr val="3C3F4C"/>
                      </a:solidFill>
                      <a:prstDash val="solid"/>
                      <a:round/>
                      <a:headEnd type="none" w="med" len="med"/>
                      <a:tailEnd type="none" w="med" len="med"/>
                    </a:lnT>
                    <a:lnB w="9525" cap="flat" cmpd="sng" algn="ctr">
                      <a:solidFill>
                        <a:srgbClr val="3C3F4C"/>
                      </a:solidFill>
                      <a:prstDash val="solid"/>
                      <a:round/>
                      <a:headEnd type="none" w="med" len="med"/>
                      <a:tailEnd type="none" w="med" len="med"/>
                    </a:lnB>
                    <a:solidFill>
                      <a:srgbClr val="161B30"/>
                    </a:solidFill>
                  </a:tcPr>
                </a:tc>
                <a:extLst>
                  <a:ext uri="{0D108BD9-81ED-4DB2-BD59-A6C34878D82A}">
                    <a16:rowId xmlns:a16="http://schemas.microsoft.com/office/drawing/2014/main" val="10000"/>
                  </a:ext>
                </a:extLst>
              </a:tr>
              <a:tr h="365760">
                <a:tc>
                  <a:txBody>
                    <a:bodyPr/>
                    <a:lstStyle/>
                    <a:p>
                      <a:pPr marL="0" indent="0">
                        <a:buNone/>
                      </a:pPr>
                      <a:r>
                        <a:rPr lang="en-US" sz="1300" b="1" dirty="0">
                          <a:solidFill>
                            <a:srgbClr val="E9ECF3"/>
                          </a:solidFill>
                          <a:latin typeface="Aptos" pitchFamily="34" charset="0"/>
                          <a:ea typeface="Aptos" pitchFamily="34" charset="-122"/>
                          <a:cs typeface="Aptos" pitchFamily="34" charset="-120"/>
                        </a:rPr>
                        <a:t>Carleman (dissipative)</a:t>
                      </a:r>
                      <a:endParaRPr lang="en-US" sz="1300" dirty="0">
                        <a:latin typeface="Aptos" charset="0"/>
                        <a:ea typeface="Aptos" charset="0"/>
                        <a:cs typeface="Aptos" charset="0"/>
                      </a:endParaRPr>
                    </a:p>
                  </a:txBody>
                  <a:tcPr marL="137160" marR="137160" marT="0" marB="0" anchor="ctr">
                    <a:lnL w="9525" cap="flat" cmpd="sng" algn="ctr">
                      <a:solidFill>
                        <a:srgbClr val="3C3F4C"/>
                      </a:solidFill>
                      <a:prstDash val="solid"/>
                      <a:round/>
                      <a:headEnd type="none" w="med" len="med"/>
                      <a:tailEnd type="none" w="med" len="med"/>
                    </a:lnL>
                    <a:lnR w="9525" cap="flat" cmpd="sng" algn="ctr">
                      <a:solidFill>
                        <a:srgbClr val="3C3F4C"/>
                      </a:solidFill>
                      <a:prstDash val="solid"/>
                      <a:round/>
                      <a:headEnd type="none" w="med" len="med"/>
                      <a:tailEnd type="none" w="med" len="med"/>
                    </a:lnR>
                    <a:lnT w="9525" cap="flat" cmpd="sng" algn="ctr">
                      <a:solidFill>
                        <a:srgbClr val="3C3F4C"/>
                      </a:solidFill>
                      <a:prstDash val="solid"/>
                      <a:round/>
                      <a:headEnd type="none" w="med" len="med"/>
                      <a:tailEnd type="none" w="med" len="med"/>
                    </a:lnT>
                    <a:lnB w="9525" cap="flat" cmpd="sng" algn="ctr">
                      <a:solidFill>
                        <a:srgbClr val="3C3F4C"/>
                      </a:solidFill>
                      <a:prstDash val="solid"/>
                      <a:round/>
                      <a:headEnd type="none" w="med" len="med"/>
                      <a:tailEnd type="none" w="med" len="med"/>
                    </a:lnB>
                    <a:solidFill>
                      <a:srgbClr val="161B30"/>
                    </a:solidFill>
                  </a:tcPr>
                </a:tc>
                <a:tc>
                  <a:txBody>
                    <a:bodyPr/>
                    <a:lstStyle/>
                    <a:p>
                      <a:pPr marL="0" indent="0">
                        <a:buNone/>
                      </a:pPr>
                      <a:r>
                        <a:rPr lang="en-US" sz="1300" dirty="0">
                          <a:solidFill>
                            <a:srgbClr val="9AA3BD"/>
                          </a:solidFill>
                          <a:latin typeface="Aptos" pitchFamily="34" charset="0"/>
                          <a:ea typeface="Aptos" pitchFamily="34" charset="-122"/>
                          <a:cs typeface="Aptos" pitchFamily="34" charset="-120"/>
                        </a:rPr>
                        <a:t>Liu, Kolden, Krovi, …, Childs</a:t>
                      </a:r>
                      <a:endParaRPr lang="en-US" sz="1300" dirty="0">
                        <a:latin typeface="Aptos" charset="0"/>
                        <a:ea typeface="Aptos" charset="0"/>
                        <a:cs typeface="Aptos" charset="0"/>
                      </a:endParaRPr>
                    </a:p>
                  </a:txBody>
                  <a:tcPr marL="137160" marR="137160" marT="0" marB="0" anchor="ctr">
                    <a:lnL w="9525" cap="flat" cmpd="sng" algn="ctr">
                      <a:solidFill>
                        <a:srgbClr val="3C3F4C"/>
                      </a:solidFill>
                      <a:prstDash val="solid"/>
                      <a:round/>
                      <a:headEnd type="none" w="med" len="med"/>
                      <a:tailEnd type="none" w="med" len="med"/>
                    </a:lnL>
                    <a:lnR w="9525" cap="flat" cmpd="sng" algn="ctr">
                      <a:solidFill>
                        <a:srgbClr val="3C3F4C"/>
                      </a:solidFill>
                      <a:prstDash val="solid"/>
                      <a:round/>
                      <a:headEnd type="none" w="med" len="med"/>
                      <a:tailEnd type="none" w="med" len="med"/>
                    </a:lnR>
                    <a:lnT w="9525" cap="flat" cmpd="sng" algn="ctr">
                      <a:solidFill>
                        <a:srgbClr val="3C3F4C"/>
                      </a:solidFill>
                      <a:prstDash val="solid"/>
                      <a:round/>
                      <a:headEnd type="none" w="med" len="med"/>
                      <a:tailEnd type="none" w="med" len="med"/>
                    </a:lnT>
                    <a:lnB w="9525" cap="flat" cmpd="sng" algn="ctr">
                      <a:solidFill>
                        <a:srgbClr val="3C3F4C"/>
                      </a:solidFill>
                      <a:prstDash val="solid"/>
                      <a:round/>
                      <a:headEnd type="none" w="med" len="med"/>
                      <a:tailEnd type="none" w="med" len="med"/>
                    </a:lnB>
                    <a:solidFill>
                      <a:srgbClr val="161B30"/>
                    </a:solidFill>
                  </a:tcPr>
                </a:tc>
                <a:tc>
                  <a:txBody>
                    <a:bodyPr/>
                    <a:lstStyle/>
                    <a:p>
                      <a:pPr marL="0" indent="0">
                        <a:buNone/>
                      </a:pPr>
                      <a:r>
                        <a:rPr lang="en-US" sz="1300" dirty="0">
                          <a:solidFill>
                            <a:srgbClr val="9AA3BD"/>
                          </a:solidFill>
                          <a:latin typeface="Aptos" pitchFamily="34" charset="0"/>
                          <a:ea typeface="Aptos" pitchFamily="34" charset="-122"/>
                          <a:cs typeface="Aptos" pitchFamily="34" charset="-120"/>
                        </a:rPr>
                        <a:t>PNAS 118, e2026805118 (2021)</a:t>
                      </a:r>
                      <a:endParaRPr lang="en-US" sz="1300" dirty="0">
                        <a:latin typeface="Aptos" charset="0"/>
                        <a:ea typeface="Aptos" charset="0"/>
                        <a:cs typeface="Aptos" charset="0"/>
                      </a:endParaRPr>
                    </a:p>
                  </a:txBody>
                  <a:tcPr marL="137160" marR="137160" marT="0" marB="0" anchor="ctr">
                    <a:lnL w="9525" cap="flat" cmpd="sng" algn="ctr">
                      <a:solidFill>
                        <a:srgbClr val="3C3F4C"/>
                      </a:solidFill>
                      <a:prstDash val="solid"/>
                      <a:round/>
                      <a:headEnd type="none" w="med" len="med"/>
                      <a:tailEnd type="none" w="med" len="med"/>
                    </a:lnL>
                    <a:lnR w="9525" cap="flat" cmpd="sng" algn="ctr">
                      <a:solidFill>
                        <a:srgbClr val="3C3F4C"/>
                      </a:solidFill>
                      <a:prstDash val="solid"/>
                      <a:round/>
                      <a:headEnd type="none" w="med" len="med"/>
                      <a:tailEnd type="none" w="med" len="med"/>
                    </a:lnR>
                    <a:lnT w="9525" cap="flat" cmpd="sng" algn="ctr">
                      <a:solidFill>
                        <a:srgbClr val="3C3F4C"/>
                      </a:solidFill>
                      <a:prstDash val="solid"/>
                      <a:round/>
                      <a:headEnd type="none" w="med" len="med"/>
                      <a:tailEnd type="none" w="med" len="med"/>
                    </a:lnT>
                    <a:lnB w="9525" cap="flat" cmpd="sng" algn="ctr">
                      <a:solidFill>
                        <a:srgbClr val="3C3F4C"/>
                      </a:solidFill>
                      <a:prstDash val="solid"/>
                      <a:round/>
                      <a:headEnd type="none" w="med" len="med"/>
                      <a:tailEnd type="none" w="med" len="med"/>
                    </a:lnB>
                    <a:solidFill>
                      <a:srgbClr val="161B30"/>
                    </a:solidFill>
                  </a:tcPr>
                </a:tc>
                <a:extLst>
                  <a:ext uri="{0D108BD9-81ED-4DB2-BD59-A6C34878D82A}">
                    <a16:rowId xmlns:a16="http://schemas.microsoft.com/office/drawing/2014/main" val="10001"/>
                  </a:ext>
                </a:extLst>
              </a:tr>
              <a:tr h="365760">
                <a:tc>
                  <a:txBody>
                    <a:bodyPr/>
                    <a:lstStyle/>
                    <a:p>
                      <a:pPr marL="0" indent="0">
                        <a:buNone/>
                      </a:pPr>
                      <a:r>
                        <a:rPr lang="en-US" sz="1300" b="1" dirty="0">
                          <a:solidFill>
                            <a:srgbClr val="E9ECF3"/>
                          </a:solidFill>
                          <a:latin typeface="Aptos" pitchFamily="34" charset="0"/>
                          <a:ea typeface="Aptos" pitchFamily="34" charset="-122"/>
                          <a:cs typeface="Aptos" pitchFamily="34" charset="-120"/>
                        </a:rPr>
                        <a:t>Koopman–von Neumann</a:t>
                      </a:r>
                      <a:endParaRPr lang="en-US" sz="1300" dirty="0">
                        <a:latin typeface="Aptos" charset="0"/>
                        <a:ea typeface="Aptos" charset="0"/>
                        <a:cs typeface="Aptos" charset="0"/>
                      </a:endParaRPr>
                    </a:p>
                  </a:txBody>
                  <a:tcPr marL="137160" marR="137160" marT="0" marB="0" anchor="ctr">
                    <a:lnL w="9525" cap="flat" cmpd="sng" algn="ctr">
                      <a:solidFill>
                        <a:srgbClr val="3C3F4C"/>
                      </a:solidFill>
                      <a:prstDash val="solid"/>
                      <a:round/>
                      <a:headEnd type="none" w="med" len="med"/>
                      <a:tailEnd type="none" w="med" len="med"/>
                    </a:lnL>
                    <a:lnR w="9525" cap="flat" cmpd="sng" algn="ctr">
                      <a:solidFill>
                        <a:srgbClr val="3C3F4C"/>
                      </a:solidFill>
                      <a:prstDash val="solid"/>
                      <a:round/>
                      <a:headEnd type="none" w="med" len="med"/>
                      <a:tailEnd type="none" w="med" len="med"/>
                    </a:lnR>
                    <a:lnT w="9525" cap="flat" cmpd="sng" algn="ctr">
                      <a:solidFill>
                        <a:srgbClr val="3C3F4C"/>
                      </a:solidFill>
                      <a:prstDash val="solid"/>
                      <a:round/>
                      <a:headEnd type="none" w="med" len="med"/>
                      <a:tailEnd type="none" w="med" len="med"/>
                    </a:lnT>
                    <a:lnB w="9525" cap="flat" cmpd="sng" algn="ctr">
                      <a:solidFill>
                        <a:srgbClr val="3C3F4C"/>
                      </a:solidFill>
                      <a:prstDash val="solid"/>
                      <a:round/>
                      <a:headEnd type="none" w="med" len="med"/>
                      <a:tailEnd type="none" w="med" len="med"/>
                    </a:lnB>
                    <a:solidFill>
                      <a:srgbClr val="1B213B"/>
                    </a:solidFill>
                  </a:tcPr>
                </a:tc>
                <a:tc>
                  <a:txBody>
                    <a:bodyPr/>
                    <a:lstStyle/>
                    <a:p>
                      <a:pPr marL="0" indent="0">
                        <a:buNone/>
                      </a:pPr>
                      <a:r>
                        <a:rPr lang="en-US" sz="1300" dirty="0">
                          <a:solidFill>
                            <a:srgbClr val="9AA3BD"/>
                          </a:solidFill>
                          <a:latin typeface="Aptos" pitchFamily="34" charset="0"/>
                          <a:ea typeface="Aptos" pitchFamily="34" charset="-122"/>
                          <a:cs typeface="Aptos" pitchFamily="34" charset="-120"/>
                        </a:rPr>
                        <a:t>Joseph</a:t>
                      </a:r>
                      <a:endParaRPr lang="en-US" sz="1300" dirty="0">
                        <a:latin typeface="Aptos" charset="0"/>
                        <a:ea typeface="Aptos" charset="0"/>
                        <a:cs typeface="Aptos" charset="0"/>
                      </a:endParaRPr>
                    </a:p>
                  </a:txBody>
                  <a:tcPr marL="137160" marR="137160" marT="0" marB="0" anchor="ctr">
                    <a:lnL w="9525" cap="flat" cmpd="sng" algn="ctr">
                      <a:solidFill>
                        <a:srgbClr val="3C3F4C"/>
                      </a:solidFill>
                      <a:prstDash val="solid"/>
                      <a:round/>
                      <a:headEnd type="none" w="med" len="med"/>
                      <a:tailEnd type="none" w="med" len="med"/>
                    </a:lnL>
                    <a:lnR w="9525" cap="flat" cmpd="sng" algn="ctr">
                      <a:solidFill>
                        <a:srgbClr val="3C3F4C"/>
                      </a:solidFill>
                      <a:prstDash val="solid"/>
                      <a:round/>
                      <a:headEnd type="none" w="med" len="med"/>
                      <a:tailEnd type="none" w="med" len="med"/>
                    </a:lnR>
                    <a:lnT w="9525" cap="flat" cmpd="sng" algn="ctr">
                      <a:solidFill>
                        <a:srgbClr val="3C3F4C"/>
                      </a:solidFill>
                      <a:prstDash val="solid"/>
                      <a:round/>
                      <a:headEnd type="none" w="med" len="med"/>
                      <a:tailEnd type="none" w="med" len="med"/>
                    </a:lnT>
                    <a:lnB w="9525" cap="flat" cmpd="sng" algn="ctr">
                      <a:solidFill>
                        <a:srgbClr val="3C3F4C"/>
                      </a:solidFill>
                      <a:prstDash val="solid"/>
                      <a:round/>
                      <a:headEnd type="none" w="med" len="med"/>
                      <a:tailEnd type="none" w="med" len="med"/>
                    </a:lnB>
                    <a:solidFill>
                      <a:srgbClr val="1B213B"/>
                    </a:solidFill>
                  </a:tcPr>
                </a:tc>
                <a:tc>
                  <a:txBody>
                    <a:bodyPr/>
                    <a:lstStyle/>
                    <a:p>
                      <a:pPr marL="0" indent="0">
                        <a:buNone/>
                      </a:pPr>
                      <a:r>
                        <a:rPr lang="en-US" sz="1300" dirty="0">
                          <a:solidFill>
                            <a:srgbClr val="9AA3BD"/>
                          </a:solidFill>
                          <a:latin typeface="Aptos" pitchFamily="34" charset="0"/>
                          <a:ea typeface="Aptos" pitchFamily="34" charset="-122"/>
                          <a:cs typeface="Aptos" pitchFamily="34" charset="-120"/>
                        </a:rPr>
                        <a:t>Phys. Rev. Research 2, 043102 (2020)</a:t>
                      </a:r>
                      <a:endParaRPr lang="en-US" sz="1300" dirty="0">
                        <a:latin typeface="Aptos" charset="0"/>
                        <a:ea typeface="Aptos" charset="0"/>
                        <a:cs typeface="Aptos" charset="0"/>
                      </a:endParaRPr>
                    </a:p>
                  </a:txBody>
                  <a:tcPr marL="137160" marR="137160" marT="0" marB="0" anchor="ctr">
                    <a:lnL w="9525" cap="flat" cmpd="sng" algn="ctr">
                      <a:solidFill>
                        <a:srgbClr val="3C3F4C"/>
                      </a:solidFill>
                      <a:prstDash val="solid"/>
                      <a:round/>
                      <a:headEnd type="none" w="med" len="med"/>
                      <a:tailEnd type="none" w="med" len="med"/>
                    </a:lnL>
                    <a:lnR w="9525" cap="flat" cmpd="sng" algn="ctr">
                      <a:solidFill>
                        <a:srgbClr val="3C3F4C"/>
                      </a:solidFill>
                      <a:prstDash val="solid"/>
                      <a:round/>
                      <a:headEnd type="none" w="med" len="med"/>
                      <a:tailEnd type="none" w="med" len="med"/>
                    </a:lnR>
                    <a:lnT w="9525" cap="flat" cmpd="sng" algn="ctr">
                      <a:solidFill>
                        <a:srgbClr val="3C3F4C"/>
                      </a:solidFill>
                      <a:prstDash val="solid"/>
                      <a:round/>
                      <a:headEnd type="none" w="med" len="med"/>
                      <a:tailEnd type="none" w="med" len="med"/>
                    </a:lnT>
                    <a:lnB w="9525" cap="flat" cmpd="sng" algn="ctr">
                      <a:solidFill>
                        <a:srgbClr val="3C3F4C"/>
                      </a:solidFill>
                      <a:prstDash val="solid"/>
                      <a:round/>
                      <a:headEnd type="none" w="med" len="med"/>
                      <a:tailEnd type="none" w="med" len="med"/>
                    </a:lnB>
                    <a:solidFill>
                      <a:srgbClr val="1B213B"/>
                    </a:solidFill>
                  </a:tcPr>
                </a:tc>
                <a:extLst>
                  <a:ext uri="{0D108BD9-81ED-4DB2-BD59-A6C34878D82A}">
                    <a16:rowId xmlns:a16="http://schemas.microsoft.com/office/drawing/2014/main" val="10002"/>
                  </a:ext>
                </a:extLst>
              </a:tr>
              <a:tr h="365760">
                <a:tc>
                  <a:txBody>
                    <a:bodyPr/>
                    <a:lstStyle/>
                    <a:p>
                      <a:pPr marL="0" indent="0">
                        <a:buNone/>
                      </a:pPr>
                      <a:r>
                        <a:rPr lang="en-US" sz="1300" b="1" dirty="0">
                          <a:solidFill>
                            <a:srgbClr val="E9ECF3"/>
                          </a:solidFill>
                          <a:latin typeface="Aptos" pitchFamily="34" charset="0"/>
                          <a:ea typeface="Aptos" pitchFamily="34" charset="-122"/>
                          <a:cs typeface="Aptos" pitchFamily="34" charset="-120"/>
                        </a:rPr>
                        <a:t>Lattice Boltzmann + Carleman</a:t>
                      </a:r>
                      <a:endParaRPr lang="en-US" sz="1300" dirty="0">
                        <a:latin typeface="Aptos" charset="0"/>
                        <a:ea typeface="Aptos" charset="0"/>
                        <a:cs typeface="Aptos" charset="0"/>
                      </a:endParaRPr>
                    </a:p>
                  </a:txBody>
                  <a:tcPr marL="137160" marR="137160" marT="0" marB="0" anchor="ctr">
                    <a:lnL w="9525" cap="flat" cmpd="sng" algn="ctr">
                      <a:solidFill>
                        <a:srgbClr val="3C3F4C"/>
                      </a:solidFill>
                      <a:prstDash val="solid"/>
                      <a:round/>
                      <a:headEnd type="none" w="med" len="med"/>
                      <a:tailEnd type="none" w="med" len="med"/>
                    </a:lnL>
                    <a:lnR w="9525" cap="flat" cmpd="sng" algn="ctr">
                      <a:solidFill>
                        <a:srgbClr val="3C3F4C"/>
                      </a:solidFill>
                      <a:prstDash val="solid"/>
                      <a:round/>
                      <a:headEnd type="none" w="med" len="med"/>
                      <a:tailEnd type="none" w="med" len="med"/>
                    </a:lnR>
                    <a:lnT w="9525" cap="flat" cmpd="sng" algn="ctr">
                      <a:solidFill>
                        <a:srgbClr val="3C3F4C"/>
                      </a:solidFill>
                      <a:prstDash val="solid"/>
                      <a:round/>
                      <a:headEnd type="none" w="med" len="med"/>
                      <a:tailEnd type="none" w="med" len="med"/>
                    </a:lnT>
                    <a:lnB w="9525" cap="flat" cmpd="sng" algn="ctr">
                      <a:solidFill>
                        <a:srgbClr val="3C3F4C"/>
                      </a:solidFill>
                      <a:prstDash val="solid"/>
                      <a:round/>
                      <a:headEnd type="none" w="med" len="med"/>
                      <a:tailEnd type="none" w="med" len="med"/>
                    </a:lnB>
                    <a:solidFill>
                      <a:srgbClr val="161B30"/>
                    </a:solidFill>
                  </a:tcPr>
                </a:tc>
                <a:tc>
                  <a:txBody>
                    <a:bodyPr/>
                    <a:lstStyle/>
                    <a:p>
                      <a:pPr marL="0" indent="0">
                        <a:buNone/>
                      </a:pPr>
                      <a:r>
                        <a:rPr lang="en-US" sz="1300" dirty="0">
                          <a:solidFill>
                            <a:srgbClr val="9AA3BD"/>
                          </a:solidFill>
                          <a:latin typeface="Aptos" pitchFamily="34" charset="0"/>
                          <a:ea typeface="Aptos" pitchFamily="34" charset="-122"/>
                          <a:cs typeface="Aptos" pitchFamily="34" charset="-120"/>
                        </a:rPr>
                        <a:t>Sanavio, Succi</a:t>
                      </a:r>
                      <a:endParaRPr lang="en-US" sz="1300" dirty="0">
                        <a:latin typeface="Aptos" charset="0"/>
                        <a:ea typeface="Aptos" charset="0"/>
                        <a:cs typeface="Aptos" charset="0"/>
                      </a:endParaRPr>
                    </a:p>
                  </a:txBody>
                  <a:tcPr marL="137160" marR="137160" marT="0" marB="0" anchor="ctr">
                    <a:lnL w="9525" cap="flat" cmpd="sng" algn="ctr">
                      <a:solidFill>
                        <a:srgbClr val="3C3F4C"/>
                      </a:solidFill>
                      <a:prstDash val="solid"/>
                      <a:round/>
                      <a:headEnd type="none" w="med" len="med"/>
                      <a:tailEnd type="none" w="med" len="med"/>
                    </a:lnL>
                    <a:lnR w="9525" cap="flat" cmpd="sng" algn="ctr">
                      <a:solidFill>
                        <a:srgbClr val="3C3F4C"/>
                      </a:solidFill>
                      <a:prstDash val="solid"/>
                      <a:round/>
                      <a:headEnd type="none" w="med" len="med"/>
                      <a:tailEnd type="none" w="med" len="med"/>
                    </a:lnR>
                    <a:lnT w="9525" cap="flat" cmpd="sng" algn="ctr">
                      <a:solidFill>
                        <a:srgbClr val="3C3F4C"/>
                      </a:solidFill>
                      <a:prstDash val="solid"/>
                      <a:round/>
                      <a:headEnd type="none" w="med" len="med"/>
                      <a:tailEnd type="none" w="med" len="med"/>
                    </a:lnT>
                    <a:lnB w="9525" cap="flat" cmpd="sng" algn="ctr">
                      <a:solidFill>
                        <a:srgbClr val="3C3F4C"/>
                      </a:solidFill>
                      <a:prstDash val="solid"/>
                      <a:round/>
                      <a:headEnd type="none" w="med" len="med"/>
                      <a:tailEnd type="none" w="med" len="med"/>
                    </a:lnB>
                    <a:solidFill>
                      <a:srgbClr val="161B30"/>
                    </a:solidFill>
                  </a:tcPr>
                </a:tc>
                <a:tc>
                  <a:txBody>
                    <a:bodyPr/>
                    <a:lstStyle/>
                    <a:p>
                      <a:pPr marL="0" indent="0">
                        <a:buNone/>
                      </a:pPr>
                      <a:r>
                        <a:rPr lang="en-US" sz="1300" dirty="0">
                          <a:solidFill>
                            <a:srgbClr val="9AA3BD"/>
                          </a:solidFill>
                          <a:latin typeface="Aptos" pitchFamily="34" charset="0"/>
                          <a:ea typeface="Aptos" pitchFamily="34" charset="-122"/>
                          <a:cs typeface="Aptos" pitchFamily="34" charset="-120"/>
                        </a:rPr>
                        <a:t>AVS Quantum Sci. 6, 023802 (2024)</a:t>
                      </a:r>
                      <a:endParaRPr lang="en-US" sz="1300" dirty="0">
                        <a:latin typeface="Aptos" charset="0"/>
                        <a:ea typeface="Aptos" charset="0"/>
                        <a:cs typeface="Aptos" charset="0"/>
                      </a:endParaRPr>
                    </a:p>
                  </a:txBody>
                  <a:tcPr marL="137160" marR="137160" marT="0" marB="0" anchor="ctr">
                    <a:lnL w="9525" cap="flat" cmpd="sng" algn="ctr">
                      <a:solidFill>
                        <a:srgbClr val="3C3F4C"/>
                      </a:solidFill>
                      <a:prstDash val="solid"/>
                      <a:round/>
                      <a:headEnd type="none" w="med" len="med"/>
                      <a:tailEnd type="none" w="med" len="med"/>
                    </a:lnL>
                    <a:lnR w="9525" cap="flat" cmpd="sng" algn="ctr">
                      <a:solidFill>
                        <a:srgbClr val="3C3F4C"/>
                      </a:solidFill>
                      <a:prstDash val="solid"/>
                      <a:round/>
                      <a:headEnd type="none" w="med" len="med"/>
                      <a:tailEnd type="none" w="med" len="med"/>
                    </a:lnR>
                    <a:lnT w="9525" cap="flat" cmpd="sng" algn="ctr">
                      <a:solidFill>
                        <a:srgbClr val="3C3F4C"/>
                      </a:solidFill>
                      <a:prstDash val="solid"/>
                      <a:round/>
                      <a:headEnd type="none" w="med" len="med"/>
                      <a:tailEnd type="none" w="med" len="med"/>
                    </a:lnT>
                    <a:lnB w="9525" cap="flat" cmpd="sng" algn="ctr">
                      <a:solidFill>
                        <a:srgbClr val="3C3F4C"/>
                      </a:solidFill>
                      <a:prstDash val="solid"/>
                      <a:round/>
                      <a:headEnd type="none" w="med" len="med"/>
                      <a:tailEnd type="none" w="med" len="med"/>
                    </a:lnB>
                    <a:solidFill>
                      <a:srgbClr val="161B30"/>
                    </a:solidFill>
                  </a:tcPr>
                </a:tc>
                <a:extLst>
                  <a:ext uri="{0D108BD9-81ED-4DB2-BD59-A6C34878D82A}">
                    <a16:rowId xmlns:a16="http://schemas.microsoft.com/office/drawing/2014/main" val="10003"/>
                  </a:ext>
                </a:extLst>
              </a:tr>
              <a:tr h="365760">
                <a:tc>
                  <a:txBody>
                    <a:bodyPr/>
                    <a:lstStyle/>
                    <a:p>
                      <a:pPr marL="0" indent="0">
                        <a:buNone/>
                      </a:pPr>
                      <a:r>
                        <a:rPr lang="en-US" sz="1300" b="1" dirty="0">
                          <a:solidFill>
                            <a:srgbClr val="E9ECF3"/>
                          </a:solidFill>
                          <a:latin typeface="Aptos" pitchFamily="34" charset="0"/>
                          <a:ea typeface="Aptos" pitchFamily="34" charset="-122"/>
                          <a:cs typeface="Aptos" pitchFamily="34" charset="-120"/>
                        </a:rPr>
                        <a:t>LCHS</a:t>
                      </a:r>
                      <a:endParaRPr lang="en-US" sz="1300" dirty="0">
                        <a:latin typeface="Aptos" charset="0"/>
                        <a:ea typeface="Aptos" charset="0"/>
                        <a:cs typeface="Aptos" charset="0"/>
                      </a:endParaRPr>
                    </a:p>
                  </a:txBody>
                  <a:tcPr marL="137160" marR="137160" marT="0" marB="0" anchor="ctr">
                    <a:lnL w="9525" cap="flat" cmpd="sng" algn="ctr">
                      <a:solidFill>
                        <a:srgbClr val="3C3F4C"/>
                      </a:solidFill>
                      <a:prstDash val="solid"/>
                      <a:round/>
                      <a:headEnd type="none" w="med" len="med"/>
                      <a:tailEnd type="none" w="med" len="med"/>
                    </a:lnL>
                    <a:lnR w="9525" cap="flat" cmpd="sng" algn="ctr">
                      <a:solidFill>
                        <a:srgbClr val="3C3F4C"/>
                      </a:solidFill>
                      <a:prstDash val="solid"/>
                      <a:round/>
                      <a:headEnd type="none" w="med" len="med"/>
                      <a:tailEnd type="none" w="med" len="med"/>
                    </a:lnR>
                    <a:lnT w="9525" cap="flat" cmpd="sng" algn="ctr">
                      <a:solidFill>
                        <a:srgbClr val="3C3F4C"/>
                      </a:solidFill>
                      <a:prstDash val="solid"/>
                      <a:round/>
                      <a:headEnd type="none" w="med" len="med"/>
                      <a:tailEnd type="none" w="med" len="med"/>
                    </a:lnT>
                    <a:lnB w="9525" cap="flat" cmpd="sng" algn="ctr">
                      <a:solidFill>
                        <a:srgbClr val="3C3F4C"/>
                      </a:solidFill>
                      <a:prstDash val="solid"/>
                      <a:round/>
                      <a:headEnd type="none" w="med" len="med"/>
                      <a:tailEnd type="none" w="med" len="med"/>
                    </a:lnB>
                    <a:solidFill>
                      <a:srgbClr val="1B213B"/>
                    </a:solidFill>
                  </a:tcPr>
                </a:tc>
                <a:tc>
                  <a:txBody>
                    <a:bodyPr/>
                    <a:lstStyle/>
                    <a:p>
                      <a:pPr marL="0" indent="0">
                        <a:buNone/>
                      </a:pPr>
                      <a:r>
                        <a:rPr lang="en-US" sz="1300" dirty="0">
                          <a:solidFill>
                            <a:srgbClr val="9AA3BD"/>
                          </a:solidFill>
                          <a:latin typeface="Aptos" pitchFamily="34" charset="0"/>
                          <a:ea typeface="Aptos" pitchFamily="34" charset="-122"/>
                          <a:cs typeface="Aptos" pitchFamily="34" charset="-120"/>
                        </a:rPr>
                        <a:t>An, Liu, Lin</a:t>
                      </a:r>
                      <a:endParaRPr lang="en-US" sz="1300" dirty="0">
                        <a:latin typeface="Aptos" charset="0"/>
                        <a:ea typeface="Aptos" charset="0"/>
                        <a:cs typeface="Aptos" charset="0"/>
                      </a:endParaRPr>
                    </a:p>
                  </a:txBody>
                  <a:tcPr marL="137160" marR="137160" marT="0" marB="0" anchor="ctr">
                    <a:lnL w="9525" cap="flat" cmpd="sng" algn="ctr">
                      <a:solidFill>
                        <a:srgbClr val="3C3F4C"/>
                      </a:solidFill>
                      <a:prstDash val="solid"/>
                      <a:round/>
                      <a:headEnd type="none" w="med" len="med"/>
                      <a:tailEnd type="none" w="med" len="med"/>
                    </a:lnL>
                    <a:lnR w="9525" cap="flat" cmpd="sng" algn="ctr">
                      <a:solidFill>
                        <a:srgbClr val="3C3F4C"/>
                      </a:solidFill>
                      <a:prstDash val="solid"/>
                      <a:round/>
                      <a:headEnd type="none" w="med" len="med"/>
                      <a:tailEnd type="none" w="med" len="med"/>
                    </a:lnR>
                    <a:lnT w="9525" cap="flat" cmpd="sng" algn="ctr">
                      <a:solidFill>
                        <a:srgbClr val="3C3F4C"/>
                      </a:solidFill>
                      <a:prstDash val="solid"/>
                      <a:round/>
                      <a:headEnd type="none" w="med" len="med"/>
                      <a:tailEnd type="none" w="med" len="med"/>
                    </a:lnT>
                    <a:lnB w="9525" cap="flat" cmpd="sng" algn="ctr">
                      <a:solidFill>
                        <a:srgbClr val="3C3F4C"/>
                      </a:solidFill>
                      <a:prstDash val="solid"/>
                      <a:round/>
                      <a:headEnd type="none" w="med" len="med"/>
                      <a:tailEnd type="none" w="med" len="med"/>
                    </a:lnB>
                    <a:solidFill>
                      <a:srgbClr val="1B213B"/>
                    </a:solidFill>
                  </a:tcPr>
                </a:tc>
                <a:tc>
                  <a:txBody>
                    <a:bodyPr/>
                    <a:lstStyle/>
                    <a:p>
                      <a:pPr marL="0" indent="0">
                        <a:buNone/>
                      </a:pPr>
                      <a:r>
                        <a:rPr lang="en-US" sz="1300" dirty="0">
                          <a:solidFill>
                            <a:srgbClr val="9AA3BD"/>
                          </a:solidFill>
                          <a:latin typeface="Aptos" pitchFamily="34" charset="0"/>
                          <a:ea typeface="Aptos" pitchFamily="34" charset="-122"/>
                          <a:cs typeface="Aptos" pitchFamily="34" charset="-120"/>
                        </a:rPr>
                        <a:t>PRL 131, 150603 (2023)</a:t>
                      </a:r>
                      <a:endParaRPr lang="en-US" sz="1300" dirty="0">
                        <a:latin typeface="Aptos" charset="0"/>
                        <a:ea typeface="Aptos" charset="0"/>
                        <a:cs typeface="Aptos" charset="0"/>
                      </a:endParaRPr>
                    </a:p>
                  </a:txBody>
                  <a:tcPr marL="137160" marR="137160" marT="0" marB="0" anchor="ctr">
                    <a:lnL w="9525" cap="flat" cmpd="sng" algn="ctr">
                      <a:solidFill>
                        <a:srgbClr val="3C3F4C"/>
                      </a:solidFill>
                      <a:prstDash val="solid"/>
                      <a:round/>
                      <a:headEnd type="none" w="med" len="med"/>
                      <a:tailEnd type="none" w="med" len="med"/>
                    </a:lnL>
                    <a:lnR w="9525" cap="flat" cmpd="sng" algn="ctr">
                      <a:solidFill>
                        <a:srgbClr val="3C3F4C"/>
                      </a:solidFill>
                      <a:prstDash val="solid"/>
                      <a:round/>
                      <a:headEnd type="none" w="med" len="med"/>
                      <a:tailEnd type="none" w="med" len="med"/>
                    </a:lnR>
                    <a:lnT w="9525" cap="flat" cmpd="sng" algn="ctr">
                      <a:solidFill>
                        <a:srgbClr val="3C3F4C"/>
                      </a:solidFill>
                      <a:prstDash val="solid"/>
                      <a:round/>
                      <a:headEnd type="none" w="med" len="med"/>
                      <a:tailEnd type="none" w="med" len="med"/>
                    </a:lnT>
                    <a:lnB w="9525" cap="flat" cmpd="sng" algn="ctr">
                      <a:solidFill>
                        <a:srgbClr val="3C3F4C"/>
                      </a:solidFill>
                      <a:prstDash val="solid"/>
                      <a:round/>
                      <a:headEnd type="none" w="med" len="med"/>
                      <a:tailEnd type="none" w="med" len="med"/>
                    </a:lnB>
                    <a:solidFill>
                      <a:srgbClr val="1B213B"/>
                    </a:solidFill>
                  </a:tcPr>
                </a:tc>
                <a:extLst>
                  <a:ext uri="{0D108BD9-81ED-4DB2-BD59-A6C34878D82A}">
                    <a16:rowId xmlns:a16="http://schemas.microsoft.com/office/drawing/2014/main" val="10004"/>
                  </a:ext>
                </a:extLst>
              </a:tr>
              <a:tr h="365760">
                <a:tc>
                  <a:txBody>
                    <a:bodyPr/>
                    <a:lstStyle/>
                    <a:p>
                      <a:pPr marL="0" indent="0">
                        <a:buNone/>
                      </a:pPr>
                      <a:r>
                        <a:rPr lang="en-US" sz="1300" b="1" dirty="0">
                          <a:solidFill>
                            <a:srgbClr val="E9ECF3"/>
                          </a:solidFill>
                          <a:latin typeface="Aptos" pitchFamily="34" charset="0"/>
                          <a:ea typeface="Aptos" pitchFamily="34" charset="-122"/>
                          <a:cs typeface="Aptos" pitchFamily="34" charset="-120"/>
                        </a:rPr>
                        <a:t>Schrödingerisation</a:t>
                      </a:r>
                      <a:endParaRPr lang="en-US" sz="1300" dirty="0">
                        <a:latin typeface="Aptos" charset="0"/>
                        <a:ea typeface="Aptos" charset="0"/>
                        <a:cs typeface="Aptos" charset="0"/>
                      </a:endParaRPr>
                    </a:p>
                  </a:txBody>
                  <a:tcPr marL="137160" marR="137160" marT="0" marB="0" anchor="ctr">
                    <a:lnL w="9525" cap="flat" cmpd="sng" algn="ctr">
                      <a:solidFill>
                        <a:srgbClr val="3C3F4C"/>
                      </a:solidFill>
                      <a:prstDash val="solid"/>
                      <a:round/>
                      <a:headEnd type="none" w="med" len="med"/>
                      <a:tailEnd type="none" w="med" len="med"/>
                    </a:lnL>
                    <a:lnR w="9525" cap="flat" cmpd="sng" algn="ctr">
                      <a:solidFill>
                        <a:srgbClr val="3C3F4C"/>
                      </a:solidFill>
                      <a:prstDash val="solid"/>
                      <a:round/>
                      <a:headEnd type="none" w="med" len="med"/>
                      <a:tailEnd type="none" w="med" len="med"/>
                    </a:lnR>
                    <a:lnT w="9525" cap="flat" cmpd="sng" algn="ctr">
                      <a:solidFill>
                        <a:srgbClr val="3C3F4C"/>
                      </a:solidFill>
                      <a:prstDash val="solid"/>
                      <a:round/>
                      <a:headEnd type="none" w="med" len="med"/>
                      <a:tailEnd type="none" w="med" len="med"/>
                    </a:lnT>
                    <a:lnB w="9525" cap="flat" cmpd="sng" algn="ctr">
                      <a:solidFill>
                        <a:srgbClr val="3C3F4C"/>
                      </a:solidFill>
                      <a:prstDash val="solid"/>
                      <a:round/>
                      <a:headEnd type="none" w="med" len="med"/>
                      <a:tailEnd type="none" w="med" len="med"/>
                    </a:lnB>
                    <a:solidFill>
                      <a:srgbClr val="161B30"/>
                    </a:solidFill>
                  </a:tcPr>
                </a:tc>
                <a:tc>
                  <a:txBody>
                    <a:bodyPr/>
                    <a:lstStyle/>
                    <a:p>
                      <a:pPr marL="0" indent="0">
                        <a:buNone/>
                      </a:pPr>
                      <a:r>
                        <a:rPr lang="en-US" sz="1300" dirty="0">
                          <a:solidFill>
                            <a:srgbClr val="9AA3BD"/>
                          </a:solidFill>
                          <a:latin typeface="Aptos" pitchFamily="34" charset="0"/>
                          <a:ea typeface="Aptos" pitchFamily="34" charset="-122"/>
                          <a:cs typeface="Aptos" pitchFamily="34" charset="-120"/>
                        </a:rPr>
                        <a:t>Jin, Liu, Yu</a:t>
                      </a:r>
                      <a:endParaRPr lang="en-US" sz="1300" dirty="0">
                        <a:latin typeface="Aptos" charset="0"/>
                        <a:ea typeface="Aptos" charset="0"/>
                        <a:cs typeface="Aptos" charset="0"/>
                      </a:endParaRPr>
                    </a:p>
                  </a:txBody>
                  <a:tcPr marL="137160" marR="137160" marT="0" marB="0" anchor="ctr">
                    <a:lnL w="9525" cap="flat" cmpd="sng" algn="ctr">
                      <a:solidFill>
                        <a:srgbClr val="3C3F4C"/>
                      </a:solidFill>
                      <a:prstDash val="solid"/>
                      <a:round/>
                      <a:headEnd type="none" w="med" len="med"/>
                      <a:tailEnd type="none" w="med" len="med"/>
                    </a:lnL>
                    <a:lnR w="9525" cap="flat" cmpd="sng" algn="ctr">
                      <a:solidFill>
                        <a:srgbClr val="3C3F4C"/>
                      </a:solidFill>
                      <a:prstDash val="solid"/>
                      <a:round/>
                      <a:headEnd type="none" w="med" len="med"/>
                      <a:tailEnd type="none" w="med" len="med"/>
                    </a:lnR>
                    <a:lnT w="9525" cap="flat" cmpd="sng" algn="ctr">
                      <a:solidFill>
                        <a:srgbClr val="3C3F4C"/>
                      </a:solidFill>
                      <a:prstDash val="solid"/>
                      <a:round/>
                      <a:headEnd type="none" w="med" len="med"/>
                      <a:tailEnd type="none" w="med" len="med"/>
                    </a:lnT>
                    <a:lnB w="9525" cap="flat" cmpd="sng" algn="ctr">
                      <a:solidFill>
                        <a:srgbClr val="3C3F4C"/>
                      </a:solidFill>
                      <a:prstDash val="solid"/>
                      <a:round/>
                      <a:headEnd type="none" w="med" len="med"/>
                      <a:tailEnd type="none" w="med" len="med"/>
                    </a:lnB>
                    <a:solidFill>
                      <a:srgbClr val="161B30"/>
                    </a:solidFill>
                  </a:tcPr>
                </a:tc>
                <a:tc>
                  <a:txBody>
                    <a:bodyPr/>
                    <a:lstStyle/>
                    <a:p>
                      <a:pPr marL="0" indent="0">
                        <a:buNone/>
                      </a:pPr>
                      <a:r>
                        <a:rPr lang="en-US" sz="1300" dirty="0">
                          <a:solidFill>
                            <a:srgbClr val="9AA3BD"/>
                          </a:solidFill>
                          <a:latin typeface="Aptos" pitchFamily="34" charset="0"/>
                          <a:ea typeface="Aptos" pitchFamily="34" charset="-122"/>
                          <a:cs typeface="Aptos" pitchFamily="34" charset="-120"/>
                        </a:rPr>
                        <a:t>PRL 133, 230602 (2024)</a:t>
                      </a:r>
                      <a:endParaRPr lang="en-US" sz="1300" dirty="0">
                        <a:latin typeface="Aptos" charset="0"/>
                        <a:ea typeface="Aptos" charset="0"/>
                        <a:cs typeface="Aptos" charset="0"/>
                      </a:endParaRPr>
                    </a:p>
                  </a:txBody>
                  <a:tcPr marL="137160" marR="137160" marT="0" marB="0" anchor="ctr">
                    <a:lnL w="9525" cap="flat" cmpd="sng" algn="ctr">
                      <a:solidFill>
                        <a:srgbClr val="3C3F4C"/>
                      </a:solidFill>
                      <a:prstDash val="solid"/>
                      <a:round/>
                      <a:headEnd type="none" w="med" len="med"/>
                      <a:tailEnd type="none" w="med" len="med"/>
                    </a:lnL>
                    <a:lnR w="9525" cap="flat" cmpd="sng" algn="ctr">
                      <a:solidFill>
                        <a:srgbClr val="3C3F4C"/>
                      </a:solidFill>
                      <a:prstDash val="solid"/>
                      <a:round/>
                      <a:headEnd type="none" w="med" len="med"/>
                      <a:tailEnd type="none" w="med" len="med"/>
                    </a:lnR>
                    <a:lnT w="9525" cap="flat" cmpd="sng" algn="ctr">
                      <a:solidFill>
                        <a:srgbClr val="3C3F4C"/>
                      </a:solidFill>
                      <a:prstDash val="solid"/>
                      <a:round/>
                      <a:headEnd type="none" w="med" len="med"/>
                      <a:tailEnd type="none" w="med" len="med"/>
                    </a:lnT>
                    <a:lnB w="9525" cap="flat" cmpd="sng" algn="ctr">
                      <a:solidFill>
                        <a:srgbClr val="3C3F4C"/>
                      </a:solidFill>
                      <a:prstDash val="solid"/>
                      <a:round/>
                      <a:headEnd type="none" w="med" len="med"/>
                      <a:tailEnd type="none" w="med" len="med"/>
                    </a:lnB>
                    <a:solidFill>
                      <a:srgbClr val="161B30"/>
                    </a:solidFill>
                  </a:tcPr>
                </a:tc>
                <a:extLst>
                  <a:ext uri="{0D108BD9-81ED-4DB2-BD59-A6C34878D82A}">
                    <a16:rowId xmlns:a16="http://schemas.microsoft.com/office/drawing/2014/main" val="10005"/>
                  </a:ext>
                </a:extLst>
              </a:tr>
              <a:tr h="365760">
                <a:tc>
                  <a:txBody>
                    <a:bodyPr/>
                    <a:lstStyle/>
                    <a:p>
                      <a:pPr marL="0" indent="0">
                        <a:buNone/>
                      </a:pPr>
                      <a:r>
                        <a:rPr lang="en-US" sz="1300" b="1" dirty="0">
                          <a:solidFill>
                            <a:srgbClr val="E9ECF3"/>
                          </a:solidFill>
                          <a:latin typeface="Aptos" pitchFamily="34" charset="0"/>
                          <a:ea typeface="Aptos" pitchFamily="34" charset="-122"/>
                          <a:cs typeface="Aptos" pitchFamily="34" charset="-120"/>
                        </a:rPr>
                        <a:t>Linear ODEs via QLSA</a:t>
                      </a:r>
                      <a:endParaRPr lang="en-US" sz="1300" dirty="0">
                        <a:latin typeface="Aptos" charset="0"/>
                        <a:ea typeface="Aptos" charset="0"/>
                        <a:cs typeface="Aptos" charset="0"/>
                      </a:endParaRPr>
                    </a:p>
                  </a:txBody>
                  <a:tcPr marL="137160" marR="137160" marT="0" marB="0" anchor="ctr">
                    <a:lnL w="9525" cap="flat" cmpd="sng" algn="ctr">
                      <a:solidFill>
                        <a:srgbClr val="3C3F4C"/>
                      </a:solidFill>
                      <a:prstDash val="solid"/>
                      <a:round/>
                      <a:headEnd type="none" w="med" len="med"/>
                      <a:tailEnd type="none" w="med" len="med"/>
                    </a:lnL>
                    <a:lnR w="9525" cap="flat" cmpd="sng" algn="ctr">
                      <a:solidFill>
                        <a:srgbClr val="3C3F4C"/>
                      </a:solidFill>
                      <a:prstDash val="solid"/>
                      <a:round/>
                      <a:headEnd type="none" w="med" len="med"/>
                      <a:tailEnd type="none" w="med" len="med"/>
                    </a:lnR>
                    <a:lnT w="9525" cap="flat" cmpd="sng" algn="ctr">
                      <a:solidFill>
                        <a:srgbClr val="3C3F4C"/>
                      </a:solidFill>
                      <a:prstDash val="solid"/>
                      <a:round/>
                      <a:headEnd type="none" w="med" len="med"/>
                      <a:tailEnd type="none" w="med" len="med"/>
                    </a:lnT>
                    <a:lnB w="9525" cap="flat" cmpd="sng" algn="ctr">
                      <a:solidFill>
                        <a:srgbClr val="3C3F4C"/>
                      </a:solidFill>
                      <a:prstDash val="solid"/>
                      <a:round/>
                      <a:headEnd type="none" w="med" len="med"/>
                      <a:tailEnd type="none" w="med" len="med"/>
                    </a:lnB>
                    <a:solidFill>
                      <a:srgbClr val="1B213B"/>
                    </a:solidFill>
                  </a:tcPr>
                </a:tc>
                <a:tc>
                  <a:txBody>
                    <a:bodyPr/>
                    <a:lstStyle/>
                    <a:p>
                      <a:pPr marL="0" indent="0">
                        <a:buNone/>
                      </a:pPr>
                      <a:r>
                        <a:rPr lang="en-US" sz="1300" dirty="0">
                          <a:solidFill>
                            <a:srgbClr val="9AA3BD"/>
                          </a:solidFill>
                          <a:latin typeface="Aptos" pitchFamily="34" charset="0"/>
                          <a:ea typeface="Aptos" pitchFamily="34" charset="-122"/>
                          <a:cs typeface="Aptos" pitchFamily="34" charset="-120"/>
                        </a:rPr>
                        <a:t>Berry, Childs, Ostrander, Wang</a:t>
                      </a:r>
                      <a:endParaRPr lang="en-US" sz="1300" dirty="0">
                        <a:latin typeface="Aptos" charset="0"/>
                        <a:ea typeface="Aptos" charset="0"/>
                        <a:cs typeface="Aptos" charset="0"/>
                      </a:endParaRPr>
                    </a:p>
                  </a:txBody>
                  <a:tcPr marL="137160" marR="137160" marT="0" marB="0" anchor="ctr">
                    <a:lnL w="9525" cap="flat" cmpd="sng" algn="ctr">
                      <a:solidFill>
                        <a:srgbClr val="3C3F4C"/>
                      </a:solidFill>
                      <a:prstDash val="solid"/>
                      <a:round/>
                      <a:headEnd type="none" w="med" len="med"/>
                      <a:tailEnd type="none" w="med" len="med"/>
                    </a:lnL>
                    <a:lnR w="9525" cap="flat" cmpd="sng" algn="ctr">
                      <a:solidFill>
                        <a:srgbClr val="3C3F4C"/>
                      </a:solidFill>
                      <a:prstDash val="solid"/>
                      <a:round/>
                      <a:headEnd type="none" w="med" len="med"/>
                      <a:tailEnd type="none" w="med" len="med"/>
                    </a:lnR>
                    <a:lnT w="9525" cap="flat" cmpd="sng" algn="ctr">
                      <a:solidFill>
                        <a:srgbClr val="3C3F4C"/>
                      </a:solidFill>
                      <a:prstDash val="solid"/>
                      <a:round/>
                      <a:headEnd type="none" w="med" len="med"/>
                      <a:tailEnd type="none" w="med" len="med"/>
                    </a:lnT>
                    <a:lnB w="9525" cap="flat" cmpd="sng" algn="ctr">
                      <a:solidFill>
                        <a:srgbClr val="3C3F4C"/>
                      </a:solidFill>
                      <a:prstDash val="solid"/>
                      <a:round/>
                      <a:headEnd type="none" w="med" len="med"/>
                      <a:tailEnd type="none" w="med" len="med"/>
                    </a:lnB>
                    <a:solidFill>
                      <a:srgbClr val="1B213B"/>
                    </a:solidFill>
                  </a:tcPr>
                </a:tc>
                <a:tc>
                  <a:txBody>
                    <a:bodyPr/>
                    <a:lstStyle/>
                    <a:p>
                      <a:pPr marL="0" indent="0">
                        <a:buNone/>
                      </a:pPr>
                      <a:r>
                        <a:rPr lang="en-US" sz="1300" dirty="0">
                          <a:solidFill>
                            <a:srgbClr val="9AA3BD"/>
                          </a:solidFill>
                          <a:latin typeface="Aptos" pitchFamily="34" charset="0"/>
                          <a:ea typeface="Aptos" pitchFamily="34" charset="-122"/>
                          <a:cs typeface="Aptos" pitchFamily="34" charset="-120"/>
                        </a:rPr>
                        <a:t>Commun. Math. Phys. 356, 1057 (2017)</a:t>
                      </a:r>
                      <a:endParaRPr lang="en-US" sz="1300" dirty="0">
                        <a:latin typeface="Aptos" charset="0"/>
                        <a:ea typeface="Aptos" charset="0"/>
                        <a:cs typeface="Aptos" charset="0"/>
                      </a:endParaRPr>
                    </a:p>
                  </a:txBody>
                  <a:tcPr marL="137160" marR="137160" marT="0" marB="0" anchor="ctr">
                    <a:lnL w="9525" cap="flat" cmpd="sng" algn="ctr">
                      <a:solidFill>
                        <a:srgbClr val="3C3F4C"/>
                      </a:solidFill>
                      <a:prstDash val="solid"/>
                      <a:round/>
                      <a:headEnd type="none" w="med" len="med"/>
                      <a:tailEnd type="none" w="med" len="med"/>
                    </a:lnL>
                    <a:lnR w="9525" cap="flat" cmpd="sng" algn="ctr">
                      <a:solidFill>
                        <a:srgbClr val="3C3F4C"/>
                      </a:solidFill>
                      <a:prstDash val="solid"/>
                      <a:round/>
                      <a:headEnd type="none" w="med" len="med"/>
                      <a:tailEnd type="none" w="med" len="med"/>
                    </a:lnR>
                    <a:lnT w="9525" cap="flat" cmpd="sng" algn="ctr">
                      <a:solidFill>
                        <a:srgbClr val="3C3F4C"/>
                      </a:solidFill>
                      <a:prstDash val="solid"/>
                      <a:round/>
                      <a:headEnd type="none" w="med" len="med"/>
                      <a:tailEnd type="none" w="med" len="med"/>
                    </a:lnT>
                    <a:lnB w="9525" cap="flat" cmpd="sng" algn="ctr">
                      <a:solidFill>
                        <a:srgbClr val="3C3F4C"/>
                      </a:solidFill>
                      <a:prstDash val="solid"/>
                      <a:round/>
                      <a:headEnd type="none" w="med" len="med"/>
                      <a:tailEnd type="none" w="med" len="med"/>
                    </a:lnB>
                    <a:solidFill>
                      <a:srgbClr val="1B213B"/>
                    </a:solidFill>
                  </a:tcPr>
                </a:tc>
                <a:extLst>
                  <a:ext uri="{0D108BD9-81ED-4DB2-BD59-A6C34878D82A}">
                    <a16:rowId xmlns:a16="http://schemas.microsoft.com/office/drawing/2014/main" val="10006"/>
                  </a:ext>
                </a:extLst>
              </a:tr>
              <a:tr h="365760">
                <a:tc>
                  <a:txBody>
                    <a:bodyPr/>
                    <a:lstStyle/>
                    <a:p>
                      <a:pPr marL="0" indent="0">
                        <a:buNone/>
                      </a:pPr>
                      <a:r>
                        <a:rPr lang="en-US" sz="1300" b="1" dirty="0">
                          <a:solidFill>
                            <a:srgbClr val="E9ECF3"/>
                          </a:solidFill>
                          <a:latin typeface="Aptos" pitchFamily="34" charset="0"/>
                          <a:ea typeface="Aptos" pitchFamily="34" charset="-122"/>
                          <a:cs typeface="Aptos" pitchFamily="34" charset="-120"/>
                        </a:rPr>
                        <a:t>Optimal linear solver</a:t>
                      </a:r>
                      <a:endParaRPr lang="en-US" sz="1300" dirty="0">
                        <a:latin typeface="Aptos" charset="0"/>
                        <a:ea typeface="Aptos" charset="0"/>
                        <a:cs typeface="Aptos" charset="0"/>
                      </a:endParaRPr>
                    </a:p>
                  </a:txBody>
                  <a:tcPr marL="137160" marR="137160" marT="0" marB="0" anchor="ctr">
                    <a:lnL w="9525" cap="flat" cmpd="sng" algn="ctr">
                      <a:solidFill>
                        <a:srgbClr val="3C3F4C"/>
                      </a:solidFill>
                      <a:prstDash val="solid"/>
                      <a:round/>
                      <a:headEnd type="none" w="med" len="med"/>
                      <a:tailEnd type="none" w="med" len="med"/>
                    </a:lnL>
                    <a:lnR w="9525" cap="flat" cmpd="sng" algn="ctr">
                      <a:solidFill>
                        <a:srgbClr val="3C3F4C"/>
                      </a:solidFill>
                      <a:prstDash val="solid"/>
                      <a:round/>
                      <a:headEnd type="none" w="med" len="med"/>
                      <a:tailEnd type="none" w="med" len="med"/>
                    </a:lnR>
                    <a:lnT w="9525" cap="flat" cmpd="sng" algn="ctr">
                      <a:solidFill>
                        <a:srgbClr val="3C3F4C"/>
                      </a:solidFill>
                      <a:prstDash val="solid"/>
                      <a:round/>
                      <a:headEnd type="none" w="med" len="med"/>
                      <a:tailEnd type="none" w="med" len="med"/>
                    </a:lnT>
                    <a:lnB w="9525" cap="flat" cmpd="sng" algn="ctr">
                      <a:solidFill>
                        <a:srgbClr val="3C3F4C"/>
                      </a:solidFill>
                      <a:prstDash val="solid"/>
                      <a:round/>
                      <a:headEnd type="none" w="med" len="med"/>
                      <a:tailEnd type="none" w="med" len="med"/>
                    </a:lnB>
                    <a:solidFill>
                      <a:srgbClr val="161B30"/>
                    </a:solidFill>
                  </a:tcPr>
                </a:tc>
                <a:tc>
                  <a:txBody>
                    <a:bodyPr/>
                    <a:lstStyle/>
                    <a:p>
                      <a:pPr marL="0" indent="0">
                        <a:buNone/>
                      </a:pPr>
                      <a:r>
                        <a:rPr lang="en-US" sz="1300" dirty="0">
                          <a:solidFill>
                            <a:srgbClr val="9AA3BD"/>
                          </a:solidFill>
                          <a:latin typeface="Aptos" pitchFamily="34" charset="0"/>
                          <a:ea typeface="Aptos" pitchFamily="34" charset="-122"/>
                          <a:cs typeface="Aptos" pitchFamily="34" charset="-120"/>
                        </a:rPr>
                        <a:t>Costa et al.</a:t>
                      </a:r>
                      <a:endParaRPr lang="en-US" sz="1300" dirty="0">
                        <a:latin typeface="Aptos" charset="0"/>
                        <a:ea typeface="Aptos" charset="0"/>
                        <a:cs typeface="Aptos" charset="0"/>
                      </a:endParaRPr>
                    </a:p>
                  </a:txBody>
                  <a:tcPr marL="137160" marR="137160" marT="0" marB="0" anchor="ctr">
                    <a:lnL w="9525" cap="flat" cmpd="sng" algn="ctr">
                      <a:solidFill>
                        <a:srgbClr val="3C3F4C"/>
                      </a:solidFill>
                      <a:prstDash val="solid"/>
                      <a:round/>
                      <a:headEnd type="none" w="med" len="med"/>
                      <a:tailEnd type="none" w="med" len="med"/>
                    </a:lnL>
                    <a:lnR w="9525" cap="flat" cmpd="sng" algn="ctr">
                      <a:solidFill>
                        <a:srgbClr val="3C3F4C"/>
                      </a:solidFill>
                      <a:prstDash val="solid"/>
                      <a:round/>
                      <a:headEnd type="none" w="med" len="med"/>
                      <a:tailEnd type="none" w="med" len="med"/>
                    </a:lnR>
                    <a:lnT w="9525" cap="flat" cmpd="sng" algn="ctr">
                      <a:solidFill>
                        <a:srgbClr val="3C3F4C"/>
                      </a:solidFill>
                      <a:prstDash val="solid"/>
                      <a:round/>
                      <a:headEnd type="none" w="med" len="med"/>
                      <a:tailEnd type="none" w="med" len="med"/>
                    </a:lnT>
                    <a:lnB w="9525" cap="flat" cmpd="sng" algn="ctr">
                      <a:solidFill>
                        <a:srgbClr val="3C3F4C"/>
                      </a:solidFill>
                      <a:prstDash val="solid"/>
                      <a:round/>
                      <a:headEnd type="none" w="med" len="med"/>
                      <a:tailEnd type="none" w="med" len="med"/>
                    </a:lnB>
                    <a:solidFill>
                      <a:srgbClr val="161B30"/>
                    </a:solidFill>
                  </a:tcPr>
                </a:tc>
                <a:tc>
                  <a:txBody>
                    <a:bodyPr/>
                    <a:lstStyle/>
                    <a:p>
                      <a:pPr marL="0" indent="0">
                        <a:buNone/>
                      </a:pPr>
                      <a:r>
                        <a:rPr lang="en-US" sz="1300" dirty="0">
                          <a:solidFill>
                            <a:srgbClr val="9AA3BD"/>
                          </a:solidFill>
                          <a:latin typeface="Aptos" pitchFamily="34" charset="0"/>
                          <a:ea typeface="Aptos" pitchFamily="34" charset="-122"/>
                          <a:cs typeface="Aptos" pitchFamily="34" charset="-120"/>
                        </a:rPr>
                        <a:t>PRX Quantum 3, 040303 (2022)</a:t>
                      </a:r>
                      <a:endParaRPr lang="en-US" sz="1300" dirty="0">
                        <a:latin typeface="Aptos" charset="0"/>
                        <a:ea typeface="Aptos" charset="0"/>
                        <a:cs typeface="Aptos" charset="0"/>
                      </a:endParaRPr>
                    </a:p>
                  </a:txBody>
                  <a:tcPr marL="137160" marR="137160" marT="0" marB="0" anchor="ctr">
                    <a:lnL w="9525" cap="flat" cmpd="sng" algn="ctr">
                      <a:solidFill>
                        <a:srgbClr val="3C3F4C"/>
                      </a:solidFill>
                      <a:prstDash val="solid"/>
                      <a:round/>
                      <a:headEnd type="none" w="med" len="med"/>
                      <a:tailEnd type="none" w="med" len="med"/>
                    </a:lnL>
                    <a:lnR w="9525" cap="flat" cmpd="sng" algn="ctr">
                      <a:solidFill>
                        <a:srgbClr val="3C3F4C"/>
                      </a:solidFill>
                      <a:prstDash val="solid"/>
                      <a:round/>
                      <a:headEnd type="none" w="med" len="med"/>
                      <a:tailEnd type="none" w="med" len="med"/>
                    </a:lnR>
                    <a:lnT w="9525" cap="flat" cmpd="sng" algn="ctr">
                      <a:solidFill>
                        <a:srgbClr val="3C3F4C"/>
                      </a:solidFill>
                      <a:prstDash val="solid"/>
                      <a:round/>
                      <a:headEnd type="none" w="med" len="med"/>
                      <a:tailEnd type="none" w="med" len="med"/>
                    </a:lnT>
                    <a:lnB w="9525" cap="flat" cmpd="sng" algn="ctr">
                      <a:solidFill>
                        <a:srgbClr val="3C3F4C"/>
                      </a:solidFill>
                      <a:prstDash val="solid"/>
                      <a:round/>
                      <a:headEnd type="none" w="med" len="med"/>
                      <a:tailEnd type="none" w="med" len="med"/>
                    </a:lnB>
                    <a:solidFill>
                      <a:srgbClr val="161B30"/>
                    </a:solidFill>
                  </a:tcPr>
                </a:tc>
                <a:extLst>
                  <a:ext uri="{0D108BD9-81ED-4DB2-BD59-A6C34878D82A}">
                    <a16:rowId xmlns:a16="http://schemas.microsoft.com/office/drawing/2014/main" val="10007"/>
                  </a:ext>
                </a:extLst>
              </a:tr>
              <a:tr h="365760">
                <a:tc>
                  <a:txBody>
                    <a:bodyPr/>
                    <a:lstStyle/>
                    <a:p>
                      <a:pPr marL="0" indent="0">
                        <a:buNone/>
                      </a:pPr>
                      <a:r>
                        <a:rPr lang="en-US" sz="1300" b="1" dirty="0">
                          <a:solidFill>
                            <a:srgbClr val="E9ECF3"/>
                          </a:solidFill>
                          <a:latin typeface="Aptos" pitchFamily="34" charset="0"/>
                          <a:ea typeface="Aptos" pitchFamily="34" charset="-122"/>
                          <a:cs typeface="Aptos" pitchFamily="34" charset="-120"/>
                        </a:rPr>
                        <a:t>Block encoding, QSVT</a:t>
                      </a:r>
                      <a:endParaRPr lang="en-US" sz="1300" dirty="0">
                        <a:latin typeface="Aptos" charset="0"/>
                        <a:ea typeface="Aptos" charset="0"/>
                        <a:cs typeface="Aptos" charset="0"/>
                      </a:endParaRPr>
                    </a:p>
                  </a:txBody>
                  <a:tcPr marL="137160" marR="137160" marT="0" marB="0" anchor="ctr">
                    <a:lnL w="9525" cap="flat" cmpd="sng" algn="ctr">
                      <a:solidFill>
                        <a:srgbClr val="3C3F4C"/>
                      </a:solidFill>
                      <a:prstDash val="solid"/>
                      <a:round/>
                      <a:headEnd type="none" w="med" len="med"/>
                      <a:tailEnd type="none" w="med" len="med"/>
                    </a:lnL>
                    <a:lnR w="9525" cap="flat" cmpd="sng" algn="ctr">
                      <a:solidFill>
                        <a:srgbClr val="3C3F4C"/>
                      </a:solidFill>
                      <a:prstDash val="solid"/>
                      <a:round/>
                      <a:headEnd type="none" w="med" len="med"/>
                      <a:tailEnd type="none" w="med" len="med"/>
                    </a:lnR>
                    <a:lnT w="9525" cap="flat" cmpd="sng" algn="ctr">
                      <a:solidFill>
                        <a:srgbClr val="3C3F4C"/>
                      </a:solidFill>
                      <a:prstDash val="solid"/>
                      <a:round/>
                      <a:headEnd type="none" w="med" len="med"/>
                      <a:tailEnd type="none" w="med" len="med"/>
                    </a:lnT>
                    <a:lnB w="9525" cap="flat" cmpd="sng" algn="ctr">
                      <a:solidFill>
                        <a:srgbClr val="3C3F4C"/>
                      </a:solidFill>
                      <a:prstDash val="solid"/>
                      <a:round/>
                      <a:headEnd type="none" w="med" len="med"/>
                      <a:tailEnd type="none" w="med" len="med"/>
                    </a:lnB>
                    <a:solidFill>
                      <a:srgbClr val="1B213B"/>
                    </a:solidFill>
                  </a:tcPr>
                </a:tc>
                <a:tc>
                  <a:txBody>
                    <a:bodyPr/>
                    <a:lstStyle/>
                    <a:p>
                      <a:pPr marL="0" indent="0">
                        <a:buNone/>
                      </a:pPr>
                      <a:r>
                        <a:rPr lang="en-US" sz="1300" dirty="0">
                          <a:solidFill>
                            <a:srgbClr val="9AA3BD"/>
                          </a:solidFill>
                          <a:latin typeface="Aptos" pitchFamily="34" charset="0"/>
                          <a:ea typeface="Aptos" pitchFamily="34" charset="-122"/>
                          <a:cs typeface="Aptos" pitchFamily="34" charset="-120"/>
                        </a:rPr>
                        <a:t>Gilyén, Su, Low, Wiebe</a:t>
                      </a:r>
                      <a:endParaRPr lang="en-US" sz="1300" dirty="0">
                        <a:latin typeface="Aptos" charset="0"/>
                        <a:ea typeface="Aptos" charset="0"/>
                        <a:cs typeface="Aptos" charset="0"/>
                      </a:endParaRPr>
                    </a:p>
                  </a:txBody>
                  <a:tcPr marL="137160" marR="137160" marT="0" marB="0" anchor="ctr">
                    <a:lnL w="9525" cap="flat" cmpd="sng" algn="ctr">
                      <a:solidFill>
                        <a:srgbClr val="3C3F4C"/>
                      </a:solidFill>
                      <a:prstDash val="solid"/>
                      <a:round/>
                      <a:headEnd type="none" w="med" len="med"/>
                      <a:tailEnd type="none" w="med" len="med"/>
                    </a:lnL>
                    <a:lnR w="9525" cap="flat" cmpd="sng" algn="ctr">
                      <a:solidFill>
                        <a:srgbClr val="3C3F4C"/>
                      </a:solidFill>
                      <a:prstDash val="solid"/>
                      <a:round/>
                      <a:headEnd type="none" w="med" len="med"/>
                      <a:tailEnd type="none" w="med" len="med"/>
                    </a:lnR>
                    <a:lnT w="9525" cap="flat" cmpd="sng" algn="ctr">
                      <a:solidFill>
                        <a:srgbClr val="3C3F4C"/>
                      </a:solidFill>
                      <a:prstDash val="solid"/>
                      <a:round/>
                      <a:headEnd type="none" w="med" len="med"/>
                      <a:tailEnd type="none" w="med" len="med"/>
                    </a:lnT>
                    <a:lnB w="9525" cap="flat" cmpd="sng" algn="ctr">
                      <a:solidFill>
                        <a:srgbClr val="3C3F4C"/>
                      </a:solidFill>
                      <a:prstDash val="solid"/>
                      <a:round/>
                      <a:headEnd type="none" w="med" len="med"/>
                      <a:tailEnd type="none" w="med" len="med"/>
                    </a:lnB>
                    <a:solidFill>
                      <a:srgbClr val="1B213B"/>
                    </a:solidFill>
                  </a:tcPr>
                </a:tc>
                <a:tc>
                  <a:txBody>
                    <a:bodyPr/>
                    <a:lstStyle/>
                    <a:p>
                      <a:pPr marL="0" indent="0">
                        <a:buNone/>
                      </a:pPr>
                      <a:r>
                        <a:rPr lang="en-US" sz="1300" dirty="0">
                          <a:solidFill>
                            <a:srgbClr val="9AA3BD"/>
                          </a:solidFill>
                          <a:latin typeface="Aptos" pitchFamily="34" charset="0"/>
                          <a:ea typeface="Aptos" pitchFamily="34" charset="-122"/>
                          <a:cs typeface="Aptos" pitchFamily="34" charset="-120"/>
                        </a:rPr>
                        <a:t>STOC 2019, 193–204</a:t>
                      </a:r>
                      <a:endParaRPr lang="en-US" sz="1300" dirty="0">
                        <a:latin typeface="Aptos" charset="0"/>
                        <a:ea typeface="Aptos" charset="0"/>
                        <a:cs typeface="Aptos" charset="0"/>
                      </a:endParaRPr>
                    </a:p>
                  </a:txBody>
                  <a:tcPr marL="137160" marR="137160" marT="0" marB="0" anchor="ctr">
                    <a:lnL w="9525" cap="flat" cmpd="sng" algn="ctr">
                      <a:solidFill>
                        <a:srgbClr val="3C3F4C"/>
                      </a:solidFill>
                      <a:prstDash val="solid"/>
                      <a:round/>
                      <a:headEnd type="none" w="med" len="med"/>
                      <a:tailEnd type="none" w="med" len="med"/>
                    </a:lnL>
                    <a:lnR w="9525" cap="flat" cmpd="sng" algn="ctr">
                      <a:solidFill>
                        <a:srgbClr val="3C3F4C"/>
                      </a:solidFill>
                      <a:prstDash val="solid"/>
                      <a:round/>
                      <a:headEnd type="none" w="med" len="med"/>
                      <a:tailEnd type="none" w="med" len="med"/>
                    </a:lnR>
                    <a:lnT w="9525" cap="flat" cmpd="sng" algn="ctr">
                      <a:solidFill>
                        <a:srgbClr val="3C3F4C"/>
                      </a:solidFill>
                      <a:prstDash val="solid"/>
                      <a:round/>
                      <a:headEnd type="none" w="med" len="med"/>
                      <a:tailEnd type="none" w="med" len="med"/>
                    </a:lnT>
                    <a:lnB w="9525" cap="flat" cmpd="sng" algn="ctr">
                      <a:solidFill>
                        <a:srgbClr val="3C3F4C"/>
                      </a:solidFill>
                      <a:prstDash val="solid"/>
                      <a:round/>
                      <a:headEnd type="none" w="med" len="med"/>
                      <a:tailEnd type="none" w="med" len="med"/>
                    </a:lnB>
                    <a:solidFill>
                      <a:srgbClr val="1B213B"/>
                    </a:solidFill>
                  </a:tcPr>
                </a:tc>
                <a:extLst>
                  <a:ext uri="{0D108BD9-81ED-4DB2-BD59-A6C34878D82A}">
                    <a16:rowId xmlns:a16="http://schemas.microsoft.com/office/drawing/2014/main" val="10008"/>
                  </a:ext>
                </a:extLst>
              </a:tr>
              <a:tr h="365760">
                <a:tc>
                  <a:txBody>
                    <a:bodyPr/>
                    <a:lstStyle/>
                    <a:p>
                      <a:pPr marL="0" indent="0">
                        <a:buNone/>
                      </a:pPr>
                      <a:r>
                        <a:rPr lang="en-US" sz="1300" b="1" dirty="0">
                          <a:solidFill>
                            <a:srgbClr val="E9ECF3"/>
                          </a:solidFill>
                          <a:latin typeface="Aptos" pitchFamily="34" charset="0"/>
                          <a:ea typeface="Aptos" pitchFamily="34" charset="-122"/>
                          <a:cs typeface="Aptos" pitchFamily="34" charset="-120"/>
                        </a:rPr>
                        <a:t>Qubitization</a:t>
                      </a:r>
                      <a:endParaRPr lang="en-US" sz="1300" dirty="0">
                        <a:latin typeface="Aptos" charset="0"/>
                        <a:ea typeface="Aptos" charset="0"/>
                        <a:cs typeface="Aptos" charset="0"/>
                      </a:endParaRPr>
                    </a:p>
                  </a:txBody>
                  <a:tcPr marL="137160" marR="137160" marT="0" marB="0" anchor="ctr">
                    <a:lnL w="9525" cap="flat" cmpd="sng" algn="ctr">
                      <a:solidFill>
                        <a:srgbClr val="3C3F4C"/>
                      </a:solidFill>
                      <a:prstDash val="solid"/>
                      <a:round/>
                      <a:headEnd type="none" w="med" len="med"/>
                      <a:tailEnd type="none" w="med" len="med"/>
                    </a:lnL>
                    <a:lnR w="9525" cap="flat" cmpd="sng" algn="ctr">
                      <a:solidFill>
                        <a:srgbClr val="3C3F4C"/>
                      </a:solidFill>
                      <a:prstDash val="solid"/>
                      <a:round/>
                      <a:headEnd type="none" w="med" len="med"/>
                      <a:tailEnd type="none" w="med" len="med"/>
                    </a:lnR>
                    <a:lnT w="9525" cap="flat" cmpd="sng" algn="ctr">
                      <a:solidFill>
                        <a:srgbClr val="3C3F4C"/>
                      </a:solidFill>
                      <a:prstDash val="solid"/>
                      <a:round/>
                      <a:headEnd type="none" w="med" len="med"/>
                      <a:tailEnd type="none" w="med" len="med"/>
                    </a:lnT>
                    <a:lnB w="9525" cap="flat" cmpd="sng" algn="ctr">
                      <a:solidFill>
                        <a:srgbClr val="3C3F4C"/>
                      </a:solidFill>
                      <a:prstDash val="solid"/>
                      <a:round/>
                      <a:headEnd type="none" w="med" len="med"/>
                      <a:tailEnd type="none" w="med" len="med"/>
                    </a:lnB>
                    <a:solidFill>
                      <a:srgbClr val="161B30"/>
                    </a:solidFill>
                  </a:tcPr>
                </a:tc>
                <a:tc>
                  <a:txBody>
                    <a:bodyPr/>
                    <a:lstStyle/>
                    <a:p>
                      <a:pPr marL="0" indent="0">
                        <a:buNone/>
                      </a:pPr>
                      <a:r>
                        <a:rPr lang="en-US" sz="1300" dirty="0">
                          <a:solidFill>
                            <a:srgbClr val="9AA3BD"/>
                          </a:solidFill>
                          <a:latin typeface="Aptos" pitchFamily="34" charset="0"/>
                          <a:ea typeface="Aptos" pitchFamily="34" charset="-122"/>
                          <a:cs typeface="Aptos" pitchFamily="34" charset="-120"/>
                        </a:rPr>
                        <a:t>Low, Chuang</a:t>
                      </a:r>
                      <a:endParaRPr lang="en-US" sz="1300" dirty="0">
                        <a:latin typeface="Aptos" charset="0"/>
                        <a:ea typeface="Aptos" charset="0"/>
                        <a:cs typeface="Aptos" charset="0"/>
                      </a:endParaRPr>
                    </a:p>
                  </a:txBody>
                  <a:tcPr marL="137160" marR="137160" marT="0" marB="0" anchor="ctr">
                    <a:lnL w="9525" cap="flat" cmpd="sng" algn="ctr">
                      <a:solidFill>
                        <a:srgbClr val="3C3F4C"/>
                      </a:solidFill>
                      <a:prstDash val="solid"/>
                      <a:round/>
                      <a:headEnd type="none" w="med" len="med"/>
                      <a:tailEnd type="none" w="med" len="med"/>
                    </a:lnL>
                    <a:lnR w="9525" cap="flat" cmpd="sng" algn="ctr">
                      <a:solidFill>
                        <a:srgbClr val="3C3F4C"/>
                      </a:solidFill>
                      <a:prstDash val="solid"/>
                      <a:round/>
                      <a:headEnd type="none" w="med" len="med"/>
                      <a:tailEnd type="none" w="med" len="med"/>
                    </a:lnR>
                    <a:lnT w="9525" cap="flat" cmpd="sng" algn="ctr">
                      <a:solidFill>
                        <a:srgbClr val="3C3F4C"/>
                      </a:solidFill>
                      <a:prstDash val="solid"/>
                      <a:round/>
                      <a:headEnd type="none" w="med" len="med"/>
                      <a:tailEnd type="none" w="med" len="med"/>
                    </a:lnT>
                    <a:lnB w="9525" cap="flat" cmpd="sng" algn="ctr">
                      <a:solidFill>
                        <a:srgbClr val="3C3F4C"/>
                      </a:solidFill>
                      <a:prstDash val="solid"/>
                      <a:round/>
                      <a:headEnd type="none" w="med" len="med"/>
                      <a:tailEnd type="none" w="med" len="med"/>
                    </a:lnB>
                    <a:solidFill>
                      <a:srgbClr val="161B30"/>
                    </a:solidFill>
                  </a:tcPr>
                </a:tc>
                <a:tc>
                  <a:txBody>
                    <a:bodyPr/>
                    <a:lstStyle/>
                    <a:p>
                      <a:pPr marL="0" indent="0">
                        <a:buNone/>
                      </a:pPr>
                      <a:r>
                        <a:rPr lang="en-US" sz="1300" dirty="0">
                          <a:solidFill>
                            <a:srgbClr val="9AA3BD"/>
                          </a:solidFill>
                          <a:latin typeface="Aptos" pitchFamily="34" charset="0"/>
                          <a:ea typeface="Aptos" pitchFamily="34" charset="-122"/>
                          <a:cs typeface="Aptos" pitchFamily="34" charset="-120"/>
                        </a:rPr>
                        <a:t>Quantum 3, 163 (2019)</a:t>
                      </a:r>
                      <a:endParaRPr lang="en-US" sz="1300" dirty="0">
                        <a:latin typeface="Aptos" charset="0"/>
                        <a:ea typeface="Aptos" charset="0"/>
                        <a:cs typeface="Aptos" charset="0"/>
                      </a:endParaRPr>
                    </a:p>
                  </a:txBody>
                  <a:tcPr marL="137160" marR="137160" marT="0" marB="0" anchor="ctr">
                    <a:lnL w="9525" cap="flat" cmpd="sng" algn="ctr">
                      <a:solidFill>
                        <a:srgbClr val="3C3F4C"/>
                      </a:solidFill>
                      <a:prstDash val="solid"/>
                      <a:round/>
                      <a:headEnd type="none" w="med" len="med"/>
                      <a:tailEnd type="none" w="med" len="med"/>
                    </a:lnL>
                    <a:lnR w="9525" cap="flat" cmpd="sng" algn="ctr">
                      <a:solidFill>
                        <a:srgbClr val="3C3F4C"/>
                      </a:solidFill>
                      <a:prstDash val="solid"/>
                      <a:round/>
                      <a:headEnd type="none" w="med" len="med"/>
                      <a:tailEnd type="none" w="med" len="med"/>
                    </a:lnR>
                    <a:lnT w="9525" cap="flat" cmpd="sng" algn="ctr">
                      <a:solidFill>
                        <a:srgbClr val="3C3F4C"/>
                      </a:solidFill>
                      <a:prstDash val="solid"/>
                      <a:round/>
                      <a:headEnd type="none" w="med" len="med"/>
                      <a:tailEnd type="none" w="med" len="med"/>
                    </a:lnT>
                    <a:lnB w="9525" cap="flat" cmpd="sng" algn="ctr">
                      <a:solidFill>
                        <a:srgbClr val="3C3F4C"/>
                      </a:solidFill>
                      <a:prstDash val="solid"/>
                      <a:round/>
                      <a:headEnd type="none" w="med" len="med"/>
                      <a:tailEnd type="none" w="med" len="med"/>
                    </a:lnB>
                    <a:solidFill>
                      <a:srgbClr val="161B30"/>
                    </a:solidFill>
                  </a:tcPr>
                </a:tc>
                <a:extLst>
                  <a:ext uri="{0D108BD9-81ED-4DB2-BD59-A6C34878D82A}">
                    <a16:rowId xmlns:a16="http://schemas.microsoft.com/office/drawing/2014/main" val="10009"/>
                  </a:ext>
                </a:extLst>
              </a:tr>
              <a:tr h="365760">
                <a:tc>
                  <a:txBody>
                    <a:bodyPr/>
                    <a:lstStyle/>
                    <a:p>
                      <a:pPr marL="0" indent="0">
                        <a:buNone/>
                      </a:pPr>
                      <a:r>
                        <a:rPr lang="en-US" sz="1300" b="1" dirty="0">
                          <a:solidFill>
                            <a:srgbClr val="E9ECF3"/>
                          </a:solidFill>
                          <a:latin typeface="Aptos" pitchFamily="34" charset="0"/>
                          <a:ea typeface="Aptos" pitchFamily="34" charset="-122"/>
                          <a:cs typeface="Aptos" pitchFamily="34" charset="-120"/>
                        </a:rPr>
                        <a:t>Stochastic nonlinear ODEs</a:t>
                      </a:r>
                      <a:endParaRPr lang="en-US" sz="1300" dirty="0">
                        <a:latin typeface="Aptos" charset="0"/>
                        <a:ea typeface="Aptos" charset="0"/>
                        <a:cs typeface="Aptos" charset="0"/>
                      </a:endParaRPr>
                    </a:p>
                  </a:txBody>
                  <a:tcPr marL="137160" marR="137160" marT="0" marB="0" anchor="ctr">
                    <a:lnL w="9525" cap="flat" cmpd="sng" algn="ctr">
                      <a:solidFill>
                        <a:srgbClr val="3C3F4C"/>
                      </a:solidFill>
                      <a:prstDash val="solid"/>
                      <a:round/>
                      <a:headEnd type="none" w="med" len="med"/>
                      <a:tailEnd type="none" w="med" len="med"/>
                    </a:lnL>
                    <a:lnR w="9525" cap="flat" cmpd="sng" algn="ctr">
                      <a:solidFill>
                        <a:srgbClr val="3C3F4C"/>
                      </a:solidFill>
                      <a:prstDash val="solid"/>
                      <a:round/>
                      <a:headEnd type="none" w="med" len="med"/>
                      <a:tailEnd type="none" w="med" len="med"/>
                    </a:lnR>
                    <a:lnT w="9525" cap="flat" cmpd="sng" algn="ctr">
                      <a:solidFill>
                        <a:srgbClr val="3C3F4C"/>
                      </a:solidFill>
                      <a:prstDash val="solid"/>
                      <a:round/>
                      <a:headEnd type="none" w="med" len="med"/>
                      <a:tailEnd type="none" w="med" len="med"/>
                    </a:lnT>
                    <a:lnB w="9525" cap="flat" cmpd="sng" algn="ctr">
                      <a:solidFill>
                        <a:srgbClr val="3C3F4C"/>
                      </a:solidFill>
                      <a:prstDash val="solid"/>
                      <a:round/>
                      <a:headEnd type="none" w="med" len="med"/>
                      <a:tailEnd type="none" w="med" len="med"/>
                    </a:lnB>
                    <a:solidFill>
                      <a:srgbClr val="1B213B"/>
                    </a:solidFill>
                  </a:tcPr>
                </a:tc>
                <a:tc>
                  <a:txBody>
                    <a:bodyPr/>
                    <a:lstStyle/>
                    <a:p>
                      <a:pPr marL="0" indent="0">
                        <a:buNone/>
                      </a:pPr>
                      <a:r>
                        <a:rPr lang="en-US" sz="1300" dirty="0">
                          <a:solidFill>
                            <a:srgbClr val="9AA3BD"/>
                          </a:solidFill>
                          <a:latin typeface="Aptos" pitchFamily="34" charset="0"/>
                          <a:ea typeface="Aptos" pitchFamily="34" charset="-122"/>
                          <a:cs typeface="Aptos" pitchFamily="34" charset="-120"/>
                        </a:rPr>
                        <a:t>Bravyi, Byrne, Zayats, Zhuk</a:t>
                      </a:r>
                      <a:endParaRPr lang="en-US" sz="1300" dirty="0">
                        <a:latin typeface="Aptos" charset="0"/>
                        <a:ea typeface="Aptos" charset="0"/>
                        <a:cs typeface="Aptos" charset="0"/>
                      </a:endParaRPr>
                    </a:p>
                  </a:txBody>
                  <a:tcPr marL="137160" marR="137160" marT="0" marB="0" anchor="ctr">
                    <a:lnL w="9525" cap="flat" cmpd="sng" algn="ctr">
                      <a:solidFill>
                        <a:srgbClr val="3C3F4C"/>
                      </a:solidFill>
                      <a:prstDash val="solid"/>
                      <a:round/>
                      <a:headEnd type="none" w="med" len="med"/>
                      <a:tailEnd type="none" w="med" len="med"/>
                    </a:lnL>
                    <a:lnR w="9525" cap="flat" cmpd="sng" algn="ctr">
                      <a:solidFill>
                        <a:srgbClr val="3C3F4C"/>
                      </a:solidFill>
                      <a:prstDash val="solid"/>
                      <a:round/>
                      <a:headEnd type="none" w="med" len="med"/>
                      <a:tailEnd type="none" w="med" len="med"/>
                    </a:lnR>
                    <a:lnT w="9525" cap="flat" cmpd="sng" algn="ctr">
                      <a:solidFill>
                        <a:srgbClr val="3C3F4C"/>
                      </a:solidFill>
                      <a:prstDash val="solid"/>
                      <a:round/>
                      <a:headEnd type="none" w="med" len="med"/>
                      <a:tailEnd type="none" w="med" len="med"/>
                    </a:lnT>
                    <a:lnB w="9525" cap="flat" cmpd="sng" algn="ctr">
                      <a:solidFill>
                        <a:srgbClr val="3C3F4C"/>
                      </a:solidFill>
                      <a:prstDash val="solid"/>
                      <a:round/>
                      <a:headEnd type="none" w="med" len="med"/>
                      <a:tailEnd type="none" w="med" len="med"/>
                    </a:lnB>
                    <a:solidFill>
                      <a:srgbClr val="1B213B"/>
                    </a:solidFill>
                  </a:tcPr>
                </a:tc>
                <a:tc>
                  <a:txBody>
                    <a:bodyPr/>
                    <a:lstStyle/>
                    <a:p>
                      <a:pPr marL="0" indent="0">
                        <a:buNone/>
                      </a:pPr>
                      <a:r>
                        <a:rPr lang="en-US" sz="1300" dirty="0">
                          <a:solidFill>
                            <a:srgbClr val="9AA3BD"/>
                          </a:solidFill>
                          <a:latin typeface="Aptos" pitchFamily="34" charset="0"/>
                          <a:ea typeface="Aptos" pitchFamily="34" charset="-122"/>
                          <a:cs typeface="Aptos" pitchFamily="34" charset="-120"/>
                        </a:rPr>
                        <a:t>arXiv:2606.08349 (2026)</a:t>
                      </a:r>
                      <a:endParaRPr lang="en-US" sz="1300" dirty="0">
                        <a:latin typeface="Aptos" charset="0"/>
                        <a:ea typeface="Aptos" charset="0"/>
                        <a:cs typeface="Aptos" charset="0"/>
                      </a:endParaRPr>
                    </a:p>
                  </a:txBody>
                  <a:tcPr marL="137160" marR="137160" marT="0" marB="0" anchor="ctr">
                    <a:lnL w="9525" cap="flat" cmpd="sng" algn="ctr">
                      <a:solidFill>
                        <a:srgbClr val="3C3F4C"/>
                      </a:solidFill>
                      <a:prstDash val="solid"/>
                      <a:round/>
                      <a:headEnd type="none" w="med" len="med"/>
                      <a:tailEnd type="none" w="med" len="med"/>
                    </a:lnL>
                    <a:lnR w="9525" cap="flat" cmpd="sng" algn="ctr">
                      <a:solidFill>
                        <a:srgbClr val="3C3F4C"/>
                      </a:solidFill>
                      <a:prstDash val="solid"/>
                      <a:round/>
                      <a:headEnd type="none" w="med" len="med"/>
                      <a:tailEnd type="none" w="med" len="med"/>
                    </a:lnR>
                    <a:lnT w="9525" cap="flat" cmpd="sng" algn="ctr">
                      <a:solidFill>
                        <a:srgbClr val="3C3F4C"/>
                      </a:solidFill>
                      <a:prstDash val="solid"/>
                      <a:round/>
                      <a:headEnd type="none" w="med" len="med"/>
                      <a:tailEnd type="none" w="med" len="med"/>
                    </a:lnT>
                    <a:lnB w="9525" cap="flat" cmpd="sng" algn="ctr">
                      <a:solidFill>
                        <a:srgbClr val="3C3F4C"/>
                      </a:solidFill>
                      <a:prstDash val="solid"/>
                      <a:round/>
                      <a:headEnd type="none" w="med" len="med"/>
                      <a:tailEnd type="none" w="med" len="med"/>
                    </a:lnB>
                    <a:solidFill>
                      <a:srgbClr val="1B213B"/>
                    </a:solidFill>
                  </a:tcPr>
                </a:tc>
                <a:extLst>
                  <a:ext uri="{0D108BD9-81ED-4DB2-BD59-A6C34878D82A}">
                    <a16:rowId xmlns:a16="http://schemas.microsoft.com/office/drawing/2014/main" val="10010"/>
                  </a:ext>
                </a:extLst>
              </a:tr>
              <a:tr h="365760">
                <a:tc>
                  <a:txBody>
                    <a:bodyPr/>
                    <a:lstStyle/>
                    <a:p>
                      <a:pPr marL="0" indent="0">
                        <a:buNone/>
                      </a:pPr>
                      <a:r>
                        <a:rPr lang="en-US" sz="1300" b="1" dirty="0">
                          <a:solidFill>
                            <a:srgbClr val="E9ECF3"/>
                          </a:solidFill>
                          <a:latin typeface="Aptos" pitchFamily="34" charset="0"/>
                          <a:ea typeface="Aptos" pitchFamily="34" charset="-122"/>
                          <a:cs typeface="Aptos" pitchFamily="34" charset="-120"/>
                        </a:rPr>
                        <a:t>Review</a:t>
                      </a:r>
                      <a:endParaRPr lang="en-US" sz="1300" dirty="0">
                        <a:latin typeface="Aptos" charset="0"/>
                        <a:ea typeface="Aptos" charset="0"/>
                        <a:cs typeface="Aptos" charset="0"/>
                      </a:endParaRPr>
                    </a:p>
                  </a:txBody>
                  <a:tcPr marL="137160" marR="137160" marT="0" marB="0" anchor="ctr">
                    <a:lnL w="9525" cap="flat" cmpd="sng" algn="ctr">
                      <a:solidFill>
                        <a:srgbClr val="3C3F4C"/>
                      </a:solidFill>
                      <a:prstDash val="solid"/>
                      <a:round/>
                      <a:headEnd type="none" w="med" len="med"/>
                      <a:tailEnd type="none" w="med" len="med"/>
                    </a:lnL>
                    <a:lnR w="9525" cap="flat" cmpd="sng" algn="ctr">
                      <a:solidFill>
                        <a:srgbClr val="3C3F4C"/>
                      </a:solidFill>
                      <a:prstDash val="solid"/>
                      <a:round/>
                      <a:headEnd type="none" w="med" len="med"/>
                      <a:tailEnd type="none" w="med" len="med"/>
                    </a:lnR>
                    <a:lnT w="9525" cap="flat" cmpd="sng" algn="ctr">
                      <a:solidFill>
                        <a:srgbClr val="3C3F4C"/>
                      </a:solidFill>
                      <a:prstDash val="solid"/>
                      <a:round/>
                      <a:headEnd type="none" w="med" len="med"/>
                      <a:tailEnd type="none" w="med" len="med"/>
                    </a:lnT>
                    <a:lnB w="9525" cap="flat" cmpd="sng" algn="ctr">
                      <a:solidFill>
                        <a:srgbClr val="3C3F4C"/>
                      </a:solidFill>
                      <a:prstDash val="solid"/>
                      <a:round/>
                      <a:headEnd type="none" w="med" len="med"/>
                      <a:tailEnd type="none" w="med" len="med"/>
                    </a:lnB>
                    <a:solidFill>
                      <a:srgbClr val="2A3354"/>
                    </a:solidFill>
                  </a:tcPr>
                </a:tc>
                <a:tc>
                  <a:txBody>
                    <a:bodyPr/>
                    <a:lstStyle/>
                    <a:p>
                      <a:pPr marL="0" indent="0">
                        <a:buNone/>
                      </a:pPr>
                      <a:r>
                        <a:rPr lang="en-US" sz="1300" dirty="0">
                          <a:solidFill>
                            <a:srgbClr val="E9ECF3"/>
                          </a:solidFill>
                          <a:latin typeface="Aptos" pitchFamily="34" charset="0"/>
                          <a:ea typeface="Aptos" pitchFamily="34" charset="-122"/>
                          <a:cs typeface="Aptos" pitchFamily="34" charset="-120"/>
                        </a:rPr>
                        <a:t>Tennie, Laizet, Lloyd, Magri</a:t>
                      </a:r>
                      <a:endParaRPr lang="en-US" sz="1300" dirty="0">
                        <a:latin typeface="Aptos" charset="0"/>
                        <a:ea typeface="Aptos" charset="0"/>
                        <a:cs typeface="Aptos" charset="0"/>
                      </a:endParaRPr>
                    </a:p>
                  </a:txBody>
                  <a:tcPr marL="137160" marR="137160" marT="0" marB="0" anchor="ctr">
                    <a:lnL w="9525" cap="flat" cmpd="sng" algn="ctr">
                      <a:solidFill>
                        <a:srgbClr val="3C3F4C"/>
                      </a:solidFill>
                      <a:prstDash val="solid"/>
                      <a:round/>
                      <a:headEnd type="none" w="med" len="med"/>
                      <a:tailEnd type="none" w="med" len="med"/>
                    </a:lnL>
                    <a:lnR w="9525" cap="flat" cmpd="sng" algn="ctr">
                      <a:solidFill>
                        <a:srgbClr val="3C3F4C"/>
                      </a:solidFill>
                      <a:prstDash val="solid"/>
                      <a:round/>
                      <a:headEnd type="none" w="med" len="med"/>
                      <a:tailEnd type="none" w="med" len="med"/>
                    </a:lnR>
                    <a:lnT w="9525" cap="flat" cmpd="sng" algn="ctr">
                      <a:solidFill>
                        <a:srgbClr val="3C3F4C"/>
                      </a:solidFill>
                      <a:prstDash val="solid"/>
                      <a:round/>
                      <a:headEnd type="none" w="med" len="med"/>
                      <a:tailEnd type="none" w="med" len="med"/>
                    </a:lnT>
                    <a:lnB w="9525" cap="flat" cmpd="sng" algn="ctr">
                      <a:solidFill>
                        <a:srgbClr val="3C3F4C"/>
                      </a:solidFill>
                      <a:prstDash val="solid"/>
                      <a:round/>
                      <a:headEnd type="none" w="med" len="med"/>
                      <a:tailEnd type="none" w="med" len="med"/>
                    </a:lnB>
                    <a:solidFill>
                      <a:srgbClr val="2A3354"/>
                    </a:solidFill>
                  </a:tcPr>
                </a:tc>
                <a:tc>
                  <a:txBody>
                    <a:bodyPr/>
                    <a:lstStyle/>
                    <a:p>
                      <a:pPr marL="0" indent="0">
                        <a:buNone/>
                      </a:pPr>
                      <a:r>
                        <a:rPr lang="en-US" sz="1300" dirty="0">
                          <a:solidFill>
                            <a:srgbClr val="E9ECF3"/>
                          </a:solidFill>
                          <a:latin typeface="Aptos" pitchFamily="34" charset="0"/>
                          <a:ea typeface="Aptos" pitchFamily="34" charset="-122"/>
                          <a:cs typeface="Aptos" pitchFamily="34" charset="-120"/>
                        </a:rPr>
                        <a:t>Nat. Rev. Phys. 7, 220 (2025)</a:t>
                      </a:r>
                      <a:endParaRPr lang="en-US" sz="1300" dirty="0">
                        <a:latin typeface="Aptos" charset="0"/>
                        <a:ea typeface="Aptos" charset="0"/>
                        <a:cs typeface="Aptos" charset="0"/>
                      </a:endParaRPr>
                    </a:p>
                  </a:txBody>
                  <a:tcPr marL="137160" marR="137160" marT="0" marB="0" anchor="ctr">
                    <a:lnL w="9525" cap="flat" cmpd="sng" algn="ctr">
                      <a:solidFill>
                        <a:srgbClr val="3C3F4C"/>
                      </a:solidFill>
                      <a:prstDash val="solid"/>
                      <a:round/>
                      <a:headEnd type="none" w="med" len="med"/>
                      <a:tailEnd type="none" w="med" len="med"/>
                    </a:lnL>
                    <a:lnR w="9525" cap="flat" cmpd="sng" algn="ctr">
                      <a:solidFill>
                        <a:srgbClr val="3C3F4C"/>
                      </a:solidFill>
                      <a:prstDash val="solid"/>
                      <a:round/>
                      <a:headEnd type="none" w="med" len="med"/>
                      <a:tailEnd type="none" w="med" len="med"/>
                    </a:lnR>
                    <a:lnT w="9525" cap="flat" cmpd="sng" algn="ctr">
                      <a:solidFill>
                        <a:srgbClr val="3C3F4C"/>
                      </a:solidFill>
                      <a:prstDash val="solid"/>
                      <a:round/>
                      <a:headEnd type="none" w="med" len="med"/>
                      <a:tailEnd type="none" w="med" len="med"/>
                    </a:lnT>
                    <a:lnB w="9525" cap="flat" cmpd="sng" algn="ctr">
                      <a:solidFill>
                        <a:srgbClr val="3C3F4C"/>
                      </a:solidFill>
                      <a:prstDash val="solid"/>
                      <a:round/>
                      <a:headEnd type="none" w="med" len="med"/>
                      <a:tailEnd type="none" w="med" len="med"/>
                    </a:lnB>
                    <a:solidFill>
                      <a:srgbClr val="2A3354"/>
                    </a:solidFill>
                  </a:tcPr>
                </a:tc>
                <a:extLst>
                  <a:ext uri="{0D108BD9-81ED-4DB2-BD59-A6C34878D82A}">
                    <a16:rowId xmlns:a16="http://schemas.microsoft.com/office/drawing/2014/main" val="10011"/>
                  </a:ext>
                </a:extLst>
              </a:tr>
            </a:tbl>
          </a:graphicData>
        </a:graphic>
      </p:graphicFrame>
      <p:sp>
        <p:nvSpPr>
          <p:cNvPr id="4" name="Shape 1"/>
          <p:cNvSpPr/>
          <p:nvPr/>
        </p:nvSpPr>
        <p:spPr>
          <a:xfrm>
            <a:off x="8534095" y="5980176"/>
            <a:ext cx="91440" cy="91440"/>
          </a:xfrm>
          <a:prstGeom prst="rect">
            <a:avLst/>
          </a:prstGeom>
          <a:solidFill>
            <a:schemeClr val="accent2"/>
          </a:solidFill>
          <a:ln/>
        </p:spPr>
        <p:txBody>
          <a:bodyPr/>
          <a:lstStyle/>
          <a:p>
            <a:endParaRPr lang="fr-FR"/>
          </a:p>
        </p:txBody>
      </p:sp>
      <p:sp>
        <p:nvSpPr>
          <p:cNvPr id="3" name="Text 2"/>
          <p:cNvSpPr txBox="1"/>
          <p:nvPr/>
        </p:nvSpPr>
        <p:spPr>
          <a:xfrm>
            <a:off x="8716975" y="5897880"/>
            <a:ext cx="2926080" cy="256032"/>
          </a:xfrm>
          <a:prstGeom prst="rect">
            <a:avLst/>
          </a:prstGeom>
          <a:noFill/>
          <a:ln/>
        </p:spPr>
        <p:txBody>
          <a:bodyPr wrap="square" lIns="0" tIns="0" rIns="0" bIns="0" rtlCol="0" anchor="ctr"/>
          <a:lstStyle/>
          <a:p>
            <a:pPr marL="0" indent="0" algn="r">
              <a:buNone/>
            </a:pPr>
            <a:r>
              <a:rPr lang="en-US" sz="1100" dirty="0">
                <a:solidFill>
                  <a:schemeClr val="tx2"/>
                </a:solidFill>
              </a:rPr>
              <a:t>Best single entry point: the review</a:t>
            </a:r>
            <a:endParaRPr lang="en-US" sz="1100" dirty="0"/>
          </a:p>
        </p:txBody>
      </p:sp>
      <p:sp>
        <p:nvSpPr>
          <p:cNvPr id="25" name="Slide Number Placeholder 0"/>
          <p:cNvSpPr>
            <a:spLocks noGrp="1"/>
          </p:cNvSpPr>
          <p:nvPr>
            <p:ph type="sldNum" sz="quarter" idx="4294967295"/>
          </p:nvPr>
        </p:nvSpPr>
        <p:spPr>
          <a:xfrm>
            <a:off x="11094415" y="6327648"/>
            <a:ext cx="548640" cy="274320"/>
          </a:xfrm>
          <a:prstGeom prst="rect">
            <a:avLst/>
          </a:prstGeom>
          <a:extLst>
            <a:ext uri="{C572A759-6A51-4108-AA02-DFA0A04FC94B}">
              <ma14:wrappingTextBoxFlag xmlns:ma14="http://schemas.microsoft.com/office/mac/drawingml/2011/main" xmlns="" val="0"/>
            </a:ext>
          </a:extLst>
        </p:spPr>
        <p:txBody>
          <a:bodyPr lIns="0" tIns="0" rIns="0" bIns="0" anchor="ctr"/>
          <a:lstStyle>
            <a:lvl1pPr>
              <a:defRPr sz="1000">
                <a:solidFill>
                  <a:srgbClr val="9AA3BD"/>
                </a:solidFill>
              </a:defRPr>
            </a:lvl1pPr>
          </a:lstStyle>
          <a:p>
            <a:pPr algn="r"/>
            <a:fld id="{F7021451-1387-4CA6-816F-3879F97B5CBC}" type="slidenum">
              <a:rPr lang="en-US" b="0"/>
              <a:t>13</a:t>
            </a:fld>
            <a:endParaRPr lang="en-US"/>
          </a:p>
        </p:txBody>
      </p:sp>
      <p:pic>
        <p:nvPicPr>
          <p:cNvPr id="7" name="Image 6">
            <a:extLst>
              <a:ext uri="{FF2B5EF4-FFF2-40B4-BE49-F238E27FC236}">
                <a16:creationId xmlns:a16="http://schemas.microsoft.com/office/drawing/2014/main" id="{24BFB458-5C24-4BA5-15B2-A92C48BB8565}"/>
              </a:ext>
            </a:extLst>
          </p:cNvPr>
          <p:cNvPicPr>
            <a:picLocks noChangeAspect="1"/>
          </p:cNvPicPr>
          <p:nvPr/>
        </p:nvPicPr>
        <p:blipFill>
          <a:blip r:embed="rId3"/>
          <a:stretch>
            <a:fillRect/>
          </a:stretch>
        </p:blipFill>
        <p:spPr>
          <a:xfrm>
            <a:off x="9724644" y="-443705"/>
            <a:ext cx="2437453" cy="1723866"/>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10"/>
          <p:cNvSpPr>
            <a:spLocks noGrp="1"/>
          </p:cNvSpPr>
          <p:nvPr>
            <p:ph type="title" idx="110" hasCustomPrompt="1"/>
          </p:nvPr>
        </p:nvSpPr>
        <p:spPr>
          <a:xfrm>
            <a:off x="548640" y="457200"/>
            <a:ext cx="11094415" cy="777240"/>
          </a:xfrm>
          <a:prstGeom prst="rect">
            <a:avLst/>
          </a:prstGeom>
          <a:noFill/>
          <a:ln/>
        </p:spPr>
        <p:txBody>
          <a:bodyPr wrap="square" lIns="0" tIns="0" rIns="0" bIns="0" rtlCol="0" anchor="t"/>
          <a:lstStyle/>
          <a:p>
            <a:pPr marL="0" indent="0" algn="l">
              <a:buNone/>
            </a:pPr>
            <a:r>
              <a:rPr lang="en-US" sz="3200" dirty="0">
                <a:solidFill>
                  <a:schemeClr val="tx1"/>
                </a:solidFill>
              </a:rPr>
              <a:t>Quantum-enhanced simulation</a:t>
            </a:r>
            <a:endParaRPr lang="en-US" sz="3200" dirty="0"/>
          </a:p>
        </p:txBody>
      </p:sp>
      <p:sp>
        <p:nvSpPr>
          <p:cNvPr id="3" name="Text 1"/>
          <p:cNvSpPr txBox="1"/>
          <p:nvPr/>
        </p:nvSpPr>
        <p:spPr>
          <a:xfrm>
            <a:off x="548640" y="1097280"/>
            <a:ext cx="11094415" cy="365760"/>
          </a:xfrm>
          <a:prstGeom prst="rect">
            <a:avLst/>
          </a:prstGeom>
          <a:noFill/>
          <a:ln/>
        </p:spPr>
        <p:txBody>
          <a:bodyPr wrap="square" lIns="0" tIns="0" rIns="0" bIns="0" rtlCol="0" anchor="t"/>
          <a:lstStyle/>
          <a:p>
            <a:pPr marL="0" indent="0">
              <a:buNone/>
            </a:pPr>
            <a:r>
              <a:rPr lang="en-US" sz="1600" dirty="0">
                <a:solidFill>
                  <a:schemeClr val="tx2"/>
                </a:solidFill>
              </a:rPr>
              <a:t>Quantum offers speed-up</a:t>
            </a:r>
            <a:endParaRPr lang="en-US" sz="1600" dirty="0"/>
          </a:p>
        </p:txBody>
      </p:sp>
      <p:sp>
        <p:nvSpPr>
          <p:cNvPr id="4" name="Approach 1"/>
          <p:cNvSpPr/>
          <p:nvPr/>
        </p:nvSpPr>
        <p:spPr>
          <a:xfrm>
            <a:off x="548640" y="1600200"/>
            <a:ext cx="11094415" cy="1783080"/>
          </a:xfrm>
          <a:prstGeom prst="roundRect">
            <a:avLst>
              <a:gd name="adj" fmla="val 7692"/>
            </a:avLst>
          </a:prstGeom>
          <a:solidFill>
            <a:schemeClr val="bg2"/>
          </a:solidFill>
          <a:ln w="9525">
            <a:solidFill>
              <a:schemeClr val="accent5"/>
            </a:solidFill>
            <a:prstDash val="solid"/>
          </a:ln>
        </p:spPr>
        <p:txBody>
          <a:bodyPr/>
          <a:lstStyle/>
          <a:p>
            <a:endParaRPr lang="fr-FR"/>
          </a:p>
        </p:txBody>
      </p:sp>
      <p:sp>
        <p:nvSpPr>
          <p:cNvPr id="5" name="Image tile 1"/>
          <p:cNvSpPr/>
          <p:nvPr/>
        </p:nvSpPr>
        <p:spPr>
          <a:xfrm>
            <a:off x="731520" y="1737360"/>
            <a:ext cx="2286000" cy="1508760"/>
          </a:xfrm>
          <a:prstGeom prst="roundRect">
            <a:avLst>
              <a:gd name="adj" fmla="val 6061"/>
            </a:avLst>
          </a:prstGeom>
          <a:solidFill>
            <a:schemeClr val="tx1"/>
          </a:solidFill>
          <a:ln/>
        </p:spPr>
        <p:txBody>
          <a:bodyPr/>
          <a:lstStyle/>
          <a:p>
            <a:endParaRPr lang="fr-FR"/>
          </a:p>
        </p:txBody>
      </p:sp>
      <p:pic>
        <p:nvPicPr>
          <p:cNvPr id="6" name="Image 0" descr="Mesh refinement of a 2D domain"/>
          <p:cNvPicPr>
            <a:picLocks noChangeAspect="1"/>
          </p:cNvPicPr>
          <p:nvPr/>
        </p:nvPicPr>
        <p:blipFill>
          <a:blip r:embed="rId3"/>
          <a:stretch>
            <a:fillRect/>
          </a:stretch>
        </p:blipFill>
        <p:spPr>
          <a:xfrm>
            <a:off x="868680" y="2144268"/>
            <a:ext cx="2011680" cy="694944"/>
          </a:xfrm>
          <a:prstGeom prst="rect">
            <a:avLst/>
          </a:prstGeom>
        </p:spPr>
      </p:pic>
      <p:sp>
        <p:nvSpPr>
          <p:cNvPr id="7" name="Text 4"/>
          <p:cNvSpPr txBox="1"/>
          <p:nvPr/>
        </p:nvSpPr>
        <p:spPr>
          <a:xfrm>
            <a:off x="3337560" y="1764792"/>
            <a:ext cx="8031175" cy="320040"/>
          </a:xfrm>
          <a:prstGeom prst="rect">
            <a:avLst/>
          </a:prstGeom>
          <a:noFill/>
          <a:ln/>
        </p:spPr>
        <p:txBody>
          <a:bodyPr wrap="square" lIns="0" tIns="0" rIns="0" bIns="0" rtlCol="0" anchor="ctr"/>
          <a:lstStyle/>
          <a:p>
            <a:pPr marL="0" indent="0">
              <a:buNone/>
            </a:pPr>
            <a:r>
              <a:rPr lang="en-US" sz="1800" b="1" dirty="0">
                <a:solidFill>
                  <a:schemeClr val="tx1"/>
                </a:solidFill>
              </a:rPr>
              <a:t>Meshing–remeshing</a:t>
            </a:r>
            <a:endParaRPr lang="en-US" sz="1800" dirty="0"/>
          </a:p>
        </p:txBody>
      </p:sp>
      <p:sp>
        <p:nvSpPr>
          <p:cNvPr id="8" name="Text 5"/>
          <p:cNvSpPr txBox="1"/>
          <p:nvPr/>
        </p:nvSpPr>
        <p:spPr>
          <a:xfrm>
            <a:off x="3337560" y="2103120"/>
            <a:ext cx="8031175" cy="292608"/>
          </a:xfrm>
          <a:prstGeom prst="rect">
            <a:avLst/>
          </a:prstGeom>
          <a:noFill/>
          <a:ln/>
        </p:spPr>
        <p:txBody>
          <a:bodyPr wrap="square" lIns="0" tIns="0" rIns="0" bIns="0" rtlCol="0" anchor="ctr"/>
          <a:lstStyle/>
          <a:p>
            <a:pPr marL="0" indent="0">
              <a:buNone/>
            </a:pPr>
            <a:r>
              <a:rPr lang="en-US" sz="1400" b="1" dirty="0">
                <a:solidFill>
                  <a:schemeClr val="tx1"/>
                </a:solidFill>
              </a:rPr>
              <a:t>Quantum encoding strategy is solver-independent</a:t>
            </a:r>
            <a:endParaRPr lang="en-US" sz="1400" dirty="0"/>
          </a:p>
        </p:txBody>
      </p:sp>
      <p:sp>
        <p:nvSpPr>
          <p:cNvPr id="9" name="Text 6"/>
          <p:cNvSpPr txBox="1"/>
          <p:nvPr/>
        </p:nvSpPr>
        <p:spPr>
          <a:xfrm>
            <a:off x="3337560" y="2450592"/>
            <a:ext cx="8031175" cy="384048"/>
          </a:xfrm>
          <a:prstGeom prst="rect">
            <a:avLst/>
          </a:prstGeom>
          <a:noFill/>
          <a:ln/>
        </p:spPr>
        <p:txBody>
          <a:bodyPr wrap="square" lIns="0" tIns="0" rIns="0" bIns="0" rtlCol="0" anchor="t"/>
          <a:lstStyle/>
          <a:p>
            <a:pPr marL="0" indent="0">
              <a:buNone/>
            </a:pPr>
            <a:r>
              <a:rPr lang="en-US" sz="1200" b="1" dirty="0">
                <a:solidFill>
                  <a:schemeClr val="tx1"/>
                </a:solidFill>
              </a:rPr>
              <a:t>Meshing</a:t>
            </a:r>
            <a:r>
              <a:rPr lang="en-US" sz="1200" dirty="0">
                <a:solidFill>
                  <a:schemeClr val="tx2"/>
                </a:solidFill>
              </a:rPr>
              <a:t> = mapping a discretized physical grid to qubit amplitudes (works for any algorithm: VQA, QPE, QSVT)</a:t>
            </a:r>
            <a:endParaRPr lang="en-US" sz="1200" dirty="0"/>
          </a:p>
        </p:txBody>
      </p:sp>
      <p:sp>
        <p:nvSpPr>
          <p:cNvPr id="10" name="Text 7"/>
          <p:cNvSpPr txBox="1"/>
          <p:nvPr/>
        </p:nvSpPr>
        <p:spPr>
          <a:xfrm>
            <a:off x="3337560" y="2834640"/>
            <a:ext cx="8031175" cy="384048"/>
          </a:xfrm>
          <a:prstGeom prst="rect">
            <a:avLst/>
          </a:prstGeom>
          <a:noFill/>
          <a:ln/>
        </p:spPr>
        <p:txBody>
          <a:bodyPr wrap="square" lIns="0" tIns="0" rIns="0" bIns="0" rtlCol="0" anchor="t"/>
          <a:lstStyle/>
          <a:p>
            <a:pPr marL="0" indent="0">
              <a:buNone/>
            </a:pPr>
            <a:r>
              <a:rPr lang="en-US" sz="1200" b="1" dirty="0">
                <a:solidFill>
                  <a:schemeClr val="tx1"/>
                </a:solidFill>
              </a:rPr>
              <a:t>Remeshing</a:t>
            </a:r>
            <a:r>
              <a:rPr lang="en-US" sz="1200" dirty="0">
                <a:solidFill>
                  <a:schemeClr val="tx2"/>
                </a:solidFill>
              </a:rPr>
              <a:t> = cheap, fixed unitary upgrading solution/state from coarse grid to initial state for finer grid (also solver-independent: state-preparation subroutine)</a:t>
            </a:r>
            <a:endParaRPr lang="en-US" sz="1200" dirty="0"/>
          </a:p>
        </p:txBody>
      </p:sp>
      <p:sp>
        <p:nvSpPr>
          <p:cNvPr id="11" name="Approach 2"/>
          <p:cNvSpPr/>
          <p:nvPr/>
        </p:nvSpPr>
        <p:spPr>
          <a:xfrm>
            <a:off x="548640" y="3520440"/>
            <a:ext cx="11094415" cy="1188720"/>
          </a:xfrm>
          <a:prstGeom prst="roundRect">
            <a:avLst>
              <a:gd name="adj" fmla="val 11538"/>
            </a:avLst>
          </a:prstGeom>
          <a:solidFill>
            <a:schemeClr val="bg2"/>
          </a:solidFill>
          <a:ln w="9525">
            <a:solidFill>
              <a:schemeClr val="accent5"/>
            </a:solidFill>
            <a:prstDash val="solid"/>
          </a:ln>
        </p:spPr>
        <p:txBody>
          <a:bodyPr/>
          <a:lstStyle/>
          <a:p>
            <a:endParaRPr lang="fr-FR"/>
          </a:p>
        </p:txBody>
      </p:sp>
      <p:sp>
        <p:nvSpPr>
          <p:cNvPr id="12" name="Image tile 2"/>
          <p:cNvSpPr/>
          <p:nvPr/>
        </p:nvSpPr>
        <p:spPr>
          <a:xfrm>
            <a:off x="731520" y="3657600"/>
            <a:ext cx="2286000" cy="914400"/>
          </a:xfrm>
          <a:prstGeom prst="roundRect">
            <a:avLst>
              <a:gd name="adj" fmla="val 10000"/>
            </a:avLst>
          </a:prstGeom>
          <a:solidFill>
            <a:schemeClr val="tx1"/>
          </a:solidFill>
          <a:ln/>
        </p:spPr>
        <p:txBody>
          <a:bodyPr/>
          <a:lstStyle/>
          <a:p>
            <a:endParaRPr lang="fr-FR"/>
          </a:p>
        </p:txBody>
      </p:sp>
      <p:pic>
        <p:nvPicPr>
          <p:cNvPr id="13" name="Image 1" descr="Multiphase fluid flow simulation"/>
          <p:cNvPicPr>
            <a:picLocks noChangeAspect="1"/>
          </p:cNvPicPr>
          <p:nvPr/>
        </p:nvPicPr>
        <p:blipFill>
          <a:blip r:embed="rId4"/>
          <a:stretch>
            <a:fillRect/>
          </a:stretch>
        </p:blipFill>
        <p:spPr>
          <a:xfrm>
            <a:off x="1051560" y="3675888"/>
            <a:ext cx="1645920" cy="877824"/>
          </a:xfrm>
          <a:prstGeom prst="rect">
            <a:avLst/>
          </a:prstGeom>
        </p:spPr>
      </p:pic>
      <p:sp>
        <p:nvSpPr>
          <p:cNvPr id="14" name="Text 10"/>
          <p:cNvSpPr txBox="1"/>
          <p:nvPr/>
        </p:nvSpPr>
        <p:spPr>
          <a:xfrm>
            <a:off x="3337560" y="3685032"/>
            <a:ext cx="8031175" cy="320040"/>
          </a:xfrm>
          <a:prstGeom prst="rect">
            <a:avLst/>
          </a:prstGeom>
          <a:noFill/>
          <a:ln/>
        </p:spPr>
        <p:txBody>
          <a:bodyPr wrap="square" lIns="0" tIns="0" rIns="0" bIns="0" rtlCol="0" anchor="ctr"/>
          <a:lstStyle/>
          <a:p>
            <a:pPr marL="0" indent="0">
              <a:buNone/>
            </a:pPr>
            <a:r>
              <a:rPr lang="en-US" sz="1800" b="1" dirty="0">
                <a:solidFill>
                  <a:schemeClr val="tx1"/>
                </a:solidFill>
              </a:rPr>
              <a:t>QLBM</a:t>
            </a:r>
            <a:endParaRPr lang="en-US" sz="1800" dirty="0"/>
          </a:p>
        </p:txBody>
      </p:sp>
      <p:sp>
        <p:nvSpPr>
          <p:cNvPr id="15" name="Text 11"/>
          <p:cNvSpPr txBox="1"/>
          <p:nvPr/>
        </p:nvSpPr>
        <p:spPr>
          <a:xfrm>
            <a:off x="3337560" y="4023360"/>
            <a:ext cx="8031175" cy="292608"/>
          </a:xfrm>
          <a:prstGeom prst="rect">
            <a:avLst/>
          </a:prstGeom>
          <a:noFill/>
          <a:ln/>
        </p:spPr>
        <p:txBody>
          <a:bodyPr wrap="square" lIns="0" tIns="0" rIns="0" bIns="0" rtlCol="0" anchor="ctr"/>
          <a:lstStyle/>
          <a:p>
            <a:pPr marL="0" indent="0">
              <a:buNone/>
            </a:pPr>
            <a:r>
              <a:rPr lang="en-US" sz="1400" b="1" dirty="0">
                <a:solidFill>
                  <a:schemeClr val="tx1"/>
                </a:solidFill>
              </a:rPr>
              <a:t>Local, lattice-based, naturally suited to multiphase/interface problems</a:t>
            </a:r>
            <a:endParaRPr lang="en-US" sz="1400" dirty="0"/>
          </a:p>
        </p:txBody>
      </p:sp>
      <p:sp>
        <p:nvSpPr>
          <p:cNvPr id="16" name="Approach 3"/>
          <p:cNvSpPr/>
          <p:nvPr/>
        </p:nvSpPr>
        <p:spPr>
          <a:xfrm>
            <a:off x="548640" y="4846320"/>
            <a:ext cx="11094415" cy="1188720"/>
          </a:xfrm>
          <a:prstGeom prst="roundRect">
            <a:avLst>
              <a:gd name="adj" fmla="val 11538"/>
            </a:avLst>
          </a:prstGeom>
          <a:solidFill>
            <a:schemeClr val="bg2"/>
          </a:solidFill>
          <a:ln w="12700">
            <a:solidFill>
              <a:schemeClr val="accent1"/>
            </a:solidFill>
            <a:prstDash val="solid"/>
          </a:ln>
        </p:spPr>
        <p:txBody>
          <a:bodyPr/>
          <a:lstStyle/>
          <a:p>
            <a:endParaRPr lang="fr-FR"/>
          </a:p>
        </p:txBody>
      </p:sp>
      <p:sp>
        <p:nvSpPr>
          <p:cNvPr id="17" name="Image tile 3"/>
          <p:cNvSpPr/>
          <p:nvPr/>
        </p:nvSpPr>
        <p:spPr>
          <a:xfrm>
            <a:off x="731520" y="4983480"/>
            <a:ext cx="2286000" cy="914400"/>
          </a:xfrm>
          <a:prstGeom prst="roundRect">
            <a:avLst>
              <a:gd name="adj" fmla="val 10000"/>
            </a:avLst>
          </a:prstGeom>
          <a:solidFill>
            <a:schemeClr val="tx1"/>
          </a:solidFill>
          <a:ln/>
        </p:spPr>
        <p:txBody>
          <a:bodyPr/>
          <a:lstStyle/>
          <a:p>
            <a:endParaRPr lang="fr-FR"/>
          </a:p>
        </p:txBody>
      </p:sp>
      <p:pic>
        <p:nvPicPr>
          <p:cNvPr id="18" name="Image 2" descr="Turbulent flow around a vehicle body"/>
          <p:cNvPicPr>
            <a:picLocks noChangeAspect="1"/>
          </p:cNvPicPr>
          <p:nvPr/>
        </p:nvPicPr>
        <p:blipFill>
          <a:blip r:embed="rId5"/>
          <a:stretch>
            <a:fillRect/>
          </a:stretch>
        </p:blipFill>
        <p:spPr>
          <a:xfrm>
            <a:off x="868680" y="5006340"/>
            <a:ext cx="2011680" cy="868680"/>
          </a:xfrm>
          <a:prstGeom prst="rect">
            <a:avLst/>
          </a:prstGeom>
        </p:spPr>
      </p:pic>
      <p:sp>
        <p:nvSpPr>
          <p:cNvPr id="19" name="Text 14"/>
          <p:cNvSpPr txBox="1"/>
          <p:nvPr/>
        </p:nvSpPr>
        <p:spPr>
          <a:xfrm>
            <a:off x="3337560" y="5010912"/>
            <a:ext cx="8031175" cy="320040"/>
          </a:xfrm>
          <a:prstGeom prst="rect">
            <a:avLst/>
          </a:prstGeom>
          <a:noFill/>
          <a:ln/>
        </p:spPr>
        <p:txBody>
          <a:bodyPr wrap="square" lIns="0" tIns="0" rIns="0" bIns="0" rtlCol="0" anchor="ctr"/>
          <a:lstStyle/>
          <a:p>
            <a:pPr marL="0" indent="0">
              <a:buNone/>
            </a:pPr>
            <a:r>
              <a:rPr lang="en-US" sz="1800" b="1" dirty="0">
                <a:solidFill>
                  <a:schemeClr val="tx1"/>
                </a:solidFill>
              </a:rPr>
              <a:t>Kolmogorov/Hamiltonian-based</a:t>
            </a:r>
            <a:endParaRPr lang="en-US" sz="1800" dirty="0"/>
          </a:p>
        </p:txBody>
      </p:sp>
      <p:sp>
        <p:nvSpPr>
          <p:cNvPr id="20" name="Text 15"/>
          <p:cNvSpPr txBox="1"/>
          <p:nvPr/>
        </p:nvSpPr>
        <p:spPr>
          <a:xfrm>
            <a:off x="3337560" y="5349240"/>
            <a:ext cx="8031175" cy="292608"/>
          </a:xfrm>
          <a:prstGeom prst="rect">
            <a:avLst/>
          </a:prstGeom>
          <a:noFill/>
          <a:ln/>
        </p:spPr>
        <p:txBody>
          <a:bodyPr wrap="square" lIns="0" tIns="0" rIns="0" bIns="0" rtlCol="0" anchor="ctr"/>
          <a:lstStyle/>
          <a:p>
            <a:pPr marL="0" indent="0">
              <a:buNone/>
            </a:pPr>
            <a:r>
              <a:rPr lang="en-US" sz="1400" b="1" dirty="0">
                <a:solidFill>
                  <a:schemeClr val="tx1"/>
                </a:solidFill>
              </a:rPr>
              <a:t>A quantum advantage for highly nonlinear and dissipative problems, suitable for turbulence</a:t>
            </a:r>
            <a:endParaRPr lang="en-US" sz="1400" dirty="0"/>
          </a:p>
        </p:txBody>
      </p:sp>
      <p:sp>
        <p:nvSpPr>
          <p:cNvPr id="25" name="Slide Number Placeholder 0"/>
          <p:cNvSpPr>
            <a:spLocks noGrp="1"/>
          </p:cNvSpPr>
          <p:nvPr>
            <p:ph type="sldNum" sz="quarter" idx="4294967295"/>
          </p:nvPr>
        </p:nvSpPr>
        <p:spPr>
          <a:xfrm>
            <a:off x="11094415" y="6327648"/>
            <a:ext cx="548640" cy="274320"/>
          </a:xfrm>
          <a:prstGeom prst="rect">
            <a:avLst/>
          </a:prstGeom>
          <a:extLst>
            <a:ext uri="{C572A759-6A51-4108-AA02-DFA0A04FC94B}">
              <ma14:wrappingTextBoxFlag xmlns:ma14="http://schemas.microsoft.com/office/mac/drawingml/2011/main" xmlns="" val="0"/>
            </a:ext>
          </a:extLst>
        </p:spPr>
        <p:txBody>
          <a:bodyPr lIns="0" tIns="0" rIns="0" bIns="0" anchor="ctr"/>
          <a:lstStyle>
            <a:lvl1pPr>
              <a:defRPr sz="1000">
                <a:solidFill>
                  <a:srgbClr val="9AA3BD"/>
                </a:solidFill>
              </a:defRPr>
            </a:lvl1pPr>
          </a:lstStyle>
          <a:p>
            <a:pPr algn="r"/>
            <a:fld id="{F7021451-1387-4CA6-816F-3879F97B5CBC}" type="slidenum">
              <a:rPr lang="en-US" b="0"/>
              <a:t>14</a:t>
            </a:fld>
            <a:endParaRPr lang="en-US"/>
          </a:p>
        </p:txBody>
      </p:sp>
      <p:pic>
        <p:nvPicPr>
          <p:cNvPr id="22" name="Image 21">
            <a:extLst>
              <a:ext uri="{FF2B5EF4-FFF2-40B4-BE49-F238E27FC236}">
                <a16:creationId xmlns:a16="http://schemas.microsoft.com/office/drawing/2014/main" id="{3FB4F5FB-7ACC-9099-3DFA-D88A6616A71A}"/>
              </a:ext>
            </a:extLst>
          </p:cNvPr>
          <p:cNvPicPr>
            <a:picLocks noChangeAspect="1"/>
          </p:cNvPicPr>
          <p:nvPr/>
        </p:nvPicPr>
        <p:blipFill>
          <a:blip r:embed="rId6"/>
          <a:stretch>
            <a:fillRect/>
          </a:stretch>
        </p:blipFill>
        <p:spPr>
          <a:xfrm>
            <a:off x="9724644" y="-443705"/>
            <a:ext cx="2437453" cy="1723866"/>
          </a:xfrm>
          <a:prstGeom prst="rect">
            <a:avLst/>
          </a:prstGeom>
        </p:spPr>
      </p:pic>
      <p:sp>
        <p:nvSpPr>
          <p:cNvPr id="28" name="object 11">
            <a:extLst>
              <a:ext uri="{FF2B5EF4-FFF2-40B4-BE49-F238E27FC236}">
                <a16:creationId xmlns:a16="http://schemas.microsoft.com/office/drawing/2014/main" id="{36714431-8321-3CBB-E650-CDA8C1407AEF}"/>
              </a:ext>
            </a:extLst>
          </p:cNvPr>
          <p:cNvSpPr/>
          <p:nvPr/>
        </p:nvSpPr>
        <p:spPr bwMode="auto">
          <a:xfrm>
            <a:off x="868681" y="2144268"/>
            <a:ext cx="2011680" cy="694944"/>
          </a:xfrm>
          <a:custGeom>
            <a:avLst/>
            <a:gdLst/>
            <a:ahLst/>
            <a:cxnLst/>
            <a:rect l="l" t="t" r="r" b="b"/>
            <a:pathLst>
              <a:path w="2877819" h="6055359" extrusionOk="0">
                <a:moveTo>
                  <a:pt x="2827528" y="0"/>
                </a:moveTo>
                <a:lnTo>
                  <a:pt x="49784" y="0"/>
                </a:lnTo>
                <a:lnTo>
                  <a:pt x="40018" y="960"/>
                </a:lnTo>
                <a:lnTo>
                  <a:pt x="8358" y="22155"/>
                </a:lnTo>
                <a:lnTo>
                  <a:pt x="0" y="49783"/>
                </a:lnTo>
                <a:lnTo>
                  <a:pt x="0" y="6005067"/>
                </a:lnTo>
                <a:lnTo>
                  <a:pt x="22155" y="6046493"/>
                </a:lnTo>
                <a:lnTo>
                  <a:pt x="49784" y="6054851"/>
                </a:lnTo>
                <a:lnTo>
                  <a:pt x="2827528" y="6054851"/>
                </a:lnTo>
                <a:lnTo>
                  <a:pt x="2868953" y="6032642"/>
                </a:lnTo>
                <a:lnTo>
                  <a:pt x="2877311" y="6005067"/>
                </a:lnTo>
                <a:lnTo>
                  <a:pt x="2877311" y="49783"/>
                </a:lnTo>
                <a:lnTo>
                  <a:pt x="2855156" y="8358"/>
                </a:lnTo>
                <a:lnTo>
                  <a:pt x="2827528" y="0"/>
                </a:lnTo>
                <a:close/>
              </a:path>
            </a:pathLst>
          </a:custGeom>
          <a:solidFill>
            <a:srgbClr val="353E77">
              <a:alpha val="12000"/>
            </a:srgbClr>
          </a:solidFill>
        </p:spPr>
        <p:txBody>
          <a:bodyPr wrap="square" lIns="0" tIns="0" rIns="0" bIns="0" rtlCol="0"/>
          <a:lstStyle/>
          <a:p>
            <a:pPr>
              <a:defRPr/>
            </a:pPr>
            <a:endParaRPr sz="1200"/>
          </a:p>
        </p:txBody>
      </p:sp>
      <p:sp>
        <p:nvSpPr>
          <p:cNvPr id="30" name="object 11">
            <a:extLst>
              <a:ext uri="{FF2B5EF4-FFF2-40B4-BE49-F238E27FC236}">
                <a16:creationId xmlns:a16="http://schemas.microsoft.com/office/drawing/2014/main" id="{43E165FE-0643-35D0-D2DB-0968A27087EB}"/>
              </a:ext>
            </a:extLst>
          </p:cNvPr>
          <p:cNvSpPr/>
          <p:nvPr/>
        </p:nvSpPr>
        <p:spPr bwMode="auto">
          <a:xfrm>
            <a:off x="1051560" y="3675888"/>
            <a:ext cx="1645920" cy="877824"/>
          </a:xfrm>
          <a:custGeom>
            <a:avLst/>
            <a:gdLst/>
            <a:ahLst/>
            <a:cxnLst/>
            <a:rect l="l" t="t" r="r" b="b"/>
            <a:pathLst>
              <a:path w="2877819" h="6055359" extrusionOk="0">
                <a:moveTo>
                  <a:pt x="2827528" y="0"/>
                </a:moveTo>
                <a:lnTo>
                  <a:pt x="49784" y="0"/>
                </a:lnTo>
                <a:lnTo>
                  <a:pt x="40018" y="960"/>
                </a:lnTo>
                <a:lnTo>
                  <a:pt x="8358" y="22155"/>
                </a:lnTo>
                <a:lnTo>
                  <a:pt x="0" y="49783"/>
                </a:lnTo>
                <a:lnTo>
                  <a:pt x="0" y="6005067"/>
                </a:lnTo>
                <a:lnTo>
                  <a:pt x="22155" y="6046493"/>
                </a:lnTo>
                <a:lnTo>
                  <a:pt x="49784" y="6054851"/>
                </a:lnTo>
                <a:lnTo>
                  <a:pt x="2827528" y="6054851"/>
                </a:lnTo>
                <a:lnTo>
                  <a:pt x="2868953" y="6032642"/>
                </a:lnTo>
                <a:lnTo>
                  <a:pt x="2877311" y="6005067"/>
                </a:lnTo>
                <a:lnTo>
                  <a:pt x="2877311" y="49783"/>
                </a:lnTo>
                <a:lnTo>
                  <a:pt x="2855156" y="8358"/>
                </a:lnTo>
                <a:lnTo>
                  <a:pt x="2827528" y="0"/>
                </a:lnTo>
                <a:close/>
              </a:path>
            </a:pathLst>
          </a:custGeom>
          <a:solidFill>
            <a:srgbClr val="353E77">
              <a:alpha val="12000"/>
            </a:srgbClr>
          </a:solidFill>
        </p:spPr>
        <p:txBody>
          <a:bodyPr wrap="square" lIns="0" tIns="0" rIns="0" bIns="0" rtlCol="0"/>
          <a:lstStyle/>
          <a:p>
            <a:pPr>
              <a:defRPr/>
            </a:pPr>
            <a:endParaRPr sz="1200"/>
          </a:p>
        </p:txBody>
      </p:sp>
      <p:sp>
        <p:nvSpPr>
          <p:cNvPr id="32" name="object 11">
            <a:extLst>
              <a:ext uri="{FF2B5EF4-FFF2-40B4-BE49-F238E27FC236}">
                <a16:creationId xmlns:a16="http://schemas.microsoft.com/office/drawing/2014/main" id="{A6BD2AFB-2BFC-5F81-5703-CDB71031A7F3}"/>
              </a:ext>
            </a:extLst>
          </p:cNvPr>
          <p:cNvSpPr/>
          <p:nvPr/>
        </p:nvSpPr>
        <p:spPr bwMode="auto">
          <a:xfrm>
            <a:off x="868681" y="5006340"/>
            <a:ext cx="2011680" cy="868680"/>
          </a:xfrm>
          <a:custGeom>
            <a:avLst/>
            <a:gdLst/>
            <a:ahLst/>
            <a:cxnLst/>
            <a:rect l="l" t="t" r="r" b="b"/>
            <a:pathLst>
              <a:path w="2877819" h="6055359" extrusionOk="0">
                <a:moveTo>
                  <a:pt x="2827528" y="0"/>
                </a:moveTo>
                <a:lnTo>
                  <a:pt x="49784" y="0"/>
                </a:lnTo>
                <a:lnTo>
                  <a:pt x="40018" y="960"/>
                </a:lnTo>
                <a:lnTo>
                  <a:pt x="8358" y="22155"/>
                </a:lnTo>
                <a:lnTo>
                  <a:pt x="0" y="49783"/>
                </a:lnTo>
                <a:lnTo>
                  <a:pt x="0" y="6005067"/>
                </a:lnTo>
                <a:lnTo>
                  <a:pt x="22155" y="6046493"/>
                </a:lnTo>
                <a:lnTo>
                  <a:pt x="49784" y="6054851"/>
                </a:lnTo>
                <a:lnTo>
                  <a:pt x="2827528" y="6054851"/>
                </a:lnTo>
                <a:lnTo>
                  <a:pt x="2868953" y="6032642"/>
                </a:lnTo>
                <a:lnTo>
                  <a:pt x="2877311" y="6005067"/>
                </a:lnTo>
                <a:lnTo>
                  <a:pt x="2877311" y="49783"/>
                </a:lnTo>
                <a:lnTo>
                  <a:pt x="2855156" y="8358"/>
                </a:lnTo>
                <a:lnTo>
                  <a:pt x="2827528" y="0"/>
                </a:lnTo>
                <a:close/>
              </a:path>
            </a:pathLst>
          </a:custGeom>
          <a:solidFill>
            <a:srgbClr val="353E77">
              <a:alpha val="12000"/>
            </a:srgbClr>
          </a:solidFill>
        </p:spPr>
        <p:txBody>
          <a:bodyPr wrap="square" lIns="0" tIns="0" rIns="0" bIns="0" rtlCol="0"/>
          <a:lstStyle/>
          <a:p>
            <a:pPr>
              <a:defRPr/>
            </a:pPr>
            <a:endParaRPr sz="120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10"/>
          <p:cNvSpPr>
            <a:spLocks noGrp="1"/>
          </p:cNvSpPr>
          <p:nvPr>
            <p:ph type="title" idx="110" hasCustomPrompt="1"/>
          </p:nvPr>
        </p:nvSpPr>
        <p:spPr>
          <a:xfrm>
            <a:off x="548640" y="457200"/>
            <a:ext cx="11094415" cy="777240"/>
          </a:xfrm>
          <a:prstGeom prst="rect">
            <a:avLst/>
          </a:prstGeom>
          <a:noFill/>
          <a:ln/>
        </p:spPr>
        <p:txBody>
          <a:bodyPr wrap="square" lIns="0" tIns="0" rIns="0" bIns="0" rtlCol="0" anchor="t"/>
          <a:lstStyle/>
          <a:p>
            <a:pPr marL="0" indent="0" algn="l">
              <a:buNone/>
            </a:pPr>
            <a:r>
              <a:rPr lang="en-US" sz="3200" dirty="0">
                <a:solidFill>
                  <a:schemeClr val="tx1"/>
                </a:solidFill>
              </a:rPr>
              <a:t>Quantum approaches for </a:t>
            </a:r>
            <a:r>
              <a:rPr lang="en-US" sz="3200" dirty="0" err="1">
                <a:solidFill>
                  <a:schemeClr val="tx1"/>
                </a:solidFill>
              </a:rPr>
              <a:t>multiphysics</a:t>
            </a:r>
            <a:r>
              <a:rPr lang="en-US" sz="3200" dirty="0">
                <a:solidFill>
                  <a:schemeClr val="tx1"/>
                </a:solidFill>
              </a:rPr>
              <a:t> simulation</a:t>
            </a:r>
            <a:endParaRPr lang="en-US" sz="3200" dirty="0"/>
          </a:p>
        </p:txBody>
      </p:sp>
      <p:sp>
        <p:nvSpPr>
          <p:cNvPr id="3" name="Approach 1"/>
          <p:cNvSpPr/>
          <p:nvPr/>
        </p:nvSpPr>
        <p:spPr>
          <a:xfrm>
            <a:off x="548640" y="1417320"/>
            <a:ext cx="3454298" cy="4663440"/>
          </a:xfrm>
          <a:prstGeom prst="roundRect">
            <a:avLst>
              <a:gd name="adj" fmla="val 3971"/>
            </a:avLst>
          </a:prstGeom>
          <a:solidFill>
            <a:schemeClr val="bg2"/>
          </a:solidFill>
          <a:ln w="9525">
            <a:solidFill>
              <a:schemeClr val="accent5"/>
            </a:solidFill>
            <a:prstDash val="solid"/>
          </a:ln>
        </p:spPr>
        <p:txBody>
          <a:bodyPr/>
          <a:lstStyle/>
          <a:p>
            <a:endParaRPr lang="fr-FR"/>
          </a:p>
        </p:txBody>
      </p:sp>
      <p:sp>
        <p:nvSpPr>
          <p:cNvPr id="4" name="Diagram 1"/>
          <p:cNvSpPr/>
          <p:nvPr/>
        </p:nvSpPr>
        <p:spPr>
          <a:xfrm>
            <a:off x="731520" y="1600200"/>
            <a:ext cx="3088538" cy="1783080"/>
          </a:xfrm>
          <a:prstGeom prst="roundRect">
            <a:avLst>
              <a:gd name="adj" fmla="val 5128"/>
            </a:avLst>
          </a:prstGeom>
          <a:solidFill>
            <a:schemeClr val="tx1"/>
          </a:solidFill>
          <a:ln/>
        </p:spPr>
        <p:txBody>
          <a:bodyPr/>
          <a:lstStyle/>
          <a:p>
            <a:endParaRPr lang="fr-FR"/>
          </a:p>
        </p:txBody>
      </p:sp>
      <p:pic>
        <p:nvPicPr>
          <p:cNvPr id="5" name="Image 0" descr="LBM, quantum LBM and LGCA encodings"/>
          <p:cNvPicPr>
            <a:picLocks noChangeAspect="1"/>
          </p:cNvPicPr>
          <p:nvPr/>
        </p:nvPicPr>
        <p:blipFill>
          <a:blip r:embed="rId3"/>
          <a:stretch>
            <a:fillRect/>
          </a:stretch>
        </p:blipFill>
        <p:spPr>
          <a:xfrm>
            <a:off x="904189" y="1719072"/>
            <a:ext cx="2743200" cy="1545336"/>
          </a:xfrm>
          <a:prstGeom prst="rect">
            <a:avLst/>
          </a:prstGeom>
        </p:spPr>
      </p:pic>
      <p:sp>
        <p:nvSpPr>
          <p:cNvPr id="6" name="Shape 3"/>
          <p:cNvSpPr/>
          <p:nvPr/>
        </p:nvSpPr>
        <p:spPr>
          <a:xfrm>
            <a:off x="822960" y="3657600"/>
            <a:ext cx="91440" cy="91440"/>
          </a:xfrm>
          <a:prstGeom prst="rect">
            <a:avLst/>
          </a:prstGeom>
          <a:solidFill>
            <a:schemeClr val="accent2"/>
          </a:solidFill>
          <a:ln/>
        </p:spPr>
        <p:txBody>
          <a:bodyPr/>
          <a:lstStyle/>
          <a:p>
            <a:endParaRPr lang="fr-FR"/>
          </a:p>
        </p:txBody>
      </p:sp>
      <p:sp>
        <p:nvSpPr>
          <p:cNvPr id="7" name="Text 4"/>
          <p:cNvSpPr txBox="1"/>
          <p:nvPr/>
        </p:nvSpPr>
        <p:spPr>
          <a:xfrm>
            <a:off x="1005840" y="3566160"/>
            <a:ext cx="2905658" cy="274320"/>
          </a:xfrm>
          <a:prstGeom prst="rect">
            <a:avLst/>
          </a:prstGeom>
          <a:noFill/>
          <a:ln/>
        </p:spPr>
        <p:txBody>
          <a:bodyPr wrap="square" lIns="0" tIns="0" rIns="0" bIns="0" rtlCol="0" anchor="ctr"/>
          <a:lstStyle/>
          <a:p>
            <a:pPr marL="0" indent="0">
              <a:buNone/>
            </a:pPr>
            <a:r>
              <a:rPr lang="en-US" sz="1100" b="1" kern="0" spc="200" dirty="0">
                <a:solidFill>
                  <a:schemeClr val="tx2"/>
                </a:solidFill>
              </a:rPr>
              <a:t>QUANTUM NATIVE</a:t>
            </a:r>
            <a:endParaRPr lang="en-US" sz="1100" dirty="0"/>
          </a:p>
        </p:txBody>
      </p:sp>
      <p:sp>
        <p:nvSpPr>
          <p:cNvPr id="8" name="Text 5"/>
          <p:cNvSpPr txBox="1"/>
          <p:nvPr/>
        </p:nvSpPr>
        <p:spPr>
          <a:xfrm>
            <a:off x="822960" y="3904488"/>
            <a:ext cx="2905658" cy="594360"/>
          </a:xfrm>
          <a:prstGeom prst="rect">
            <a:avLst/>
          </a:prstGeom>
          <a:noFill/>
          <a:ln/>
        </p:spPr>
        <p:txBody>
          <a:bodyPr wrap="square" lIns="0" tIns="0" rIns="0" bIns="0" rtlCol="0" anchor="t"/>
          <a:lstStyle/>
          <a:p>
            <a:pPr marL="0" indent="0">
              <a:buNone/>
            </a:pPr>
            <a:r>
              <a:rPr lang="en-US" sz="1700" b="1" dirty="0">
                <a:solidFill>
                  <a:schemeClr val="tx1"/>
                </a:solidFill>
              </a:rPr>
              <a:t>Lattice Boltzmann Method (LBM)</a:t>
            </a:r>
            <a:endParaRPr lang="en-US" sz="1700" dirty="0"/>
          </a:p>
        </p:txBody>
      </p:sp>
      <p:sp>
        <p:nvSpPr>
          <p:cNvPr id="9" name="Text 6"/>
          <p:cNvSpPr txBox="1"/>
          <p:nvPr/>
        </p:nvSpPr>
        <p:spPr>
          <a:xfrm>
            <a:off x="822960" y="4526280"/>
            <a:ext cx="2905658" cy="1463040"/>
          </a:xfrm>
          <a:prstGeom prst="rect">
            <a:avLst/>
          </a:prstGeom>
          <a:noFill/>
          <a:ln/>
        </p:spPr>
        <p:txBody>
          <a:bodyPr wrap="square" lIns="0" tIns="0" rIns="0" bIns="0" rtlCol="0" anchor="t"/>
          <a:lstStyle/>
          <a:p>
            <a:pPr marL="0" indent="0">
              <a:buNone/>
            </a:pPr>
            <a:r>
              <a:rPr lang="en-US" sz="1300" dirty="0">
                <a:solidFill>
                  <a:schemeClr val="tx2"/>
                </a:solidFill>
              </a:rPr>
              <a:t>Its algebraic structure maps naturally to quantum hardware, possibly replacing traditional mesh-based solvers</a:t>
            </a:r>
            <a:endParaRPr lang="en-US" sz="1300" dirty="0"/>
          </a:p>
        </p:txBody>
      </p:sp>
      <p:sp>
        <p:nvSpPr>
          <p:cNvPr id="10" name="Approach 2"/>
          <p:cNvSpPr/>
          <p:nvPr/>
        </p:nvSpPr>
        <p:spPr>
          <a:xfrm>
            <a:off x="4368698" y="1417320"/>
            <a:ext cx="3454298" cy="4663440"/>
          </a:xfrm>
          <a:prstGeom prst="roundRect">
            <a:avLst>
              <a:gd name="adj" fmla="val 3971"/>
            </a:avLst>
          </a:prstGeom>
          <a:solidFill>
            <a:schemeClr val="bg2"/>
          </a:solidFill>
          <a:ln w="12700">
            <a:solidFill>
              <a:schemeClr val="accent1"/>
            </a:solidFill>
            <a:prstDash val="solid"/>
          </a:ln>
        </p:spPr>
        <p:txBody>
          <a:bodyPr/>
          <a:lstStyle/>
          <a:p>
            <a:endParaRPr lang="fr-FR"/>
          </a:p>
        </p:txBody>
      </p:sp>
      <p:sp>
        <p:nvSpPr>
          <p:cNvPr id="11" name="Diagram 2"/>
          <p:cNvSpPr/>
          <p:nvPr/>
        </p:nvSpPr>
        <p:spPr>
          <a:xfrm>
            <a:off x="4551578" y="1600200"/>
            <a:ext cx="3088538" cy="1783080"/>
          </a:xfrm>
          <a:prstGeom prst="roundRect">
            <a:avLst>
              <a:gd name="adj" fmla="val 5128"/>
            </a:avLst>
          </a:prstGeom>
          <a:solidFill>
            <a:schemeClr val="tx1"/>
          </a:solidFill>
          <a:ln/>
        </p:spPr>
        <p:txBody>
          <a:bodyPr/>
          <a:lstStyle/>
          <a:p>
            <a:endParaRPr lang="fr-FR"/>
          </a:p>
        </p:txBody>
      </p:sp>
      <p:pic>
        <p:nvPicPr>
          <p:cNvPr id="12" name="Image 1" descr="Kolmogorov embedding pipeline"/>
          <p:cNvPicPr>
            <a:picLocks noChangeAspect="1"/>
          </p:cNvPicPr>
          <p:nvPr/>
        </p:nvPicPr>
        <p:blipFill>
          <a:blip r:embed="rId4"/>
          <a:stretch>
            <a:fillRect/>
          </a:stretch>
        </p:blipFill>
        <p:spPr>
          <a:xfrm>
            <a:off x="4632808" y="1719072"/>
            <a:ext cx="2926080" cy="1545336"/>
          </a:xfrm>
          <a:prstGeom prst="rect">
            <a:avLst/>
          </a:prstGeom>
        </p:spPr>
      </p:pic>
      <p:sp>
        <p:nvSpPr>
          <p:cNvPr id="13" name="Shape 9"/>
          <p:cNvSpPr/>
          <p:nvPr/>
        </p:nvSpPr>
        <p:spPr>
          <a:xfrm>
            <a:off x="4643018" y="3657600"/>
            <a:ext cx="91440" cy="91440"/>
          </a:xfrm>
          <a:prstGeom prst="rect">
            <a:avLst/>
          </a:prstGeom>
          <a:solidFill>
            <a:schemeClr val="accent2"/>
          </a:solidFill>
          <a:ln/>
        </p:spPr>
        <p:txBody>
          <a:bodyPr/>
          <a:lstStyle/>
          <a:p>
            <a:endParaRPr lang="fr-FR"/>
          </a:p>
        </p:txBody>
      </p:sp>
      <p:sp>
        <p:nvSpPr>
          <p:cNvPr id="14" name="Text 10"/>
          <p:cNvSpPr txBox="1"/>
          <p:nvPr/>
        </p:nvSpPr>
        <p:spPr>
          <a:xfrm>
            <a:off x="4825898" y="3566160"/>
            <a:ext cx="2905658" cy="274320"/>
          </a:xfrm>
          <a:prstGeom prst="rect">
            <a:avLst/>
          </a:prstGeom>
          <a:noFill/>
          <a:ln/>
        </p:spPr>
        <p:txBody>
          <a:bodyPr wrap="square" lIns="0" tIns="0" rIns="0" bIns="0" rtlCol="0" anchor="ctr"/>
          <a:lstStyle/>
          <a:p>
            <a:pPr marL="0" indent="0">
              <a:buNone/>
            </a:pPr>
            <a:r>
              <a:rPr lang="en-US" sz="1100" b="1" kern="0" spc="200" dirty="0">
                <a:solidFill>
                  <a:schemeClr val="tx2"/>
                </a:solidFill>
              </a:rPr>
              <a:t>QUANTUM NATIVE</a:t>
            </a:r>
            <a:endParaRPr lang="en-US" sz="1100" dirty="0"/>
          </a:p>
        </p:txBody>
      </p:sp>
      <p:sp>
        <p:nvSpPr>
          <p:cNvPr id="15" name="Text 11"/>
          <p:cNvSpPr txBox="1"/>
          <p:nvPr/>
        </p:nvSpPr>
        <p:spPr>
          <a:xfrm>
            <a:off x="4643018" y="3904488"/>
            <a:ext cx="2905658" cy="594360"/>
          </a:xfrm>
          <a:prstGeom prst="rect">
            <a:avLst/>
          </a:prstGeom>
          <a:noFill/>
          <a:ln/>
        </p:spPr>
        <p:txBody>
          <a:bodyPr wrap="square" lIns="0" tIns="0" rIns="0" bIns="0" rtlCol="0" anchor="t"/>
          <a:lstStyle/>
          <a:p>
            <a:pPr marL="0" indent="0">
              <a:buNone/>
            </a:pPr>
            <a:r>
              <a:rPr lang="en-US" sz="1700" b="1" dirty="0">
                <a:solidFill>
                  <a:schemeClr val="tx1"/>
                </a:solidFill>
              </a:rPr>
              <a:t>Kolmogorian Simulation (KS)</a:t>
            </a:r>
            <a:endParaRPr lang="en-US" sz="1700" dirty="0"/>
          </a:p>
        </p:txBody>
      </p:sp>
      <p:sp>
        <p:nvSpPr>
          <p:cNvPr id="16" name="Text 12"/>
          <p:cNvSpPr txBox="1"/>
          <p:nvPr/>
        </p:nvSpPr>
        <p:spPr>
          <a:xfrm>
            <a:off x="4643018" y="4526280"/>
            <a:ext cx="2905658" cy="1463040"/>
          </a:xfrm>
          <a:prstGeom prst="rect">
            <a:avLst/>
          </a:prstGeom>
          <a:noFill/>
          <a:ln/>
        </p:spPr>
        <p:txBody>
          <a:bodyPr wrap="square" lIns="0" tIns="0" rIns="0" bIns="0" rtlCol="0" anchor="t"/>
          <a:lstStyle/>
          <a:p>
            <a:pPr marL="0" indent="0">
              <a:buNone/>
            </a:pPr>
            <a:r>
              <a:rPr lang="en-US" sz="1300" dirty="0">
                <a:solidFill>
                  <a:schemeClr val="tx2"/>
                </a:solidFill>
              </a:rPr>
              <a:t>Embeds the backward Kolmogorov equation into the Fock space of N quantum harmonic oscillators via second quantization. The generator          K = −A + B + C is sparse, enabling efficient Hamiltonian simulation on a quantum computer.</a:t>
            </a:r>
            <a:endParaRPr lang="en-US" sz="1300" dirty="0"/>
          </a:p>
        </p:txBody>
      </p:sp>
      <p:sp>
        <p:nvSpPr>
          <p:cNvPr id="17" name="Approach 3"/>
          <p:cNvSpPr/>
          <p:nvPr/>
        </p:nvSpPr>
        <p:spPr>
          <a:xfrm>
            <a:off x="8188757" y="1417320"/>
            <a:ext cx="3454298" cy="4663440"/>
          </a:xfrm>
          <a:prstGeom prst="roundRect">
            <a:avLst>
              <a:gd name="adj" fmla="val 3971"/>
            </a:avLst>
          </a:prstGeom>
          <a:solidFill>
            <a:schemeClr val="bg2"/>
          </a:solidFill>
          <a:ln w="9525">
            <a:solidFill>
              <a:schemeClr val="accent5"/>
            </a:solidFill>
            <a:prstDash val="solid"/>
          </a:ln>
        </p:spPr>
        <p:txBody>
          <a:bodyPr/>
          <a:lstStyle/>
          <a:p>
            <a:endParaRPr lang="fr-FR"/>
          </a:p>
        </p:txBody>
      </p:sp>
      <p:sp>
        <p:nvSpPr>
          <p:cNvPr id="18" name="Diagram 3"/>
          <p:cNvSpPr/>
          <p:nvPr/>
        </p:nvSpPr>
        <p:spPr>
          <a:xfrm>
            <a:off x="8371637" y="1600200"/>
            <a:ext cx="3088538" cy="1783080"/>
          </a:xfrm>
          <a:prstGeom prst="roundRect">
            <a:avLst>
              <a:gd name="adj" fmla="val 5128"/>
            </a:avLst>
          </a:prstGeom>
          <a:solidFill>
            <a:schemeClr val="tx1"/>
          </a:solidFill>
          <a:ln/>
        </p:spPr>
        <p:txBody>
          <a:bodyPr/>
          <a:lstStyle/>
          <a:p>
            <a:endParaRPr lang="fr-FR"/>
          </a:p>
        </p:txBody>
      </p:sp>
      <p:pic>
        <p:nvPicPr>
          <p:cNvPr id="19" name="Image 2" descr="Hybrid variational quantum-classical loop"/>
          <p:cNvPicPr>
            <a:picLocks noChangeAspect="1"/>
          </p:cNvPicPr>
          <p:nvPr/>
        </p:nvPicPr>
        <p:blipFill>
          <a:blip r:embed="rId5"/>
          <a:stretch>
            <a:fillRect/>
          </a:stretch>
        </p:blipFill>
        <p:spPr>
          <a:xfrm>
            <a:off x="8864346" y="1714500"/>
            <a:ext cx="2103120" cy="1554480"/>
          </a:xfrm>
          <a:prstGeom prst="rect">
            <a:avLst/>
          </a:prstGeom>
        </p:spPr>
      </p:pic>
      <p:sp>
        <p:nvSpPr>
          <p:cNvPr id="20" name="Shape 15"/>
          <p:cNvSpPr/>
          <p:nvPr/>
        </p:nvSpPr>
        <p:spPr>
          <a:xfrm>
            <a:off x="8463077" y="3657600"/>
            <a:ext cx="91440" cy="91440"/>
          </a:xfrm>
          <a:prstGeom prst="rect">
            <a:avLst/>
          </a:prstGeom>
          <a:solidFill>
            <a:schemeClr val="accent2"/>
          </a:solidFill>
          <a:ln/>
        </p:spPr>
        <p:txBody>
          <a:bodyPr/>
          <a:lstStyle/>
          <a:p>
            <a:endParaRPr lang="fr-FR"/>
          </a:p>
        </p:txBody>
      </p:sp>
      <p:sp>
        <p:nvSpPr>
          <p:cNvPr id="21" name="Text 16"/>
          <p:cNvSpPr txBox="1"/>
          <p:nvPr/>
        </p:nvSpPr>
        <p:spPr>
          <a:xfrm>
            <a:off x="8645957" y="3566160"/>
            <a:ext cx="2905658" cy="274320"/>
          </a:xfrm>
          <a:prstGeom prst="rect">
            <a:avLst/>
          </a:prstGeom>
          <a:noFill/>
          <a:ln/>
        </p:spPr>
        <p:txBody>
          <a:bodyPr wrap="square" lIns="0" tIns="0" rIns="0" bIns="0" rtlCol="0" anchor="ctr"/>
          <a:lstStyle/>
          <a:p>
            <a:pPr marL="0" indent="0">
              <a:buNone/>
            </a:pPr>
            <a:r>
              <a:rPr lang="en-US" sz="1100" b="1" kern="0" spc="200" dirty="0">
                <a:solidFill>
                  <a:schemeClr val="tx2"/>
                </a:solidFill>
              </a:rPr>
              <a:t>HYBRID QUANTUM-CLASSICAL</a:t>
            </a:r>
            <a:endParaRPr lang="en-US" sz="1100" dirty="0"/>
          </a:p>
        </p:txBody>
      </p:sp>
      <p:sp>
        <p:nvSpPr>
          <p:cNvPr id="22" name="Text 17"/>
          <p:cNvSpPr txBox="1"/>
          <p:nvPr/>
        </p:nvSpPr>
        <p:spPr>
          <a:xfrm>
            <a:off x="8463077" y="3904488"/>
            <a:ext cx="2905658" cy="594360"/>
          </a:xfrm>
          <a:prstGeom prst="rect">
            <a:avLst/>
          </a:prstGeom>
          <a:noFill/>
          <a:ln/>
        </p:spPr>
        <p:txBody>
          <a:bodyPr wrap="square" lIns="0" tIns="0" rIns="0" bIns="0" rtlCol="0" anchor="t"/>
          <a:lstStyle/>
          <a:p>
            <a:pPr marL="0" indent="0">
              <a:buNone/>
            </a:pPr>
            <a:r>
              <a:rPr lang="en-US" sz="1700" b="1" dirty="0">
                <a:solidFill>
                  <a:schemeClr val="tx1"/>
                </a:solidFill>
              </a:rPr>
              <a:t>Variational Quantum Algorithms (VQA)</a:t>
            </a:r>
            <a:endParaRPr lang="en-US" sz="1700" dirty="0"/>
          </a:p>
        </p:txBody>
      </p:sp>
      <p:sp>
        <p:nvSpPr>
          <p:cNvPr id="23" name="Text 18"/>
          <p:cNvSpPr txBox="1"/>
          <p:nvPr/>
        </p:nvSpPr>
        <p:spPr>
          <a:xfrm>
            <a:off x="8463077" y="4526280"/>
            <a:ext cx="2905658" cy="1463040"/>
          </a:xfrm>
          <a:prstGeom prst="rect">
            <a:avLst/>
          </a:prstGeom>
          <a:noFill/>
          <a:ln/>
        </p:spPr>
        <p:txBody>
          <a:bodyPr wrap="square" lIns="0" tIns="0" rIns="0" bIns="0" rtlCol="0" anchor="t"/>
          <a:lstStyle/>
          <a:p>
            <a:pPr marL="0" indent="0">
              <a:buNone/>
            </a:pPr>
            <a:r>
              <a:rPr lang="en-US" sz="1300" dirty="0">
                <a:solidFill>
                  <a:schemeClr val="tx2"/>
                </a:solidFill>
              </a:rPr>
              <a:t>Quantum handles the linear algebra bottleneck (Poisson/pressure solve, ~90% of classical compute time); classical handles the rest. Suitable for meshing–remeshing techniques.</a:t>
            </a:r>
            <a:endParaRPr lang="en-US" sz="1300" dirty="0"/>
          </a:p>
        </p:txBody>
      </p:sp>
      <p:sp>
        <p:nvSpPr>
          <p:cNvPr id="25" name="Slide Number Placeholder 0"/>
          <p:cNvSpPr>
            <a:spLocks noGrp="1"/>
          </p:cNvSpPr>
          <p:nvPr>
            <p:ph type="sldNum" sz="quarter" idx="4294967295"/>
          </p:nvPr>
        </p:nvSpPr>
        <p:spPr>
          <a:xfrm>
            <a:off x="11094415" y="6327648"/>
            <a:ext cx="548640" cy="274320"/>
          </a:xfrm>
          <a:prstGeom prst="rect">
            <a:avLst/>
          </a:prstGeom>
          <a:extLst>
            <a:ext uri="{C572A759-6A51-4108-AA02-DFA0A04FC94B}">
              <ma14:wrappingTextBoxFlag xmlns:ma14="http://schemas.microsoft.com/office/mac/drawingml/2011/main" xmlns="" val="0"/>
            </a:ext>
          </a:extLst>
        </p:spPr>
        <p:txBody>
          <a:bodyPr lIns="0" tIns="0" rIns="0" bIns="0" anchor="ctr"/>
          <a:lstStyle>
            <a:lvl1pPr>
              <a:defRPr sz="1000">
                <a:solidFill>
                  <a:srgbClr val="9AA3BD"/>
                </a:solidFill>
              </a:defRPr>
            </a:lvl1pPr>
          </a:lstStyle>
          <a:p>
            <a:pPr algn="r"/>
            <a:fld id="{F7021451-1387-4CA6-816F-3879F97B5CBC}" type="slidenum">
              <a:rPr lang="en-US" b="0"/>
              <a:t>15</a:t>
            </a:fld>
            <a:endParaRPr lang="en-US"/>
          </a:p>
        </p:txBody>
      </p:sp>
      <p:pic>
        <p:nvPicPr>
          <p:cNvPr id="26" name="Image 25">
            <a:extLst>
              <a:ext uri="{FF2B5EF4-FFF2-40B4-BE49-F238E27FC236}">
                <a16:creationId xmlns:a16="http://schemas.microsoft.com/office/drawing/2014/main" id="{C76BF80B-CD60-5318-08B0-7A3DD00F5A6E}"/>
              </a:ext>
            </a:extLst>
          </p:cNvPr>
          <p:cNvPicPr>
            <a:picLocks noChangeAspect="1"/>
          </p:cNvPicPr>
          <p:nvPr/>
        </p:nvPicPr>
        <p:blipFill>
          <a:blip r:embed="rId6"/>
          <a:stretch>
            <a:fillRect/>
          </a:stretch>
        </p:blipFill>
        <p:spPr>
          <a:xfrm>
            <a:off x="9724644" y="-443705"/>
            <a:ext cx="2437453" cy="1723866"/>
          </a:xfrm>
          <a:prstGeom prst="rect">
            <a:avLst/>
          </a:prstGeom>
        </p:spPr>
      </p:pic>
      <p:sp>
        <p:nvSpPr>
          <p:cNvPr id="27" name="object 11">
            <a:extLst>
              <a:ext uri="{FF2B5EF4-FFF2-40B4-BE49-F238E27FC236}">
                <a16:creationId xmlns:a16="http://schemas.microsoft.com/office/drawing/2014/main" id="{DBEBB568-6392-95B8-4D4C-C2F03B383551}"/>
              </a:ext>
            </a:extLst>
          </p:cNvPr>
          <p:cNvSpPr/>
          <p:nvPr/>
        </p:nvSpPr>
        <p:spPr bwMode="auto">
          <a:xfrm>
            <a:off x="888873" y="1719072"/>
            <a:ext cx="2758516" cy="1545336"/>
          </a:xfrm>
          <a:custGeom>
            <a:avLst/>
            <a:gdLst/>
            <a:ahLst/>
            <a:cxnLst/>
            <a:rect l="l" t="t" r="r" b="b"/>
            <a:pathLst>
              <a:path w="2877819" h="6055359" extrusionOk="0">
                <a:moveTo>
                  <a:pt x="2827528" y="0"/>
                </a:moveTo>
                <a:lnTo>
                  <a:pt x="49784" y="0"/>
                </a:lnTo>
                <a:lnTo>
                  <a:pt x="40018" y="960"/>
                </a:lnTo>
                <a:lnTo>
                  <a:pt x="8358" y="22155"/>
                </a:lnTo>
                <a:lnTo>
                  <a:pt x="0" y="49783"/>
                </a:lnTo>
                <a:lnTo>
                  <a:pt x="0" y="6005067"/>
                </a:lnTo>
                <a:lnTo>
                  <a:pt x="22155" y="6046493"/>
                </a:lnTo>
                <a:lnTo>
                  <a:pt x="49784" y="6054851"/>
                </a:lnTo>
                <a:lnTo>
                  <a:pt x="2827528" y="6054851"/>
                </a:lnTo>
                <a:lnTo>
                  <a:pt x="2868953" y="6032642"/>
                </a:lnTo>
                <a:lnTo>
                  <a:pt x="2877311" y="6005067"/>
                </a:lnTo>
                <a:lnTo>
                  <a:pt x="2877311" y="49783"/>
                </a:lnTo>
                <a:lnTo>
                  <a:pt x="2855156" y="8358"/>
                </a:lnTo>
                <a:lnTo>
                  <a:pt x="2827528" y="0"/>
                </a:lnTo>
                <a:close/>
              </a:path>
            </a:pathLst>
          </a:custGeom>
          <a:solidFill>
            <a:srgbClr val="353E77">
              <a:alpha val="12000"/>
            </a:srgbClr>
          </a:solidFill>
        </p:spPr>
        <p:txBody>
          <a:bodyPr wrap="square" lIns="0" tIns="0" rIns="0" bIns="0" rtlCol="0"/>
          <a:lstStyle/>
          <a:p>
            <a:pPr>
              <a:defRPr/>
            </a:pPr>
            <a:endParaRPr sz="1200"/>
          </a:p>
        </p:txBody>
      </p:sp>
      <p:sp>
        <p:nvSpPr>
          <p:cNvPr id="29" name="object 11">
            <a:extLst>
              <a:ext uri="{FF2B5EF4-FFF2-40B4-BE49-F238E27FC236}">
                <a16:creationId xmlns:a16="http://schemas.microsoft.com/office/drawing/2014/main" id="{6D39B605-FB76-EC21-F41A-0A9F5FADE9E0}"/>
              </a:ext>
            </a:extLst>
          </p:cNvPr>
          <p:cNvSpPr/>
          <p:nvPr/>
        </p:nvSpPr>
        <p:spPr bwMode="auto">
          <a:xfrm>
            <a:off x="4632808" y="1719072"/>
            <a:ext cx="2926080" cy="1549908"/>
          </a:xfrm>
          <a:custGeom>
            <a:avLst/>
            <a:gdLst/>
            <a:ahLst/>
            <a:cxnLst/>
            <a:rect l="l" t="t" r="r" b="b"/>
            <a:pathLst>
              <a:path w="2877819" h="6055359" extrusionOk="0">
                <a:moveTo>
                  <a:pt x="2827528" y="0"/>
                </a:moveTo>
                <a:lnTo>
                  <a:pt x="49784" y="0"/>
                </a:lnTo>
                <a:lnTo>
                  <a:pt x="40018" y="960"/>
                </a:lnTo>
                <a:lnTo>
                  <a:pt x="8358" y="22155"/>
                </a:lnTo>
                <a:lnTo>
                  <a:pt x="0" y="49783"/>
                </a:lnTo>
                <a:lnTo>
                  <a:pt x="0" y="6005067"/>
                </a:lnTo>
                <a:lnTo>
                  <a:pt x="22155" y="6046493"/>
                </a:lnTo>
                <a:lnTo>
                  <a:pt x="49784" y="6054851"/>
                </a:lnTo>
                <a:lnTo>
                  <a:pt x="2827528" y="6054851"/>
                </a:lnTo>
                <a:lnTo>
                  <a:pt x="2868953" y="6032642"/>
                </a:lnTo>
                <a:lnTo>
                  <a:pt x="2877311" y="6005067"/>
                </a:lnTo>
                <a:lnTo>
                  <a:pt x="2877311" y="49783"/>
                </a:lnTo>
                <a:lnTo>
                  <a:pt x="2855156" y="8358"/>
                </a:lnTo>
                <a:lnTo>
                  <a:pt x="2827528" y="0"/>
                </a:lnTo>
                <a:close/>
              </a:path>
            </a:pathLst>
          </a:custGeom>
          <a:solidFill>
            <a:srgbClr val="353E77">
              <a:alpha val="12000"/>
            </a:srgbClr>
          </a:solidFill>
        </p:spPr>
        <p:txBody>
          <a:bodyPr wrap="square" lIns="0" tIns="0" rIns="0" bIns="0" rtlCol="0"/>
          <a:lstStyle/>
          <a:p>
            <a:pPr>
              <a:defRPr/>
            </a:pPr>
            <a:endParaRPr sz="1200"/>
          </a:p>
        </p:txBody>
      </p:sp>
      <p:sp>
        <p:nvSpPr>
          <p:cNvPr id="31" name="object 11">
            <a:extLst>
              <a:ext uri="{FF2B5EF4-FFF2-40B4-BE49-F238E27FC236}">
                <a16:creationId xmlns:a16="http://schemas.microsoft.com/office/drawing/2014/main" id="{29E7DD94-01B6-43EF-9C90-A7C99233F720}"/>
              </a:ext>
            </a:extLst>
          </p:cNvPr>
          <p:cNvSpPr/>
          <p:nvPr/>
        </p:nvSpPr>
        <p:spPr bwMode="auto">
          <a:xfrm>
            <a:off x="8864346" y="1714500"/>
            <a:ext cx="2103120" cy="1549908"/>
          </a:xfrm>
          <a:custGeom>
            <a:avLst/>
            <a:gdLst/>
            <a:ahLst/>
            <a:cxnLst/>
            <a:rect l="l" t="t" r="r" b="b"/>
            <a:pathLst>
              <a:path w="2877819" h="6055359" extrusionOk="0">
                <a:moveTo>
                  <a:pt x="2827528" y="0"/>
                </a:moveTo>
                <a:lnTo>
                  <a:pt x="49784" y="0"/>
                </a:lnTo>
                <a:lnTo>
                  <a:pt x="40018" y="960"/>
                </a:lnTo>
                <a:lnTo>
                  <a:pt x="8358" y="22155"/>
                </a:lnTo>
                <a:lnTo>
                  <a:pt x="0" y="49783"/>
                </a:lnTo>
                <a:lnTo>
                  <a:pt x="0" y="6005067"/>
                </a:lnTo>
                <a:lnTo>
                  <a:pt x="22155" y="6046493"/>
                </a:lnTo>
                <a:lnTo>
                  <a:pt x="49784" y="6054851"/>
                </a:lnTo>
                <a:lnTo>
                  <a:pt x="2827528" y="6054851"/>
                </a:lnTo>
                <a:lnTo>
                  <a:pt x="2868953" y="6032642"/>
                </a:lnTo>
                <a:lnTo>
                  <a:pt x="2877311" y="6005067"/>
                </a:lnTo>
                <a:lnTo>
                  <a:pt x="2877311" y="49783"/>
                </a:lnTo>
                <a:lnTo>
                  <a:pt x="2855156" y="8358"/>
                </a:lnTo>
                <a:lnTo>
                  <a:pt x="2827528" y="0"/>
                </a:lnTo>
                <a:close/>
              </a:path>
            </a:pathLst>
          </a:custGeom>
          <a:solidFill>
            <a:srgbClr val="353E77">
              <a:alpha val="12000"/>
            </a:srgbClr>
          </a:solidFill>
        </p:spPr>
        <p:txBody>
          <a:bodyPr wrap="square" lIns="0" tIns="0" rIns="0" bIns="0" rtlCol="0"/>
          <a:lstStyle/>
          <a:p>
            <a:pPr>
              <a:defRPr/>
            </a:pPr>
            <a:endParaRPr sz="120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0"/>
          <p:cNvSpPr>
            <a:spLocks noGrp="1"/>
          </p:cNvSpPr>
          <p:nvPr>
            <p:ph type="title" idx="110" hasCustomPrompt="1"/>
          </p:nvPr>
        </p:nvSpPr>
        <p:spPr>
          <a:xfrm>
            <a:off x="548640" y="457200"/>
            <a:ext cx="11094415" cy="777240"/>
          </a:xfrm>
          <a:prstGeom prst="rect">
            <a:avLst/>
          </a:prstGeom>
          <a:noFill/>
          <a:ln/>
        </p:spPr>
        <p:txBody>
          <a:bodyPr wrap="square" lIns="0" tIns="0" rIns="0" bIns="0" rtlCol="0" anchor="t"/>
          <a:lstStyle/>
          <a:p>
            <a:pPr marL="0" indent="0" algn="l">
              <a:buNone/>
            </a:pPr>
            <a:r>
              <a:rPr lang="en-US" sz="3200" dirty="0">
                <a:solidFill>
                  <a:schemeClr val="tx1"/>
                </a:solidFill>
              </a:rPr>
              <a:t>Quantum approaches for </a:t>
            </a:r>
            <a:r>
              <a:rPr lang="en-US" sz="3200" dirty="0" err="1">
                <a:solidFill>
                  <a:schemeClr val="tx1"/>
                </a:solidFill>
              </a:rPr>
              <a:t>multiphysics</a:t>
            </a:r>
            <a:r>
              <a:rPr lang="en-US" sz="3200" dirty="0">
                <a:solidFill>
                  <a:schemeClr val="tx1"/>
                </a:solidFill>
              </a:rPr>
              <a:t> simulation</a:t>
            </a:r>
            <a:endParaRPr lang="en-US" sz="3200" dirty="0"/>
          </a:p>
        </p:txBody>
      </p:sp>
      <p:sp>
        <p:nvSpPr>
          <p:cNvPr id="3" name="Classical LBM"/>
          <p:cNvSpPr/>
          <p:nvPr/>
        </p:nvSpPr>
        <p:spPr>
          <a:xfrm>
            <a:off x="548640" y="1463040"/>
            <a:ext cx="4572000" cy="4526280"/>
          </a:xfrm>
          <a:prstGeom prst="roundRect">
            <a:avLst>
              <a:gd name="adj" fmla="val 3030"/>
            </a:avLst>
          </a:prstGeom>
          <a:solidFill>
            <a:schemeClr val="bg2"/>
          </a:solidFill>
          <a:ln w="9525">
            <a:solidFill>
              <a:schemeClr val="accent5"/>
            </a:solidFill>
            <a:prstDash val="solid"/>
          </a:ln>
        </p:spPr>
        <p:txBody>
          <a:bodyPr/>
          <a:lstStyle/>
          <a:p>
            <a:endParaRPr lang="fr-FR"/>
          </a:p>
        </p:txBody>
      </p:sp>
      <p:sp>
        <p:nvSpPr>
          <p:cNvPr id="4" name="Shape 2"/>
          <p:cNvSpPr/>
          <p:nvPr/>
        </p:nvSpPr>
        <p:spPr>
          <a:xfrm>
            <a:off x="868680" y="1828800"/>
            <a:ext cx="91440" cy="91440"/>
          </a:xfrm>
          <a:prstGeom prst="rect">
            <a:avLst/>
          </a:prstGeom>
          <a:solidFill>
            <a:schemeClr val="accent2"/>
          </a:solidFill>
          <a:ln/>
        </p:spPr>
        <p:txBody>
          <a:bodyPr/>
          <a:lstStyle/>
          <a:p>
            <a:endParaRPr lang="fr-FR"/>
          </a:p>
        </p:txBody>
      </p:sp>
      <p:sp>
        <p:nvSpPr>
          <p:cNvPr id="5" name="Text 3"/>
          <p:cNvSpPr txBox="1"/>
          <p:nvPr/>
        </p:nvSpPr>
        <p:spPr>
          <a:xfrm>
            <a:off x="1051560" y="1737360"/>
            <a:ext cx="4389120" cy="274320"/>
          </a:xfrm>
          <a:prstGeom prst="rect">
            <a:avLst/>
          </a:prstGeom>
          <a:noFill/>
          <a:ln/>
        </p:spPr>
        <p:txBody>
          <a:bodyPr wrap="square" lIns="0" tIns="0" rIns="0" bIns="0" rtlCol="0" anchor="ctr"/>
          <a:lstStyle/>
          <a:p>
            <a:pPr marL="0" indent="0">
              <a:buNone/>
            </a:pPr>
            <a:r>
              <a:rPr lang="en-US" sz="1100" b="1" kern="0" spc="200" dirty="0">
                <a:solidFill>
                  <a:schemeClr val="tx2"/>
                </a:solidFill>
              </a:rPr>
              <a:t>CLASSICAL LATTICE BOLTZMANN METHODS</a:t>
            </a:r>
            <a:endParaRPr lang="en-US" sz="1100" dirty="0"/>
          </a:p>
        </p:txBody>
      </p:sp>
      <p:sp>
        <p:nvSpPr>
          <p:cNvPr id="6" name="Text 4"/>
          <p:cNvSpPr txBox="1"/>
          <p:nvPr/>
        </p:nvSpPr>
        <p:spPr>
          <a:xfrm>
            <a:off x="868680" y="2240280"/>
            <a:ext cx="3931920" cy="2377440"/>
          </a:xfrm>
          <a:prstGeom prst="rect">
            <a:avLst/>
          </a:prstGeom>
          <a:noFill/>
          <a:ln/>
        </p:spPr>
        <p:txBody>
          <a:bodyPr wrap="square" lIns="0" tIns="0" rIns="0" bIns="0" rtlCol="0" anchor="t"/>
          <a:lstStyle/>
          <a:p>
            <a:pPr marL="203200" indent="-203200">
              <a:spcAft>
                <a:spcPts val="1200"/>
              </a:spcAft>
              <a:buSzPct val="100000"/>
              <a:buChar char="•"/>
            </a:pPr>
            <a:r>
              <a:rPr lang="en-US" sz="1600" dirty="0">
                <a:solidFill>
                  <a:schemeClr val="tx1"/>
                </a:solidFill>
              </a:rPr>
              <a:t>Simulate fluid flow by tracking particle distribution functions on a discrete lattice</a:t>
            </a:r>
            <a:endParaRPr lang="en-US" sz="1600" dirty="0"/>
          </a:p>
          <a:p>
            <a:pPr marL="203200" indent="-203200">
              <a:spcAft>
                <a:spcPts val="1200"/>
              </a:spcAft>
              <a:buSzPct val="100000"/>
              <a:buChar char="•"/>
            </a:pPr>
            <a:r>
              <a:rPr lang="en-US" sz="1600" dirty="0">
                <a:solidFill>
                  <a:schemeClr val="tx1"/>
                </a:solidFill>
              </a:rPr>
              <a:t>Distributions are evolved through streaming and collision steps</a:t>
            </a:r>
            <a:endParaRPr lang="en-US" sz="1600" dirty="0"/>
          </a:p>
          <a:p>
            <a:pPr marL="203200" indent="-203200">
              <a:spcAft>
                <a:spcPts val="1200"/>
              </a:spcAft>
              <a:buSzPct val="100000"/>
              <a:buChar char="•"/>
            </a:pPr>
            <a:r>
              <a:rPr lang="en-US" sz="1600" dirty="0">
                <a:solidFill>
                  <a:schemeClr val="tx1"/>
                </a:solidFill>
              </a:rPr>
              <a:t>Recovers the Navier–Stokes equations in the continuous limit</a:t>
            </a:r>
            <a:endParaRPr lang="en-US" sz="1600" dirty="0"/>
          </a:p>
        </p:txBody>
      </p:sp>
      <p:sp>
        <p:nvSpPr>
          <p:cNvPr id="7" name="Shape 5"/>
          <p:cNvSpPr/>
          <p:nvPr/>
        </p:nvSpPr>
        <p:spPr>
          <a:xfrm>
            <a:off x="868680" y="4937760"/>
            <a:ext cx="3931920" cy="731520"/>
          </a:xfrm>
          <a:prstGeom prst="roundRect">
            <a:avLst>
              <a:gd name="adj" fmla="val 12500"/>
            </a:avLst>
          </a:prstGeom>
          <a:solidFill>
            <a:schemeClr val="accent4"/>
          </a:solidFill>
          <a:ln/>
        </p:spPr>
        <p:txBody>
          <a:bodyPr/>
          <a:lstStyle/>
          <a:p>
            <a:endParaRPr lang="fr-FR"/>
          </a:p>
        </p:txBody>
      </p:sp>
      <p:sp>
        <p:nvSpPr>
          <p:cNvPr id="8" name="Text 6"/>
          <p:cNvSpPr txBox="1"/>
          <p:nvPr/>
        </p:nvSpPr>
        <p:spPr>
          <a:xfrm>
            <a:off x="1051560" y="4937760"/>
            <a:ext cx="3566160" cy="731520"/>
          </a:xfrm>
          <a:prstGeom prst="rect">
            <a:avLst/>
          </a:prstGeom>
          <a:noFill/>
          <a:ln/>
        </p:spPr>
        <p:txBody>
          <a:bodyPr wrap="square" lIns="0" tIns="0" rIns="0" bIns="0" rtlCol="0" anchor="ctr"/>
          <a:lstStyle/>
          <a:p>
            <a:pPr marL="0" indent="0">
              <a:buNone/>
            </a:pPr>
            <a:r>
              <a:rPr lang="en-US" sz="1600" b="1" dirty="0">
                <a:solidFill>
                  <a:schemeClr val="accent3"/>
                </a:solidFill>
              </a:rPr>
              <a:t>Computationally very expensive!</a:t>
            </a:r>
            <a:endParaRPr lang="en-US" sz="1600" dirty="0"/>
          </a:p>
        </p:txBody>
      </p:sp>
      <p:sp>
        <p:nvSpPr>
          <p:cNvPr id="9" name="Quantum LBM"/>
          <p:cNvSpPr/>
          <p:nvPr/>
        </p:nvSpPr>
        <p:spPr>
          <a:xfrm>
            <a:off x="5486400" y="1463040"/>
            <a:ext cx="6156655" cy="4526280"/>
          </a:xfrm>
          <a:prstGeom prst="roundRect">
            <a:avLst>
              <a:gd name="adj" fmla="val 3030"/>
            </a:avLst>
          </a:prstGeom>
          <a:solidFill>
            <a:schemeClr val="bg2"/>
          </a:solidFill>
          <a:ln w="12700">
            <a:solidFill>
              <a:schemeClr val="accent1"/>
            </a:solidFill>
            <a:prstDash val="solid"/>
          </a:ln>
        </p:spPr>
        <p:txBody>
          <a:bodyPr/>
          <a:lstStyle/>
          <a:p>
            <a:endParaRPr lang="fr-FR"/>
          </a:p>
        </p:txBody>
      </p:sp>
      <p:sp>
        <p:nvSpPr>
          <p:cNvPr id="10" name="Shape 8"/>
          <p:cNvSpPr/>
          <p:nvPr/>
        </p:nvSpPr>
        <p:spPr>
          <a:xfrm>
            <a:off x="5806440" y="1828800"/>
            <a:ext cx="91440" cy="91440"/>
          </a:xfrm>
          <a:prstGeom prst="rect">
            <a:avLst/>
          </a:prstGeom>
          <a:solidFill>
            <a:schemeClr val="accent2"/>
          </a:solidFill>
          <a:ln/>
        </p:spPr>
        <p:txBody>
          <a:bodyPr/>
          <a:lstStyle/>
          <a:p>
            <a:endParaRPr lang="fr-FR"/>
          </a:p>
        </p:txBody>
      </p:sp>
      <p:sp>
        <p:nvSpPr>
          <p:cNvPr id="11" name="Text 9"/>
          <p:cNvSpPr txBox="1"/>
          <p:nvPr/>
        </p:nvSpPr>
        <p:spPr>
          <a:xfrm>
            <a:off x="5989320" y="1737360"/>
            <a:ext cx="3657600" cy="274320"/>
          </a:xfrm>
          <a:prstGeom prst="rect">
            <a:avLst/>
          </a:prstGeom>
          <a:noFill/>
          <a:ln/>
        </p:spPr>
        <p:txBody>
          <a:bodyPr wrap="square" lIns="0" tIns="0" rIns="0" bIns="0" rtlCol="0" anchor="ctr"/>
          <a:lstStyle/>
          <a:p>
            <a:pPr marL="0" indent="0">
              <a:buNone/>
            </a:pPr>
            <a:r>
              <a:rPr lang="en-US" sz="1100" b="1" kern="0" spc="200" dirty="0">
                <a:solidFill>
                  <a:schemeClr val="tx2"/>
                </a:solidFill>
              </a:rPr>
              <a:t>FTQC  ·  QUANTUM NATIVE</a:t>
            </a:r>
            <a:endParaRPr lang="en-US" sz="1100" dirty="0"/>
          </a:p>
        </p:txBody>
      </p:sp>
      <p:sp>
        <p:nvSpPr>
          <p:cNvPr id="12" name="Diagram tile"/>
          <p:cNvSpPr/>
          <p:nvPr/>
        </p:nvSpPr>
        <p:spPr>
          <a:xfrm>
            <a:off x="5806440" y="2194560"/>
            <a:ext cx="2651760" cy="1600200"/>
          </a:xfrm>
          <a:prstGeom prst="roundRect">
            <a:avLst>
              <a:gd name="adj" fmla="val 5714"/>
            </a:avLst>
          </a:prstGeom>
          <a:solidFill>
            <a:schemeClr val="tx1"/>
          </a:solidFill>
          <a:ln/>
        </p:spPr>
        <p:txBody>
          <a:bodyPr/>
          <a:lstStyle/>
          <a:p>
            <a:endParaRPr lang="fr-FR"/>
          </a:p>
        </p:txBody>
      </p:sp>
      <p:pic>
        <p:nvPicPr>
          <p:cNvPr id="13" name="Image 0" descr="Comparison of LBM, quantum LBM and LGCA encodings"/>
          <p:cNvPicPr>
            <a:picLocks noChangeAspect="1"/>
          </p:cNvPicPr>
          <p:nvPr/>
        </p:nvPicPr>
        <p:blipFill>
          <a:blip r:embed="rId3"/>
          <a:stretch>
            <a:fillRect/>
          </a:stretch>
        </p:blipFill>
        <p:spPr>
          <a:xfrm>
            <a:off x="5879592" y="2308860"/>
            <a:ext cx="2505456" cy="1417320"/>
          </a:xfrm>
          <a:prstGeom prst="rect">
            <a:avLst/>
          </a:prstGeom>
        </p:spPr>
      </p:pic>
      <p:sp>
        <p:nvSpPr>
          <p:cNvPr id="14" name="Text 11"/>
          <p:cNvSpPr txBox="1"/>
          <p:nvPr/>
        </p:nvSpPr>
        <p:spPr>
          <a:xfrm>
            <a:off x="8686800" y="2194560"/>
            <a:ext cx="2681935" cy="548640"/>
          </a:xfrm>
          <a:prstGeom prst="rect">
            <a:avLst/>
          </a:prstGeom>
          <a:noFill/>
          <a:ln/>
        </p:spPr>
        <p:txBody>
          <a:bodyPr wrap="square" lIns="0" tIns="0" rIns="0" bIns="0" rtlCol="0" anchor="t"/>
          <a:lstStyle/>
          <a:p>
            <a:pPr marL="0" indent="0">
              <a:buNone/>
            </a:pPr>
            <a:r>
              <a:rPr lang="en-US" sz="1600" b="1" dirty="0">
                <a:solidFill>
                  <a:schemeClr val="tx1"/>
                </a:solidFill>
              </a:rPr>
              <a:t>Lattice Boltzmann Method (LBM)</a:t>
            </a:r>
            <a:endParaRPr lang="en-US" sz="1600" dirty="0"/>
          </a:p>
        </p:txBody>
      </p:sp>
      <p:sp>
        <p:nvSpPr>
          <p:cNvPr id="15" name="Text 12"/>
          <p:cNvSpPr txBox="1"/>
          <p:nvPr/>
        </p:nvSpPr>
        <p:spPr>
          <a:xfrm>
            <a:off x="8686800" y="2788920"/>
            <a:ext cx="2681935" cy="457200"/>
          </a:xfrm>
          <a:prstGeom prst="rect">
            <a:avLst/>
          </a:prstGeom>
          <a:noFill/>
          <a:ln/>
        </p:spPr>
        <p:txBody>
          <a:bodyPr wrap="square" lIns="0" tIns="0" rIns="0" bIns="0" rtlCol="0" anchor="t"/>
          <a:lstStyle/>
          <a:p>
            <a:pPr marL="0" indent="0">
              <a:buNone/>
            </a:pPr>
            <a:r>
              <a:rPr lang="en-US" sz="1400" b="1" dirty="0">
                <a:solidFill>
                  <a:schemeClr val="accent3"/>
                </a:solidFill>
              </a:rPr>
              <a:t>Leading quantum-native approach</a:t>
            </a:r>
            <a:endParaRPr lang="en-US" sz="1400" dirty="0"/>
          </a:p>
        </p:txBody>
      </p:sp>
      <p:sp>
        <p:nvSpPr>
          <p:cNvPr id="16" name="Text 13"/>
          <p:cNvSpPr txBox="1"/>
          <p:nvPr/>
        </p:nvSpPr>
        <p:spPr>
          <a:xfrm>
            <a:off x="8686800" y="3291840"/>
            <a:ext cx="2681935" cy="868680"/>
          </a:xfrm>
          <a:prstGeom prst="rect">
            <a:avLst/>
          </a:prstGeom>
          <a:noFill/>
          <a:ln/>
        </p:spPr>
        <p:txBody>
          <a:bodyPr wrap="square" lIns="0" tIns="0" rIns="0" bIns="0" rtlCol="0" anchor="t"/>
          <a:lstStyle/>
          <a:p>
            <a:pPr marL="0" indent="0">
              <a:buNone/>
            </a:pPr>
            <a:r>
              <a:rPr lang="en-US" sz="1200" dirty="0">
                <a:solidFill>
                  <a:schemeClr val="tx2"/>
                </a:solidFill>
              </a:rPr>
              <a:t>Its algebraic structure maps naturally to quantum hardware, replacing traditional mesh-based solvers</a:t>
            </a:r>
            <a:endParaRPr lang="en-US" sz="1200" dirty="0"/>
          </a:p>
        </p:txBody>
      </p:sp>
      <p:sp>
        <p:nvSpPr>
          <p:cNvPr id="17" name="Shape 14"/>
          <p:cNvSpPr/>
          <p:nvPr/>
        </p:nvSpPr>
        <p:spPr>
          <a:xfrm>
            <a:off x="5806440" y="4206240"/>
            <a:ext cx="5516575" cy="0"/>
          </a:xfrm>
          <a:prstGeom prst="line">
            <a:avLst/>
          </a:prstGeom>
          <a:noFill/>
          <a:ln w="9525">
            <a:solidFill>
              <a:srgbClr val="3C3F4C"/>
            </a:solidFill>
            <a:prstDash val="solid"/>
          </a:ln>
        </p:spPr>
        <p:txBody>
          <a:bodyPr/>
          <a:lstStyle/>
          <a:p>
            <a:endParaRPr lang="fr-FR"/>
          </a:p>
        </p:txBody>
      </p:sp>
      <p:sp>
        <p:nvSpPr>
          <p:cNvPr id="18" name="Text 15"/>
          <p:cNvSpPr txBox="1"/>
          <p:nvPr/>
        </p:nvSpPr>
        <p:spPr>
          <a:xfrm>
            <a:off x="5806440" y="4315968"/>
            <a:ext cx="5516575" cy="320040"/>
          </a:xfrm>
          <a:prstGeom prst="rect">
            <a:avLst/>
          </a:prstGeom>
          <a:noFill/>
          <a:ln/>
        </p:spPr>
        <p:txBody>
          <a:bodyPr wrap="square" lIns="0" tIns="0" rIns="0" bIns="0" rtlCol="0" anchor="ctr"/>
          <a:lstStyle/>
          <a:p>
            <a:pPr marL="0" indent="0">
              <a:buNone/>
            </a:pPr>
            <a:r>
              <a:rPr lang="en-US" sz="1600" b="1" dirty="0">
                <a:solidFill>
                  <a:schemeClr val="tx1"/>
                </a:solidFill>
              </a:rPr>
              <a:t>Quantum offers speed-up</a:t>
            </a:r>
            <a:endParaRPr lang="en-US" sz="1600" dirty="0"/>
          </a:p>
        </p:txBody>
      </p:sp>
      <p:sp>
        <p:nvSpPr>
          <p:cNvPr id="19" name="Text 16"/>
          <p:cNvSpPr txBox="1"/>
          <p:nvPr/>
        </p:nvSpPr>
        <p:spPr>
          <a:xfrm>
            <a:off x="5806440" y="4663440"/>
            <a:ext cx="3566160" cy="548640"/>
          </a:xfrm>
          <a:prstGeom prst="rect">
            <a:avLst/>
          </a:prstGeom>
          <a:noFill/>
          <a:ln/>
        </p:spPr>
        <p:txBody>
          <a:bodyPr wrap="square" lIns="0" tIns="0" rIns="0" bIns="0" rtlCol="0" anchor="ctr"/>
          <a:lstStyle/>
          <a:p>
            <a:pPr marL="0" indent="0">
              <a:buNone/>
            </a:pPr>
            <a:r>
              <a:rPr lang="en-US" sz="3000" b="1" dirty="0">
                <a:solidFill>
                  <a:schemeClr val="tx1"/>
                </a:solidFill>
              </a:rPr>
              <a:t>2</a:t>
            </a:r>
            <a:r>
              <a:rPr lang="en-US" sz="3000" b="1" baseline="30000" dirty="0">
                <a:solidFill>
                  <a:schemeClr val="tx1"/>
                </a:solidFill>
              </a:rPr>
              <a:t>n</a:t>
            </a:r>
            <a:r>
              <a:rPr lang="en-US" sz="3000" b="1" dirty="0">
                <a:solidFill>
                  <a:schemeClr val="tx1"/>
                </a:solidFill>
              </a:rPr>
              <a:t> lattice sites</a:t>
            </a:r>
            <a:endParaRPr lang="en-US" sz="3000" dirty="0"/>
          </a:p>
        </p:txBody>
      </p:sp>
      <p:sp>
        <p:nvSpPr>
          <p:cNvPr id="20" name="Text 17"/>
          <p:cNvSpPr txBox="1"/>
          <p:nvPr/>
        </p:nvSpPr>
        <p:spPr>
          <a:xfrm>
            <a:off x="9372600" y="4709160"/>
            <a:ext cx="2011680" cy="502920"/>
          </a:xfrm>
          <a:prstGeom prst="rect">
            <a:avLst/>
          </a:prstGeom>
          <a:noFill/>
          <a:ln/>
        </p:spPr>
        <p:txBody>
          <a:bodyPr wrap="square" lIns="0" tIns="0" rIns="0" bIns="0" rtlCol="0" anchor="ctr"/>
          <a:lstStyle/>
          <a:p>
            <a:pPr marL="0" indent="0">
              <a:buNone/>
            </a:pPr>
            <a:r>
              <a:rPr lang="en-US" sz="1600" b="1" dirty="0">
                <a:solidFill>
                  <a:schemeClr val="accent3"/>
                </a:solidFill>
              </a:rPr>
              <a:t>encoded in n qubits</a:t>
            </a:r>
            <a:endParaRPr lang="en-US" sz="1600" dirty="0"/>
          </a:p>
        </p:txBody>
      </p:sp>
      <p:sp>
        <p:nvSpPr>
          <p:cNvPr id="21" name="Text 18"/>
          <p:cNvSpPr txBox="1"/>
          <p:nvPr/>
        </p:nvSpPr>
        <p:spPr>
          <a:xfrm>
            <a:off x="5806440" y="5303520"/>
            <a:ext cx="5516575" cy="457200"/>
          </a:xfrm>
          <a:prstGeom prst="rect">
            <a:avLst/>
          </a:prstGeom>
          <a:noFill/>
          <a:ln/>
        </p:spPr>
        <p:txBody>
          <a:bodyPr wrap="square" lIns="0" tIns="0" rIns="0" bIns="0" rtlCol="0" anchor="t"/>
          <a:lstStyle/>
          <a:p>
            <a:pPr marL="0" indent="0">
              <a:buNone/>
            </a:pPr>
            <a:r>
              <a:rPr lang="en-US" sz="1300" dirty="0">
                <a:solidFill>
                  <a:schemeClr val="tx2"/>
                </a:solidFill>
              </a:rPr>
              <a:t>Represents the distribution function across many lattice sites in a superposition</a:t>
            </a:r>
            <a:endParaRPr lang="en-US" sz="1300" dirty="0"/>
          </a:p>
        </p:txBody>
      </p:sp>
      <p:sp>
        <p:nvSpPr>
          <p:cNvPr id="25" name="Slide Number Placeholder 0"/>
          <p:cNvSpPr>
            <a:spLocks noGrp="1"/>
          </p:cNvSpPr>
          <p:nvPr>
            <p:ph type="sldNum" sz="quarter" idx="4294967295"/>
          </p:nvPr>
        </p:nvSpPr>
        <p:spPr>
          <a:xfrm>
            <a:off x="11094415" y="6327648"/>
            <a:ext cx="548640" cy="274320"/>
          </a:xfrm>
          <a:prstGeom prst="rect">
            <a:avLst/>
          </a:prstGeom>
          <a:extLst>
            <a:ext uri="{C572A759-6A51-4108-AA02-DFA0A04FC94B}">
              <ma14:wrappingTextBoxFlag xmlns:ma14="http://schemas.microsoft.com/office/mac/drawingml/2011/main" xmlns="" val="0"/>
            </a:ext>
          </a:extLst>
        </p:spPr>
        <p:txBody>
          <a:bodyPr lIns="0" tIns="0" rIns="0" bIns="0" anchor="ctr"/>
          <a:lstStyle>
            <a:lvl1pPr>
              <a:defRPr sz="1000">
                <a:solidFill>
                  <a:srgbClr val="9AA3BD"/>
                </a:solidFill>
              </a:defRPr>
            </a:lvl1pPr>
          </a:lstStyle>
          <a:p>
            <a:pPr algn="r"/>
            <a:fld id="{F7021451-1387-4CA6-816F-3879F97B5CBC}" type="slidenum">
              <a:rPr lang="en-US" b="0"/>
              <a:t>16</a:t>
            </a:fld>
            <a:endParaRPr lang="en-US"/>
          </a:p>
        </p:txBody>
      </p:sp>
      <p:pic>
        <p:nvPicPr>
          <p:cNvPr id="23" name="Image 22">
            <a:extLst>
              <a:ext uri="{FF2B5EF4-FFF2-40B4-BE49-F238E27FC236}">
                <a16:creationId xmlns:a16="http://schemas.microsoft.com/office/drawing/2014/main" id="{4E625E2B-F5D4-7CC6-93D9-F5F3027698D7}"/>
              </a:ext>
            </a:extLst>
          </p:cNvPr>
          <p:cNvPicPr>
            <a:picLocks noChangeAspect="1"/>
          </p:cNvPicPr>
          <p:nvPr/>
        </p:nvPicPr>
        <p:blipFill>
          <a:blip r:embed="rId4"/>
          <a:stretch>
            <a:fillRect/>
          </a:stretch>
        </p:blipFill>
        <p:spPr>
          <a:xfrm>
            <a:off x="9724644" y="-443705"/>
            <a:ext cx="2437453" cy="1723866"/>
          </a:xfrm>
          <a:prstGeom prst="rect">
            <a:avLst/>
          </a:prstGeom>
        </p:spPr>
      </p:pic>
      <p:sp>
        <p:nvSpPr>
          <p:cNvPr id="24" name="object 11">
            <a:extLst>
              <a:ext uri="{FF2B5EF4-FFF2-40B4-BE49-F238E27FC236}">
                <a16:creationId xmlns:a16="http://schemas.microsoft.com/office/drawing/2014/main" id="{539F625F-01ED-A699-05F5-29A9A52A3B2D}"/>
              </a:ext>
            </a:extLst>
          </p:cNvPr>
          <p:cNvSpPr/>
          <p:nvPr/>
        </p:nvSpPr>
        <p:spPr bwMode="auto">
          <a:xfrm>
            <a:off x="5879592" y="2299716"/>
            <a:ext cx="2578608" cy="1426464"/>
          </a:xfrm>
          <a:custGeom>
            <a:avLst/>
            <a:gdLst/>
            <a:ahLst/>
            <a:cxnLst/>
            <a:rect l="l" t="t" r="r" b="b"/>
            <a:pathLst>
              <a:path w="2877819" h="6055359" extrusionOk="0">
                <a:moveTo>
                  <a:pt x="2827528" y="0"/>
                </a:moveTo>
                <a:lnTo>
                  <a:pt x="49784" y="0"/>
                </a:lnTo>
                <a:lnTo>
                  <a:pt x="40018" y="960"/>
                </a:lnTo>
                <a:lnTo>
                  <a:pt x="8358" y="22155"/>
                </a:lnTo>
                <a:lnTo>
                  <a:pt x="0" y="49783"/>
                </a:lnTo>
                <a:lnTo>
                  <a:pt x="0" y="6005067"/>
                </a:lnTo>
                <a:lnTo>
                  <a:pt x="22155" y="6046493"/>
                </a:lnTo>
                <a:lnTo>
                  <a:pt x="49784" y="6054851"/>
                </a:lnTo>
                <a:lnTo>
                  <a:pt x="2827528" y="6054851"/>
                </a:lnTo>
                <a:lnTo>
                  <a:pt x="2868953" y="6032642"/>
                </a:lnTo>
                <a:lnTo>
                  <a:pt x="2877311" y="6005067"/>
                </a:lnTo>
                <a:lnTo>
                  <a:pt x="2877311" y="49783"/>
                </a:lnTo>
                <a:lnTo>
                  <a:pt x="2855156" y="8358"/>
                </a:lnTo>
                <a:lnTo>
                  <a:pt x="2827528" y="0"/>
                </a:lnTo>
                <a:close/>
              </a:path>
            </a:pathLst>
          </a:custGeom>
          <a:solidFill>
            <a:srgbClr val="353E77">
              <a:alpha val="12000"/>
            </a:srgbClr>
          </a:solidFill>
        </p:spPr>
        <p:txBody>
          <a:bodyPr wrap="square" lIns="0" tIns="0" rIns="0" bIns="0" rtlCol="0"/>
          <a:lstStyle/>
          <a:p>
            <a:pPr>
              <a:defRPr/>
            </a:pPr>
            <a:endParaRPr sz="120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0"/>
          <p:cNvSpPr>
            <a:spLocks noGrp="1"/>
          </p:cNvSpPr>
          <p:nvPr>
            <p:ph type="title" idx="110" hasCustomPrompt="1"/>
          </p:nvPr>
        </p:nvSpPr>
        <p:spPr>
          <a:xfrm>
            <a:off x="548640" y="457200"/>
            <a:ext cx="11094415" cy="777240"/>
          </a:xfrm>
          <a:prstGeom prst="rect">
            <a:avLst/>
          </a:prstGeom>
          <a:noFill/>
          <a:ln/>
        </p:spPr>
        <p:txBody>
          <a:bodyPr wrap="square" lIns="0" tIns="0" rIns="0" bIns="0" rtlCol="0" anchor="t"/>
          <a:lstStyle/>
          <a:p>
            <a:pPr marL="0" indent="0" algn="l">
              <a:buNone/>
            </a:pPr>
            <a:r>
              <a:rPr lang="en-US" sz="3200" dirty="0">
                <a:solidFill>
                  <a:schemeClr val="tx1"/>
                </a:solidFill>
              </a:rPr>
              <a:t>Quantum Lattice Boltzmann Method for fluid dynamics</a:t>
            </a:r>
            <a:endParaRPr lang="en-US" sz="3200" dirty="0"/>
          </a:p>
        </p:txBody>
      </p:sp>
      <p:sp>
        <p:nvSpPr>
          <p:cNvPr id="3" name="Text 1"/>
          <p:cNvSpPr txBox="1"/>
          <p:nvPr/>
        </p:nvSpPr>
        <p:spPr>
          <a:xfrm>
            <a:off x="548640" y="1097280"/>
            <a:ext cx="11094415" cy="365760"/>
          </a:xfrm>
          <a:prstGeom prst="rect">
            <a:avLst/>
          </a:prstGeom>
          <a:noFill/>
          <a:ln/>
        </p:spPr>
        <p:txBody>
          <a:bodyPr wrap="square" lIns="0" tIns="0" rIns="0" bIns="0" rtlCol="0" anchor="t"/>
          <a:lstStyle/>
          <a:p>
            <a:pPr marL="0" indent="0">
              <a:buNone/>
            </a:pPr>
            <a:r>
              <a:rPr lang="en-US" sz="1600" i="1" dirty="0">
                <a:solidFill>
                  <a:schemeClr val="tx2"/>
                </a:solidFill>
              </a:rPr>
              <a:t>Streaming is naturally unitary; collision is the quantized bottleneck</a:t>
            </a:r>
            <a:endParaRPr lang="en-US" sz="1600" dirty="0"/>
          </a:p>
        </p:txBody>
      </p:sp>
      <p:sp>
        <p:nvSpPr>
          <p:cNvPr id="4" name="Circuit loop"/>
          <p:cNvSpPr/>
          <p:nvPr/>
        </p:nvSpPr>
        <p:spPr>
          <a:xfrm>
            <a:off x="548640" y="1645920"/>
            <a:ext cx="5760720" cy="4480560"/>
          </a:xfrm>
          <a:prstGeom prst="roundRect">
            <a:avLst>
              <a:gd name="adj" fmla="val 3061"/>
            </a:avLst>
          </a:prstGeom>
          <a:solidFill>
            <a:schemeClr val="bg2"/>
          </a:solidFill>
          <a:ln w="12700">
            <a:solidFill>
              <a:schemeClr val="accent1"/>
            </a:solidFill>
            <a:prstDash val="solid"/>
          </a:ln>
        </p:spPr>
        <p:txBody>
          <a:bodyPr/>
          <a:lstStyle/>
          <a:p>
            <a:endParaRPr lang="fr-FR"/>
          </a:p>
        </p:txBody>
      </p:sp>
      <p:sp>
        <p:nvSpPr>
          <p:cNvPr id="5" name="Shape 3"/>
          <p:cNvSpPr/>
          <p:nvPr/>
        </p:nvSpPr>
        <p:spPr>
          <a:xfrm>
            <a:off x="822960" y="1965960"/>
            <a:ext cx="91440" cy="91440"/>
          </a:xfrm>
          <a:prstGeom prst="rect">
            <a:avLst/>
          </a:prstGeom>
          <a:solidFill>
            <a:schemeClr val="accent2"/>
          </a:solidFill>
          <a:ln/>
        </p:spPr>
        <p:txBody>
          <a:bodyPr/>
          <a:lstStyle/>
          <a:p>
            <a:endParaRPr lang="fr-FR"/>
          </a:p>
        </p:txBody>
      </p:sp>
      <p:sp>
        <p:nvSpPr>
          <p:cNvPr id="6" name="Text 4"/>
          <p:cNvSpPr txBox="1"/>
          <p:nvPr/>
        </p:nvSpPr>
        <p:spPr>
          <a:xfrm>
            <a:off x="1005840" y="1874520"/>
            <a:ext cx="4572000" cy="274320"/>
          </a:xfrm>
          <a:prstGeom prst="rect">
            <a:avLst/>
          </a:prstGeom>
          <a:noFill/>
          <a:ln/>
        </p:spPr>
        <p:txBody>
          <a:bodyPr wrap="square" lIns="0" tIns="0" rIns="0" bIns="0" rtlCol="0" anchor="ctr"/>
          <a:lstStyle/>
          <a:p>
            <a:pPr marL="0" indent="0">
              <a:buNone/>
            </a:pPr>
            <a:r>
              <a:rPr lang="en-US" sz="1100" b="1" kern="0" spc="200" dirty="0">
                <a:solidFill>
                  <a:schemeClr val="tx2"/>
                </a:solidFill>
              </a:rPr>
              <a:t>PER-TIMESTEP QUANTUM CIRCUIT LOOP</a:t>
            </a:r>
            <a:endParaRPr lang="en-US" sz="1100" dirty="0"/>
          </a:p>
        </p:txBody>
      </p:sp>
      <p:sp>
        <p:nvSpPr>
          <p:cNvPr id="7" name="Shape 5"/>
          <p:cNvSpPr/>
          <p:nvPr/>
        </p:nvSpPr>
        <p:spPr>
          <a:xfrm>
            <a:off x="822960" y="2258568"/>
            <a:ext cx="384048" cy="384048"/>
          </a:xfrm>
          <a:prstGeom prst="ellipse">
            <a:avLst/>
          </a:prstGeom>
          <a:solidFill>
            <a:schemeClr val="accent1"/>
          </a:solidFill>
          <a:ln/>
        </p:spPr>
        <p:txBody>
          <a:bodyPr/>
          <a:lstStyle/>
          <a:p>
            <a:endParaRPr lang="fr-FR"/>
          </a:p>
        </p:txBody>
      </p:sp>
      <p:sp>
        <p:nvSpPr>
          <p:cNvPr id="8" name="Text 6"/>
          <p:cNvSpPr txBox="1"/>
          <p:nvPr/>
        </p:nvSpPr>
        <p:spPr>
          <a:xfrm>
            <a:off x="822960" y="2258568"/>
            <a:ext cx="384048" cy="384048"/>
          </a:xfrm>
          <a:prstGeom prst="rect">
            <a:avLst/>
          </a:prstGeom>
          <a:noFill/>
          <a:ln/>
        </p:spPr>
        <p:txBody>
          <a:bodyPr wrap="square" lIns="0" tIns="0" rIns="0" bIns="0" rtlCol="0" anchor="ctr"/>
          <a:lstStyle/>
          <a:p>
            <a:pPr marL="0" indent="0" algn="ctr">
              <a:buNone/>
            </a:pPr>
            <a:r>
              <a:rPr lang="en-US" sz="1400" b="1" dirty="0">
                <a:solidFill>
                  <a:schemeClr val="tx1"/>
                </a:solidFill>
              </a:rPr>
              <a:t>1</a:t>
            </a:r>
            <a:endParaRPr lang="en-US" sz="1400" dirty="0"/>
          </a:p>
        </p:txBody>
      </p:sp>
      <p:sp>
        <p:nvSpPr>
          <p:cNvPr id="9" name="Text 7"/>
          <p:cNvSpPr txBox="1"/>
          <p:nvPr/>
        </p:nvSpPr>
        <p:spPr>
          <a:xfrm>
            <a:off x="1371600" y="2212848"/>
            <a:ext cx="4663440" cy="713232"/>
          </a:xfrm>
          <a:prstGeom prst="rect">
            <a:avLst/>
          </a:prstGeom>
          <a:noFill/>
          <a:ln/>
        </p:spPr>
        <p:txBody>
          <a:bodyPr wrap="square" lIns="0" tIns="0" rIns="0" bIns="0" rtlCol="0" anchor="t"/>
          <a:lstStyle/>
          <a:p>
            <a:pPr marL="0" indent="0">
              <a:buNone/>
            </a:pPr>
            <a:r>
              <a:rPr lang="en-US" sz="1300" b="1" dirty="0">
                <a:solidFill>
                  <a:schemeClr val="tx1"/>
                </a:solidFill>
              </a:rPr>
              <a:t>Encode: </a:t>
            </a:r>
            <a:r>
              <a:rPr lang="en-US" sz="1300" dirty="0">
                <a:solidFill>
                  <a:schemeClr val="tx2"/>
                </a:solidFill>
              </a:rPr>
              <a:t>Distribution functions f</a:t>
            </a:r>
            <a:r>
              <a:rPr lang="en-US" sz="1300" baseline="-40000" dirty="0">
                <a:solidFill>
                  <a:schemeClr val="tx2"/>
                </a:solidFill>
              </a:rPr>
              <a:t>i</a:t>
            </a:r>
            <a:r>
              <a:rPr lang="en-US" sz="1300" dirty="0">
                <a:solidFill>
                  <a:schemeClr val="tx2"/>
                </a:solidFill>
              </a:rPr>
              <a:t> written into qubit amplitudes via Ry rotation gates</a:t>
            </a:r>
            <a:endParaRPr lang="en-US" sz="1300" dirty="0"/>
          </a:p>
        </p:txBody>
      </p:sp>
      <p:sp>
        <p:nvSpPr>
          <p:cNvPr id="10" name="Shape 8"/>
          <p:cNvSpPr/>
          <p:nvPr/>
        </p:nvSpPr>
        <p:spPr>
          <a:xfrm>
            <a:off x="822960" y="3035808"/>
            <a:ext cx="384048" cy="384048"/>
          </a:xfrm>
          <a:prstGeom prst="ellipse">
            <a:avLst/>
          </a:prstGeom>
          <a:solidFill>
            <a:schemeClr val="accent1"/>
          </a:solidFill>
          <a:ln/>
        </p:spPr>
        <p:txBody>
          <a:bodyPr/>
          <a:lstStyle/>
          <a:p>
            <a:endParaRPr lang="fr-FR"/>
          </a:p>
        </p:txBody>
      </p:sp>
      <p:sp>
        <p:nvSpPr>
          <p:cNvPr id="11" name="Text 9"/>
          <p:cNvSpPr txBox="1"/>
          <p:nvPr/>
        </p:nvSpPr>
        <p:spPr>
          <a:xfrm>
            <a:off x="822960" y="3035808"/>
            <a:ext cx="384048" cy="384048"/>
          </a:xfrm>
          <a:prstGeom prst="rect">
            <a:avLst/>
          </a:prstGeom>
          <a:noFill/>
          <a:ln/>
        </p:spPr>
        <p:txBody>
          <a:bodyPr wrap="square" lIns="0" tIns="0" rIns="0" bIns="0" rtlCol="0" anchor="ctr"/>
          <a:lstStyle/>
          <a:p>
            <a:pPr marL="0" indent="0" algn="ctr">
              <a:buNone/>
            </a:pPr>
            <a:r>
              <a:rPr lang="en-US" sz="1400" b="1" dirty="0">
                <a:solidFill>
                  <a:schemeClr val="tx1"/>
                </a:solidFill>
              </a:rPr>
              <a:t>2</a:t>
            </a:r>
            <a:endParaRPr lang="en-US" sz="1400" dirty="0"/>
          </a:p>
        </p:txBody>
      </p:sp>
      <p:sp>
        <p:nvSpPr>
          <p:cNvPr id="12" name="Text 10"/>
          <p:cNvSpPr txBox="1"/>
          <p:nvPr/>
        </p:nvSpPr>
        <p:spPr>
          <a:xfrm>
            <a:off x="1371600" y="2990088"/>
            <a:ext cx="4663440" cy="713232"/>
          </a:xfrm>
          <a:prstGeom prst="rect">
            <a:avLst/>
          </a:prstGeom>
          <a:noFill/>
          <a:ln/>
        </p:spPr>
        <p:txBody>
          <a:bodyPr wrap="square" lIns="0" tIns="0" rIns="0" bIns="0" rtlCol="0" anchor="t"/>
          <a:lstStyle/>
          <a:p>
            <a:pPr marL="0" indent="0">
              <a:buNone/>
            </a:pPr>
            <a:r>
              <a:rPr lang="en-US" sz="1300" b="1" dirty="0">
                <a:solidFill>
                  <a:schemeClr val="tx1"/>
                </a:solidFill>
              </a:rPr>
              <a:t>Collide: </a:t>
            </a:r>
            <a:r>
              <a:rPr lang="en-US" sz="1300" dirty="0">
                <a:solidFill>
                  <a:schemeClr val="tx2"/>
                </a:solidFill>
              </a:rPr>
              <a:t>Nonlinear, non-unitary relaxation toward equilibrium, handled via SVD+LCU, Carleman linearization, or block-encoding</a:t>
            </a:r>
            <a:endParaRPr lang="en-US" sz="1300" dirty="0"/>
          </a:p>
        </p:txBody>
      </p:sp>
      <p:sp>
        <p:nvSpPr>
          <p:cNvPr id="13" name="Shape 11"/>
          <p:cNvSpPr/>
          <p:nvPr/>
        </p:nvSpPr>
        <p:spPr>
          <a:xfrm>
            <a:off x="822960" y="3813048"/>
            <a:ext cx="384048" cy="384048"/>
          </a:xfrm>
          <a:prstGeom prst="ellipse">
            <a:avLst/>
          </a:prstGeom>
          <a:solidFill>
            <a:schemeClr val="accent1"/>
          </a:solidFill>
          <a:ln/>
        </p:spPr>
        <p:txBody>
          <a:bodyPr/>
          <a:lstStyle/>
          <a:p>
            <a:endParaRPr lang="fr-FR"/>
          </a:p>
        </p:txBody>
      </p:sp>
      <p:sp>
        <p:nvSpPr>
          <p:cNvPr id="14" name="Text 12"/>
          <p:cNvSpPr txBox="1"/>
          <p:nvPr/>
        </p:nvSpPr>
        <p:spPr>
          <a:xfrm>
            <a:off x="822960" y="3813048"/>
            <a:ext cx="384048" cy="384048"/>
          </a:xfrm>
          <a:prstGeom prst="rect">
            <a:avLst/>
          </a:prstGeom>
          <a:noFill/>
          <a:ln/>
        </p:spPr>
        <p:txBody>
          <a:bodyPr wrap="square" lIns="0" tIns="0" rIns="0" bIns="0" rtlCol="0" anchor="ctr"/>
          <a:lstStyle/>
          <a:p>
            <a:pPr marL="0" indent="0" algn="ctr">
              <a:buNone/>
            </a:pPr>
            <a:r>
              <a:rPr lang="en-US" sz="1400" b="1" dirty="0">
                <a:solidFill>
                  <a:schemeClr val="tx1"/>
                </a:solidFill>
              </a:rPr>
              <a:t>3</a:t>
            </a:r>
            <a:endParaRPr lang="en-US" sz="1400" dirty="0"/>
          </a:p>
        </p:txBody>
      </p:sp>
      <p:sp>
        <p:nvSpPr>
          <p:cNvPr id="15" name="Text 13"/>
          <p:cNvSpPr txBox="1"/>
          <p:nvPr/>
        </p:nvSpPr>
        <p:spPr>
          <a:xfrm>
            <a:off x="1371600" y="3767328"/>
            <a:ext cx="4663440" cy="713232"/>
          </a:xfrm>
          <a:prstGeom prst="rect">
            <a:avLst/>
          </a:prstGeom>
          <a:noFill/>
          <a:ln/>
        </p:spPr>
        <p:txBody>
          <a:bodyPr wrap="square" lIns="0" tIns="0" rIns="0" bIns="0" rtlCol="0" anchor="t"/>
          <a:lstStyle/>
          <a:p>
            <a:pPr marL="0" indent="0">
              <a:buNone/>
            </a:pPr>
            <a:r>
              <a:rPr lang="en-US" sz="1300" b="1" dirty="0">
                <a:solidFill>
                  <a:schemeClr val="tx1"/>
                </a:solidFill>
              </a:rPr>
              <a:t>Stream: </a:t>
            </a:r>
            <a:r>
              <a:rPr lang="en-US" sz="1300" dirty="0">
                <a:solidFill>
                  <a:schemeClr val="tx2"/>
                </a:solidFill>
              </a:rPr>
              <a:t>Exactly unitary; conditional shift / SWAP operations move f</a:t>
            </a:r>
            <a:r>
              <a:rPr lang="en-US" sz="1300" baseline="-40000" dirty="0">
                <a:solidFill>
                  <a:schemeClr val="tx2"/>
                </a:solidFill>
              </a:rPr>
              <a:t>i</a:t>
            </a:r>
            <a:r>
              <a:rPr lang="en-US" sz="1300" dirty="0">
                <a:solidFill>
                  <a:schemeClr val="tx2"/>
                </a:solidFill>
              </a:rPr>
              <a:t> to neighboring lattice sites, no approximation needed</a:t>
            </a:r>
            <a:endParaRPr lang="en-US" sz="1300" dirty="0"/>
          </a:p>
        </p:txBody>
      </p:sp>
      <p:sp>
        <p:nvSpPr>
          <p:cNvPr id="16" name="Shape 14"/>
          <p:cNvSpPr/>
          <p:nvPr/>
        </p:nvSpPr>
        <p:spPr>
          <a:xfrm>
            <a:off x="822960" y="4590288"/>
            <a:ext cx="384048" cy="384048"/>
          </a:xfrm>
          <a:prstGeom prst="ellipse">
            <a:avLst/>
          </a:prstGeom>
          <a:solidFill>
            <a:schemeClr val="accent1"/>
          </a:solidFill>
          <a:ln/>
        </p:spPr>
        <p:txBody>
          <a:bodyPr/>
          <a:lstStyle/>
          <a:p>
            <a:endParaRPr lang="fr-FR"/>
          </a:p>
        </p:txBody>
      </p:sp>
      <p:sp>
        <p:nvSpPr>
          <p:cNvPr id="17" name="Text 15"/>
          <p:cNvSpPr txBox="1"/>
          <p:nvPr/>
        </p:nvSpPr>
        <p:spPr>
          <a:xfrm>
            <a:off x="822960" y="4590288"/>
            <a:ext cx="384048" cy="384048"/>
          </a:xfrm>
          <a:prstGeom prst="rect">
            <a:avLst/>
          </a:prstGeom>
          <a:noFill/>
          <a:ln/>
        </p:spPr>
        <p:txBody>
          <a:bodyPr wrap="square" lIns="0" tIns="0" rIns="0" bIns="0" rtlCol="0" anchor="ctr"/>
          <a:lstStyle/>
          <a:p>
            <a:pPr marL="0" indent="0" algn="ctr">
              <a:buNone/>
            </a:pPr>
            <a:r>
              <a:rPr lang="en-US" sz="1400" b="1" dirty="0">
                <a:solidFill>
                  <a:schemeClr val="tx1"/>
                </a:solidFill>
              </a:rPr>
              <a:t>4</a:t>
            </a:r>
            <a:endParaRPr lang="en-US" sz="1400" dirty="0"/>
          </a:p>
        </p:txBody>
      </p:sp>
      <p:sp>
        <p:nvSpPr>
          <p:cNvPr id="18" name="Text 16"/>
          <p:cNvSpPr txBox="1"/>
          <p:nvPr/>
        </p:nvSpPr>
        <p:spPr>
          <a:xfrm>
            <a:off x="1371600" y="4544568"/>
            <a:ext cx="4663440" cy="713232"/>
          </a:xfrm>
          <a:prstGeom prst="rect">
            <a:avLst/>
          </a:prstGeom>
          <a:noFill/>
          <a:ln/>
        </p:spPr>
        <p:txBody>
          <a:bodyPr wrap="square" lIns="0" tIns="0" rIns="0" bIns="0" rtlCol="0" anchor="t"/>
          <a:lstStyle/>
          <a:p>
            <a:pPr marL="0" indent="0">
              <a:buNone/>
            </a:pPr>
            <a:r>
              <a:rPr lang="en-US" sz="1300" b="1" dirty="0">
                <a:solidFill>
                  <a:schemeClr val="tx1"/>
                </a:solidFill>
              </a:rPr>
              <a:t>Measure: </a:t>
            </a:r>
            <a:r>
              <a:rPr lang="en-US" sz="1300" dirty="0">
                <a:solidFill>
                  <a:schemeClr val="tx2"/>
                </a:solidFill>
              </a:rPr>
              <a:t>Extract macroscopic density &amp; velocity via limited observables (full tomography is prohibitive)</a:t>
            </a:r>
            <a:endParaRPr lang="en-US" sz="1300" dirty="0"/>
          </a:p>
        </p:txBody>
      </p:sp>
      <p:sp>
        <p:nvSpPr>
          <p:cNvPr id="19" name="Shape 17"/>
          <p:cNvSpPr/>
          <p:nvPr/>
        </p:nvSpPr>
        <p:spPr>
          <a:xfrm>
            <a:off x="822960" y="5367528"/>
            <a:ext cx="384048" cy="384048"/>
          </a:xfrm>
          <a:prstGeom prst="ellipse">
            <a:avLst/>
          </a:prstGeom>
          <a:solidFill>
            <a:schemeClr val="accent1"/>
          </a:solidFill>
          <a:ln/>
        </p:spPr>
        <p:txBody>
          <a:bodyPr/>
          <a:lstStyle/>
          <a:p>
            <a:endParaRPr lang="fr-FR"/>
          </a:p>
        </p:txBody>
      </p:sp>
      <p:sp>
        <p:nvSpPr>
          <p:cNvPr id="20" name="Text 18"/>
          <p:cNvSpPr txBox="1"/>
          <p:nvPr/>
        </p:nvSpPr>
        <p:spPr>
          <a:xfrm>
            <a:off x="822960" y="5367528"/>
            <a:ext cx="384048" cy="384048"/>
          </a:xfrm>
          <a:prstGeom prst="rect">
            <a:avLst/>
          </a:prstGeom>
          <a:noFill/>
          <a:ln/>
        </p:spPr>
        <p:txBody>
          <a:bodyPr wrap="square" lIns="0" tIns="0" rIns="0" bIns="0" rtlCol="0" anchor="ctr"/>
          <a:lstStyle/>
          <a:p>
            <a:pPr marL="0" indent="0" algn="ctr">
              <a:buNone/>
            </a:pPr>
            <a:r>
              <a:rPr lang="en-US" sz="1400" b="1" dirty="0">
                <a:solidFill>
                  <a:schemeClr val="tx1"/>
                </a:solidFill>
              </a:rPr>
              <a:t>5</a:t>
            </a:r>
            <a:endParaRPr lang="en-US" sz="1400" dirty="0"/>
          </a:p>
        </p:txBody>
      </p:sp>
      <p:sp>
        <p:nvSpPr>
          <p:cNvPr id="21" name="Text 19"/>
          <p:cNvSpPr txBox="1"/>
          <p:nvPr/>
        </p:nvSpPr>
        <p:spPr>
          <a:xfrm>
            <a:off x="1371600" y="5321808"/>
            <a:ext cx="4663440" cy="713232"/>
          </a:xfrm>
          <a:prstGeom prst="rect">
            <a:avLst/>
          </a:prstGeom>
          <a:noFill/>
          <a:ln/>
        </p:spPr>
        <p:txBody>
          <a:bodyPr wrap="square" lIns="0" tIns="0" rIns="0" bIns="0" rtlCol="0" anchor="t"/>
          <a:lstStyle/>
          <a:p>
            <a:pPr marL="0" indent="0">
              <a:buNone/>
            </a:pPr>
            <a:r>
              <a:rPr lang="en-US" sz="1300" b="1" dirty="0">
                <a:solidFill>
                  <a:schemeClr val="tx1"/>
                </a:solidFill>
              </a:rPr>
              <a:t>Reinitialize: </a:t>
            </a:r>
            <a:r>
              <a:rPr lang="en-US" sz="1300" dirty="0">
                <a:solidFill>
                  <a:schemeClr val="tx2"/>
                </a:solidFill>
              </a:rPr>
              <a:t>Re-prepare the quantum state for the next timestep. State does not persist coherently across steps</a:t>
            </a:r>
            <a:endParaRPr lang="en-US" sz="1300" dirty="0"/>
          </a:p>
        </p:txBody>
      </p:sp>
      <p:sp>
        <p:nvSpPr>
          <p:cNvPr id="22" name="Why LBM suits quantum circuits"/>
          <p:cNvSpPr/>
          <p:nvPr/>
        </p:nvSpPr>
        <p:spPr>
          <a:xfrm>
            <a:off x="6675120" y="1645920"/>
            <a:ext cx="4967935" cy="1600200"/>
          </a:xfrm>
          <a:prstGeom prst="roundRect">
            <a:avLst>
              <a:gd name="adj" fmla="val 8571"/>
            </a:avLst>
          </a:prstGeom>
          <a:solidFill>
            <a:schemeClr val="bg2"/>
          </a:solidFill>
          <a:ln w="9525">
            <a:solidFill>
              <a:schemeClr val="accent5"/>
            </a:solidFill>
            <a:prstDash val="solid"/>
          </a:ln>
        </p:spPr>
        <p:txBody>
          <a:bodyPr/>
          <a:lstStyle/>
          <a:p>
            <a:endParaRPr lang="fr-FR"/>
          </a:p>
        </p:txBody>
      </p:sp>
      <p:sp>
        <p:nvSpPr>
          <p:cNvPr id="23" name="Text 21"/>
          <p:cNvSpPr txBox="1"/>
          <p:nvPr/>
        </p:nvSpPr>
        <p:spPr>
          <a:xfrm>
            <a:off x="6949440" y="1828800"/>
            <a:ext cx="4419295" cy="320040"/>
          </a:xfrm>
          <a:prstGeom prst="rect">
            <a:avLst/>
          </a:prstGeom>
          <a:noFill/>
          <a:ln/>
        </p:spPr>
        <p:txBody>
          <a:bodyPr wrap="square" lIns="0" tIns="0" rIns="0" bIns="0" rtlCol="0" anchor="ctr"/>
          <a:lstStyle/>
          <a:p>
            <a:pPr marL="0" indent="0">
              <a:buNone/>
            </a:pPr>
            <a:r>
              <a:rPr lang="en-US" sz="1600" b="1" dirty="0">
                <a:solidFill>
                  <a:schemeClr val="tx1"/>
                </a:solidFill>
              </a:rPr>
              <a:t>Why LBM suits quantum circuits</a:t>
            </a:r>
            <a:endParaRPr lang="en-US" sz="1600" dirty="0"/>
          </a:p>
        </p:txBody>
      </p:sp>
      <p:sp>
        <p:nvSpPr>
          <p:cNvPr id="24" name="Text 22"/>
          <p:cNvSpPr txBox="1"/>
          <p:nvPr/>
        </p:nvSpPr>
        <p:spPr>
          <a:xfrm>
            <a:off x="6949440" y="2176272"/>
            <a:ext cx="4419295" cy="1005840"/>
          </a:xfrm>
          <a:prstGeom prst="rect">
            <a:avLst/>
          </a:prstGeom>
          <a:noFill/>
          <a:ln/>
        </p:spPr>
        <p:txBody>
          <a:bodyPr wrap="square" lIns="0" tIns="0" rIns="0" bIns="0" rtlCol="0" anchor="t"/>
          <a:lstStyle/>
          <a:p>
            <a:pPr marL="0" indent="0">
              <a:buNone/>
            </a:pPr>
            <a:r>
              <a:rPr lang="en-US" sz="1200" dirty="0">
                <a:solidFill>
                  <a:schemeClr val="tx2"/>
                </a:solidFill>
              </a:rPr>
              <a:t>Unlike Navier–Stokes, LBM's nonlinearity (collision) and nonlocality (streaming) are decoupled. Streaming is nonlocal but linear, collision is nonlinear but purely local. This separation is what makes LBM more quantum-tractable than attacking Navier–Stokes directly.</a:t>
            </a:r>
            <a:endParaRPr lang="en-US" sz="1200" dirty="0"/>
          </a:p>
        </p:txBody>
      </p:sp>
      <p:sp>
        <p:nvSpPr>
          <p:cNvPr id="25" name="Text 23"/>
          <p:cNvSpPr txBox="1"/>
          <p:nvPr/>
        </p:nvSpPr>
        <p:spPr>
          <a:xfrm>
            <a:off x="6675120" y="3429000"/>
            <a:ext cx="4967935" cy="320040"/>
          </a:xfrm>
          <a:prstGeom prst="rect">
            <a:avLst/>
          </a:prstGeom>
          <a:noFill/>
          <a:ln/>
        </p:spPr>
        <p:txBody>
          <a:bodyPr wrap="square" lIns="0" tIns="0" rIns="0" bIns="0" rtlCol="0" anchor="ctr"/>
          <a:lstStyle/>
          <a:p>
            <a:pPr marL="0" indent="0">
              <a:buNone/>
            </a:pPr>
            <a:r>
              <a:rPr lang="en-US" sz="1600" b="1" dirty="0">
                <a:solidFill>
                  <a:schemeClr val="tx1"/>
                </a:solidFill>
              </a:rPr>
              <a:t>Current empirical status</a:t>
            </a:r>
            <a:endParaRPr lang="en-US" sz="1600" dirty="0"/>
          </a:p>
        </p:txBody>
      </p:sp>
      <p:sp>
        <p:nvSpPr>
          <p:cNvPr id="26" name="Text 24"/>
          <p:cNvSpPr txBox="1"/>
          <p:nvPr/>
        </p:nvSpPr>
        <p:spPr>
          <a:xfrm>
            <a:off x="6675120" y="3794760"/>
            <a:ext cx="4967935" cy="475488"/>
          </a:xfrm>
          <a:prstGeom prst="rect">
            <a:avLst/>
          </a:prstGeom>
          <a:noFill/>
          <a:ln/>
        </p:spPr>
        <p:txBody>
          <a:bodyPr wrap="square" lIns="0" tIns="0" rIns="0" bIns="0" rtlCol="0" anchor="t"/>
          <a:lstStyle/>
          <a:p>
            <a:pPr marL="0" indent="0">
              <a:buNone/>
            </a:pPr>
            <a:r>
              <a:rPr lang="en-US" sz="1200" b="1" dirty="0">
                <a:solidFill>
                  <a:schemeClr val="tx1"/>
                </a:solidFill>
              </a:rPr>
              <a:t>Validated benchmarks: </a:t>
            </a:r>
            <a:r>
              <a:rPr lang="en-US" sz="1200" dirty="0">
                <a:solidFill>
                  <a:schemeClr val="tx2"/>
                </a:solidFill>
              </a:rPr>
              <a:t>Couette &amp; Poiseuille flow (Qiskit); ~11–13 qubits, circuit depth 5,000–20,000 depending on grid resolution</a:t>
            </a:r>
            <a:endParaRPr lang="en-US" sz="1200" dirty="0"/>
          </a:p>
        </p:txBody>
      </p:sp>
      <p:sp>
        <p:nvSpPr>
          <p:cNvPr id="27" name="Text 25"/>
          <p:cNvSpPr txBox="1"/>
          <p:nvPr/>
        </p:nvSpPr>
        <p:spPr>
          <a:xfrm>
            <a:off x="6675120" y="4297680"/>
            <a:ext cx="4967935" cy="475488"/>
          </a:xfrm>
          <a:prstGeom prst="rect">
            <a:avLst/>
          </a:prstGeom>
          <a:noFill/>
          <a:ln/>
        </p:spPr>
        <p:txBody>
          <a:bodyPr wrap="square" lIns="0" tIns="0" rIns="0" bIns="0" rtlCol="0" anchor="t"/>
          <a:lstStyle/>
          <a:p>
            <a:pPr marL="0" indent="0">
              <a:buNone/>
            </a:pPr>
            <a:r>
              <a:rPr lang="en-US" sz="1200" b="1" dirty="0">
                <a:solidFill>
                  <a:schemeClr val="tx1"/>
                </a:solidFill>
              </a:rPr>
              <a:t>Turbulent demo: </a:t>
            </a:r>
            <a:r>
              <a:rPr lang="en-US" sz="1200" dirty="0">
                <a:solidFill>
                  <a:schemeClr val="tx2"/>
                </a:solidFill>
              </a:rPr>
              <a:t>vortex-pair merging (Re = 350) and 2D decaying isotropic turbulence (Re = 51) via hybrid LGCA-style collision</a:t>
            </a:r>
            <a:endParaRPr lang="en-US" sz="1200" dirty="0"/>
          </a:p>
        </p:txBody>
      </p:sp>
      <p:sp>
        <p:nvSpPr>
          <p:cNvPr id="28" name="Text 26"/>
          <p:cNvSpPr txBox="1"/>
          <p:nvPr/>
        </p:nvSpPr>
        <p:spPr>
          <a:xfrm>
            <a:off x="6675120" y="4800600"/>
            <a:ext cx="4967935" cy="475488"/>
          </a:xfrm>
          <a:prstGeom prst="rect">
            <a:avLst/>
          </a:prstGeom>
          <a:noFill/>
          <a:ln/>
        </p:spPr>
        <p:txBody>
          <a:bodyPr wrap="square" lIns="0" tIns="0" rIns="0" bIns="0" rtlCol="0" anchor="t"/>
          <a:lstStyle/>
          <a:p>
            <a:pPr marL="0" indent="0">
              <a:buNone/>
            </a:pPr>
            <a:r>
              <a:rPr lang="en-US" sz="1200" b="1" dirty="0">
                <a:solidFill>
                  <a:schemeClr val="tx1"/>
                </a:solidFill>
              </a:rPr>
              <a:t>Bottleneck: </a:t>
            </a:r>
            <a:r>
              <a:rPr lang="en-US" sz="1200" dirty="0">
                <a:solidFill>
                  <a:schemeClr val="tx2"/>
                </a:solidFill>
              </a:rPr>
              <a:t>circuit depth (collision + measurement/re-encoding), not qubit count; qubits scale only logarithmically with grid size</a:t>
            </a:r>
            <a:endParaRPr lang="en-US" sz="1200" dirty="0"/>
          </a:p>
        </p:txBody>
      </p:sp>
      <p:sp>
        <p:nvSpPr>
          <p:cNvPr id="29" name="Bottom line"/>
          <p:cNvSpPr/>
          <p:nvPr/>
        </p:nvSpPr>
        <p:spPr>
          <a:xfrm>
            <a:off x="6675120" y="5349240"/>
            <a:ext cx="4967935" cy="777240"/>
          </a:xfrm>
          <a:prstGeom prst="roundRect">
            <a:avLst>
              <a:gd name="adj" fmla="val 11765"/>
            </a:avLst>
          </a:prstGeom>
          <a:solidFill>
            <a:schemeClr val="accent4"/>
          </a:solidFill>
          <a:ln/>
        </p:spPr>
        <p:txBody>
          <a:bodyPr/>
          <a:lstStyle/>
          <a:p>
            <a:endParaRPr lang="fr-FR"/>
          </a:p>
        </p:txBody>
      </p:sp>
      <p:sp>
        <p:nvSpPr>
          <p:cNvPr id="30" name="Shape 28"/>
          <p:cNvSpPr/>
          <p:nvPr/>
        </p:nvSpPr>
        <p:spPr>
          <a:xfrm>
            <a:off x="6903720" y="5486400"/>
            <a:ext cx="91440" cy="91440"/>
          </a:xfrm>
          <a:prstGeom prst="rect">
            <a:avLst/>
          </a:prstGeom>
          <a:solidFill>
            <a:schemeClr val="accent2"/>
          </a:solidFill>
          <a:ln/>
        </p:spPr>
        <p:txBody>
          <a:bodyPr/>
          <a:lstStyle/>
          <a:p>
            <a:endParaRPr lang="fr-FR"/>
          </a:p>
        </p:txBody>
      </p:sp>
      <p:sp>
        <p:nvSpPr>
          <p:cNvPr id="31" name="Text 29"/>
          <p:cNvSpPr txBox="1"/>
          <p:nvPr/>
        </p:nvSpPr>
        <p:spPr>
          <a:xfrm>
            <a:off x="7086600" y="5394960"/>
            <a:ext cx="4373575" cy="685800"/>
          </a:xfrm>
          <a:prstGeom prst="rect">
            <a:avLst/>
          </a:prstGeom>
          <a:noFill/>
          <a:ln/>
        </p:spPr>
        <p:txBody>
          <a:bodyPr wrap="square" lIns="0" tIns="0" rIns="0" bIns="0" rtlCol="0" anchor="t"/>
          <a:lstStyle/>
          <a:p>
            <a:pPr marL="0" indent="0">
              <a:buNone/>
            </a:pPr>
            <a:r>
              <a:rPr lang="en-US" sz="1200" b="1" i="1" dirty="0">
                <a:solidFill>
                  <a:schemeClr val="tx1"/>
                </a:solidFill>
              </a:rPr>
              <a:t>Bottom line: </a:t>
            </a:r>
            <a:r>
              <a:rPr lang="en-US" sz="1200" i="1" dirty="0">
                <a:solidFill>
                  <a:schemeClr val="tx1"/>
                </a:solidFill>
              </a:rPr>
              <a:t>real, benchmarked progress, but depths in the 10</a:t>
            </a:r>
            <a:r>
              <a:rPr lang="en-US" sz="1200" i="1" baseline="30000" dirty="0">
                <a:solidFill>
                  <a:schemeClr val="tx1"/>
                </a:solidFill>
              </a:rPr>
              <a:t>4</a:t>
            </a:r>
            <a:r>
              <a:rPr lang="en-US" sz="1200" i="1" dirty="0">
                <a:solidFill>
                  <a:schemeClr val="tx1"/>
                </a:solidFill>
              </a:rPr>
              <a:t> range mean today's pilots should target small, simplified 1D/2D cases, not full 3D flows.</a:t>
            </a:r>
            <a:endParaRPr lang="en-US" sz="1200" dirty="0"/>
          </a:p>
        </p:txBody>
      </p:sp>
      <p:sp>
        <p:nvSpPr>
          <p:cNvPr id="32" name="Slide Number Placeholder 0"/>
          <p:cNvSpPr>
            <a:spLocks noGrp="1"/>
          </p:cNvSpPr>
          <p:nvPr>
            <p:ph type="sldNum" sz="quarter" idx="4294967295"/>
          </p:nvPr>
        </p:nvSpPr>
        <p:spPr>
          <a:xfrm>
            <a:off x="11094415" y="6327648"/>
            <a:ext cx="548640" cy="274320"/>
          </a:xfrm>
          <a:prstGeom prst="rect">
            <a:avLst/>
          </a:prstGeom>
          <a:extLst>
            <a:ext uri="{C572A759-6A51-4108-AA02-DFA0A04FC94B}">
              <ma14:wrappingTextBoxFlag xmlns:ma14="http://schemas.microsoft.com/office/mac/drawingml/2011/main" xmlns="" val="0"/>
            </a:ext>
          </a:extLst>
        </p:spPr>
        <p:txBody>
          <a:bodyPr lIns="0" tIns="0" rIns="0" bIns="0" anchor="ctr"/>
          <a:lstStyle>
            <a:lvl1pPr>
              <a:defRPr sz="1000">
                <a:solidFill>
                  <a:srgbClr val="9AA3BD"/>
                </a:solidFill>
              </a:defRPr>
            </a:lvl1pPr>
          </a:lstStyle>
          <a:p>
            <a:pPr algn="r"/>
            <a:fld id="{F7021451-1387-4CA6-816F-3879F97B5CBC}" type="slidenum">
              <a:rPr lang="en-US" b="0"/>
              <a:t>17</a:t>
            </a:fld>
            <a:endParaRPr lang="en-US"/>
          </a:p>
        </p:txBody>
      </p:sp>
      <p:pic>
        <p:nvPicPr>
          <p:cNvPr id="34" name="Image 33">
            <a:extLst>
              <a:ext uri="{FF2B5EF4-FFF2-40B4-BE49-F238E27FC236}">
                <a16:creationId xmlns:a16="http://schemas.microsoft.com/office/drawing/2014/main" id="{1B777B23-BE0D-A52F-7B47-A971038CA589}"/>
              </a:ext>
            </a:extLst>
          </p:cNvPr>
          <p:cNvPicPr>
            <a:picLocks noChangeAspect="1"/>
          </p:cNvPicPr>
          <p:nvPr/>
        </p:nvPicPr>
        <p:blipFill>
          <a:blip r:embed="rId3"/>
          <a:stretch>
            <a:fillRect/>
          </a:stretch>
        </p:blipFill>
        <p:spPr>
          <a:xfrm>
            <a:off x="9724644" y="-443705"/>
            <a:ext cx="2437453" cy="1723866"/>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10"/>
          <p:cNvSpPr>
            <a:spLocks noGrp="1"/>
          </p:cNvSpPr>
          <p:nvPr>
            <p:ph type="title" idx="110" hasCustomPrompt="1"/>
          </p:nvPr>
        </p:nvSpPr>
        <p:spPr>
          <a:xfrm>
            <a:off x="548640" y="457200"/>
            <a:ext cx="11094415" cy="777240"/>
          </a:xfrm>
          <a:prstGeom prst="rect">
            <a:avLst/>
          </a:prstGeom>
          <a:noFill/>
          <a:ln/>
        </p:spPr>
        <p:txBody>
          <a:bodyPr wrap="square" lIns="0" tIns="0" rIns="0" bIns="0" rtlCol="0" anchor="t"/>
          <a:lstStyle/>
          <a:p>
            <a:pPr marL="0" indent="0" algn="l">
              <a:buNone/>
            </a:pPr>
            <a:r>
              <a:rPr lang="en-US" sz="3200" dirty="0">
                <a:solidFill>
                  <a:schemeClr val="tx1"/>
                </a:solidFill>
              </a:rPr>
              <a:t>Non-linear dynamics, turbulence, and Navier–Stokes</a:t>
            </a:r>
            <a:endParaRPr lang="en-US" sz="3200" dirty="0"/>
          </a:p>
        </p:txBody>
      </p:sp>
      <p:sp>
        <p:nvSpPr>
          <p:cNvPr id="3" name="Quote"/>
          <p:cNvSpPr/>
          <p:nvPr/>
        </p:nvSpPr>
        <p:spPr>
          <a:xfrm>
            <a:off x="548640" y="1325880"/>
            <a:ext cx="11094415" cy="914400"/>
          </a:xfrm>
          <a:prstGeom prst="roundRect">
            <a:avLst>
              <a:gd name="adj" fmla="val 15000"/>
            </a:avLst>
          </a:prstGeom>
          <a:solidFill>
            <a:schemeClr val="bg2"/>
          </a:solidFill>
          <a:ln w="12700">
            <a:solidFill>
              <a:schemeClr val="accent1"/>
            </a:solidFill>
            <a:prstDash val="solid"/>
          </a:ln>
        </p:spPr>
        <p:txBody>
          <a:bodyPr/>
          <a:lstStyle/>
          <a:p>
            <a:endParaRPr lang="fr-FR"/>
          </a:p>
        </p:txBody>
      </p:sp>
      <p:sp>
        <p:nvSpPr>
          <p:cNvPr id="4" name="Shape 2"/>
          <p:cNvSpPr/>
          <p:nvPr/>
        </p:nvSpPr>
        <p:spPr>
          <a:xfrm>
            <a:off x="822960" y="1463040"/>
            <a:ext cx="91440" cy="91440"/>
          </a:xfrm>
          <a:prstGeom prst="rect">
            <a:avLst/>
          </a:prstGeom>
          <a:solidFill>
            <a:schemeClr val="accent2"/>
          </a:solidFill>
          <a:ln/>
        </p:spPr>
        <p:txBody>
          <a:bodyPr/>
          <a:lstStyle/>
          <a:p>
            <a:endParaRPr lang="fr-FR"/>
          </a:p>
        </p:txBody>
      </p:sp>
      <p:sp>
        <p:nvSpPr>
          <p:cNvPr id="5" name="Text 3"/>
          <p:cNvSpPr txBox="1"/>
          <p:nvPr/>
        </p:nvSpPr>
        <p:spPr>
          <a:xfrm>
            <a:off x="1051560" y="1371600"/>
            <a:ext cx="10317175" cy="822960"/>
          </a:xfrm>
          <a:prstGeom prst="rect">
            <a:avLst/>
          </a:prstGeom>
          <a:noFill/>
          <a:ln/>
        </p:spPr>
        <p:txBody>
          <a:bodyPr wrap="square" lIns="0" tIns="0" rIns="0" bIns="0" rtlCol="0" anchor="ctr"/>
          <a:lstStyle/>
          <a:p>
            <a:pPr marL="0" indent="0">
              <a:buNone/>
            </a:pPr>
            <a:r>
              <a:rPr lang="en-US" sz="1500" i="1" dirty="0">
                <a:solidFill>
                  <a:schemeClr val="tx2"/>
                </a:solidFill>
              </a:rPr>
              <a:t>« Here we show that </a:t>
            </a:r>
            <a:r>
              <a:rPr lang="en-US" sz="1500" b="1" i="1" dirty="0">
                <a:solidFill>
                  <a:schemeClr val="tx1"/>
                </a:solidFill>
              </a:rPr>
              <a:t>strongly nonlinear (R≫1)</a:t>
            </a:r>
            <a:r>
              <a:rPr lang="en-US" sz="1500" i="1" dirty="0">
                <a:solidFill>
                  <a:schemeClr val="tx2"/>
                </a:solidFill>
              </a:rPr>
              <a:t> classical dynamics with a quadratic nonlinearity can be </a:t>
            </a:r>
            <a:r>
              <a:rPr lang="en-US" sz="1500" b="1" i="1" dirty="0">
                <a:solidFill>
                  <a:schemeClr val="tx1"/>
                </a:solidFill>
              </a:rPr>
              <a:t>efficiently simulated on a quantum computer</a:t>
            </a:r>
            <a:r>
              <a:rPr lang="en-US" sz="1500" i="1" dirty="0">
                <a:solidFill>
                  <a:schemeClr val="tx2"/>
                </a:solidFill>
              </a:rPr>
              <a:t> provided that the </a:t>
            </a:r>
            <a:r>
              <a:rPr lang="en-US" sz="1500" b="1" i="1" dirty="0">
                <a:solidFill>
                  <a:schemeClr val="tx1"/>
                </a:solidFill>
              </a:rPr>
              <a:t>simulated system is both dissipative and noisy</a:t>
            </a:r>
            <a:r>
              <a:rPr lang="en-US" sz="1500" i="1" dirty="0">
                <a:solidFill>
                  <a:schemeClr val="tx2"/>
                </a:solidFill>
              </a:rPr>
              <a:t>. »</a:t>
            </a:r>
            <a:endParaRPr lang="en-US" sz="1500" dirty="0"/>
          </a:p>
        </p:txBody>
      </p:sp>
      <p:sp>
        <p:nvSpPr>
          <p:cNvPr id="6" name="Algorithm diagram"/>
          <p:cNvSpPr/>
          <p:nvPr/>
        </p:nvSpPr>
        <p:spPr>
          <a:xfrm>
            <a:off x="548640" y="2468880"/>
            <a:ext cx="6949440" cy="3291840"/>
          </a:xfrm>
          <a:prstGeom prst="roundRect">
            <a:avLst>
              <a:gd name="adj" fmla="val 2778"/>
            </a:avLst>
          </a:prstGeom>
          <a:solidFill>
            <a:schemeClr val="tx1"/>
          </a:solidFill>
          <a:ln/>
        </p:spPr>
        <p:txBody>
          <a:bodyPr/>
          <a:lstStyle/>
          <a:p>
            <a:endParaRPr lang="fr-FR"/>
          </a:p>
        </p:txBody>
      </p:sp>
      <p:pic>
        <p:nvPicPr>
          <p:cNvPr id="7" name="Image 0" descr="Classical dynamics mapped onto a quantum simulator via Kolmogorov embedding"/>
          <p:cNvPicPr>
            <a:picLocks noChangeAspect="1"/>
          </p:cNvPicPr>
          <p:nvPr/>
        </p:nvPicPr>
        <p:blipFill>
          <a:blip r:embed="rId3"/>
          <a:stretch>
            <a:fillRect/>
          </a:stretch>
        </p:blipFill>
        <p:spPr>
          <a:xfrm>
            <a:off x="987552" y="2514600"/>
            <a:ext cx="6071616" cy="3200400"/>
          </a:xfrm>
          <a:prstGeom prst="rect">
            <a:avLst/>
          </a:prstGeom>
        </p:spPr>
      </p:pic>
      <p:sp>
        <p:nvSpPr>
          <p:cNvPr id="8" name="Key results"/>
          <p:cNvSpPr/>
          <p:nvPr/>
        </p:nvSpPr>
        <p:spPr>
          <a:xfrm>
            <a:off x="7772400" y="2468880"/>
            <a:ext cx="3870655" cy="3291840"/>
          </a:xfrm>
          <a:prstGeom prst="roundRect">
            <a:avLst>
              <a:gd name="adj" fmla="val 4167"/>
            </a:avLst>
          </a:prstGeom>
          <a:solidFill>
            <a:schemeClr val="bg2"/>
          </a:solidFill>
          <a:ln w="9525">
            <a:solidFill>
              <a:schemeClr val="accent5"/>
            </a:solidFill>
            <a:prstDash val="solid"/>
          </a:ln>
        </p:spPr>
        <p:txBody>
          <a:bodyPr/>
          <a:lstStyle/>
          <a:p>
            <a:endParaRPr lang="fr-FR"/>
          </a:p>
        </p:txBody>
      </p:sp>
      <p:sp>
        <p:nvSpPr>
          <p:cNvPr id="9" name="Text 6"/>
          <p:cNvSpPr txBox="1"/>
          <p:nvPr/>
        </p:nvSpPr>
        <p:spPr>
          <a:xfrm>
            <a:off x="8046720" y="2651760"/>
            <a:ext cx="3322015" cy="777240"/>
          </a:xfrm>
          <a:prstGeom prst="rect">
            <a:avLst/>
          </a:prstGeom>
          <a:noFill/>
          <a:ln/>
        </p:spPr>
        <p:txBody>
          <a:bodyPr wrap="square" lIns="0" tIns="0" rIns="0" bIns="0" rtlCol="0" anchor="t"/>
          <a:lstStyle/>
          <a:p>
            <a:pPr marL="0" indent="0">
              <a:buNone/>
            </a:pPr>
            <a:r>
              <a:rPr lang="en-US" sz="1500" b="1" dirty="0">
                <a:solidFill>
                  <a:schemeClr val="tx1"/>
                </a:solidFill>
              </a:rPr>
              <a:t>Efficient quantum simulation of strongly nonlinear stochastic dynamics</a:t>
            </a:r>
            <a:endParaRPr lang="en-US" sz="1500" dirty="0"/>
          </a:p>
        </p:txBody>
      </p:sp>
      <p:sp>
        <p:nvSpPr>
          <p:cNvPr id="10" name="Text 7"/>
          <p:cNvSpPr txBox="1"/>
          <p:nvPr/>
        </p:nvSpPr>
        <p:spPr>
          <a:xfrm>
            <a:off x="8046720" y="3520440"/>
            <a:ext cx="3322015" cy="2148840"/>
          </a:xfrm>
          <a:prstGeom prst="rect">
            <a:avLst/>
          </a:prstGeom>
          <a:noFill/>
          <a:ln/>
        </p:spPr>
        <p:txBody>
          <a:bodyPr wrap="square" lIns="0" tIns="0" rIns="0" bIns="0" rtlCol="0" anchor="t"/>
          <a:lstStyle/>
          <a:p>
            <a:pPr marL="177800" indent="-177800">
              <a:spcAft>
                <a:spcPts val="800"/>
              </a:spcAft>
              <a:buSzPct val="100000"/>
              <a:buChar char="•"/>
            </a:pPr>
            <a:r>
              <a:rPr lang="en-US" sz="1300" dirty="0">
                <a:solidFill>
                  <a:schemeClr val="tx2"/>
                </a:solidFill>
              </a:rPr>
              <a:t>New Kolmogorov-equation embedding and regularization framework</a:t>
            </a:r>
            <a:endParaRPr lang="en-US" sz="1300" dirty="0"/>
          </a:p>
          <a:p>
            <a:pPr marL="177800" indent="-177800">
              <a:spcAft>
                <a:spcPts val="800"/>
              </a:spcAft>
              <a:buSzPct val="100000"/>
              <a:buChar char="•"/>
            </a:pPr>
            <a:r>
              <a:rPr lang="en-US" sz="1300" dirty="0">
                <a:solidFill>
                  <a:schemeClr val="tx2"/>
                </a:solidFill>
              </a:rPr>
              <a:t>Poly(log N), polynomial-in-t quantum algorithm for observables</a:t>
            </a:r>
            <a:endParaRPr lang="en-US" sz="1300" dirty="0"/>
          </a:p>
          <a:p>
            <a:pPr marL="177800" indent="-177800">
              <a:spcAft>
                <a:spcPts val="800"/>
              </a:spcAft>
              <a:buSzPct val="100000"/>
              <a:buChar char="•"/>
            </a:pPr>
            <a:r>
              <a:rPr lang="en-US" sz="1300" dirty="0">
                <a:solidFill>
                  <a:schemeClr val="tx2"/>
                </a:solidFill>
              </a:rPr>
              <a:t>Applicable to turbulence models (2D Navier–Stokes vortex flow)</a:t>
            </a:r>
            <a:endParaRPr lang="en-US" sz="1300" dirty="0"/>
          </a:p>
          <a:p>
            <a:pPr marL="177800" indent="-177800">
              <a:spcAft>
                <a:spcPts val="800"/>
              </a:spcAft>
              <a:buSzPct val="100000"/>
              <a:buChar char="•"/>
            </a:pPr>
            <a:r>
              <a:rPr lang="en-US" sz="1300" dirty="0">
                <a:solidFill>
                  <a:schemeClr val="tx2"/>
                </a:solidFill>
              </a:rPr>
              <a:t>Strong evidence for a quantum advantage / BQP-completeness</a:t>
            </a:r>
            <a:endParaRPr lang="en-US" sz="1300" dirty="0"/>
          </a:p>
        </p:txBody>
      </p:sp>
      <p:sp>
        <p:nvSpPr>
          <p:cNvPr id="11" name="Text 8"/>
          <p:cNvSpPr txBox="1"/>
          <p:nvPr/>
        </p:nvSpPr>
        <p:spPr>
          <a:xfrm>
            <a:off x="548640" y="5897880"/>
            <a:ext cx="7315200" cy="274320"/>
          </a:xfrm>
          <a:prstGeom prst="rect">
            <a:avLst/>
          </a:prstGeom>
          <a:noFill/>
          <a:ln/>
        </p:spPr>
        <p:txBody>
          <a:bodyPr wrap="square" lIns="0" tIns="0" rIns="0" bIns="0" rtlCol="0" anchor="ctr"/>
          <a:lstStyle/>
          <a:p>
            <a:pPr marL="0" indent="0">
              <a:buNone/>
            </a:pPr>
            <a:r>
              <a:rPr lang="en-US" sz="1100" i="1" dirty="0">
                <a:solidFill>
                  <a:schemeClr val="tx2"/>
                </a:solidFill>
              </a:rPr>
              <a:t>[Bravyi et al., 2025] arXiv:2507.06198</a:t>
            </a:r>
            <a:endParaRPr lang="en-US" sz="1100" dirty="0"/>
          </a:p>
        </p:txBody>
      </p:sp>
      <p:sp>
        <p:nvSpPr>
          <p:cNvPr id="25" name="Slide Number Placeholder 0"/>
          <p:cNvSpPr>
            <a:spLocks noGrp="1"/>
          </p:cNvSpPr>
          <p:nvPr>
            <p:ph type="sldNum" sz="quarter" idx="4294967295"/>
          </p:nvPr>
        </p:nvSpPr>
        <p:spPr>
          <a:xfrm>
            <a:off x="11094415" y="6327648"/>
            <a:ext cx="548640" cy="274320"/>
          </a:xfrm>
          <a:prstGeom prst="rect">
            <a:avLst/>
          </a:prstGeom>
          <a:extLst>
            <a:ext uri="{C572A759-6A51-4108-AA02-DFA0A04FC94B}">
              <ma14:wrappingTextBoxFlag xmlns:ma14="http://schemas.microsoft.com/office/mac/drawingml/2011/main" xmlns="" val="0"/>
            </a:ext>
          </a:extLst>
        </p:spPr>
        <p:txBody>
          <a:bodyPr lIns="0" tIns="0" rIns="0" bIns="0" anchor="ctr"/>
          <a:lstStyle>
            <a:lvl1pPr>
              <a:defRPr sz="1000">
                <a:solidFill>
                  <a:srgbClr val="9AA3BD"/>
                </a:solidFill>
              </a:defRPr>
            </a:lvl1pPr>
          </a:lstStyle>
          <a:p>
            <a:pPr algn="r"/>
            <a:fld id="{F7021451-1387-4CA6-816F-3879F97B5CBC}" type="slidenum">
              <a:rPr lang="en-US" b="0"/>
              <a:t>18</a:t>
            </a:fld>
            <a:endParaRPr lang="en-US"/>
          </a:p>
        </p:txBody>
      </p:sp>
      <p:pic>
        <p:nvPicPr>
          <p:cNvPr id="13" name="Image 12">
            <a:extLst>
              <a:ext uri="{FF2B5EF4-FFF2-40B4-BE49-F238E27FC236}">
                <a16:creationId xmlns:a16="http://schemas.microsoft.com/office/drawing/2014/main" id="{EF1A6613-F7FD-89F1-434C-86880B8A3173}"/>
              </a:ext>
            </a:extLst>
          </p:cNvPr>
          <p:cNvPicPr>
            <a:picLocks noChangeAspect="1"/>
          </p:cNvPicPr>
          <p:nvPr/>
        </p:nvPicPr>
        <p:blipFill>
          <a:blip r:embed="rId4"/>
          <a:stretch>
            <a:fillRect/>
          </a:stretch>
        </p:blipFill>
        <p:spPr>
          <a:xfrm>
            <a:off x="9724644" y="-443705"/>
            <a:ext cx="2437453" cy="1723866"/>
          </a:xfrm>
          <a:prstGeom prst="rect">
            <a:avLst/>
          </a:prstGeom>
        </p:spPr>
      </p:pic>
      <p:sp>
        <p:nvSpPr>
          <p:cNvPr id="14" name="object 11">
            <a:extLst>
              <a:ext uri="{FF2B5EF4-FFF2-40B4-BE49-F238E27FC236}">
                <a16:creationId xmlns:a16="http://schemas.microsoft.com/office/drawing/2014/main" id="{2911B9EC-2276-0B77-653A-0ACA8A148BC3}"/>
              </a:ext>
            </a:extLst>
          </p:cNvPr>
          <p:cNvSpPr/>
          <p:nvPr/>
        </p:nvSpPr>
        <p:spPr bwMode="auto">
          <a:xfrm>
            <a:off x="987552" y="2514600"/>
            <a:ext cx="6071616" cy="3291840"/>
          </a:xfrm>
          <a:custGeom>
            <a:avLst/>
            <a:gdLst/>
            <a:ahLst/>
            <a:cxnLst/>
            <a:rect l="l" t="t" r="r" b="b"/>
            <a:pathLst>
              <a:path w="2877819" h="6055359" extrusionOk="0">
                <a:moveTo>
                  <a:pt x="2827528" y="0"/>
                </a:moveTo>
                <a:lnTo>
                  <a:pt x="49784" y="0"/>
                </a:lnTo>
                <a:lnTo>
                  <a:pt x="40018" y="960"/>
                </a:lnTo>
                <a:lnTo>
                  <a:pt x="8358" y="22155"/>
                </a:lnTo>
                <a:lnTo>
                  <a:pt x="0" y="49783"/>
                </a:lnTo>
                <a:lnTo>
                  <a:pt x="0" y="6005067"/>
                </a:lnTo>
                <a:lnTo>
                  <a:pt x="22155" y="6046493"/>
                </a:lnTo>
                <a:lnTo>
                  <a:pt x="49784" y="6054851"/>
                </a:lnTo>
                <a:lnTo>
                  <a:pt x="2827528" y="6054851"/>
                </a:lnTo>
                <a:lnTo>
                  <a:pt x="2868953" y="6032642"/>
                </a:lnTo>
                <a:lnTo>
                  <a:pt x="2877311" y="6005067"/>
                </a:lnTo>
                <a:lnTo>
                  <a:pt x="2877311" y="49783"/>
                </a:lnTo>
                <a:lnTo>
                  <a:pt x="2855156" y="8358"/>
                </a:lnTo>
                <a:lnTo>
                  <a:pt x="2827528" y="0"/>
                </a:lnTo>
                <a:close/>
              </a:path>
            </a:pathLst>
          </a:custGeom>
          <a:solidFill>
            <a:srgbClr val="353E77">
              <a:alpha val="12000"/>
            </a:srgbClr>
          </a:solidFill>
        </p:spPr>
        <p:txBody>
          <a:bodyPr wrap="square" lIns="0" tIns="0" rIns="0" bIns="0" rtlCol="0"/>
          <a:lstStyle/>
          <a:p>
            <a:pPr>
              <a:defRPr/>
            </a:pPr>
            <a:endParaRPr sz="120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10"/>
          <p:cNvSpPr>
            <a:spLocks noGrp="1"/>
          </p:cNvSpPr>
          <p:nvPr>
            <p:ph type="title" idx="110" hasCustomPrompt="1"/>
          </p:nvPr>
        </p:nvSpPr>
        <p:spPr>
          <a:xfrm>
            <a:off x="548640" y="457200"/>
            <a:ext cx="11094415" cy="777240"/>
          </a:xfrm>
          <a:prstGeom prst="rect">
            <a:avLst/>
          </a:prstGeom>
          <a:noFill/>
          <a:ln/>
        </p:spPr>
        <p:txBody>
          <a:bodyPr wrap="square" lIns="0" tIns="0" rIns="0" bIns="0" rtlCol="0" anchor="t"/>
          <a:lstStyle/>
          <a:p>
            <a:pPr marL="0" indent="0" algn="l">
              <a:buNone/>
            </a:pPr>
            <a:r>
              <a:rPr lang="en-US" sz="3200" dirty="0">
                <a:solidFill>
                  <a:schemeClr val="tx1"/>
                </a:solidFill>
              </a:rPr>
              <a:t>Efficiency – quantum advantage</a:t>
            </a:r>
            <a:endParaRPr lang="en-US" sz="3200" dirty="0"/>
          </a:p>
        </p:txBody>
      </p:sp>
      <p:sp>
        <p:nvSpPr>
          <p:cNvPr id="3" name="Shape 1"/>
          <p:cNvSpPr/>
          <p:nvPr/>
        </p:nvSpPr>
        <p:spPr>
          <a:xfrm>
            <a:off x="548640" y="1417320"/>
            <a:ext cx="548640" cy="548640"/>
          </a:xfrm>
          <a:prstGeom prst="ellipse">
            <a:avLst/>
          </a:prstGeom>
          <a:solidFill>
            <a:schemeClr val="accent1"/>
          </a:solidFill>
          <a:ln/>
        </p:spPr>
        <p:txBody>
          <a:bodyPr/>
          <a:lstStyle/>
          <a:p>
            <a:endParaRPr lang="fr-FR"/>
          </a:p>
        </p:txBody>
      </p:sp>
      <p:pic>
        <p:nvPicPr>
          <p:cNvPr id="4" name="Image 0" descr="Stopwatch icon"/>
          <p:cNvPicPr>
            <a:picLocks noChangeAspect="1"/>
          </p:cNvPicPr>
          <p:nvPr/>
        </p:nvPicPr>
        <p:blipFill>
          <a:blip r:embed="rId3"/>
          <a:stretch>
            <a:fillRect/>
          </a:stretch>
        </p:blipFill>
        <p:spPr>
          <a:xfrm>
            <a:off x="685800" y="1554480"/>
            <a:ext cx="274320" cy="274320"/>
          </a:xfrm>
          <a:prstGeom prst="rect">
            <a:avLst/>
          </a:prstGeom>
        </p:spPr>
      </p:pic>
      <p:sp>
        <p:nvSpPr>
          <p:cNvPr id="5" name="Shape 2"/>
          <p:cNvSpPr/>
          <p:nvPr/>
        </p:nvSpPr>
        <p:spPr>
          <a:xfrm>
            <a:off x="982980" y="1412748"/>
            <a:ext cx="100584" cy="100584"/>
          </a:xfrm>
          <a:prstGeom prst="ellipse">
            <a:avLst/>
          </a:prstGeom>
          <a:solidFill>
            <a:schemeClr val="accent2"/>
          </a:solidFill>
          <a:ln/>
        </p:spPr>
        <p:txBody>
          <a:bodyPr/>
          <a:lstStyle/>
          <a:p>
            <a:endParaRPr lang="fr-FR"/>
          </a:p>
        </p:txBody>
      </p:sp>
      <p:sp>
        <p:nvSpPr>
          <p:cNvPr id="6" name="Text 3"/>
          <p:cNvSpPr txBox="1"/>
          <p:nvPr/>
        </p:nvSpPr>
        <p:spPr>
          <a:xfrm>
            <a:off x="1325880" y="1417320"/>
            <a:ext cx="8229600" cy="548640"/>
          </a:xfrm>
          <a:prstGeom prst="rect">
            <a:avLst/>
          </a:prstGeom>
          <a:noFill/>
          <a:ln/>
        </p:spPr>
        <p:txBody>
          <a:bodyPr wrap="square" lIns="0" tIns="0" rIns="0" bIns="0" rtlCol="0" anchor="ctr"/>
          <a:lstStyle/>
          <a:p>
            <a:pPr marL="0" indent="0">
              <a:buNone/>
            </a:pPr>
            <a:r>
              <a:rPr lang="en-US" sz="2200" b="1" dirty="0">
                <a:solidFill>
                  <a:schemeClr val="tx1"/>
                </a:solidFill>
              </a:rPr>
              <a:t>Conditions for the algorithm to be efficient</a:t>
            </a:r>
            <a:endParaRPr lang="en-US" sz="2200" dirty="0"/>
          </a:p>
        </p:txBody>
      </p:sp>
      <p:sp>
        <p:nvSpPr>
          <p:cNvPr id="7" name="Condition 1"/>
          <p:cNvSpPr/>
          <p:nvPr/>
        </p:nvSpPr>
        <p:spPr>
          <a:xfrm>
            <a:off x="548640" y="2286000"/>
            <a:ext cx="3454298" cy="1828800"/>
          </a:xfrm>
          <a:prstGeom prst="roundRect">
            <a:avLst>
              <a:gd name="adj" fmla="val 7500"/>
            </a:avLst>
          </a:prstGeom>
          <a:solidFill>
            <a:schemeClr val="bg2"/>
          </a:solidFill>
          <a:ln w="12700">
            <a:solidFill>
              <a:schemeClr val="accent1"/>
            </a:solidFill>
            <a:prstDash val="solid"/>
          </a:ln>
        </p:spPr>
        <p:txBody>
          <a:bodyPr/>
          <a:lstStyle/>
          <a:p>
            <a:endParaRPr lang="fr-FR"/>
          </a:p>
        </p:txBody>
      </p:sp>
      <p:sp>
        <p:nvSpPr>
          <p:cNvPr id="8" name="Shape 5"/>
          <p:cNvSpPr/>
          <p:nvPr/>
        </p:nvSpPr>
        <p:spPr>
          <a:xfrm>
            <a:off x="822960" y="2542032"/>
            <a:ext cx="640080" cy="457200"/>
          </a:xfrm>
          <a:prstGeom prst="roundRect">
            <a:avLst>
              <a:gd name="adj" fmla="val 16000"/>
            </a:avLst>
          </a:prstGeom>
          <a:solidFill>
            <a:schemeClr val="accent1"/>
          </a:solidFill>
          <a:ln/>
        </p:spPr>
        <p:txBody>
          <a:bodyPr/>
          <a:lstStyle/>
          <a:p>
            <a:endParaRPr lang="fr-FR"/>
          </a:p>
        </p:txBody>
      </p:sp>
      <p:sp>
        <p:nvSpPr>
          <p:cNvPr id="9" name="Text 6"/>
          <p:cNvSpPr txBox="1"/>
          <p:nvPr/>
        </p:nvSpPr>
        <p:spPr>
          <a:xfrm>
            <a:off x="822960" y="2542032"/>
            <a:ext cx="640080" cy="457200"/>
          </a:xfrm>
          <a:prstGeom prst="rect">
            <a:avLst/>
          </a:prstGeom>
          <a:noFill/>
          <a:ln/>
        </p:spPr>
        <p:txBody>
          <a:bodyPr wrap="square" lIns="0" tIns="0" rIns="0" bIns="0" rtlCol="0" anchor="ctr"/>
          <a:lstStyle/>
          <a:p>
            <a:pPr marL="0" indent="0" algn="ctr">
              <a:buNone/>
            </a:pPr>
            <a:r>
              <a:rPr lang="en-US" sz="1800" b="1" dirty="0">
                <a:solidFill>
                  <a:schemeClr val="tx1"/>
                </a:solidFill>
              </a:rPr>
              <a:t>01</a:t>
            </a:r>
            <a:endParaRPr lang="en-US" sz="1800" dirty="0"/>
          </a:p>
        </p:txBody>
      </p:sp>
      <p:sp>
        <p:nvSpPr>
          <p:cNvPr id="10" name="Text 7"/>
          <p:cNvSpPr txBox="1"/>
          <p:nvPr/>
        </p:nvSpPr>
        <p:spPr>
          <a:xfrm>
            <a:off x="822960" y="3108960"/>
            <a:ext cx="2905658" cy="822960"/>
          </a:xfrm>
          <a:prstGeom prst="rect">
            <a:avLst/>
          </a:prstGeom>
          <a:noFill/>
          <a:ln/>
        </p:spPr>
        <p:txBody>
          <a:bodyPr wrap="square" lIns="0" tIns="0" rIns="0" bIns="0" rtlCol="0" anchor="t"/>
          <a:lstStyle/>
          <a:p>
            <a:pPr marL="0" indent="0">
              <a:buNone/>
            </a:pPr>
            <a:r>
              <a:rPr lang="en-US" sz="1600" dirty="0">
                <a:solidFill>
                  <a:schemeClr val="tx1"/>
                </a:solidFill>
              </a:rPr>
              <a:t>ODE is quadratic, sparse, and divergence-free</a:t>
            </a:r>
            <a:endParaRPr lang="en-US" sz="1600" dirty="0"/>
          </a:p>
        </p:txBody>
      </p:sp>
      <p:sp>
        <p:nvSpPr>
          <p:cNvPr id="11" name="Condition 2"/>
          <p:cNvSpPr/>
          <p:nvPr/>
        </p:nvSpPr>
        <p:spPr>
          <a:xfrm>
            <a:off x="4368698" y="2286000"/>
            <a:ext cx="3454298" cy="1828800"/>
          </a:xfrm>
          <a:prstGeom prst="roundRect">
            <a:avLst>
              <a:gd name="adj" fmla="val 7500"/>
            </a:avLst>
          </a:prstGeom>
          <a:solidFill>
            <a:schemeClr val="bg2"/>
          </a:solidFill>
          <a:ln w="9525">
            <a:solidFill>
              <a:schemeClr val="accent5"/>
            </a:solidFill>
            <a:prstDash val="solid"/>
          </a:ln>
        </p:spPr>
        <p:txBody>
          <a:bodyPr/>
          <a:lstStyle/>
          <a:p>
            <a:endParaRPr lang="fr-FR"/>
          </a:p>
        </p:txBody>
      </p:sp>
      <p:sp>
        <p:nvSpPr>
          <p:cNvPr id="12" name="Shape 9"/>
          <p:cNvSpPr/>
          <p:nvPr/>
        </p:nvSpPr>
        <p:spPr>
          <a:xfrm>
            <a:off x="4643018" y="2542032"/>
            <a:ext cx="640080" cy="457200"/>
          </a:xfrm>
          <a:prstGeom prst="roundRect">
            <a:avLst>
              <a:gd name="adj" fmla="val 16000"/>
            </a:avLst>
          </a:prstGeom>
          <a:solidFill>
            <a:schemeClr val="accent1"/>
          </a:solidFill>
          <a:ln/>
        </p:spPr>
        <p:txBody>
          <a:bodyPr/>
          <a:lstStyle/>
          <a:p>
            <a:endParaRPr lang="fr-FR"/>
          </a:p>
        </p:txBody>
      </p:sp>
      <p:sp>
        <p:nvSpPr>
          <p:cNvPr id="13" name="Text 10"/>
          <p:cNvSpPr txBox="1"/>
          <p:nvPr/>
        </p:nvSpPr>
        <p:spPr>
          <a:xfrm>
            <a:off x="4643018" y="2542032"/>
            <a:ext cx="640080" cy="457200"/>
          </a:xfrm>
          <a:prstGeom prst="rect">
            <a:avLst/>
          </a:prstGeom>
          <a:noFill/>
          <a:ln/>
        </p:spPr>
        <p:txBody>
          <a:bodyPr wrap="square" lIns="0" tIns="0" rIns="0" bIns="0" rtlCol="0" anchor="ctr"/>
          <a:lstStyle/>
          <a:p>
            <a:pPr marL="0" indent="0" algn="ctr">
              <a:buNone/>
            </a:pPr>
            <a:r>
              <a:rPr lang="en-US" sz="1800" b="1" dirty="0">
                <a:solidFill>
                  <a:schemeClr val="tx1"/>
                </a:solidFill>
              </a:rPr>
              <a:t>02</a:t>
            </a:r>
            <a:endParaRPr lang="en-US" sz="1800" dirty="0"/>
          </a:p>
        </p:txBody>
      </p:sp>
      <p:sp>
        <p:nvSpPr>
          <p:cNvPr id="14" name="Text 11"/>
          <p:cNvSpPr txBox="1"/>
          <p:nvPr/>
        </p:nvSpPr>
        <p:spPr>
          <a:xfrm>
            <a:off x="4643018" y="3108960"/>
            <a:ext cx="2905658" cy="822960"/>
          </a:xfrm>
          <a:prstGeom prst="rect">
            <a:avLst/>
          </a:prstGeom>
          <a:noFill/>
          <a:ln/>
        </p:spPr>
        <p:txBody>
          <a:bodyPr wrap="square" lIns="0" tIns="0" rIns="0" bIns="0" rtlCol="0" anchor="t"/>
          <a:lstStyle/>
          <a:p>
            <a:pPr marL="0" indent="0">
              <a:buNone/>
            </a:pPr>
            <a:r>
              <a:rPr lang="en-US" sz="1600" dirty="0">
                <a:solidFill>
                  <a:schemeClr val="tx1"/>
                </a:solidFill>
              </a:rPr>
              <a:t>The initial condition of the ODE is noisy</a:t>
            </a:r>
            <a:endParaRPr lang="en-US" sz="1600" dirty="0"/>
          </a:p>
        </p:txBody>
      </p:sp>
      <p:sp>
        <p:nvSpPr>
          <p:cNvPr id="15" name="Condition 3"/>
          <p:cNvSpPr/>
          <p:nvPr/>
        </p:nvSpPr>
        <p:spPr>
          <a:xfrm>
            <a:off x="8188757" y="2286000"/>
            <a:ext cx="3454298" cy="1828800"/>
          </a:xfrm>
          <a:prstGeom prst="roundRect">
            <a:avLst>
              <a:gd name="adj" fmla="val 7500"/>
            </a:avLst>
          </a:prstGeom>
          <a:solidFill>
            <a:schemeClr val="bg2"/>
          </a:solidFill>
          <a:ln w="9525">
            <a:solidFill>
              <a:schemeClr val="accent5"/>
            </a:solidFill>
            <a:prstDash val="solid"/>
          </a:ln>
        </p:spPr>
        <p:txBody>
          <a:bodyPr/>
          <a:lstStyle/>
          <a:p>
            <a:endParaRPr lang="fr-FR"/>
          </a:p>
        </p:txBody>
      </p:sp>
      <p:sp>
        <p:nvSpPr>
          <p:cNvPr id="16" name="Shape 13"/>
          <p:cNvSpPr/>
          <p:nvPr/>
        </p:nvSpPr>
        <p:spPr>
          <a:xfrm>
            <a:off x="8463077" y="2542032"/>
            <a:ext cx="640080" cy="457200"/>
          </a:xfrm>
          <a:prstGeom prst="roundRect">
            <a:avLst>
              <a:gd name="adj" fmla="val 16000"/>
            </a:avLst>
          </a:prstGeom>
          <a:solidFill>
            <a:schemeClr val="accent1"/>
          </a:solidFill>
          <a:ln/>
        </p:spPr>
        <p:txBody>
          <a:bodyPr/>
          <a:lstStyle/>
          <a:p>
            <a:endParaRPr lang="fr-FR"/>
          </a:p>
        </p:txBody>
      </p:sp>
      <p:sp>
        <p:nvSpPr>
          <p:cNvPr id="17" name="Text 14"/>
          <p:cNvSpPr txBox="1"/>
          <p:nvPr/>
        </p:nvSpPr>
        <p:spPr>
          <a:xfrm>
            <a:off x="8463077" y="2542032"/>
            <a:ext cx="640080" cy="457200"/>
          </a:xfrm>
          <a:prstGeom prst="rect">
            <a:avLst/>
          </a:prstGeom>
          <a:noFill/>
          <a:ln/>
        </p:spPr>
        <p:txBody>
          <a:bodyPr wrap="square" lIns="0" tIns="0" rIns="0" bIns="0" rtlCol="0" anchor="ctr"/>
          <a:lstStyle/>
          <a:p>
            <a:pPr marL="0" indent="0" algn="ctr">
              <a:buNone/>
            </a:pPr>
            <a:r>
              <a:rPr lang="en-US" sz="1800" b="1" dirty="0">
                <a:solidFill>
                  <a:schemeClr val="tx1"/>
                </a:solidFill>
              </a:rPr>
              <a:t>03</a:t>
            </a:r>
            <a:endParaRPr lang="en-US" sz="1800" dirty="0"/>
          </a:p>
        </p:txBody>
      </p:sp>
      <p:sp>
        <p:nvSpPr>
          <p:cNvPr id="18" name="Text 15"/>
          <p:cNvSpPr txBox="1"/>
          <p:nvPr/>
        </p:nvSpPr>
        <p:spPr>
          <a:xfrm>
            <a:off x="8463077" y="3108960"/>
            <a:ext cx="2905658" cy="822960"/>
          </a:xfrm>
          <a:prstGeom prst="rect">
            <a:avLst/>
          </a:prstGeom>
          <a:noFill/>
          <a:ln/>
        </p:spPr>
        <p:txBody>
          <a:bodyPr wrap="square" lIns="0" tIns="0" rIns="0" bIns="0" rtlCol="0" anchor="t"/>
          <a:lstStyle/>
          <a:p>
            <a:pPr marL="0" indent="0">
              <a:buNone/>
            </a:pPr>
            <a:r>
              <a:rPr lang="en-US" sz="1600" dirty="0">
                <a:solidFill>
                  <a:schemeClr val="tx1"/>
                </a:solidFill>
              </a:rPr>
              <a:t>Initialization noise rate p is not too small: ‖x‖</a:t>
            </a:r>
            <a:r>
              <a:rPr lang="en-US" sz="1600" baseline="30000" dirty="0">
                <a:solidFill>
                  <a:schemeClr val="tx1"/>
                </a:solidFill>
              </a:rPr>
              <a:t>2</a:t>
            </a:r>
            <a:r>
              <a:rPr lang="en-US" sz="1600" dirty="0">
                <a:solidFill>
                  <a:schemeClr val="tx1"/>
                </a:solidFill>
              </a:rPr>
              <a:t>/p = O(1)</a:t>
            </a:r>
            <a:endParaRPr lang="en-US" sz="1600" dirty="0"/>
          </a:p>
        </p:txBody>
      </p:sp>
      <p:sp>
        <p:nvSpPr>
          <p:cNvPr id="19" name="Regime"/>
          <p:cNvSpPr/>
          <p:nvPr/>
        </p:nvSpPr>
        <p:spPr>
          <a:xfrm>
            <a:off x="548640" y="4389120"/>
            <a:ext cx="11094415" cy="1188720"/>
          </a:xfrm>
          <a:prstGeom prst="roundRect">
            <a:avLst>
              <a:gd name="adj" fmla="val 9231"/>
            </a:avLst>
          </a:prstGeom>
          <a:solidFill>
            <a:schemeClr val="accent1"/>
          </a:solidFill>
          <a:ln/>
        </p:spPr>
        <p:txBody>
          <a:bodyPr/>
          <a:lstStyle/>
          <a:p>
            <a:endParaRPr lang="fr-FR"/>
          </a:p>
        </p:txBody>
      </p:sp>
      <p:sp>
        <p:nvSpPr>
          <p:cNvPr id="20" name="Shape 17"/>
          <p:cNvSpPr/>
          <p:nvPr/>
        </p:nvSpPr>
        <p:spPr>
          <a:xfrm>
            <a:off x="822960" y="4617720"/>
            <a:ext cx="91440" cy="91440"/>
          </a:xfrm>
          <a:prstGeom prst="rect">
            <a:avLst/>
          </a:prstGeom>
          <a:solidFill>
            <a:schemeClr val="accent2"/>
          </a:solidFill>
          <a:ln/>
        </p:spPr>
        <p:txBody>
          <a:bodyPr/>
          <a:lstStyle/>
          <a:p>
            <a:endParaRPr lang="fr-FR"/>
          </a:p>
        </p:txBody>
      </p:sp>
      <p:sp>
        <p:nvSpPr>
          <p:cNvPr id="21" name="Text 18"/>
          <p:cNvSpPr txBox="1"/>
          <p:nvPr/>
        </p:nvSpPr>
        <p:spPr>
          <a:xfrm>
            <a:off x="1051560" y="4480560"/>
            <a:ext cx="10317175" cy="1005840"/>
          </a:xfrm>
          <a:prstGeom prst="rect">
            <a:avLst/>
          </a:prstGeom>
          <a:noFill/>
          <a:ln/>
        </p:spPr>
        <p:txBody>
          <a:bodyPr wrap="square" lIns="0" tIns="0" rIns="0" bIns="0" rtlCol="0" anchor="ctr"/>
          <a:lstStyle/>
          <a:p>
            <a:pPr marL="0" indent="0">
              <a:buNone/>
            </a:pPr>
            <a:r>
              <a:rPr lang="en-US" sz="1600" dirty="0">
                <a:solidFill>
                  <a:schemeClr val="tx1"/>
                </a:solidFill>
              </a:rPr>
              <a:t>We are interested in the regime when the number of variables N is large enough that storing the full description of the system and its solution in a classical computer memory is impractical.</a:t>
            </a:r>
            <a:endParaRPr lang="en-US" sz="1600" dirty="0"/>
          </a:p>
        </p:txBody>
      </p:sp>
      <p:sp>
        <p:nvSpPr>
          <p:cNvPr id="22" name="Text 19"/>
          <p:cNvSpPr txBox="1"/>
          <p:nvPr/>
        </p:nvSpPr>
        <p:spPr>
          <a:xfrm>
            <a:off x="548640" y="5897880"/>
            <a:ext cx="7315200" cy="274320"/>
          </a:xfrm>
          <a:prstGeom prst="rect">
            <a:avLst/>
          </a:prstGeom>
          <a:noFill/>
          <a:ln/>
        </p:spPr>
        <p:txBody>
          <a:bodyPr wrap="square" lIns="0" tIns="0" rIns="0" bIns="0" rtlCol="0" anchor="ctr"/>
          <a:lstStyle/>
          <a:p>
            <a:pPr marL="0" indent="0">
              <a:buNone/>
            </a:pPr>
            <a:r>
              <a:rPr lang="en-US" sz="1100" i="1" dirty="0">
                <a:solidFill>
                  <a:schemeClr val="tx2"/>
                </a:solidFill>
              </a:rPr>
              <a:t>[Bravyi et al., 2025] arXiv:2507.06198</a:t>
            </a:r>
            <a:endParaRPr lang="en-US" sz="1100" dirty="0"/>
          </a:p>
        </p:txBody>
      </p:sp>
      <p:sp>
        <p:nvSpPr>
          <p:cNvPr id="25" name="Slide Number Placeholder 0"/>
          <p:cNvSpPr>
            <a:spLocks noGrp="1"/>
          </p:cNvSpPr>
          <p:nvPr>
            <p:ph type="sldNum" sz="quarter" idx="4294967295"/>
          </p:nvPr>
        </p:nvSpPr>
        <p:spPr>
          <a:xfrm>
            <a:off x="11094415" y="6327648"/>
            <a:ext cx="548640" cy="274320"/>
          </a:xfrm>
          <a:prstGeom prst="rect">
            <a:avLst/>
          </a:prstGeom>
          <a:extLst>
            <a:ext uri="{C572A759-6A51-4108-AA02-DFA0A04FC94B}">
              <ma14:wrappingTextBoxFlag xmlns:ma14="http://schemas.microsoft.com/office/mac/drawingml/2011/main" xmlns="" val="0"/>
            </a:ext>
          </a:extLst>
        </p:spPr>
        <p:txBody>
          <a:bodyPr lIns="0" tIns="0" rIns="0" bIns="0" anchor="ctr"/>
          <a:lstStyle>
            <a:lvl1pPr>
              <a:defRPr sz="1000">
                <a:solidFill>
                  <a:srgbClr val="9AA3BD"/>
                </a:solidFill>
              </a:defRPr>
            </a:lvl1pPr>
          </a:lstStyle>
          <a:p>
            <a:pPr algn="r"/>
            <a:fld id="{F7021451-1387-4CA6-816F-3879F97B5CBC}" type="slidenum">
              <a:rPr lang="en-US" b="0"/>
              <a:t>19</a:t>
            </a:fld>
            <a:endParaRPr lang="en-US"/>
          </a:p>
        </p:txBody>
      </p:sp>
      <p:pic>
        <p:nvPicPr>
          <p:cNvPr id="24" name="Image 23">
            <a:extLst>
              <a:ext uri="{FF2B5EF4-FFF2-40B4-BE49-F238E27FC236}">
                <a16:creationId xmlns:a16="http://schemas.microsoft.com/office/drawing/2014/main" id="{0D1C6C79-CE8C-ED27-C7D3-711520247DE4}"/>
              </a:ext>
            </a:extLst>
          </p:cNvPr>
          <p:cNvPicPr>
            <a:picLocks noChangeAspect="1"/>
          </p:cNvPicPr>
          <p:nvPr/>
        </p:nvPicPr>
        <p:blipFill>
          <a:blip r:embed="rId4"/>
          <a:stretch>
            <a:fillRect/>
          </a:stretch>
        </p:blipFill>
        <p:spPr>
          <a:xfrm>
            <a:off x="9724644" y="-443705"/>
            <a:ext cx="2437453" cy="1723866"/>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10"/>
          <p:cNvSpPr>
            <a:spLocks noGrp="1"/>
          </p:cNvSpPr>
          <p:nvPr>
            <p:ph type="title" idx="110" hasCustomPrompt="1"/>
          </p:nvPr>
        </p:nvSpPr>
        <p:spPr>
          <a:xfrm>
            <a:off x="548640" y="457200"/>
            <a:ext cx="11094415" cy="777240"/>
          </a:xfrm>
          <a:prstGeom prst="rect">
            <a:avLst/>
          </a:prstGeom>
          <a:noFill/>
          <a:ln/>
        </p:spPr>
        <p:txBody>
          <a:bodyPr wrap="square" lIns="0" tIns="0" rIns="0" bIns="0" rtlCol="0" anchor="t"/>
          <a:lstStyle/>
          <a:p>
            <a:pPr marL="0" indent="0" algn="l">
              <a:buNone/>
            </a:pPr>
            <a:r>
              <a:rPr lang="en-US" sz="3200" dirty="0">
                <a:solidFill>
                  <a:schemeClr val="tx1"/>
                </a:solidFill>
              </a:rPr>
              <a:t>Use case: fluid dynamics</a:t>
            </a:r>
            <a:endParaRPr lang="en-US" sz="3200" dirty="0"/>
          </a:p>
        </p:txBody>
      </p:sp>
      <p:sp>
        <p:nvSpPr>
          <p:cNvPr id="3" name="Text 1"/>
          <p:cNvSpPr txBox="1"/>
          <p:nvPr/>
        </p:nvSpPr>
        <p:spPr>
          <a:xfrm>
            <a:off x="548640" y="1097280"/>
            <a:ext cx="11094415" cy="365760"/>
          </a:xfrm>
          <a:prstGeom prst="rect">
            <a:avLst/>
          </a:prstGeom>
          <a:noFill/>
          <a:ln/>
        </p:spPr>
        <p:txBody>
          <a:bodyPr wrap="square" lIns="0" tIns="0" rIns="0" bIns="0" rtlCol="0" anchor="t"/>
          <a:lstStyle/>
          <a:p>
            <a:pPr marL="0" indent="0">
              <a:buNone/>
            </a:pPr>
            <a:r>
              <a:rPr lang="en-US" sz="1600" dirty="0">
                <a:solidFill>
                  <a:schemeClr val="tx2"/>
                </a:solidFill>
              </a:rPr>
              <a:t>2D Navier–Stokes equation (NSE) for incompressible fluid flow</a:t>
            </a:r>
            <a:endParaRPr lang="en-US" sz="1600" dirty="0"/>
          </a:p>
        </p:txBody>
      </p:sp>
      <p:sp>
        <p:nvSpPr>
          <p:cNvPr id="4" name="Shape 2"/>
          <p:cNvSpPr/>
          <p:nvPr/>
        </p:nvSpPr>
        <p:spPr>
          <a:xfrm>
            <a:off x="548640" y="1737360"/>
            <a:ext cx="91440" cy="91440"/>
          </a:xfrm>
          <a:prstGeom prst="rect">
            <a:avLst/>
          </a:prstGeom>
          <a:solidFill>
            <a:schemeClr val="accent2"/>
          </a:solidFill>
          <a:ln/>
        </p:spPr>
        <p:txBody>
          <a:bodyPr/>
          <a:lstStyle/>
          <a:p>
            <a:endParaRPr lang="fr-FR"/>
          </a:p>
        </p:txBody>
      </p:sp>
      <p:sp>
        <p:nvSpPr>
          <p:cNvPr id="5" name="Text 3"/>
          <p:cNvSpPr txBox="1"/>
          <p:nvPr/>
        </p:nvSpPr>
        <p:spPr>
          <a:xfrm>
            <a:off x="731520" y="1645920"/>
            <a:ext cx="5212080" cy="274320"/>
          </a:xfrm>
          <a:prstGeom prst="rect">
            <a:avLst/>
          </a:prstGeom>
          <a:noFill/>
          <a:ln/>
        </p:spPr>
        <p:txBody>
          <a:bodyPr wrap="square" lIns="0" tIns="0" rIns="0" bIns="0" rtlCol="0" anchor="ctr"/>
          <a:lstStyle/>
          <a:p>
            <a:pPr marL="0" indent="0">
              <a:buNone/>
            </a:pPr>
            <a:r>
              <a:rPr lang="en-US" sz="1100" b="1" kern="0" spc="200" dirty="0">
                <a:solidFill>
                  <a:schemeClr val="tx2"/>
                </a:solidFill>
              </a:rPr>
              <a:t>PDE: INFINITE-DIMENSIONAL FUNCTION SPACE</a:t>
            </a:r>
            <a:endParaRPr lang="en-US" sz="1100" dirty="0"/>
          </a:p>
        </p:txBody>
      </p:sp>
      <p:sp>
        <p:nvSpPr>
          <p:cNvPr id="6" name="Shape 4"/>
          <p:cNvSpPr/>
          <p:nvPr/>
        </p:nvSpPr>
        <p:spPr>
          <a:xfrm>
            <a:off x="6629400" y="1737360"/>
            <a:ext cx="91440" cy="91440"/>
          </a:xfrm>
          <a:prstGeom prst="rect">
            <a:avLst/>
          </a:prstGeom>
          <a:solidFill>
            <a:schemeClr val="accent2"/>
          </a:solidFill>
          <a:ln/>
        </p:spPr>
        <p:txBody>
          <a:bodyPr/>
          <a:lstStyle/>
          <a:p>
            <a:endParaRPr lang="fr-FR"/>
          </a:p>
        </p:txBody>
      </p:sp>
      <p:sp>
        <p:nvSpPr>
          <p:cNvPr id="7" name="Text 5"/>
          <p:cNvSpPr txBox="1"/>
          <p:nvPr/>
        </p:nvSpPr>
        <p:spPr>
          <a:xfrm>
            <a:off x="6812280" y="1645920"/>
            <a:ext cx="5013655" cy="274320"/>
          </a:xfrm>
          <a:prstGeom prst="rect">
            <a:avLst/>
          </a:prstGeom>
          <a:noFill/>
          <a:ln/>
        </p:spPr>
        <p:txBody>
          <a:bodyPr wrap="square" lIns="0" tIns="0" rIns="0" bIns="0" rtlCol="0" anchor="ctr"/>
          <a:lstStyle/>
          <a:p>
            <a:pPr marL="0" indent="0">
              <a:buNone/>
            </a:pPr>
            <a:r>
              <a:rPr lang="en-US" sz="1100" b="1" kern="0" spc="200" dirty="0">
                <a:solidFill>
                  <a:schemeClr val="tx2"/>
                </a:solidFill>
              </a:rPr>
              <a:t>FINITE-DIMENSIONAL QUADRATIC ODE SYSTEM</a:t>
            </a:r>
            <a:endParaRPr lang="en-US" sz="1100" dirty="0"/>
          </a:p>
        </p:txBody>
      </p:sp>
      <p:sp>
        <p:nvSpPr>
          <p:cNvPr id="8" name="PDE panel"/>
          <p:cNvSpPr/>
          <p:nvPr/>
        </p:nvSpPr>
        <p:spPr>
          <a:xfrm>
            <a:off x="548640" y="2011680"/>
            <a:ext cx="5212080" cy="1143000"/>
          </a:xfrm>
          <a:prstGeom prst="roundRect">
            <a:avLst>
              <a:gd name="adj" fmla="val 12000"/>
            </a:avLst>
          </a:prstGeom>
          <a:solidFill>
            <a:schemeClr val="bg2"/>
          </a:solidFill>
          <a:ln w="12700">
            <a:solidFill>
              <a:schemeClr val="accent1"/>
            </a:solidFill>
            <a:prstDash val="solid"/>
          </a:ln>
        </p:spPr>
        <p:txBody>
          <a:bodyPr/>
          <a:lstStyle/>
          <a:p>
            <a:endParaRPr lang="fr-FR"/>
          </a:p>
        </p:txBody>
      </p:sp>
      <p:sp>
        <p:nvSpPr>
          <p:cNvPr id="9" name="ODE panel"/>
          <p:cNvSpPr/>
          <p:nvPr/>
        </p:nvSpPr>
        <p:spPr>
          <a:xfrm>
            <a:off x="6629400" y="2011680"/>
            <a:ext cx="5013655" cy="1143000"/>
          </a:xfrm>
          <a:prstGeom prst="roundRect">
            <a:avLst>
              <a:gd name="adj" fmla="val 12000"/>
            </a:avLst>
          </a:prstGeom>
          <a:solidFill>
            <a:schemeClr val="bg2"/>
          </a:solidFill>
          <a:ln w="12700">
            <a:solidFill>
              <a:schemeClr val="accent1"/>
            </a:solidFill>
            <a:prstDash val="solid"/>
          </a:ln>
        </p:spPr>
        <p:txBody>
          <a:bodyPr/>
          <a:lstStyle/>
          <a:p>
            <a:endParaRPr lang="fr-FR"/>
          </a:p>
        </p:txBody>
      </p:sp>
      <p:sp>
        <p:nvSpPr>
          <p:cNvPr id="10" name="Highlight viscous term"/>
          <p:cNvSpPr/>
          <p:nvPr/>
        </p:nvSpPr>
        <p:spPr>
          <a:xfrm>
            <a:off x="3526607" y="2213433"/>
            <a:ext cx="529714" cy="739494"/>
          </a:xfrm>
          <a:prstGeom prst="rect">
            <a:avLst/>
          </a:prstGeom>
          <a:solidFill>
            <a:schemeClr val="accent1"/>
          </a:solidFill>
          <a:ln/>
        </p:spPr>
        <p:txBody>
          <a:bodyPr/>
          <a:lstStyle/>
          <a:p>
            <a:endParaRPr lang="fr-FR"/>
          </a:p>
        </p:txBody>
      </p:sp>
      <p:pic>
        <p:nvPicPr>
          <p:cNvPr id="11" name="Image 0" descr="Stochastic incompressible Navier–Stokes equation"/>
          <p:cNvPicPr>
            <a:picLocks noChangeAspect="1"/>
          </p:cNvPicPr>
          <p:nvPr/>
        </p:nvPicPr>
        <p:blipFill>
          <a:blip r:embed="rId3"/>
          <a:stretch>
            <a:fillRect/>
          </a:stretch>
        </p:blipFill>
        <p:spPr>
          <a:xfrm>
            <a:off x="731520" y="2259153"/>
            <a:ext cx="4846320" cy="648054"/>
          </a:xfrm>
          <a:prstGeom prst="rect">
            <a:avLst/>
          </a:prstGeom>
        </p:spPr>
      </p:pic>
      <p:sp>
        <p:nvSpPr>
          <p:cNvPr id="12" name="Highlight coefficients"/>
          <p:cNvSpPr/>
          <p:nvPr/>
        </p:nvSpPr>
        <p:spPr>
          <a:xfrm>
            <a:off x="8944944" y="2226458"/>
            <a:ext cx="347789" cy="713443"/>
          </a:xfrm>
          <a:prstGeom prst="rect">
            <a:avLst/>
          </a:prstGeom>
          <a:solidFill>
            <a:schemeClr val="accent1"/>
          </a:solidFill>
          <a:ln/>
        </p:spPr>
        <p:txBody>
          <a:bodyPr/>
          <a:lstStyle/>
          <a:p>
            <a:endParaRPr lang="fr-FR"/>
          </a:p>
        </p:txBody>
      </p:sp>
      <p:pic>
        <p:nvPicPr>
          <p:cNvPr id="13" name="Image 1" descr="Quadratic stochastic ODE system"/>
          <p:cNvPicPr>
            <a:picLocks noChangeAspect="1"/>
          </p:cNvPicPr>
          <p:nvPr/>
        </p:nvPicPr>
        <p:blipFill>
          <a:blip r:embed="rId4"/>
          <a:stretch>
            <a:fillRect/>
          </a:stretch>
        </p:blipFill>
        <p:spPr>
          <a:xfrm>
            <a:off x="6987388" y="2180738"/>
            <a:ext cx="4297680" cy="804883"/>
          </a:xfrm>
          <a:prstGeom prst="rect">
            <a:avLst/>
          </a:prstGeom>
        </p:spPr>
      </p:pic>
      <p:sp>
        <p:nvSpPr>
          <p:cNvPr id="14" name="Projection arrow"/>
          <p:cNvSpPr/>
          <p:nvPr/>
        </p:nvSpPr>
        <p:spPr>
          <a:xfrm>
            <a:off x="5943600" y="2395728"/>
            <a:ext cx="502920" cy="365760"/>
          </a:xfrm>
          <a:prstGeom prst="rightArrow">
            <a:avLst/>
          </a:prstGeom>
          <a:solidFill>
            <a:schemeClr val="accent1"/>
          </a:solidFill>
          <a:ln/>
        </p:spPr>
        <p:txBody>
          <a:bodyPr/>
          <a:lstStyle/>
          <a:p>
            <a:endParaRPr lang="fr-FR"/>
          </a:p>
        </p:txBody>
      </p:sp>
      <p:sp>
        <p:nvSpPr>
          <p:cNvPr id="15" name="Text 11"/>
          <p:cNvSpPr txBox="1"/>
          <p:nvPr/>
        </p:nvSpPr>
        <p:spPr>
          <a:xfrm>
            <a:off x="4754880" y="3246120"/>
            <a:ext cx="2880360" cy="320040"/>
          </a:xfrm>
          <a:prstGeom prst="rect">
            <a:avLst/>
          </a:prstGeom>
          <a:noFill/>
          <a:ln/>
        </p:spPr>
        <p:txBody>
          <a:bodyPr wrap="square" lIns="0" tIns="0" rIns="0" bIns="0" rtlCol="0" anchor="ctr"/>
          <a:lstStyle/>
          <a:p>
            <a:pPr marL="0" indent="0" algn="ctr">
              <a:buNone/>
            </a:pPr>
            <a:r>
              <a:rPr lang="en-US" sz="1500" b="1" dirty="0">
                <a:solidFill>
                  <a:schemeClr val="tx1"/>
                </a:solidFill>
              </a:rPr>
              <a:t>Galerkin projection</a:t>
            </a:r>
            <a:endParaRPr lang="en-US" sz="1500" dirty="0"/>
          </a:p>
        </p:txBody>
      </p:sp>
      <p:sp>
        <p:nvSpPr>
          <p:cNvPr id="16" name="Shape 12"/>
          <p:cNvSpPr/>
          <p:nvPr/>
        </p:nvSpPr>
        <p:spPr>
          <a:xfrm>
            <a:off x="571500" y="4037076"/>
            <a:ext cx="64008" cy="64008"/>
          </a:xfrm>
          <a:prstGeom prst="ellipse">
            <a:avLst/>
          </a:prstGeom>
          <a:solidFill>
            <a:schemeClr val="tx2"/>
          </a:solidFill>
          <a:ln/>
        </p:spPr>
        <p:txBody>
          <a:bodyPr/>
          <a:lstStyle/>
          <a:p>
            <a:endParaRPr lang="fr-FR"/>
          </a:p>
        </p:txBody>
      </p:sp>
      <p:sp>
        <p:nvSpPr>
          <p:cNvPr id="17" name="Text 13"/>
          <p:cNvSpPr txBox="1"/>
          <p:nvPr/>
        </p:nvSpPr>
        <p:spPr>
          <a:xfrm>
            <a:off x="804672" y="3840480"/>
            <a:ext cx="6309360" cy="457200"/>
          </a:xfrm>
          <a:prstGeom prst="rect">
            <a:avLst/>
          </a:prstGeom>
          <a:noFill/>
          <a:ln/>
        </p:spPr>
        <p:txBody>
          <a:bodyPr wrap="square" lIns="0" tIns="0" rIns="0" bIns="0" rtlCol="0" anchor="ctr"/>
          <a:lstStyle/>
          <a:p>
            <a:pPr marL="0" indent="0">
              <a:buNone/>
            </a:pPr>
            <a:r>
              <a:rPr lang="en-US" sz="1600" dirty="0">
                <a:solidFill>
                  <a:schemeClr val="tx2"/>
                </a:solidFill>
              </a:rPr>
              <a:t>The coefficients c</a:t>
            </a:r>
            <a:r>
              <a:rPr lang="en-US" sz="1600" baseline="-40000" dirty="0">
                <a:solidFill>
                  <a:schemeClr val="tx2"/>
                </a:solidFill>
              </a:rPr>
              <a:t>ijk</a:t>
            </a:r>
            <a:r>
              <a:rPr lang="en-US" sz="1600" dirty="0">
                <a:solidFill>
                  <a:schemeClr val="tx2"/>
                </a:solidFill>
              </a:rPr>
              <a:t> come from </a:t>
            </a:r>
            <a:r>
              <a:rPr lang="en-US" sz="1600" b="1" dirty="0">
                <a:solidFill>
                  <a:schemeClr val="tx1"/>
                </a:solidFill>
              </a:rPr>
              <a:t>Navier–Stokes nonlinearity</a:t>
            </a:r>
            <a:endParaRPr lang="en-US" sz="1600" dirty="0"/>
          </a:p>
        </p:txBody>
      </p:sp>
      <p:sp>
        <p:nvSpPr>
          <p:cNvPr id="18" name="Shape 14"/>
          <p:cNvSpPr/>
          <p:nvPr/>
        </p:nvSpPr>
        <p:spPr>
          <a:xfrm>
            <a:off x="571500" y="4539996"/>
            <a:ext cx="64008" cy="64008"/>
          </a:xfrm>
          <a:prstGeom prst="ellipse">
            <a:avLst/>
          </a:prstGeom>
          <a:solidFill>
            <a:schemeClr val="tx2"/>
          </a:solidFill>
          <a:ln/>
        </p:spPr>
        <p:txBody>
          <a:bodyPr/>
          <a:lstStyle/>
          <a:p>
            <a:endParaRPr lang="fr-FR"/>
          </a:p>
        </p:txBody>
      </p:sp>
      <p:sp>
        <p:nvSpPr>
          <p:cNvPr id="19" name="Text 15"/>
          <p:cNvSpPr txBox="1"/>
          <p:nvPr/>
        </p:nvSpPr>
        <p:spPr>
          <a:xfrm>
            <a:off x="804672" y="4343400"/>
            <a:ext cx="6309360" cy="457200"/>
          </a:xfrm>
          <a:prstGeom prst="rect">
            <a:avLst/>
          </a:prstGeom>
          <a:noFill/>
          <a:ln/>
        </p:spPr>
        <p:txBody>
          <a:bodyPr wrap="square" lIns="0" tIns="0" rIns="0" bIns="0" rtlCol="0" anchor="ctr"/>
          <a:lstStyle/>
          <a:p>
            <a:pPr marL="0" indent="0">
              <a:buNone/>
            </a:pPr>
            <a:r>
              <a:rPr lang="en-US" sz="1600" dirty="0">
                <a:solidFill>
                  <a:schemeClr val="tx2"/>
                </a:solidFill>
              </a:rPr>
              <a:t>The basis functions φ</a:t>
            </a:r>
            <a:r>
              <a:rPr lang="en-US" sz="1600" baseline="-40000" dirty="0">
                <a:solidFill>
                  <a:schemeClr val="tx2"/>
                </a:solidFill>
              </a:rPr>
              <a:t>i</a:t>
            </a:r>
            <a:r>
              <a:rPr lang="en-US" sz="1600" dirty="0">
                <a:solidFill>
                  <a:schemeClr val="tx2"/>
                </a:solidFill>
              </a:rPr>
              <a:t> encode spatial structure</a:t>
            </a:r>
            <a:endParaRPr lang="en-US" sz="1600" dirty="0"/>
          </a:p>
        </p:txBody>
      </p:sp>
      <p:sp>
        <p:nvSpPr>
          <p:cNvPr id="20" name="Shape 16"/>
          <p:cNvSpPr/>
          <p:nvPr/>
        </p:nvSpPr>
        <p:spPr>
          <a:xfrm>
            <a:off x="571500" y="5042916"/>
            <a:ext cx="64008" cy="64008"/>
          </a:xfrm>
          <a:prstGeom prst="ellipse">
            <a:avLst/>
          </a:prstGeom>
          <a:solidFill>
            <a:schemeClr val="tx2"/>
          </a:solidFill>
          <a:ln/>
        </p:spPr>
        <p:txBody>
          <a:bodyPr/>
          <a:lstStyle/>
          <a:p>
            <a:endParaRPr lang="fr-FR"/>
          </a:p>
        </p:txBody>
      </p:sp>
      <p:sp>
        <p:nvSpPr>
          <p:cNvPr id="21" name="Text 17"/>
          <p:cNvSpPr txBox="1"/>
          <p:nvPr/>
        </p:nvSpPr>
        <p:spPr>
          <a:xfrm>
            <a:off x="804672" y="4846320"/>
            <a:ext cx="6309360" cy="457200"/>
          </a:xfrm>
          <a:prstGeom prst="rect">
            <a:avLst/>
          </a:prstGeom>
          <a:noFill/>
          <a:ln/>
        </p:spPr>
        <p:txBody>
          <a:bodyPr wrap="square" lIns="0" tIns="0" rIns="0" bIns="0" rtlCol="0" anchor="ctr"/>
          <a:lstStyle/>
          <a:p>
            <a:pPr marL="0" indent="0">
              <a:buNone/>
            </a:pPr>
            <a:r>
              <a:rPr lang="en-US" sz="1600" dirty="0">
                <a:solidFill>
                  <a:schemeClr val="tx2"/>
                </a:solidFill>
              </a:rPr>
              <a:t>Increasing N → better approximation of the PDE</a:t>
            </a:r>
            <a:endParaRPr lang="en-US" sz="1600" dirty="0"/>
          </a:p>
        </p:txBody>
      </p:sp>
      <p:sp>
        <p:nvSpPr>
          <p:cNvPr id="22" name="Note"/>
          <p:cNvSpPr/>
          <p:nvPr/>
        </p:nvSpPr>
        <p:spPr>
          <a:xfrm>
            <a:off x="7315200" y="3840480"/>
            <a:ext cx="4327855" cy="1600200"/>
          </a:xfrm>
          <a:prstGeom prst="roundRect">
            <a:avLst>
              <a:gd name="adj" fmla="val 8571"/>
            </a:avLst>
          </a:prstGeom>
          <a:solidFill>
            <a:schemeClr val="bg2"/>
          </a:solidFill>
          <a:ln w="9525">
            <a:solidFill>
              <a:schemeClr val="accent5"/>
            </a:solidFill>
            <a:prstDash val="solid"/>
          </a:ln>
        </p:spPr>
        <p:txBody>
          <a:bodyPr/>
          <a:lstStyle/>
          <a:p>
            <a:endParaRPr lang="fr-FR"/>
          </a:p>
        </p:txBody>
      </p:sp>
      <p:sp>
        <p:nvSpPr>
          <p:cNvPr id="23" name="Shape 19"/>
          <p:cNvSpPr/>
          <p:nvPr/>
        </p:nvSpPr>
        <p:spPr>
          <a:xfrm>
            <a:off x="7589520" y="4114800"/>
            <a:ext cx="91440" cy="91440"/>
          </a:xfrm>
          <a:prstGeom prst="rect">
            <a:avLst/>
          </a:prstGeom>
          <a:solidFill>
            <a:schemeClr val="accent2"/>
          </a:solidFill>
          <a:ln/>
        </p:spPr>
        <p:txBody>
          <a:bodyPr/>
          <a:lstStyle/>
          <a:p>
            <a:endParaRPr lang="fr-FR"/>
          </a:p>
        </p:txBody>
      </p:sp>
      <p:sp>
        <p:nvSpPr>
          <p:cNvPr id="24" name="Text 20"/>
          <p:cNvSpPr txBox="1"/>
          <p:nvPr/>
        </p:nvSpPr>
        <p:spPr>
          <a:xfrm>
            <a:off x="7772400" y="4072399"/>
            <a:ext cx="3596335" cy="973836"/>
          </a:xfrm>
          <a:prstGeom prst="rect">
            <a:avLst/>
          </a:prstGeom>
          <a:noFill/>
          <a:ln/>
        </p:spPr>
        <p:txBody>
          <a:bodyPr wrap="square" lIns="0" tIns="0" rIns="0" bIns="0" rtlCol="0" anchor="t"/>
          <a:lstStyle/>
          <a:p>
            <a:pPr marL="0" indent="0">
              <a:buNone/>
            </a:pPr>
            <a:r>
              <a:rPr lang="en-US" sz="1400" i="1" dirty="0">
                <a:solidFill>
                  <a:schemeClr val="tx1"/>
                </a:solidFill>
              </a:rPr>
              <a:t>Note that incompressible vorticity-formulated NSE is naturally divergence-free, which is exactly the structural condition the algorithm requires.</a:t>
            </a:r>
            <a:endParaRPr lang="en-US" sz="1400" dirty="0"/>
          </a:p>
        </p:txBody>
      </p:sp>
      <p:sp>
        <p:nvSpPr>
          <p:cNvPr id="25" name="Text 21"/>
          <p:cNvSpPr txBox="1"/>
          <p:nvPr/>
        </p:nvSpPr>
        <p:spPr>
          <a:xfrm>
            <a:off x="548640" y="5897880"/>
            <a:ext cx="7315200" cy="274320"/>
          </a:xfrm>
          <a:prstGeom prst="rect">
            <a:avLst/>
          </a:prstGeom>
          <a:noFill/>
          <a:ln/>
        </p:spPr>
        <p:txBody>
          <a:bodyPr wrap="square" lIns="0" tIns="0" rIns="0" bIns="0" rtlCol="0" anchor="ctr"/>
          <a:lstStyle/>
          <a:p>
            <a:pPr marL="0" indent="0">
              <a:buNone/>
            </a:pPr>
            <a:r>
              <a:rPr lang="en-US" sz="1100" i="1" dirty="0">
                <a:solidFill>
                  <a:schemeClr val="tx2"/>
                </a:solidFill>
              </a:rPr>
              <a:t>[Bravyi et al., 2025] arXiv:2507.06198</a:t>
            </a:r>
            <a:endParaRPr lang="en-US" sz="1100" dirty="0"/>
          </a:p>
        </p:txBody>
      </p:sp>
      <p:sp>
        <p:nvSpPr>
          <p:cNvPr id="26" name="Slide Number Placeholder 0"/>
          <p:cNvSpPr>
            <a:spLocks noGrp="1"/>
          </p:cNvSpPr>
          <p:nvPr>
            <p:ph type="sldNum" sz="quarter" idx="4294967295"/>
          </p:nvPr>
        </p:nvSpPr>
        <p:spPr>
          <a:xfrm>
            <a:off x="11094415" y="6327648"/>
            <a:ext cx="548640" cy="274320"/>
          </a:xfrm>
          <a:prstGeom prst="rect">
            <a:avLst/>
          </a:prstGeom>
          <a:extLst>
            <a:ext uri="{C572A759-6A51-4108-AA02-DFA0A04FC94B}">
              <ma14:wrappingTextBoxFlag xmlns:ma14="http://schemas.microsoft.com/office/mac/drawingml/2011/main" xmlns="" val="0"/>
            </a:ext>
          </a:extLst>
        </p:spPr>
        <p:txBody>
          <a:bodyPr lIns="0" tIns="0" rIns="0" bIns="0" anchor="ctr"/>
          <a:lstStyle>
            <a:lvl1pPr>
              <a:defRPr sz="1000">
                <a:solidFill>
                  <a:srgbClr val="9AA3BD"/>
                </a:solidFill>
              </a:defRPr>
            </a:lvl1pPr>
          </a:lstStyle>
          <a:p>
            <a:pPr algn="r"/>
            <a:fld id="{F7021451-1387-4CA6-816F-3879F97B5CBC}" type="slidenum">
              <a:rPr lang="en-US" b="0"/>
              <a:t>20</a:t>
            </a:fld>
            <a:endParaRPr lang="en-US"/>
          </a:p>
        </p:txBody>
      </p:sp>
      <p:pic>
        <p:nvPicPr>
          <p:cNvPr id="28" name="Image 27">
            <a:extLst>
              <a:ext uri="{FF2B5EF4-FFF2-40B4-BE49-F238E27FC236}">
                <a16:creationId xmlns:a16="http://schemas.microsoft.com/office/drawing/2014/main" id="{86D9C37E-2587-A718-ECBF-FB09E6F7213A}"/>
              </a:ext>
            </a:extLst>
          </p:cNvPr>
          <p:cNvPicPr>
            <a:picLocks noChangeAspect="1"/>
          </p:cNvPicPr>
          <p:nvPr/>
        </p:nvPicPr>
        <p:blipFill>
          <a:blip r:embed="rId5"/>
          <a:stretch>
            <a:fillRect/>
          </a:stretch>
        </p:blipFill>
        <p:spPr>
          <a:xfrm>
            <a:off x="9724644" y="-443705"/>
            <a:ext cx="2437453" cy="1723866"/>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10"/>
          <p:cNvSpPr>
            <a:spLocks noGrp="1"/>
          </p:cNvSpPr>
          <p:nvPr>
            <p:ph type="title" idx="110" hasCustomPrompt="1"/>
          </p:nvPr>
        </p:nvSpPr>
        <p:spPr>
          <a:xfrm>
            <a:off x="548640" y="457200"/>
            <a:ext cx="11094415" cy="777240"/>
          </a:xfrm>
          <a:prstGeom prst="rect">
            <a:avLst/>
          </a:prstGeom>
          <a:noFill/>
          <a:ln/>
        </p:spPr>
        <p:txBody>
          <a:bodyPr wrap="square" lIns="0" tIns="0" rIns="0" bIns="0" rtlCol="0" anchor="t"/>
          <a:lstStyle/>
          <a:p>
            <a:pPr marL="0" indent="0" algn="l">
              <a:buNone/>
            </a:pPr>
            <a:r>
              <a:rPr lang="en-US" sz="3200" dirty="0">
                <a:solidFill>
                  <a:schemeClr val="tx1"/>
                </a:solidFill>
              </a:rPr>
              <a:t>Outlook: follow-up paper</a:t>
            </a:r>
            <a:endParaRPr lang="en-US" sz="3200" dirty="0"/>
          </a:p>
        </p:txBody>
      </p:sp>
      <p:sp>
        <p:nvSpPr>
          <p:cNvPr id="3" name="Quote"/>
          <p:cNvSpPr/>
          <p:nvPr/>
        </p:nvSpPr>
        <p:spPr>
          <a:xfrm>
            <a:off x="548640" y="1325880"/>
            <a:ext cx="11094415" cy="731520"/>
          </a:xfrm>
          <a:prstGeom prst="roundRect">
            <a:avLst>
              <a:gd name="adj" fmla="val 18750"/>
            </a:avLst>
          </a:prstGeom>
          <a:solidFill>
            <a:schemeClr val="bg2"/>
          </a:solidFill>
          <a:ln w="12700">
            <a:solidFill>
              <a:schemeClr val="accent1"/>
            </a:solidFill>
            <a:prstDash val="solid"/>
          </a:ln>
        </p:spPr>
        <p:txBody>
          <a:bodyPr/>
          <a:lstStyle/>
          <a:p>
            <a:endParaRPr lang="fr-FR"/>
          </a:p>
        </p:txBody>
      </p:sp>
      <p:sp>
        <p:nvSpPr>
          <p:cNvPr id="4" name="Shape 2"/>
          <p:cNvSpPr/>
          <p:nvPr/>
        </p:nvSpPr>
        <p:spPr>
          <a:xfrm>
            <a:off x="822960" y="1463040"/>
            <a:ext cx="91440" cy="91440"/>
          </a:xfrm>
          <a:prstGeom prst="rect">
            <a:avLst/>
          </a:prstGeom>
          <a:solidFill>
            <a:schemeClr val="accent2"/>
          </a:solidFill>
          <a:ln/>
        </p:spPr>
        <p:txBody>
          <a:bodyPr/>
          <a:lstStyle/>
          <a:p>
            <a:endParaRPr lang="fr-FR"/>
          </a:p>
        </p:txBody>
      </p:sp>
      <p:sp>
        <p:nvSpPr>
          <p:cNvPr id="5" name="Text 3"/>
          <p:cNvSpPr txBox="1"/>
          <p:nvPr/>
        </p:nvSpPr>
        <p:spPr>
          <a:xfrm>
            <a:off x="1051560" y="1371600"/>
            <a:ext cx="10317175" cy="640080"/>
          </a:xfrm>
          <a:prstGeom prst="rect">
            <a:avLst/>
          </a:prstGeom>
          <a:noFill/>
          <a:ln/>
        </p:spPr>
        <p:txBody>
          <a:bodyPr wrap="square" lIns="0" tIns="0" rIns="0" bIns="0" rtlCol="0" anchor="ctr"/>
          <a:lstStyle/>
          <a:p>
            <a:pPr marL="0" indent="0">
              <a:buNone/>
            </a:pPr>
            <a:r>
              <a:rPr lang="en-US" sz="1500" i="1" dirty="0">
                <a:solidFill>
                  <a:schemeClr val="tx2"/>
                </a:solidFill>
              </a:rPr>
              <a:t>« We call the second-quantized Kolmogorov differential operator the </a:t>
            </a:r>
            <a:r>
              <a:rPr lang="en-US" sz="1500" b="1" i="1" dirty="0">
                <a:solidFill>
                  <a:schemeClr val="tx1"/>
                </a:solidFill>
              </a:rPr>
              <a:t>Kolmogorian</a:t>
            </a:r>
            <a:r>
              <a:rPr lang="en-US" sz="1500" i="1" dirty="0">
                <a:solidFill>
                  <a:schemeClr val="tx2"/>
                </a:solidFill>
              </a:rPr>
              <a:t>, in analogy with the Hamiltonian of quantum mechanics. »</a:t>
            </a:r>
            <a:endParaRPr lang="en-US" sz="1500" dirty="0"/>
          </a:p>
        </p:txBody>
      </p:sp>
      <p:sp>
        <p:nvSpPr>
          <p:cNvPr id="6" name="New result"/>
          <p:cNvSpPr/>
          <p:nvPr/>
        </p:nvSpPr>
        <p:spPr>
          <a:xfrm>
            <a:off x="548640" y="2286000"/>
            <a:ext cx="3657600" cy="1600200"/>
          </a:xfrm>
          <a:prstGeom prst="roundRect">
            <a:avLst>
              <a:gd name="adj" fmla="val 8571"/>
            </a:avLst>
          </a:prstGeom>
          <a:solidFill>
            <a:schemeClr val="bg2"/>
          </a:solidFill>
          <a:ln w="9525">
            <a:solidFill>
              <a:schemeClr val="accent5"/>
            </a:solidFill>
            <a:prstDash val="solid"/>
          </a:ln>
        </p:spPr>
        <p:txBody>
          <a:bodyPr/>
          <a:lstStyle/>
          <a:p>
            <a:endParaRPr lang="fr-FR"/>
          </a:p>
        </p:txBody>
      </p:sp>
      <p:sp>
        <p:nvSpPr>
          <p:cNvPr id="7" name="Shape 5"/>
          <p:cNvSpPr/>
          <p:nvPr/>
        </p:nvSpPr>
        <p:spPr>
          <a:xfrm>
            <a:off x="822960" y="2560320"/>
            <a:ext cx="91440" cy="91440"/>
          </a:xfrm>
          <a:prstGeom prst="rect">
            <a:avLst/>
          </a:prstGeom>
          <a:solidFill>
            <a:schemeClr val="accent2"/>
          </a:solidFill>
          <a:ln/>
        </p:spPr>
        <p:txBody>
          <a:bodyPr/>
          <a:lstStyle/>
          <a:p>
            <a:endParaRPr lang="fr-FR"/>
          </a:p>
        </p:txBody>
      </p:sp>
      <p:sp>
        <p:nvSpPr>
          <p:cNvPr id="8" name="Text 6"/>
          <p:cNvSpPr txBox="1"/>
          <p:nvPr/>
        </p:nvSpPr>
        <p:spPr>
          <a:xfrm>
            <a:off x="1005840" y="2468880"/>
            <a:ext cx="2743200" cy="274320"/>
          </a:xfrm>
          <a:prstGeom prst="rect">
            <a:avLst/>
          </a:prstGeom>
          <a:noFill/>
          <a:ln/>
        </p:spPr>
        <p:txBody>
          <a:bodyPr wrap="square" lIns="0" tIns="0" rIns="0" bIns="0" rtlCol="0" anchor="ctr"/>
          <a:lstStyle/>
          <a:p>
            <a:pPr marL="0" indent="0">
              <a:buNone/>
            </a:pPr>
            <a:r>
              <a:rPr lang="en-US" sz="1100" b="1" kern="0" spc="200" dirty="0">
                <a:solidFill>
                  <a:schemeClr val="tx2"/>
                </a:solidFill>
              </a:rPr>
              <a:t>NEW RESULT</a:t>
            </a:r>
            <a:endParaRPr lang="en-US" sz="1100" dirty="0"/>
          </a:p>
        </p:txBody>
      </p:sp>
      <p:sp>
        <p:nvSpPr>
          <p:cNvPr id="9" name="Text 7"/>
          <p:cNvSpPr txBox="1"/>
          <p:nvPr/>
        </p:nvSpPr>
        <p:spPr>
          <a:xfrm>
            <a:off x="822960" y="2834640"/>
            <a:ext cx="3108960" cy="960120"/>
          </a:xfrm>
          <a:prstGeom prst="rect">
            <a:avLst/>
          </a:prstGeom>
          <a:noFill/>
          <a:ln/>
        </p:spPr>
        <p:txBody>
          <a:bodyPr wrap="square" lIns="0" tIns="0" rIns="0" bIns="0" rtlCol="0" anchor="t"/>
          <a:lstStyle/>
          <a:p>
            <a:pPr marL="0" indent="0">
              <a:buNone/>
            </a:pPr>
            <a:r>
              <a:rPr lang="en-US" sz="1500" dirty="0">
                <a:solidFill>
                  <a:schemeClr val="tx2"/>
                </a:solidFill>
              </a:rPr>
              <a:t>Drops the </a:t>
            </a:r>
            <a:r>
              <a:rPr lang="en-US" sz="1500" b="1" dirty="0">
                <a:solidFill>
                  <a:schemeClr val="tx1"/>
                </a:solidFill>
              </a:rPr>
              <a:t>sparsity</a:t>
            </a:r>
            <a:r>
              <a:rPr lang="en-US" sz="1500" dirty="0">
                <a:solidFill>
                  <a:schemeClr val="tx2"/>
                </a:solidFill>
              </a:rPr>
              <a:t> restriction: handles </a:t>
            </a:r>
            <a:r>
              <a:rPr lang="en-US" sz="1500" b="1" dirty="0">
                <a:solidFill>
                  <a:schemeClr val="tx1"/>
                </a:solidFill>
              </a:rPr>
              <a:t>all-to-all interactions</a:t>
            </a:r>
            <a:r>
              <a:rPr lang="en-US" sz="1500" dirty="0">
                <a:solidFill>
                  <a:schemeClr val="tx2"/>
                </a:solidFill>
              </a:rPr>
              <a:t>, a significant generalization</a:t>
            </a:r>
            <a:endParaRPr lang="en-US" sz="1500" dirty="0"/>
          </a:p>
        </p:txBody>
      </p:sp>
      <p:sp>
        <p:nvSpPr>
          <p:cNvPr id="10" name="Limitation"/>
          <p:cNvSpPr/>
          <p:nvPr/>
        </p:nvSpPr>
        <p:spPr>
          <a:xfrm>
            <a:off x="548640" y="4069080"/>
            <a:ext cx="3657600" cy="1554480"/>
          </a:xfrm>
          <a:prstGeom prst="roundRect">
            <a:avLst>
              <a:gd name="adj" fmla="val 8824"/>
            </a:avLst>
          </a:prstGeom>
          <a:solidFill>
            <a:schemeClr val="bg2"/>
          </a:solidFill>
          <a:ln w="9525">
            <a:solidFill>
              <a:schemeClr val="accent5"/>
            </a:solidFill>
            <a:prstDash val="solid"/>
          </a:ln>
        </p:spPr>
        <p:txBody>
          <a:bodyPr/>
          <a:lstStyle/>
          <a:p>
            <a:endParaRPr lang="fr-FR"/>
          </a:p>
        </p:txBody>
      </p:sp>
      <p:sp>
        <p:nvSpPr>
          <p:cNvPr id="11" name="Shape 9"/>
          <p:cNvSpPr/>
          <p:nvPr/>
        </p:nvSpPr>
        <p:spPr>
          <a:xfrm>
            <a:off x="822960" y="4343400"/>
            <a:ext cx="91440" cy="91440"/>
          </a:xfrm>
          <a:prstGeom prst="rect">
            <a:avLst/>
          </a:prstGeom>
          <a:solidFill>
            <a:schemeClr val="accent2"/>
          </a:solidFill>
          <a:ln/>
        </p:spPr>
        <p:txBody>
          <a:bodyPr/>
          <a:lstStyle/>
          <a:p>
            <a:endParaRPr lang="fr-FR"/>
          </a:p>
        </p:txBody>
      </p:sp>
      <p:sp>
        <p:nvSpPr>
          <p:cNvPr id="12" name="Text 10"/>
          <p:cNvSpPr txBox="1"/>
          <p:nvPr/>
        </p:nvSpPr>
        <p:spPr>
          <a:xfrm>
            <a:off x="1005840" y="4251960"/>
            <a:ext cx="2743200" cy="274320"/>
          </a:xfrm>
          <a:prstGeom prst="rect">
            <a:avLst/>
          </a:prstGeom>
          <a:noFill/>
          <a:ln/>
        </p:spPr>
        <p:txBody>
          <a:bodyPr wrap="square" lIns="0" tIns="0" rIns="0" bIns="0" rtlCol="0" anchor="ctr"/>
          <a:lstStyle/>
          <a:p>
            <a:pPr marL="0" indent="0">
              <a:buNone/>
            </a:pPr>
            <a:r>
              <a:rPr lang="en-US" sz="1100" b="1" kern="0" spc="200" dirty="0">
                <a:solidFill>
                  <a:schemeClr val="tx2"/>
                </a:solidFill>
              </a:rPr>
              <a:t>LIMITATION</a:t>
            </a:r>
            <a:endParaRPr lang="en-US" sz="1100" dirty="0"/>
          </a:p>
        </p:txBody>
      </p:sp>
      <p:sp>
        <p:nvSpPr>
          <p:cNvPr id="13" name="Text 11"/>
          <p:cNvSpPr txBox="1"/>
          <p:nvPr/>
        </p:nvSpPr>
        <p:spPr>
          <a:xfrm>
            <a:off x="822960" y="4617720"/>
            <a:ext cx="3108960" cy="914400"/>
          </a:xfrm>
          <a:prstGeom prst="rect">
            <a:avLst/>
          </a:prstGeom>
          <a:noFill/>
          <a:ln/>
        </p:spPr>
        <p:txBody>
          <a:bodyPr wrap="square" lIns="0" tIns="0" rIns="0" bIns="0" rtlCol="0" anchor="t"/>
          <a:lstStyle/>
          <a:p>
            <a:pPr marL="0" indent="0">
              <a:buNone/>
            </a:pPr>
            <a:r>
              <a:rPr lang="en-US" sz="1500" b="1" dirty="0">
                <a:solidFill>
                  <a:schemeClr val="tx1"/>
                </a:solidFill>
              </a:rPr>
              <a:t>BQP-completeness</a:t>
            </a:r>
            <a:r>
              <a:rPr lang="en-US" sz="1500" dirty="0">
                <a:solidFill>
                  <a:schemeClr val="tx2"/>
                </a:solidFill>
              </a:rPr>
              <a:t> is </a:t>
            </a:r>
            <a:r>
              <a:rPr lang="en-US" sz="1500" b="1" dirty="0">
                <a:solidFill>
                  <a:schemeClr val="tx1"/>
                </a:solidFill>
              </a:rPr>
              <a:t>not</a:t>
            </a:r>
            <a:r>
              <a:rPr lang="en-US" sz="1500" dirty="0">
                <a:solidFill>
                  <a:schemeClr val="tx2"/>
                </a:solidFill>
              </a:rPr>
              <a:t> reproven for the dense/all-to-all case</a:t>
            </a:r>
            <a:endParaRPr lang="en-US" sz="1500" dirty="0"/>
          </a:p>
        </p:txBody>
      </p:sp>
      <p:sp>
        <p:nvSpPr>
          <p:cNvPr id="14" name="Follow-up diagram"/>
          <p:cNvSpPr/>
          <p:nvPr/>
        </p:nvSpPr>
        <p:spPr>
          <a:xfrm>
            <a:off x="4526280" y="2286000"/>
            <a:ext cx="7116775" cy="3337560"/>
          </a:xfrm>
          <a:prstGeom prst="roundRect">
            <a:avLst>
              <a:gd name="adj" fmla="val 2740"/>
            </a:avLst>
          </a:prstGeom>
          <a:solidFill>
            <a:schemeClr val="tx1"/>
          </a:solidFill>
          <a:ln/>
        </p:spPr>
        <p:txBody>
          <a:bodyPr/>
          <a:lstStyle/>
          <a:p>
            <a:endParaRPr lang="fr-FR"/>
          </a:p>
        </p:txBody>
      </p:sp>
      <p:pic>
        <p:nvPicPr>
          <p:cNvPr id="15" name="Image 0" descr="Pipeline from dissipative nonlinear dynamics to quantum computer observables"/>
          <p:cNvPicPr>
            <a:picLocks noChangeAspect="1"/>
          </p:cNvPicPr>
          <p:nvPr/>
        </p:nvPicPr>
        <p:blipFill>
          <a:blip r:embed="rId3"/>
          <a:stretch>
            <a:fillRect/>
          </a:stretch>
        </p:blipFill>
        <p:spPr>
          <a:xfrm>
            <a:off x="5227168" y="2350008"/>
            <a:ext cx="5715000" cy="3209544"/>
          </a:xfrm>
          <a:prstGeom prst="rect">
            <a:avLst/>
          </a:prstGeom>
        </p:spPr>
      </p:pic>
      <p:sp>
        <p:nvSpPr>
          <p:cNvPr id="16" name="Text 13"/>
          <p:cNvSpPr txBox="1"/>
          <p:nvPr/>
        </p:nvSpPr>
        <p:spPr>
          <a:xfrm>
            <a:off x="548640" y="5760720"/>
            <a:ext cx="11094415" cy="411480"/>
          </a:xfrm>
          <a:prstGeom prst="rect">
            <a:avLst/>
          </a:prstGeom>
          <a:noFill/>
          <a:ln/>
        </p:spPr>
        <p:txBody>
          <a:bodyPr wrap="square" lIns="0" tIns="0" rIns="0" bIns="0" rtlCol="0" anchor="ctr"/>
          <a:lstStyle/>
          <a:p>
            <a:pPr marL="0" indent="0">
              <a:buNone/>
            </a:pPr>
            <a:r>
              <a:rPr lang="en-US" sz="1100" i="1" dirty="0">
                <a:solidFill>
                  <a:schemeClr val="tx2"/>
                </a:solidFill>
              </a:rPr>
              <a:t>"Quantum algorithms for stochastic nonlinear differential equations"</a:t>
            </a:r>
            <a:r>
              <a:rPr lang="en-US" sz="1100" dirty="0">
                <a:solidFill>
                  <a:schemeClr val="tx2"/>
                </a:solidFill>
              </a:rPr>
              <a:t> by Sergey Bravyi, Adam Byrne, Mykhaylo Zayats, Sergiy Zhuk, submitted 6 June 2026, arXiv:2606.08349</a:t>
            </a:r>
            <a:endParaRPr lang="en-US" sz="1100" dirty="0"/>
          </a:p>
        </p:txBody>
      </p:sp>
      <p:sp>
        <p:nvSpPr>
          <p:cNvPr id="25" name="Slide Number Placeholder 0"/>
          <p:cNvSpPr>
            <a:spLocks noGrp="1"/>
          </p:cNvSpPr>
          <p:nvPr>
            <p:ph type="sldNum" sz="quarter" idx="4294967295"/>
          </p:nvPr>
        </p:nvSpPr>
        <p:spPr>
          <a:xfrm>
            <a:off x="11094415" y="6327648"/>
            <a:ext cx="548640" cy="274320"/>
          </a:xfrm>
          <a:prstGeom prst="rect">
            <a:avLst/>
          </a:prstGeom>
          <a:extLst>
            <a:ext uri="{C572A759-6A51-4108-AA02-DFA0A04FC94B}">
              <ma14:wrappingTextBoxFlag xmlns:ma14="http://schemas.microsoft.com/office/mac/drawingml/2011/main" xmlns="" val="0"/>
            </a:ext>
          </a:extLst>
        </p:spPr>
        <p:txBody>
          <a:bodyPr lIns="0" tIns="0" rIns="0" bIns="0" anchor="ctr"/>
          <a:lstStyle>
            <a:lvl1pPr>
              <a:defRPr sz="1000">
                <a:solidFill>
                  <a:srgbClr val="9AA3BD"/>
                </a:solidFill>
              </a:defRPr>
            </a:lvl1pPr>
          </a:lstStyle>
          <a:p>
            <a:pPr algn="r"/>
            <a:fld id="{F7021451-1387-4CA6-816F-3879F97B5CBC}" type="slidenum">
              <a:rPr lang="en-US" b="0"/>
              <a:t>21</a:t>
            </a:fld>
            <a:endParaRPr lang="en-US"/>
          </a:p>
        </p:txBody>
      </p:sp>
      <p:pic>
        <p:nvPicPr>
          <p:cNvPr id="18" name="Image 17">
            <a:extLst>
              <a:ext uri="{FF2B5EF4-FFF2-40B4-BE49-F238E27FC236}">
                <a16:creationId xmlns:a16="http://schemas.microsoft.com/office/drawing/2014/main" id="{499164E4-522C-DF51-AB30-D34E42DCBA43}"/>
              </a:ext>
            </a:extLst>
          </p:cNvPr>
          <p:cNvPicPr>
            <a:picLocks noChangeAspect="1"/>
          </p:cNvPicPr>
          <p:nvPr/>
        </p:nvPicPr>
        <p:blipFill>
          <a:blip r:embed="rId4"/>
          <a:stretch>
            <a:fillRect/>
          </a:stretch>
        </p:blipFill>
        <p:spPr>
          <a:xfrm>
            <a:off x="9724644" y="-443705"/>
            <a:ext cx="2437453" cy="1723866"/>
          </a:xfrm>
          <a:prstGeom prst="rect">
            <a:avLst/>
          </a:prstGeom>
        </p:spPr>
      </p:pic>
      <p:sp>
        <p:nvSpPr>
          <p:cNvPr id="19" name="object 11">
            <a:extLst>
              <a:ext uri="{FF2B5EF4-FFF2-40B4-BE49-F238E27FC236}">
                <a16:creationId xmlns:a16="http://schemas.microsoft.com/office/drawing/2014/main" id="{2E9BDD55-8C90-1D53-B516-D9FA7AA9BE09}"/>
              </a:ext>
            </a:extLst>
          </p:cNvPr>
          <p:cNvSpPr/>
          <p:nvPr/>
        </p:nvSpPr>
        <p:spPr bwMode="auto">
          <a:xfrm>
            <a:off x="5227168" y="2350008"/>
            <a:ext cx="5715000" cy="3209544"/>
          </a:xfrm>
          <a:custGeom>
            <a:avLst/>
            <a:gdLst/>
            <a:ahLst/>
            <a:cxnLst/>
            <a:rect l="l" t="t" r="r" b="b"/>
            <a:pathLst>
              <a:path w="2877819" h="6055359" extrusionOk="0">
                <a:moveTo>
                  <a:pt x="2827528" y="0"/>
                </a:moveTo>
                <a:lnTo>
                  <a:pt x="49784" y="0"/>
                </a:lnTo>
                <a:lnTo>
                  <a:pt x="40018" y="960"/>
                </a:lnTo>
                <a:lnTo>
                  <a:pt x="8358" y="22155"/>
                </a:lnTo>
                <a:lnTo>
                  <a:pt x="0" y="49783"/>
                </a:lnTo>
                <a:lnTo>
                  <a:pt x="0" y="6005067"/>
                </a:lnTo>
                <a:lnTo>
                  <a:pt x="22155" y="6046493"/>
                </a:lnTo>
                <a:lnTo>
                  <a:pt x="49784" y="6054851"/>
                </a:lnTo>
                <a:lnTo>
                  <a:pt x="2827528" y="6054851"/>
                </a:lnTo>
                <a:lnTo>
                  <a:pt x="2868953" y="6032642"/>
                </a:lnTo>
                <a:lnTo>
                  <a:pt x="2877311" y="6005067"/>
                </a:lnTo>
                <a:lnTo>
                  <a:pt x="2877311" y="49783"/>
                </a:lnTo>
                <a:lnTo>
                  <a:pt x="2855156" y="8358"/>
                </a:lnTo>
                <a:lnTo>
                  <a:pt x="2827528" y="0"/>
                </a:lnTo>
                <a:close/>
              </a:path>
            </a:pathLst>
          </a:custGeom>
          <a:solidFill>
            <a:srgbClr val="353E77">
              <a:alpha val="12000"/>
            </a:srgbClr>
          </a:solidFill>
        </p:spPr>
        <p:txBody>
          <a:bodyPr wrap="square" lIns="0" tIns="0" rIns="0" bIns="0" rtlCol="0"/>
          <a:lstStyle/>
          <a:p>
            <a:pPr>
              <a:defRPr/>
            </a:pPr>
            <a:endParaRPr sz="120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B856EB-7653-8A03-A035-DA95E3B2DA54}"/>
            </a:ext>
          </a:extLst>
        </p:cNvPr>
        <p:cNvGrpSpPr/>
        <p:nvPr/>
      </p:nvGrpSpPr>
      <p:grpSpPr>
        <a:xfrm>
          <a:off x="0" y="0"/>
          <a:ext cx="0" cy="0"/>
          <a:chOff x="0" y="0"/>
          <a:chExt cx="0" cy="0"/>
        </a:xfrm>
      </p:grpSpPr>
      <p:sp>
        <p:nvSpPr>
          <p:cNvPr id="2" name="Text 10">
            <a:extLst>
              <a:ext uri="{FF2B5EF4-FFF2-40B4-BE49-F238E27FC236}">
                <a16:creationId xmlns:a16="http://schemas.microsoft.com/office/drawing/2014/main" id="{27C3643E-428C-385F-D76F-F9B6EB0C7223}"/>
              </a:ext>
            </a:extLst>
          </p:cNvPr>
          <p:cNvSpPr>
            <a:spLocks noGrp="1"/>
          </p:cNvSpPr>
          <p:nvPr>
            <p:ph type="body" idx="110" hasCustomPrompt="1"/>
          </p:nvPr>
        </p:nvSpPr>
        <p:spPr>
          <a:xfrm>
            <a:off x="548640" y="1463040"/>
            <a:ext cx="3657600" cy="1280160"/>
          </a:xfrm>
          <a:prstGeom prst="rect">
            <a:avLst/>
          </a:prstGeom>
          <a:noFill/>
          <a:ln/>
        </p:spPr>
        <p:txBody>
          <a:bodyPr wrap="square" lIns="0" tIns="0" rIns="0" bIns="0" rtlCol="0" anchor="b"/>
          <a:lstStyle/>
          <a:p>
            <a:pPr marL="0" indent="0" algn="l">
              <a:buNone/>
            </a:pPr>
            <a:r>
              <a:rPr lang="en-US" sz="9600" b="1" dirty="0">
                <a:solidFill>
                  <a:schemeClr val="accent1"/>
                </a:solidFill>
                <a:latin typeface="Aptos Display" pitchFamily="34" charset="0"/>
                <a:ea typeface="Aptos Display" pitchFamily="34" charset="-122"/>
                <a:cs typeface="Aptos Display" pitchFamily="34" charset="-120"/>
              </a:rPr>
              <a:t>0</a:t>
            </a:r>
            <a:r>
              <a:rPr lang="en-US" dirty="0"/>
              <a:t>3</a:t>
            </a:r>
            <a:endParaRPr lang="en-US" sz="9600" dirty="0"/>
          </a:p>
        </p:txBody>
      </p:sp>
      <p:sp>
        <p:nvSpPr>
          <p:cNvPr id="3" name="Text 10">
            <a:extLst>
              <a:ext uri="{FF2B5EF4-FFF2-40B4-BE49-F238E27FC236}">
                <a16:creationId xmlns:a16="http://schemas.microsoft.com/office/drawing/2014/main" id="{0A5C62C1-380C-FFDA-6AA8-A1ADA2B91613}"/>
              </a:ext>
            </a:extLst>
          </p:cNvPr>
          <p:cNvSpPr>
            <a:spLocks noGrp="1"/>
          </p:cNvSpPr>
          <p:nvPr>
            <p:ph type="title" idx="111" hasCustomPrompt="1"/>
          </p:nvPr>
        </p:nvSpPr>
        <p:spPr>
          <a:xfrm>
            <a:off x="548640" y="2926080"/>
            <a:ext cx="4877376" cy="914400"/>
          </a:xfrm>
          <a:prstGeom prst="rect">
            <a:avLst/>
          </a:prstGeom>
          <a:noFill/>
          <a:ln/>
        </p:spPr>
        <p:txBody>
          <a:bodyPr wrap="square" lIns="0" tIns="0" rIns="0" bIns="0" rtlCol="0" anchor="t"/>
          <a:lstStyle/>
          <a:p>
            <a:pPr marL="0" indent="0" algn="l">
              <a:buNone/>
            </a:pPr>
            <a:r>
              <a:rPr lang="en-US" sz="4000" dirty="0"/>
              <a:t>Differential equations on silicon spin qubits</a:t>
            </a:r>
          </a:p>
        </p:txBody>
      </p:sp>
      <p:sp>
        <p:nvSpPr>
          <p:cNvPr id="4" name="Text 10">
            <a:extLst>
              <a:ext uri="{FF2B5EF4-FFF2-40B4-BE49-F238E27FC236}">
                <a16:creationId xmlns:a16="http://schemas.microsoft.com/office/drawing/2014/main" id="{E8A69FCC-55BE-E8F5-E079-AB0C8FB82AEA}"/>
              </a:ext>
            </a:extLst>
          </p:cNvPr>
          <p:cNvSpPr>
            <a:spLocks noGrp="1"/>
          </p:cNvSpPr>
          <p:nvPr>
            <p:ph type="body" idx="112" hasCustomPrompt="1"/>
          </p:nvPr>
        </p:nvSpPr>
        <p:spPr>
          <a:xfrm>
            <a:off x="548640" y="3931920"/>
            <a:ext cx="6858000" cy="822960"/>
          </a:xfrm>
          <a:prstGeom prst="rect">
            <a:avLst/>
          </a:prstGeom>
          <a:noFill/>
          <a:ln/>
        </p:spPr>
        <p:txBody>
          <a:bodyPr wrap="square" lIns="0" tIns="0" rIns="0" bIns="0" rtlCol="0" anchor="t"/>
          <a:lstStyle/>
          <a:p>
            <a:pPr>
              <a:lnSpc>
                <a:spcPts val="5037"/>
              </a:lnSpc>
              <a:defRPr/>
            </a:pPr>
            <a:r>
              <a:rPr lang="en-US" dirty="0" err="1"/>
              <a:t>SpinPulse</a:t>
            </a:r>
            <a:r>
              <a:rPr lang="en-US" dirty="0"/>
              <a:t> examples</a:t>
            </a:r>
          </a:p>
          <a:p>
            <a:pPr marL="0" indent="0" algn="l">
              <a:buNone/>
            </a:pPr>
            <a:endParaRPr lang="en-US" sz="1600" dirty="0"/>
          </a:p>
        </p:txBody>
      </p:sp>
      <p:sp>
        <p:nvSpPr>
          <p:cNvPr id="5" name="Detail square">
            <a:extLst>
              <a:ext uri="{FF2B5EF4-FFF2-40B4-BE49-F238E27FC236}">
                <a16:creationId xmlns:a16="http://schemas.microsoft.com/office/drawing/2014/main" id="{28C55002-78E5-D290-4C33-82055389F43A}"/>
              </a:ext>
            </a:extLst>
          </p:cNvPr>
          <p:cNvSpPr/>
          <p:nvPr/>
        </p:nvSpPr>
        <p:spPr>
          <a:xfrm>
            <a:off x="594360" y="1325880"/>
            <a:ext cx="109728" cy="109728"/>
          </a:xfrm>
          <a:prstGeom prst="rect">
            <a:avLst/>
          </a:prstGeom>
          <a:solidFill>
            <a:schemeClr val="accent2"/>
          </a:solidFill>
          <a:ln/>
        </p:spPr>
        <p:txBody>
          <a:bodyPr/>
          <a:lstStyle/>
          <a:p>
            <a:endParaRPr lang="fr-FR"/>
          </a:p>
        </p:txBody>
      </p:sp>
      <p:sp>
        <p:nvSpPr>
          <p:cNvPr id="25" name="Slide Number Placeholder 0">
            <a:extLst>
              <a:ext uri="{FF2B5EF4-FFF2-40B4-BE49-F238E27FC236}">
                <a16:creationId xmlns:a16="http://schemas.microsoft.com/office/drawing/2014/main" id="{D45B49F8-DFC8-67D1-F6AC-B9A514BCB028}"/>
              </a:ext>
            </a:extLst>
          </p:cNvPr>
          <p:cNvSpPr>
            <a:spLocks noGrp="1"/>
          </p:cNvSpPr>
          <p:nvPr>
            <p:ph type="sldNum" sz="quarter" idx="4294967295"/>
          </p:nvPr>
        </p:nvSpPr>
        <p:spPr>
          <a:xfrm>
            <a:off x="11094415" y="6327648"/>
            <a:ext cx="548640" cy="274320"/>
          </a:xfrm>
          <a:prstGeom prst="rect">
            <a:avLst/>
          </a:prstGeom>
          <a:extLst>
            <a:ext uri="{C572A759-6A51-4108-AA02-DFA0A04FC94B}">
              <ma14:wrappingTextBoxFlag xmlns="" xmlns:ma14="http://schemas.microsoft.com/office/mac/drawingml/2011/main" val="0"/>
            </a:ext>
          </a:extLst>
        </p:spPr>
        <p:txBody>
          <a:bodyPr lIns="0" tIns="0" rIns="0" bIns="0" anchor="ctr"/>
          <a:lstStyle>
            <a:lvl1pPr>
              <a:defRPr sz="1000">
                <a:solidFill>
                  <a:srgbClr val="9AA3BD"/>
                </a:solidFill>
              </a:defRPr>
            </a:lvl1pPr>
          </a:lstStyle>
          <a:p>
            <a:pPr algn="r"/>
            <a:fld id="{F7021451-1387-4CA6-816F-3879F97B5CBC}" type="slidenum">
              <a:rPr lang="en-US" b="0"/>
              <a:t>22</a:t>
            </a:fld>
            <a:endParaRPr lang="en-US"/>
          </a:p>
        </p:txBody>
      </p:sp>
      <p:pic>
        <p:nvPicPr>
          <p:cNvPr id="7" name="Image 6">
            <a:extLst>
              <a:ext uri="{FF2B5EF4-FFF2-40B4-BE49-F238E27FC236}">
                <a16:creationId xmlns:a16="http://schemas.microsoft.com/office/drawing/2014/main" id="{0A85A743-068B-60AA-F87E-EB46DC38F4F5}"/>
              </a:ext>
            </a:extLst>
          </p:cNvPr>
          <p:cNvPicPr>
            <a:picLocks noChangeAspect="1"/>
          </p:cNvPicPr>
          <p:nvPr/>
        </p:nvPicPr>
        <p:blipFill>
          <a:blip r:embed="rId3"/>
          <a:stretch>
            <a:fillRect/>
          </a:stretch>
        </p:blipFill>
        <p:spPr>
          <a:xfrm>
            <a:off x="6657287" y="1517655"/>
            <a:ext cx="4711448" cy="1529917"/>
          </a:xfrm>
          <a:prstGeom prst="rect">
            <a:avLst/>
          </a:prstGeom>
        </p:spPr>
      </p:pic>
      <p:pic>
        <p:nvPicPr>
          <p:cNvPr id="9" name="Image 8">
            <a:extLst>
              <a:ext uri="{FF2B5EF4-FFF2-40B4-BE49-F238E27FC236}">
                <a16:creationId xmlns:a16="http://schemas.microsoft.com/office/drawing/2014/main" id="{E47735C3-0A62-74FF-DC86-BBC0F86B3F04}"/>
              </a:ext>
            </a:extLst>
          </p:cNvPr>
          <p:cNvPicPr>
            <a:picLocks noChangeAspect="1"/>
          </p:cNvPicPr>
          <p:nvPr/>
        </p:nvPicPr>
        <p:blipFill>
          <a:blip r:embed="rId4"/>
          <a:stretch>
            <a:fillRect/>
          </a:stretch>
        </p:blipFill>
        <p:spPr>
          <a:xfrm>
            <a:off x="9724644" y="-443705"/>
            <a:ext cx="2437453" cy="1723866"/>
          </a:xfrm>
          <a:prstGeom prst="rect">
            <a:avLst/>
          </a:prstGeom>
        </p:spPr>
      </p:pic>
      <p:pic>
        <p:nvPicPr>
          <p:cNvPr id="11" name="object 7" descr="quobly  Le contenu généré par l’IA peut être incorrect.">
            <a:extLst>
              <a:ext uri="{FF2B5EF4-FFF2-40B4-BE49-F238E27FC236}">
                <a16:creationId xmlns:a16="http://schemas.microsoft.com/office/drawing/2014/main" id="{E934A425-6043-A20F-D35D-846D00C794FC}"/>
              </a:ext>
            </a:extLst>
          </p:cNvPr>
          <p:cNvPicPr/>
          <p:nvPr/>
        </p:nvPicPr>
        <p:blipFill rotWithShape="1">
          <a:blip r:embed="rId5"/>
          <a:stretch/>
        </p:blipFill>
        <p:spPr bwMode="auto">
          <a:xfrm>
            <a:off x="7931783" y="3522481"/>
            <a:ext cx="2197590" cy="2464797"/>
          </a:xfrm>
          <a:prstGeom prst="rect">
            <a:avLst/>
          </a:prstGeom>
        </p:spPr>
      </p:pic>
    </p:spTree>
    <p:extLst>
      <p:ext uri="{BB962C8B-B14F-4D97-AF65-F5344CB8AC3E}">
        <p14:creationId xmlns:p14="http://schemas.microsoft.com/office/powerpoint/2010/main" val="351720115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1DE1AA-7BFF-4ABF-068F-3EF0F386A8D5}"/>
            </a:ext>
          </a:extLst>
        </p:cNvPr>
        <p:cNvGrpSpPr/>
        <p:nvPr/>
      </p:nvGrpSpPr>
      <p:grpSpPr>
        <a:xfrm>
          <a:off x="0" y="0"/>
          <a:ext cx="0" cy="0"/>
          <a:chOff x="0" y="0"/>
          <a:chExt cx="0" cy="0"/>
        </a:xfrm>
      </p:grpSpPr>
      <p:sp>
        <p:nvSpPr>
          <p:cNvPr id="25" name="Slide Number Placeholder 0">
            <a:extLst>
              <a:ext uri="{FF2B5EF4-FFF2-40B4-BE49-F238E27FC236}">
                <a16:creationId xmlns:a16="http://schemas.microsoft.com/office/drawing/2014/main" id="{4A3AC1A6-3822-BA2E-EEE9-3BD83B57AD9C}"/>
              </a:ext>
            </a:extLst>
          </p:cNvPr>
          <p:cNvSpPr>
            <a:spLocks noGrp="1"/>
          </p:cNvSpPr>
          <p:nvPr>
            <p:ph type="sldNum" sz="quarter" idx="4294967295"/>
          </p:nvPr>
        </p:nvSpPr>
        <p:spPr>
          <a:xfrm>
            <a:off x="11094415" y="6327648"/>
            <a:ext cx="548640" cy="274320"/>
          </a:xfrm>
          <a:prstGeom prst="rect">
            <a:avLst/>
          </a:prstGeom>
          <a:extLst>
            <a:ext uri="{C572A759-6A51-4108-AA02-DFA0A04FC94B}">
              <ma14:wrappingTextBoxFlag xmlns="" xmlns:ma14="http://schemas.microsoft.com/office/mac/drawingml/2011/main" val="0"/>
            </a:ext>
          </a:extLst>
        </p:spPr>
        <p:txBody>
          <a:bodyPr lIns="0" tIns="0" rIns="0" bIns="0" anchor="ctr"/>
          <a:lstStyle>
            <a:lvl1pPr>
              <a:defRPr sz="1000">
                <a:solidFill>
                  <a:srgbClr val="9AA3BD"/>
                </a:solidFill>
              </a:defRPr>
            </a:lvl1pPr>
          </a:lstStyle>
          <a:p>
            <a:pPr algn="r"/>
            <a:fld id="{F7021451-1387-4CA6-816F-3879F97B5CBC}" type="slidenum">
              <a:rPr lang="en-US" b="0"/>
              <a:t>23</a:t>
            </a:fld>
            <a:endParaRPr lang="en-US"/>
          </a:p>
        </p:txBody>
      </p:sp>
      <p:pic>
        <p:nvPicPr>
          <p:cNvPr id="9" name="Image 8">
            <a:extLst>
              <a:ext uri="{FF2B5EF4-FFF2-40B4-BE49-F238E27FC236}">
                <a16:creationId xmlns:a16="http://schemas.microsoft.com/office/drawing/2014/main" id="{018C56B6-5611-37F9-C573-4E5BAE34F2C9}"/>
              </a:ext>
            </a:extLst>
          </p:cNvPr>
          <p:cNvPicPr>
            <a:picLocks noChangeAspect="1"/>
          </p:cNvPicPr>
          <p:nvPr/>
        </p:nvPicPr>
        <p:blipFill>
          <a:blip r:embed="rId3"/>
          <a:stretch>
            <a:fillRect/>
          </a:stretch>
        </p:blipFill>
        <p:spPr>
          <a:xfrm>
            <a:off x="9724644" y="-443705"/>
            <a:ext cx="2437453" cy="1723866"/>
          </a:xfrm>
          <a:prstGeom prst="rect">
            <a:avLst/>
          </a:prstGeom>
        </p:spPr>
      </p:pic>
      <p:pic>
        <p:nvPicPr>
          <p:cNvPr id="16" name="Image 15">
            <a:extLst>
              <a:ext uri="{FF2B5EF4-FFF2-40B4-BE49-F238E27FC236}">
                <a16:creationId xmlns:a16="http://schemas.microsoft.com/office/drawing/2014/main" id="{BC91321E-3A16-FD8B-E314-C4018471D5E7}"/>
              </a:ext>
            </a:extLst>
          </p:cNvPr>
          <p:cNvPicPr>
            <a:picLocks noChangeAspect="1"/>
          </p:cNvPicPr>
          <p:nvPr/>
        </p:nvPicPr>
        <p:blipFill>
          <a:blip r:embed="rId4"/>
          <a:stretch>
            <a:fillRect/>
          </a:stretch>
        </p:blipFill>
        <p:spPr>
          <a:xfrm>
            <a:off x="3952875" y="1518789"/>
            <a:ext cx="4286250" cy="4286250"/>
          </a:xfrm>
          <a:prstGeom prst="rect">
            <a:avLst/>
          </a:prstGeom>
          <a:effectLst>
            <a:glow rad="101600">
              <a:schemeClr val="accent2">
                <a:satMod val="175000"/>
                <a:alpha val="40000"/>
              </a:schemeClr>
            </a:glow>
          </a:effectLst>
        </p:spPr>
      </p:pic>
      <p:sp>
        <p:nvSpPr>
          <p:cNvPr id="17" name="Text 10">
            <a:extLst>
              <a:ext uri="{FF2B5EF4-FFF2-40B4-BE49-F238E27FC236}">
                <a16:creationId xmlns:a16="http://schemas.microsoft.com/office/drawing/2014/main" id="{408A8B78-F28A-DE8D-BDBB-6A6651C16769}"/>
              </a:ext>
            </a:extLst>
          </p:cNvPr>
          <p:cNvSpPr txBox="1">
            <a:spLocks/>
          </p:cNvSpPr>
          <p:nvPr/>
        </p:nvSpPr>
        <p:spPr>
          <a:xfrm>
            <a:off x="3230305" y="845820"/>
            <a:ext cx="5731389" cy="777240"/>
          </a:xfrm>
          <a:prstGeom prst="rect">
            <a:avLst/>
          </a:prstGeom>
          <a:noFill/>
          <a:ln/>
        </p:spPr>
        <p:txBody>
          <a:bodyPr wrap="square" lIns="0" tIns="0" rIns="0" bIns="0" rtlCol="0" anchor="t"/>
          <a:lstStyle>
            <a:lvl1pPr marL="0" indent="0" algn="l" defTabSz="914400" rtl="0" eaLnBrk="1" latinLnBrk="0" hangingPunct="1">
              <a:spcBef>
                <a:spcPct val="20000"/>
              </a:spcBef>
              <a:buFont typeface="Arial" pitchFamily="34" charset="0"/>
              <a:buNone/>
              <a:defRPr lang="en-US" sz="9600" b="1" kern="1200" dirty="0">
                <a:solidFill>
                  <a:schemeClr val="accent1"/>
                </a:solidFill>
                <a:latin typeface="Aptos Display" pitchFamily="34" charset="0"/>
                <a:ea typeface="Aptos Display" pitchFamily="34" charset="-122"/>
                <a:cs typeface="Aptos Display" pitchFamily="34" charset="-120"/>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lgn="ctr"/>
            <a:r>
              <a:rPr lang="fr-FR" sz="3200" dirty="0" err="1">
                <a:solidFill>
                  <a:srgbClr val="E8075D"/>
                </a:solidFill>
              </a:rPr>
              <a:t>Tutorials</a:t>
            </a:r>
            <a:endParaRPr lang="fr-FR" sz="3200" dirty="0">
              <a:solidFill>
                <a:srgbClr val="E8075D"/>
              </a:solidFill>
            </a:endParaRPr>
          </a:p>
        </p:txBody>
      </p:sp>
    </p:spTree>
    <p:extLst>
      <p:ext uri="{BB962C8B-B14F-4D97-AF65-F5344CB8AC3E}">
        <p14:creationId xmlns:p14="http://schemas.microsoft.com/office/powerpoint/2010/main" val="248807336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EEE027-3B1F-8015-96CB-AC220338099F}"/>
            </a:ext>
          </a:extLst>
        </p:cNvPr>
        <p:cNvGrpSpPr/>
        <p:nvPr/>
      </p:nvGrpSpPr>
      <p:grpSpPr>
        <a:xfrm>
          <a:off x="0" y="0"/>
          <a:ext cx="0" cy="0"/>
          <a:chOff x="0" y="0"/>
          <a:chExt cx="0" cy="0"/>
        </a:xfrm>
      </p:grpSpPr>
      <p:sp>
        <p:nvSpPr>
          <p:cNvPr id="25" name="Slide Number Placeholder 0">
            <a:extLst>
              <a:ext uri="{FF2B5EF4-FFF2-40B4-BE49-F238E27FC236}">
                <a16:creationId xmlns:a16="http://schemas.microsoft.com/office/drawing/2014/main" id="{DDB7717D-A810-793A-1638-2FB297DE0EDC}"/>
              </a:ext>
            </a:extLst>
          </p:cNvPr>
          <p:cNvSpPr>
            <a:spLocks noGrp="1"/>
          </p:cNvSpPr>
          <p:nvPr>
            <p:ph type="sldNum" sz="quarter" idx="4294967295"/>
          </p:nvPr>
        </p:nvSpPr>
        <p:spPr>
          <a:xfrm>
            <a:off x="11094415" y="6327648"/>
            <a:ext cx="548640" cy="274320"/>
          </a:xfrm>
          <a:prstGeom prst="rect">
            <a:avLst/>
          </a:prstGeom>
          <a:extLst>
            <a:ext uri="{C572A759-6A51-4108-AA02-DFA0A04FC94B}">
              <ma14:wrappingTextBoxFlag xmlns="" xmlns:ma14="http://schemas.microsoft.com/office/mac/drawingml/2011/main" val="0"/>
            </a:ext>
          </a:extLst>
        </p:spPr>
        <p:txBody>
          <a:bodyPr lIns="0" tIns="0" rIns="0" bIns="0" anchor="ctr"/>
          <a:lstStyle>
            <a:lvl1pPr>
              <a:defRPr sz="1000">
                <a:solidFill>
                  <a:srgbClr val="9AA3BD"/>
                </a:solidFill>
              </a:defRPr>
            </a:lvl1pPr>
          </a:lstStyle>
          <a:p>
            <a:pPr algn="r"/>
            <a:fld id="{F7021451-1387-4CA6-816F-3879F97B5CBC}" type="slidenum">
              <a:rPr lang="en-US" b="0"/>
              <a:t>24</a:t>
            </a:fld>
            <a:endParaRPr lang="en-US"/>
          </a:p>
        </p:txBody>
      </p:sp>
      <p:pic>
        <p:nvPicPr>
          <p:cNvPr id="13" name="Image 12">
            <a:extLst>
              <a:ext uri="{FF2B5EF4-FFF2-40B4-BE49-F238E27FC236}">
                <a16:creationId xmlns:a16="http://schemas.microsoft.com/office/drawing/2014/main" id="{18390D53-C1DA-A225-39C6-B44DE5C169A7}"/>
              </a:ext>
            </a:extLst>
          </p:cNvPr>
          <p:cNvPicPr>
            <a:picLocks noChangeAspect="1"/>
          </p:cNvPicPr>
          <p:nvPr/>
        </p:nvPicPr>
        <p:blipFill>
          <a:blip r:embed="rId3"/>
          <a:stretch>
            <a:fillRect/>
          </a:stretch>
        </p:blipFill>
        <p:spPr>
          <a:xfrm>
            <a:off x="9724644" y="-443705"/>
            <a:ext cx="2437453" cy="1723866"/>
          </a:xfrm>
          <a:prstGeom prst="rect">
            <a:avLst/>
          </a:prstGeom>
        </p:spPr>
      </p:pic>
      <p:pic>
        <p:nvPicPr>
          <p:cNvPr id="38" name="Image 37" descr="SpinPulse">
            <a:extLst>
              <a:ext uri="{FF2B5EF4-FFF2-40B4-BE49-F238E27FC236}">
                <a16:creationId xmlns:a16="http://schemas.microsoft.com/office/drawing/2014/main" id="{20226834-E814-6CDD-FA44-1691567C13DF}"/>
              </a:ext>
            </a:extLst>
          </p:cNvPr>
          <p:cNvPicPr>
            <a:picLocks noChangeAspect="1"/>
          </p:cNvPicPr>
          <p:nvPr/>
        </p:nvPicPr>
        <p:blipFill>
          <a:blip r:embed="rId4"/>
          <a:stretch>
            <a:fillRect/>
          </a:stretch>
        </p:blipFill>
        <p:spPr>
          <a:xfrm>
            <a:off x="548640" y="478610"/>
            <a:ext cx="2312989" cy="534879"/>
          </a:xfrm>
          <a:prstGeom prst="roundRect">
            <a:avLst/>
          </a:prstGeom>
        </p:spPr>
      </p:pic>
      <p:sp>
        <p:nvSpPr>
          <p:cNvPr id="56" name="Text 13">
            <a:extLst>
              <a:ext uri="{FF2B5EF4-FFF2-40B4-BE49-F238E27FC236}">
                <a16:creationId xmlns:a16="http://schemas.microsoft.com/office/drawing/2014/main" id="{036EB1DC-8B7D-B041-1EAC-4340AC87F125}"/>
              </a:ext>
            </a:extLst>
          </p:cNvPr>
          <p:cNvSpPr txBox="1"/>
          <p:nvPr/>
        </p:nvSpPr>
        <p:spPr>
          <a:xfrm>
            <a:off x="548640" y="5648578"/>
            <a:ext cx="11094415" cy="411480"/>
          </a:xfrm>
          <a:prstGeom prst="rect">
            <a:avLst/>
          </a:prstGeom>
          <a:noFill/>
          <a:ln/>
        </p:spPr>
        <p:txBody>
          <a:bodyPr wrap="square" lIns="0" tIns="0" rIns="0" bIns="0" rtlCol="0" anchor="ctr"/>
          <a:lstStyle/>
          <a:p>
            <a:r>
              <a:rPr lang="en-GB" sz="1100" dirty="0">
                <a:solidFill>
                  <a:schemeClr val="tx2"/>
                </a:solidFill>
              </a:rPr>
              <a:t>“The SpinPulse library for </a:t>
            </a:r>
            <a:r>
              <a:rPr lang="en-GB" sz="1100" dirty="0" err="1">
                <a:solidFill>
                  <a:schemeClr val="tx2"/>
                </a:solidFill>
              </a:rPr>
              <a:t>transpilation</a:t>
            </a:r>
            <a:r>
              <a:rPr lang="en-GB" sz="1100" dirty="0">
                <a:solidFill>
                  <a:schemeClr val="tx2"/>
                </a:solidFill>
              </a:rPr>
              <a:t> and noise-accurate simulation of spin qubit quantum computers” by Benoît </a:t>
            </a:r>
            <a:r>
              <a:rPr lang="en-GB" sz="1100" dirty="0" err="1">
                <a:solidFill>
                  <a:schemeClr val="tx2"/>
                </a:solidFill>
              </a:rPr>
              <a:t>Vermersch</a:t>
            </a:r>
            <a:r>
              <a:rPr lang="en-GB" sz="1100" dirty="0">
                <a:solidFill>
                  <a:schemeClr val="tx2"/>
                </a:solidFill>
              </a:rPr>
              <a:t>, Oscar Gravier, Nathan </a:t>
            </a:r>
            <a:r>
              <a:rPr lang="en-GB" sz="1100" dirty="0" err="1">
                <a:solidFill>
                  <a:schemeClr val="tx2"/>
                </a:solidFill>
              </a:rPr>
              <a:t>Miscopein</a:t>
            </a:r>
            <a:r>
              <a:rPr lang="en-GB" sz="1100" dirty="0">
                <a:solidFill>
                  <a:schemeClr val="tx2"/>
                </a:solidFill>
              </a:rPr>
              <a:t>, Julia </a:t>
            </a:r>
            <a:r>
              <a:rPr lang="en-GB" sz="1100" dirty="0" err="1">
                <a:solidFill>
                  <a:schemeClr val="tx2"/>
                </a:solidFill>
              </a:rPr>
              <a:t>Guignon</a:t>
            </a:r>
            <a:r>
              <a:rPr lang="en-GB" sz="1100" dirty="0">
                <a:solidFill>
                  <a:schemeClr val="tx2"/>
                </a:solidFill>
              </a:rPr>
              <a:t>, Carlos Ramos </a:t>
            </a:r>
            <a:r>
              <a:rPr lang="en-GB" sz="1100" dirty="0" err="1">
                <a:solidFill>
                  <a:schemeClr val="tx2"/>
                </a:solidFill>
              </a:rPr>
              <a:t>Marimón</a:t>
            </a:r>
            <a:r>
              <a:rPr lang="en-GB" sz="1100" dirty="0">
                <a:solidFill>
                  <a:schemeClr val="tx2"/>
                </a:solidFill>
              </a:rPr>
              <a:t>, Jonathan </a:t>
            </a:r>
            <a:r>
              <a:rPr lang="en-GB" sz="1100" dirty="0" err="1">
                <a:solidFill>
                  <a:schemeClr val="tx2"/>
                </a:solidFill>
              </a:rPr>
              <a:t>Durandau</a:t>
            </a:r>
            <a:r>
              <a:rPr lang="en-GB" sz="1100" dirty="0">
                <a:solidFill>
                  <a:schemeClr val="tx2"/>
                </a:solidFill>
              </a:rPr>
              <a:t>, Matthieu </a:t>
            </a:r>
            <a:r>
              <a:rPr lang="en-GB" sz="1100" dirty="0" err="1">
                <a:solidFill>
                  <a:schemeClr val="tx2"/>
                </a:solidFill>
              </a:rPr>
              <a:t>Dartiailh</a:t>
            </a:r>
            <a:r>
              <a:rPr lang="en-GB" sz="1100" dirty="0">
                <a:solidFill>
                  <a:schemeClr val="tx2"/>
                </a:solidFill>
              </a:rPr>
              <a:t>, Tristan Meunier, Valentin Savin, submitted 15 January 2026, arXiv:2601.10435</a:t>
            </a:r>
          </a:p>
        </p:txBody>
      </p:sp>
      <p:sp>
        <p:nvSpPr>
          <p:cNvPr id="3" name="Intro">
            <a:extLst>
              <a:ext uri="{FF2B5EF4-FFF2-40B4-BE49-F238E27FC236}">
                <a16:creationId xmlns:a16="http://schemas.microsoft.com/office/drawing/2014/main" id="{267D8FDD-6919-029B-1EED-2A050F101B6C}"/>
              </a:ext>
            </a:extLst>
          </p:cNvPr>
          <p:cNvSpPr txBox="1"/>
          <p:nvPr/>
        </p:nvSpPr>
        <p:spPr>
          <a:xfrm>
            <a:off x="548640" y="1322524"/>
            <a:ext cx="11094415" cy="400000"/>
          </a:xfrm>
          <a:prstGeom prst="rect">
            <a:avLst/>
          </a:prstGeom>
          <a:noFill/>
          <a:ln/>
        </p:spPr>
        <p:txBody>
          <a:bodyPr wrap="square" lIns="0" tIns="0" rIns="0" bIns="0" rtlCol="0" anchor="ctr"/>
          <a:lstStyle/>
          <a:p>
            <a:pPr marL="0" indent="0">
              <a:buNone/>
            </a:pPr>
            <a:r>
              <a:rPr lang="en-US" sz="1500" i="1" dirty="0">
                <a:solidFill>
                  <a:schemeClr val="tx2"/>
                </a:solidFill>
              </a:rPr>
              <a:t>An open-source Python package from </a:t>
            </a:r>
            <a:r>
              <a:rPr lang="en-US" sz="1500" i="1" dirty="0" err="1">
                <a:solidFill>
                  <a:schemeClr val="tx2"/>
                </a:solidFill>
              </a:rPr>
              <a:t>Quobly</a:t>
            </a:r>
            <a:r>
              <a:rPr lang="en-US" sz="1500" i="1" dirty="0">
                <a:solidFill>
                  <a:schemeClr val="tx2"/>
                </a:solidFill>
              </a:rPr>
              <a:t>: it simulates spin qubit circuits at the </a:t>
            </a:r>
            <a:r>
              <a:rPr lang="en-US" sz="1500" b="1" dirty="0">
                <a:solidFill>
                  <a:schemeClr val="accent3"/>
                </a:solidFill>
              </a:rPr>
              <a:t>pulse level</a:t>
            </a:r>
            <a:r>
              <a:rPr lang="en-US" sz="1500" i="1" dirty="0">
                <a:solidFill>
                  <a:schemeClr val="tx2"/>
                </a:solidFill>
              </a:rPr>
              <a:t>, not the gate level.</a:t>
            </a:r>
          </a:p>
        </p:txBody>
      </p:sp>
      <p:sp>
        <p:nvSpPr>
          <p:cNvPr id="5" name="Panel 1">
            <a:extLst>
              <a:ext uri="{FF2B5EF4-FFF2-40B4-BE49-F238E27FC236}">
                <a16:creationId xmlns:a16="http://schemas.microsoft.com/office/drawing/2014/main" id="{58F2B391-4046-8287-2F97-911A13C448B9}"/>
              </a:ext>
            </a:extLst>
          </p:cNvPr>
          <p:cNvSpPr/>
          <p:nvPr/>
        </p:nvSpPr>
        <p:spPr>
          <a:xfrm>
            <a:off x="548640" y="1898402"/>
            <a:ext cx="5397207" cy="2200000"/>
          </a:xfrm>
          <a:prstGeom prst="roundRect">
            <a:avLst>
              <a:gd name="adj" fmla="val 4000"/>
            </a:avLst>
          </a:prstGeom>
          <a:solidFill>
            <a:schemeClr val="bg2"/>
          </a:solidFill>
          <a:ln w="12700">
            <a:solidFill>
              <a:schemeClr val="accent1"/>
            </a:solidFill>
            <a:prstDash val="solid"/>
          </a:ln>
        </p:spPr>
        <p:txBody>
          <a:bodyPr/>
          <a:lstStyle/>
          <a:p>
            <a:endParaRPr lang="fr-FR"/>
          </a:p>
        </p:txBody>
      </p:sp>
      <p:sp>
        <p:nvSpPr>
          <p:cNvPr id="7" name="Shape 2">
            <a:extLst>
              <a:ext uri="{FF2B5EF4-FFF2-40B4-BE49-F238E27FC236}">
                <a16:creationId xmlns:a16="http://schemas.microsoft.com/office/drawing/2014/main" id="{5DC5D082-886E-A4C7-39FB-E0DF63A4D0E5}"/>
              </a:ext>
            </a:extLst>
          </p:cNvPr>
          <p:cNvSpPr/>
          <p:nvPr/>
        </p:nvSpPr>
        <p:spPr>
          <a:xfrm>
            <a:off x="868680" y="2264162"/>
            <a:ext cx="91440" cy="91440"/>
          </a:xfrm>
          <a:prstGeom prst="rect">
            <a:avLst/>
          </a:prstGeom>
          <a:solidFill>
            <a:schemeClr val="accent2"/>
          </a:solidFill>
          <a:ln/>
        </p:spPr>
        <p:txBody>
          <a:bodyPr/>
          <a:lstStyle/>
          <a:p>
            <a:endParaRPr lang="fr-FR"/>
          </a:p>
        </p:txBody>
      </p:sp>
      <p:sp>
        <p:nvSpPr>
          <p:cNvPr id="9" name="Panel title 1">
            <a:extLst>
              <a:ext uri="{FF2B5EF4-FFF2-40B4-BE49-F238E27FC236}">
                <a16:creationId xmlns:a16="http://schemas.microsoft.com/office/drawing/2014/main" id="{26F63A54-30D4-8C91-0212-14681B76A95C}"/>
              </a:ext>
            </a:extLst>
          </p:cNvPr>
          <p:cNvSpPr txBox="1"/>
          <p:nvPr/>
        </p:nvSpPr>
        <p:spPr>
          <a:xfrm>
            <a:off x="1097280" y="2168402"/>
            <a:ext cx="4574247" cy="320040"/>
          </a:xfrm>
          <a:prstGeom prst="rect">
            <a:avLst/>
          </a:prstGeom>
          <a:noFill/>
          <a:ln/>
        </p:spPr>
        <p:txBody>
          <a:bodyPr wrap="square" lIns="0" tIns="0" rIns="0" bIns="0" rtlCol="0" anchor="ctr"/>
          <a:lstStyle/>
          <a:p>
            <a:pPr marL="0" indent="0">
              <a:buNone/>
            </a:pPr>
            <a:r>
              <a:rPr lang="en-US" sz="1600" b="1" dirty="0">
                <a:solidFill>
                  <a:schemeClr val="accent3"/>
                </a:solidFill>
              </a:rPr>
              <a:t>Gate-level simulation</a:t>
            </a:r>
          </a:p>
        </p:txBody>
      </p:sp>
      <p:sp>
        <p:nvSpPr>
          <p:cNvPr id="11" name="Panel body 1">
            <a:extLst>
              <a:ext uri="{FF2B5EF4-FFF2-40B4-BE49-F238E27FC236}">
                <a16:creationId xmlns:a16="http://schemas.microsoft.com/office/drawing/2014/main" id="{E5F04EE7-F27A-38E5-2631-226338338484}"/>
              </a:ext>
            </a:extLst>
          </p:cNvPr>
          <p:cNvSpPr txBox="1"/>
          <p:nvPr/>
        </p:nvSpPr>
        <p:spPr>
          <a:xfrm>
            <a:off x="868680" y="2678402"/>
            <a:ext cx="4757127" cy="1200000"/>
          </a:xfrm>
          <a:prstGeom prst="rect">
            <a:avLst/>
          </a:prstGeom>
          <a:noFill/>
          <a:ln/>
        </p:spPr>
        <p:txBody>
          <a:bodyPr wrap="square" lIns="0" tIns="0" rIns="0" bIns="0" rtlCol="0" anchor="t"/>
          <a:lstStyle/>
          <a:p>
            <a:pPr marL="203200" indent="-203200">
              <a:spcAft>
                <a:spcPts val="800"/>
              </a:spcAft>
              <a:buSzPct val="100000"/>
              <a:buChar char="•"/>
            </a:pPr>
            <a:r>
              <a:rPr lang="en-US" sz="1300" i="1" dirty="0">
                <a:solidFill>
                  <a:schemeClr val="tx2"/>
                </a:solidFill>
              </a:rPr>
              <a:t>Gates are fixed matrices</a:t>
            </a:r>
          </a:p>
          <a:p>
            <a:pPr marL="203200" indent="-203200">
              <a:spcAft>
                <a:spcPts val="800"/>
              </a:spcAft>
              <a:buSzPct val="100000"/>
              <a:buChar char="•"/>
            </a:pPr>
            <a:r>
              <a:rPr lang="en-US" sz="1300" i="1" dirty="0">
                <a:solidFill>
                  <a:schemeClr val="tx2"/>
                </a:solidFill>
              </a:rPr>
              <a:t>One Kraus channel per gate, drawn independently</a:t>
            </a:r>
          </a:p>
          <a:p>
            <a:pPr marL="203200" indent="-203200">
              <a:spcAft>
                <a:spcPts val="800"/>
              </a:spcAft>
              <a:buSzPct val="100000"/>
              <a:buChar char="•"/>
            </a:pPr>
            <a:r>
              <a:rPr lang="en-US" sz="1300" i="1" dirty="0">
                <a:solidFill>
                  <a:schemeClr val="tx2"/>
                </a:solidFill>
              </a:rPr>
              <a:t>The environment forgets between gates</a:t>
            </a:r>
          </a:p>
        </p:txBody>
      </p:sp>
      <p:sp>
        <p:nvSpPr>
          <p:cNvPr id="14" name="Panel 2">
            <a:extLst>
              <a:ext uri="{FF2B5EF4-FFF2-40B4-BE49-F238E27FC236}">
                <a16:creationId xmlns:a16="http://schemas.microsoft.com/office/drawing/2014/main" id="{02FF1A31-6DB6-2EE8-62B6-76E03DBA656F}"/>
              </a:ext>
            </a:extLst>
          </p:cNvPr>
          <p:cNvSpPr/>
          <p:nvPr/>
        </p:nvSpPr>
        <p:spPr>
          <a:xfrm>
            <a:off x="6245847" y="1898402"/>
            <a:ext cx="5397207" cy="2200000"/>
          </a:xfrm>
          <a:prstGeom prst="roundRect">
            <a:avLst>
              <a:gd name="adj" fmla="val 4000"/>
            </a:avLst>
          </a:prstGeom>
          <a:solidFill>
            <a:schemeClr val="bg2"/>
          </a:solidFill>
          <a:ln w="12700">
            <a:solidFill>
              <a:schemeClr val="accent1"/>
            </a:solidFill>
            <a:prstDash val="solid"/>
          </a:ln>
        </p:spPr>
        <p:txBody>
          <a:bodyPr/>
          <a:lstStyle/>
          <a:p>
            <a:endParaRPr lang="fr-FR"/>
          </a:p>
        </p:txBody>
      </p:sp>
      <p:sp>
        <p:nvSpPr>
          <p:cNvPr id="16" name="Shape 2">
            <a:extLst>
              <a:ext uri="{FF2B5EF4-FFF2-40B4-BE49-F238E27FC236}">
                <a16:creationId xmlns:a16="http://schemas.microsoft.com/office/drawing/2014/main" id="{46BC9920-FC07-702A-58E6-7A92EDFB4270}"/>
              </a:ext>
            </a:extLst>
          </p:cNvPr>
          <p:cNvSpPr/>
          <p:nvPr/>
        </p:nvSpPr>
        <p:spPr>
          <a:xfrm>
            <a:off x="6565887" y="2264162"/>
            <a:ext cx="91440" cy="91440"/>
          </a:xfrm>
          <a:prstGeom prst="rect">
            <a:avLst/>
          </a:prstGeom>
          <a:solidFill>
            <a:schemeClr val="accent2"/>
          </a:solidFill>
          <a:ln/>
        </p:spPr>
        <p:txBody>
          <a:bodyPr/>
          <a:lstStyle/>
          <a:p>
            <a:endParaRPr lang="fr-FR"/>
          </a:p>
        </p:txBody>
      </p:sp>
      <p:sp>
        <p:nvSpPr>
          <p:cNvPr id="18" name="Panel title 2">
            <a:extLst>
              <a:ext uri="{FF2B5EF4-FFF2-40B4-BE49-F238E27FC236}">
                <a16:creationId xmlns:a16="http://schemas.microsoft.com/office/drawing/2014/main" id="{E55E8A8B-3FAC-1EAA-36F9-C051A0D554EC}"/>
              </a:ext>
            </a:extLst>
          </p:cNvPr>
          <p:cNvSpPr txBox="1"/>
          <p:nvPr/>
        </p:nvSpPr>
        <p:spPr>
          <a:xfrm>
            <a:off x="6794487" y="2168402"/>
            <a:ext cx="4574247" cy="320040"/>
          </a:xfrm>
          <a:prstGeom prst="rect">
            <a:avLst/>
          </a:prstGeom>
          <a:noFill/>
          <a:ln/>
        </p:spPr>
        <p:txBody>
          <a:bodyPr wrap="square" lIns="0" tIns="0" rIns="0" bIns="0" rtlCol="0" anchor="ctr"/>
          <a:lstStyle/>
          <a:p>
            <a:r>
              <a:rPr lang="en-US" sz="1600" b="1" dirty="0">
                <a:solidFill>
                  <a:schemeClr val="accent3"/>
                </a:solidFill>
              </a:rPr>
              <a:t>SpinPulse — pulse level simulation</a:t>
            </a:r>
          </a:p>
        </p:txBody>
      </p:sp>
      <p:sp>
        <p:nvSpPr>
          <p:cNvPr id="20" name="Panel body 2">
            <a:extLst>
              <a:ext uri="{FF2B5EF4-FFF2-40B4-BE49-F238E27FC236}">
                <a16:creationId xmlns:a16="http://schemas.microsoft.com/office/drawing/2014/main" id="{2B32DE5C-B92F-6372-5C3E-26E06A5D7D94}"/>
              </a:ext>
            </a:extLst>
          </p:cNvPr>
          <p:cNvSpPr txBox="1"/>
          <p:nvPr/>
        </p:nvSpPr>
        <p:spPr>
          <a:xfrm>
            <a:off x="6565887" y="2678402"/>
            <a:ext cx="4757127" cy="1200000"/>
          </a:xfrm>
          <a:prstGeom prst="rect">
            <a:avLst/>
          </a:prstGeom>
          <a:noFill/>
          <a:ln/>
        </p:spPr>
        <p:txBody>
          <a:bodyPr wrap="square" lIns="0" tIns="0" rIns="0" bIns="0" rtlCol="0" anchor="t"/>
          <a:lstStyle/>
          <a:p>
            <a:pPr marL="203200" indent="-203200">
              <a:spcAft>
                <a:spcPts val="800"/>
              </a:spcAft>
              <a:buSzPct val="100000"/>
              <a:buChar char="•"/>
            </a:pPr>
            <a:r>
              <a:rPr lang="en-US" sz="1300" i="1" dirty="0">
                <a:solidFill>
                  <a:schemeClr val="tx2"/>
                </a:solidFill>
              </a:rPr>
              <a:t>Gates are control signals with a duration</a:t>
            </a:r>
          </a:p>
          <a:p>
            <a:pPr marL="203200" indent="-203200">
              <a:spcAft>
                <a:spcPts val="800"/>
              </a:spcAft>
              <a:buSzPct val="100000"/>
              <a:buChar char="•"/>
            </a:pPr>
            <a:r>
              <a:rPr lang="en-US" sz="1300" i="1" dirty="0">
                <a:solidFill>
                  <a:schemeClr val="tx2"/>
                </a:solidFill>
              </a:rPr>
              <a:t>The device Hamiltonian is integrated under them</a:t>
            </a:r>
          </a:p>
          <a:p>
            <a:pPr marL="203200" indent="-203200">
              <a:spcAft>
                <a:spcPts val="800"/>
              </a:spcAft>
              <a:buSzPct val="100000"/>
              <a:buChar char="•"/>
            </a:pPr>
            <a:r>
              <a:rPr lang="en-US" sz="1300" i="1" dirty="0">
                <a:solidFill>
                  <a:schemeClr val="tx2"/>
                </a:solidFill>
              </a:rPr>
              <a:t>One noise trace covers the whole circuit</a:t>
            </a:r>
          </a:p>
        </p:txBody>
      </p:sp>
      <p:sp>
        <p:nvSpPr>
          <p:cNvPr id="22" name="Callout">
            <a:extLst>
              <a:ext uri="{FF2B5EF4-FFF2-40B4-BE49-F238E27FC236}">
                <a16:creationId xmlns:a16="http://schemas.microsoft.com/office/drawing/2014/main" id="{E111BF05-C6EC-F808-46AA-A30C975FFF43}"/>
              </a:ext>
            </a:extLst>
          </p:cNvPr>
          <p:cNvSpPr/>
          <p:nvPr/>
        </p:nvSpPr>
        <p:spPr>
          <a:xfrm>
            <a:off x="548640" y="4448402"/>
            <a:ext cx="11094415" cy="850000"/>
          </a:xfrm>
          <a:prstGeom prst="roundRect">
            <a:avLst>
              <a:gd name="adj" fmla="val 12500"/>
            </a:avLst>
          </a:prstGeom>
          <a:solidFill>
            <a:schemeClr val="accent4"/>
          </a:solidFill>
          <a:ln/>
        </p:spPr>
        <p:txBody>
          <a:bodyPr/>
          <a:lstStyle/>
          <a:p>
            <a:endParaRPr lang="fr-FR"/>
          </a:p>
        </p:txBody>
      </p:sp>
      <p:sp>
        <p:nvSpPr>
          <p:cNvPr id="24" name="Callout text">
            <a:extLst>
              <a:ext uri="{FF2B5EF4-FFF2-40B4-BE49-F238E27FC236}">
                <a16:creationId xmlns:a16="http://schemas.microsoft.com/office/drawing/2014/main" id="{C42BB08F-7534-6DB4-5E31-FB7F5B3BB6EA}"/>
              </a:ext>
            </a:extLst>
          </p:cNvPr>
          <p:cNvSpPr txBox="1"/>
          <p:nvPr/>
        </p:nvSpPr>
        <p:spPr>
          <a:xfrm>
            <a:off x="731520" y="4448402"/>
            <a:ext cx="10728655" cy="850000"/>
          </a:xfrm>
          <a:prstGeom prst="rect">
            <a:avLst/>
          </a:prstGeom>
          <a:noFill/>
          <a:ln/>
        </p:spPr>
        <p:txBody>
          <a:bodyPr wrap="square" lIns="0" tIns="0" rIns="0" bIns="0" rtlCol="0" anchor="ctr"/>
          <a:lstStyle/>
          <a:p>
            <a:r>
              <a:rPr lang="en-GB" sz="1600" b="1" dirty="0">
                <a:solidFill>
                  <a:schemeClr val="accent3"/>
                </a:solidFill>
              </a:rPr>
              <a:t>SpinPulse allows non-Markovian noise simulation, which is not possible with gate-level simulations.</a:t>
            </a:r>
            <a:endParaRPr lang="en-US" sz="1600" b="1" dirty="0">
              <a:solidFill>
                <a:srgbClr val="FF0000"/>
              </a:solidFill>
            </a:endParaRPr>
          </a:p>
        </p:txBody>
      </p:sp>
    </p:spTree>
    <p:extLst>
      <p:ext uri="{BB962C8B-B14F-4D97-AF65-F5344CB8AC3E}">
        <p14:creationId xmlns:p14="http://schemas.microsoft.com/office/powerpoint/2010/main" val="163453236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9D6B2C-0CF1-2E58-CF4E-6A417815947F}"/>
            </a:ext>
          </a:extLst>
        </p:cNvPr>
        <p:cNvGrpSpPr/>
        <p:nvPr/>
      </p:nvGrpSpPr>
      <p:grpSpPr>
        <a:xfrm>
          <a:off x="0" y="0"/>
          <a:ext cx="0" cy="0"/>
          <a:chOff x="0" y="0"/>
          <a:chExt cx="0" cy="0"/>
        </a:xfrm>
      </p:grpSpPr>
      <p:sp>
        <p:nvSpPr>
          <p:cNvPr id="2" name="Text 10">
            <a:extLst>
              <a:ext uri="{FF2B5EF4-FFF2-40B4-BE49-F238E27FC236}">
                <a16:creationId xmlns:a16="http://schemas.microsoft.com/office/drawing/2014/main" id="{01CBFFE9-4A5E-5F02-E8BD-D1509BA5B3C0}"/>
              </a:ext>
            </a:extLst>
          </p:cNvPr>
          <p:cNvSpPr>
            <a:spLocks noGrp="1"/>
          </p:cNvSpPr>
          <p:nvPr>
            <p:ph type="title" idx="110" hasCustomPrompt="1"/>
          </p:nvPr>
        </p:nvSpPr>
        <p:spPr>
          <a:xfrm>
            <a:off x="548641" y="457200"/>
            <a:ext cx="2358462" cy="777240"/>
          </a:xfrm>
          <a:prstGeom prst="rect">
            <a:avLst/>
          </a:prstGeom>
          <a:noFill/>
          <a:ln/>
        </p:spPr>
        <p:txBody>
          <a:bodyPr wrap="square" lIns="0" tIns="0" rIns="0" bIns="0" rtlCol="0" anchor="t"/>
          <a:lstStyle/>
          <a:p>
            <a:pPr marL="0" indent="0" algn="l">
              <a:buNone/>
            </a:pPr>
            <a:r>
              <a:rPr lang="en-US" sz="3200" dirty="0">
                <a:solidFill>
                  <a:schemeClr val="tx1"/>
                </a:solidFill>
              </a:rPr>
              <a:t>Workflow</a:t>
            </a:r>
            <a:endParaRPr lang="en-US" sz="3200" dirty="0"/>
          </a:p>
        </p:txBody>
      </p:sp>
      <p:sp>
        <p:nvSpPr>
          <p:cNvPr id="25" name="Slide Number Placeholder 0">
            <a:extLst>
              <a:ext uri="{FF2B5EF4-FFF2-40B4-BE49-F238E27FC236}">
                <a16:creationId xmlns:a16="http://schemas.microsoft.com/office/drawing/2014/main" id="{C1C84945-891A-7761-1705-CE5C8A2630F1}"/>
              </a:ext>
            </a:extLst>
          </p:cNvPr>
          <p:cNvSpPr>
            <a:spLocks noGrp="1"/>
          </p:cNvSpPr>
          <p:nvPr>
            <p:ph type="sldNum" sz="quarter" idx="4294967295"/>
          </p:nvPr>
        </p:nvSpPr>
        <p:spPr>
          <a:xfrm>
            <a:off x="11094415" y="6327648"/>
            <a:ext cx="344714" cy="274320"/>
          </a:xfrm>
          <a:prstGeom prst="rect">
            <a:avLst/>
          </a:prstGeom>
          <a:extLst>
            <a:ext uri="{C572A759-6A51-4108-AA02-DFA0A04FC94B}">
              <ma14:wrappingTextBoxFlag xmlns="" xmlns:ma14="http://schemas.microsoft.com/office/mac/drawingml/2011/main" val="0"/>
            </a:ext>
          </a:extLst>
        </p:spPr>
        <p:txBody>
          <a:bodyPr lIns="0" tIns="0" rIns="0" bIns="0" anchor="ctr"/>
          <a:lstStyle>
            <a:lvl1pPr>
              <a:defRPr sz="1000">
                <a:solidFill>
                  <a:srgbClr val="9AA3BD"/>
                </a:solidFill>
              </a:defRPr>
            </a:lvl1pPr>
          </a:lstStyle>
          <a:p>
            <a:pPr algn="r"/>
            <a:fld id="{F7021451-1387-4CA6-816F-3879F97B5CBC}" type="slidenum">
              <a:rPr lang="en-US" b="0"/>
              <a:t>25</a:t>
            </a:fld>
            <a:endParaRPr lang="en-US"/>
          </a:p>
        </p:txBody>
      </p:sp>
      <p:pic>
        <p:nvPicPr>
          <p:cNvPr id="13" name="Image 12">
            <a:extLst>
              <a:ext uri="{FF2B5EF4-FFF2-40B4-BE49-F238E27FC236}">
                <a16:creationId xmlns:a16="http://schemas.microsoft.com/office/drawing/2014/main" id="{D29494D1-10E0-C113-6694-05AA0A07B981}"/>
              </a:ext>
            </a:extLst>
          </p:cNvPr>
          <p:cNvPicPr>
            <a:picLocks noChangeAspect="1"/>
          </p:cNvPicPr>
          <p:nvPr/>
        </p:nvPicPr>
        <p:blipFill>
          <a:blip r:embed="rId3"/>
          <a:stretch>
            <a:fillRect/>
          </a:stretch>
        </p:blipFill>
        <p:spPr>
          <a:xfrm>
            <a:off x="9724644" y="-443705"/>
            <a:ext cx="2437453" cy="1723866"/>
          </a:xfrm>
          <a:prstGeom prst="rect">
            <a:avLst/>
          </a:prstGeom>
        </p:spPr>
      </p:pic>
      <p:sp>
        <p:nvSpPr>
          <p:cNvPr id="4" name="Algorithm diagram">
            <a:extLst>
              <a:ext uri="{FF2B5EF4-FFF2-40B4-BE49-F238E27FC236}">
                <a16:creationId xmlns:a16="http://schemas.microsoft.com/office/drawing/2014/main" id="{F48B6C1A-8334-E380-18C3-1C85F5D437DA}"/>
              </a:ext>
            </a:extLst>
          </p:cNvPr>
          <p:cNvSpPr/>
          <p:nvPr/>
        </p:nvSpPr>
        <p:spPr>
          <a:xfrm>
            <a:off x="672862" y="1052423"/>
            <a:ext cx="7996686" cy="5149874"/>
          </a:xfrm>
          <a:prstGeom prst="roundRect">
            <a:avLst>
              <a:gd name="adj" fmla="val 2778"/>
            </a:avLst>
          </a:prstGeom>
          <a:solidFill>
            <a:schemeClr val="tx1"/>
          </a:solidFill>
          <a:ln/>
        </p:spPr>
        <p:txBody>
          <a:bodyPr/>
          <a:lstStyle/>
          <a:p>
            <a:endParaRPr lang="fr-FR"/>
          </a:p>
        </p:txBody>
      </p:sp>
      <p:sp>
        <p:nvSpPr>
          <p:cNvPr id="7" name="Rectangle 6">
            <a:extLst>
              <a:ext uri="{FF2B5EF4-FFF2-40B4-BE49-F238E27FC236}">
                <a16:creationId xmlns:a16="http://schemas.microsoft.com/office/drawing/2014/main" id="{D73F736C-539D-0848-D9A3-1C2EEF08F746}"/>
              </a:ext>
            </a:extLst>
          </p:cNvPr>
          <p:cNvSpPr/>
          <p:nvPr/>
        </p:nvSpPr>
        <p:spPr>
          <a:xfrm>
            <a:off x="824857" y="1212874"/>
            <a:ext cx="7715294" cy="4825616"/>
          </a:xfrm>
          <a:prstGeom prst="rect">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pic>
        <p:nvPicPr>
          <p:cNvPr id="10" name="Image 9">
            <a:extLst>
              <a:ext uri="{FF2B5EF4-FFF2-40B4-BE49-F238E27FC236}">
                <a16:creationId xmlns:a16="http://schemas.microsoft.com/office/drawing/2014/main" id="{C5A1DC00-38FE-3117-EF0B-313DC982196F}"/>
              </a:ext>
            </a:extLst>
          </p:cNvPr>
          <p:cNvPicPr>
            <a:picLocks noChangeAspect="1"/>
          </p:cNvPicPr>
          <p:nvPr/>
        </p:nvPicPr>
        <p:blipFill>
          <a:blip r:embed="rId4"/>
          <a:stretch>
            <a:fillRect/>
          </a:stretch>
        </p:blipFill>
        <p:spPr>
          <a:xfrm>
            <a:off x="824857" y="1243066"/>
            <a:ext cx="7498892" cy="4692475"/>
          </a:xfrm>
          <a:prstGeom prst="rect">
            <a:avLst/>
          </a:prstGeom>
        </p:spPr>
      </p:pic>
      <p:sp>
        <p:nvSpPr>
          <p:cNvPr id="12" name="Quote">
            <a:extLst>
              <a:ext uri="{FF2B5EF4-FFF2-40B4-BE49-F238E27FC236}">
                <a16:creationId xmlns:a16="http://schemas.microsoft.com/office/drawing/2014/main" id="{F8D79D20-8325-C899-535F-D9C3F577A64A}"/>
              </a:ext>
            </a:extLst>
          </p:cNvPr>
          <p:cNvSpPr/>
          <p:nvPr/>
        </p:nvSpPr>
        <p:spPr>
          <a:xfrm>
            <a:off x="9149177" y="1260318"/>
            <a:ext cx="2437454" cy="1500000"/>
          </a:xfrm>
          <a:prstGeom prst="roundRect">
            <a:avLst>
              <a:gd name="adj" fmla="val 15000"/>
            </a:avLst>
          </a:prstGeom>
          <a:solidFill>
            <a:schemeClr val="bg2"/>
          </a:solidFill>
          <a:ln w="12700">
            <a:solidFill>
              <a:schemeClr val="accent1"/>
            </a:solidFill>
            <a:prstDash val="solid"/>
          </a:ln>
        </p:spPr>
        <p:txBody>
          <a:bodyPr/>
          <a:lstStyle/>
          <a:p>
            <a:endParaRPr lang="fr-FR"/>
          </a:p>
        </p:txBody>
      </p:sp>
      <p:sp>
        <p:nvSpPr>
          <p:cNvPr id="15" name="Shape 2">
            <a:extLst>
              <a:ext uri="{FF2B5EF4-FFF2-40B4-BE49-F238E27FC236}">
                <a16:creationId xmlns:a16="http://schemas.microsoft.com/office/drawing/2014/main" id="{C45DF10F-DC39-AE2A-7ADC-6127C27EDB7A}"/>
              </a:ext>
            </a:extLst>
          </p:cNvPr>
          <p:cNvSpPr/>
          <p:nvPr/>
        </p:nvSpPr>
        <p:spPr>
          <a:xfrm>
            <a:off x="9423497" y="1534638"/>
            <a:ext cx="91440" cy="91440"/>
          </a:xfrm>
          <a:prstGeom prst="rect">
            <a:avLst/>
          </a:prstGeom>
          <a:solidFill>
            <a:schemeClr val="accent2"/>
          </a:solidFill>
          <a:ln/>
        </p:spPr>
        <p:txBody>
          <a:bodyPr/>
          <a:lstStyle/>
          <a:p>
            <a:endParaRPr lang="fr-FR"/>
          </a:p>
        </p:txBody>
      </p:sp>
      <p:sp>
        <p:nvSpPr>
          <p:cNvPr id="18" name="Text 3">
            <a:extLst>
              <a:ext uri="{FF2B5EF4-FFF2-40B4-BE49-F238E27FC236}">
                <a16:creationId xmlns:a16="http://schemas.microsoft.com/office/drawing/2014/main" id="{5D7B5A6E-784A-7CDD-D412-1D265E7317B6}"/>
              </a:ext>
            </a:extLst>
          </p:cNvPr>
          <p:cNvSpPr txBox="1"/>
          <p:nvPr/>
        </p:nvSpPr>
        <p:spPr>
          <a:xfrm>
            <a:off x="9652097" y="1443198"/>
            <a:ext cx="1660214" cy="1134240"/>
          </a:xfrm>
          <a:prstGeom prst="rect">
            <a:avLst/>
          </a:prstGeom>
          <a:noFill/>
          <a:ln/>
        </p:spPr>
        <p:txBody>
          <a:bodyPr wrap="square" lIns="0" tIns="0" rIns="0" bIns="0" rtlCol="0" anchor="t"/>
          <a:lstStyle/>
          <a:p>
            <a:pPr marL="0" indent="0">
              <a:buNone/>
            </a:pPr>
            <a:r>
              <a:rPr lang="en-US" sz="1400" b="1" dirty="0">
                <a:solidFill>
                  <a:schemeClr val="accent3"/>
                </a:solidFill>
              </a:rPr>
              <a:t>(1) Gate transpilation</a:t>
            </a:r>
          </a:p>
          <a:p>
            <a:pPr marL="0" indent="0">
              <a:spcBef>
                <a:spcPts val="600"/>
              </a:spcBef>
              <a:buNone/>
            </a:pPr>
            <a:r>
              <a:rPr lang="en-US" sz="1100" i="1" dirty="0">
                <a:solidFill>
                  <a:schemeClr val="tx2"/>
                </a:solidFill>
              </a:rPr>
              <a:t>Rewritten into the native gate set: RX, RY, RZ, RZZ.</a:t>
            </a:r>
          </a:p>
        </p:txBody>
      </p:sp>
      <p:sp>
        <p:nvSpPr>
          <p:cNvPr id="20" name="Quote">
            <a:extLst>
              <a:ext uri="{FF2B5EF4-FFF2-40B4-BE49-F238E27FC236}">
                <a16:creationId xmlns:a16="http://schemas.microsoft.com/office/drawing/2014/main" id="{CD935F1B-0C91-489A-7AFF-5A3C29454229}"/>
              </a:ext>
            </a:extLst>
          </p:cNvPr>
          <p:cNvSpPr/>
          <p:nvPr/>
        </p:nvSpPr>
        <p:spPr>
          <a:xfrm>
            <a:off x="9149177" y="2990318"/>
            <a:ext cx="2437454" cy="1500000"/>
          </a:xfrm>
          <a:prstGeom prst="roundRect">
            <a:avLst>
              <a:gd name="adj" fmla="val 15000"/>
            </a:avLst>
          </a:prstGeom>
          <a:solidFill>
            <a:schemeClr val="bg2"/>
          </a:solidFill>
          <a:ln w="12700">
            <a:solidFill>
              <a:schemeClr val="accent1"/>
            </a:solidFill>
            <a:prstDash val="solid"/>
          </a:ln>
        </p:spPr>
        <p:txBody>
          <a:bodyPr/>
          <a:lstStyle/>
          <a:p>
            <a:endParaRPr lang="fr-FR"/>
          </a:p>
        </p:txBody>
      </p:sp>
      <p:sp>
        <p:nvSpPr>
          <p:cNvPr id="22" name="Shape 2">
            <a:extLst>
              <a:ext uri="{FF2B5EF4-FFF2-40B4-BE49-F238E27FC236}">
                <a16:creationId xmlns:a16="http://schemas.microsoft.com/office/drawing/2014/main" id="{8E6F9CE6-D888-7B94-BC0D-AE5B6CC7961F}"/>
              </a:ext>
            </a:extLst>
          </p:cNvPr>
          <p:cNvSpPr/>
          <p:nvPr/>
        </p:nvSpPr>
        <p:spPr>
          <a:xfrm>
            <a:off x="9423497" y="3264638"/>
            <a:ext cx="91440" cy="91440"/>
          </a:xfrm>
          <a:prstGeom prst="rect">
            <a:avLst/>
          </a:prstGeom>
          <a:solidFill>
            <a:schemeClr val="accent2"/>
          </a:solidFill>
          <a:ln/>
        </p:spPr>
        <p:txBody>
          <a:bodyPr/>
          <a:lstStyle/>
          <a:p>
            <a:endParaRPr lang="fr-FR"/>
          </a:p>
        </p:txBody>
      </p:sp>
      <p:sp>
        <p:nvSpPr>
          <p:cNvPr id="24" name="Text 3">
            <a:extLst>
              <a:ext uri="{FF2B5EF4-FFF2-40B4-BE49-F238E27FC236}">
                <a16:creationId xmlns:a16="http://schemas.microsoft.com/office/drawing/2014/main" id="{9AFAB4D5-CD14-81F3-BD49-FF9012366EB4}"/>
              </a:ext>
            </a:extLst>
          </p:cNvPr>
          <p:cNvSpPr txBox="1"/>
          <p:nvPr/>
        </p:nvSpPr>
        <p:spPr>
          <a:xfrm>
            <a:off x="9652097" y="3173198"/>
            <a:ext cx="1660214" cy="1134240"/>
          </a:xfrm>
          <a:prstGeom prst="rect">
            <a:avLst/>
          </a:prstGeom>
          <a:noFill/>
          <a:ln/>
        </p:spPr>
        <p:txBody>
          <a:bodyPr wrap="square" lIns="0" tIns="0" rIns="0" bIns="0" rtlCol="0" anchor="t"/>
          <a:lstStyle/>
          <a:p>
            <a:pPr marL="0" indent="0">
              <a:buNone/>
            </a:pPr>
            <a:r>
              <a:rPr lang="en-US" sz="1400" b="1" dirty="0">
                <a:solidFill>
                  <a:schemeClr val="accent3"/>
                </a:solidFill>
              </a:rPr>
              <a:t>(2) Pulse transpilation</a:t>
            </a:r>
          </a:p>
          <a:p>
            <a:pPr>
              <a:spcBef>
                <a:spcPts val="600"/>
              </a:spcBef>
            </a:pPr>
            <a:r>
              <a:rPr lang="en-GB" sz="1100" i="1" dirty="0">
                <a:solidFill>
                  <a:schemeClr val="tx2"/>
                </a:solidFill>
              </a:rPr>
              <a:t>Each gate becomes a signal with a duration; idle times synchronize the qubits.</a:t>
            </a:r>
            <a:endParaRPr lang="en-US" sz="1100" i="1" dirty="0">
              <a:solidFill>
                <a:schemeClr val="tx2"/>
              </a:solidFill>
            </a:endParaRPr>
          </a:p>
        </p:txBody>
      </p:sp>
      <p:sp>
        <p:nvSpPr>
          <p:cNvPr id="28" name="Quote">
            <a:extLst>
              <a:ext uri="{FF2B5EF4-FFF2-40B4-BE49-F238E27FC236}">
                <a16:creationId xmlns:a16="http://schemas.microsoft.com/office/drawing/2014/main" id="{B913AC93-DFC5-7740-56EF-B6577839ADB1}"/>
              </a:ext>
            </a:extLst>
          </p:cNvPr>
          <p:cNvSpPr/>
          <p:nvPr/>
        </p:nvSpPr>
        <p:spPr>
          <a:xfrm>
            <a:off x="9149177" y="4720318"/>
            <a:ext cx="2437454" cy="1500000"/>
          </a:xfrm>
          <a:prstGeom prst="roundRect">
            <a:avLst>
              <a:gd name="adj" fmla="val 15000"/>
            </a:avLst>
          </a:prstGeom>
          <a:solidFill>
            <a:schemeClr val="bg2"/>
          </a:solidFill>
          <a:ln w="12700">
            <a:solidFill>
              <a:schemeClr val="accent1"/>
            </a:solidFill>
            <a:prstDash val="solid"/>
          </a:ln>
        </p:spPr>
        <p:txBody>
          <a:bodyPr/>
          <a:lstStyle/>
          <a:p>
            <a:endParaRPr lang="fr-FR"/>
          </a:p>
        </p:txBody>
      </p:sp>
      <p:sp>
        <p:nvSpPr>
          <p:cNvPr id="32" name="Shape 2">
            <a:extLst>
              <a:ext uri="{FF2B5EF4-FFF2-40B4-BE49-F238E27FC236}">
                <a16:creationId xmlns:a16="http://schemas.microsoft.com/office/drawing/2014/main" id="{CD74D799-8C62-E4EA-E3AD-F9FC50F53827}"/>
              </a:ext>
            </a:extLst>
          </p:cNvPr>
          <p:cNvSpPr/>
          <p:nvPr/>
        </p:nvSpPr>
        <p:spPr>
          <a:xfrm>
            <a:off x="9423497" y="4994638"/>
            <a:ext cx="91440" cy="91440"/>
          </a:xfrm>
          <a:prstGeom prst="rect">
            <a:avLst/>
          </a:prstGeom>
          <a:solidFill>
            <a:schemeClr val="accent2"/>
          </a:solidFill>
          <a:ln/>
        </p:spPr>
        <p:txBody>
          <a:bodyPr/>
          <a:lstStyle/>
          <a:p>
            <a:endParaRPr lang="fr-FR"/>
          </a:p>
        </p:txBody>
      </p:sp>
      <p:sp>
        <p:nvSpPr>
          <p:cNvPr id="36" name="Text 3">
            <a:extLst>
              <a:ext uri="{FF2B5EF4-FFF2-40B4-BE49-F238E27FC236}">
                <a16:creationId xmlns:a16="http://schemas.microsoft.com/office/drawing/2014/main" id="{82BC829C-F765-0814-5516-E1451D196B3F}"/>
              </a:ext>
            </a:extLst>
          </p:cNvPr>
          <p:cNvSpPr txBox="1"/>
          <p:nvPr/>
        </p:nvSpPr>
        <p:spPr>
          <a:xfrm>
            <a:off x="9652097" y="4903198"/>
            <a:ext cx="1660214" cy="1134240"/>
          </a:xfrm>
          <a:prstGeom prst="rect">
            <a:avLst/>
          </a:prstGeom>
          <a:noFill/>
          <a:ln/>
        </p:spPr>
        <p:txBody>
          <a:bodyPr wrap="square" lIns="0" tIns="0" rIns="0" bIns="0" rtlCol="0" anchor="t"/>
          <a:lstStyle/>
          <a:p>
            <a:pPr marL="0" indent="0">
              <a:buNone/>
            </a:pPr>
            <a:r>
              <a:rPr lang="en-US" sz="1400" b="1" dirty="0">
                <a:solidFill>
                  <a:schemeClr val="accent3"/>
                </a:solidFill>
              </a:rPr>
              <a:t>(3) Numerical integration</a:t>
            </a:r>
          </a:p>
          <a:p>
            <a:pPr marL="0" indent="0">
              <a:spcBef>
                <a:spcPts val="600"/>
              </a:spcBef>
              <a:buNone/>
            </a:pPr>
            <a:r>
              <a:rPr lang="en-US" sz="1100" i="1" dirty="0">
                <a:solidFill>
                  <a:schemeClr val="tx2"/>
                </a:solidFill>
              </a:rPr>
              <a:t>The Hamiltonian is integrated step by step, noise included.</a:t>
            </a:r>
          </a:p>
        </p:txBody>
      </p:sp>
    </p:spTree>
    <p:extLst>
      <p:ext uri="{BB962C8B-B14F-4D97-AF65-F5344CB8AC3E}">
        <p14:creationId xmlns:p14="http://schemas.microsoft.com/office/powerpoint/2010/main" val="196647965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B1AC57-0FA1-F7A2-4299-88C8A59EC85F}"/>
            </a:ext>
          </a:extLst>
        </p:cNvPr>
        <p:cNvGrpSpPr/>
        <p:nvPr/>
      </p:nvGrpSpPr>
      <p:grpSpPr>
        <a:xfrm>
          <a:off x="0" y="0"/>
          <a:ext cx="0" cy="0"/>
          <a:chOff x="0" y="0"/>
          <a:chExt cx="0" cy="0"/>
        </a:xfrm>
      </p:grpSpPr>
      <p:sp>
        <p:nvSpPr>
          <p:cNvPr id="2" name="Text 10">
            <a:extLst>
              <a:ext uri="{FF2B5EF4-FFF2-40B4-BE49-F238E27FC236}">
                <a16:creationId xmlns:a16="http://schemas.microsoft.com/office/drawing/2014/main" id="{80BEB31A-C3D1-4466-25C6-30AD3C2D9C58}"/>
              </a:ext>
            </a:extLst>
          </p:cNvPr>
          <p:cNvSpPr>
            <a:spLocks noGrp="1"/>
          </p:cNvSpPr>
          <p:nvPr>
            <p:ph type="title" idx="110" hasCustomPrompt="1"/>
          </p:nvPr>
        </p:nvSpPr>
        <p:spPr>
          <a:xfrm>
            <a:off x="548640" y="457200"/>
            <a:ext cx="5196551" cy="777240"/>
          </a:xfrm>
          <a:prstGeom prst="rect">
            <a:avLst/>
          </a:prstGeom>
          <a:noFill/>
          <a:ln/>
        </p:spPr>
        <p:txBody>
          <a:bodyPr wrap="square" lIns="0" tIns="0" rIns="0" bIns="0" rtlCol="0" anchor="t"/>
          <a:lstStyle/>
          <a:p>
            <a:pPr marL="0" indent="0" algn="l">
              <a:buNone/>
            </a:pPr>
            <a:r>
              <a:rPr lang="en-US" sz="3200" dirty="0">
                <a:solidFill>
                  <a:schemeClr val="tx1"/>
                </a:solidFill>
              </a:rPr>
              <a:t>Noise integration</a:t>
            </a:r>
            <a:endParaRPr lang="en-US" sz="3200" dirty="0"/>
          </a:p>
        </p:txBody>
      </p:sp>
      <p:sp>
        <p:nvSpPr>
          <p:cNvPr id="25" name="Slide Number Placeholder 0">
            <a:extLst>
              <a:ext uri="{FF2B5EF4-FFF2-40B4-BE49-F238E27FC236}">
                <a16:creationId xmlns:a16="http://schemas.microsoft.com/office/drawing/2014/main" id="{992C5FD1-C040-7CC3-5E35-4497A9FED800}"/>
              </a:ext>
            </a:extLst>
          </p:cNvPr>
          <p:cNvSpPr>
            <a:spLocks noGrp="1"/>
          </p:cNvSpPr>
          <p:nvPr>
            <p:ph type="sldNum" sz="quarter" idx="4294967295"/>
          </p:nvPr>
        </p:nvSpPr>
        <p:spPr>
          <a:xfrm>
            <a:off x="11094415" y="6327648"/>
            <a:ext cx="548640" cy="274320"/>
          </a:xfrm>
          <a:prstGeom prst="rect">
            <a:avLst/>
          </a:prstGeom>
          <a:extLst>
            <a:ext uri="{C572A759-6A51-4108-AA02-DFA0A04FC94B}">
              <ma14:wrappingTextBoxFlag xmlns="" xmlns:ma14="http://schemas.microsoft.com/office/mac/drawingml/2011/main" val="0"/>
            </a:ext>
          </a:extLst>
        </p:spPr>
        <p:txBody>
          <a:bodyPr lIns="0" tIns="0" rIns="0" bIns="0" anchor="ctr"/>
          <a:lstStyle>
            <a:lvl1pPr>
              <a:defRPr sz="1000">
                <a:solidFill>
                  <a:srgbClr val="9AA3BD"/>
                </a:solidFill>
              </a:defRPr>
            </a:lvl1pPr>
          </a:lstStyle>
          <a:p>
            <a:pPr algn="r"/>
            <a:fld id="{F7021451-1387-4CA6-816F-3879F97B5CBC}" type="slidenum">
              <a:rPr lang="en-US" b="0"/>
              <a:t>26</a:t>
            </a:fld>
            <a:endParaRPr lang="en-US"/>
          </a:p>
        </p:txBody>
      </p:sp>
      <p:pic>
        <p:nvPicPr>
          <p:cNvPr id="13" name="Image 12">
            <a:extLst>
              <a:ext uri="{FF2B5EF4-FFF2-40B4-BE49-F238E27FC236}">
                <a16:creationId xmlns:a16="http://schemas.microsoft.com/office/drawing/2014/main" id="{9014CF05-C3EB-92C4-F11B-5CF072C256D0}"/>
              </a:ext>
            </a:extLst>
          </p:cNvPr>
          <p:cNvPicPr>
            <a:picLocks noChangeAspect="1"/>
          </p:cNvPicPr>
          <p:nvPr/>
        </p:nvPicPr>
        <p:blipFill>
          <a:blip r:embed="rId3"/>
          <a:stretch>
            <a:fillRect/>
          </a:stretch>
        </p:blipFill>
        <p:spPr>
          <a:xfrm>
            <a:off x="9724644" y="-443705"/>
            <a:ext cx="2437453" cy="1723866"/>
          </a:xfrm>
          <a:prstGeom prst="rect">
            <a:avLst/>
          </a:prstGeom>
        </p:spPr>
      </p:pic>
      <p:sp>
        <p:nvSpPr>
          <p:cNvPr id="28" name="Intro">
            <a:extLst>
              <a:ext uri="{FF2B5EF4-FFF2-40B4-BE49-F238E27FC236}">
                <a16:creationId xmlns:a16="http://schemas.microsoft.com/office/drawing/2014/main" id="{D4382CA2-0A8D-0AB4-835B-533A5C0BD78C}"/>
              </a:ext>
            </a:extLst>
          </p:cNvPr>
          <p:cNvSpPr txBox="1"/>
          <p:nvPr/>
        </p:nvSpPr>
        <p:spPr>
          <a:xfrm>
            <a:off x="548640" y="1150000"/>
            <a:ext cx="11094415" cy="400000"/>
          </a:xfrm>
          <a:prstGeom prst="rect">
            <a:avLst/>
          </a:prstGeom>
          <a:noFill/>
          <a:ln/>
        </p:spPr>
        <p:txBody>
          <a:bodyPr wrap="square" lIns="0" tIns="0" rIns="0" bIns="0" rtlCol="0" anchor="ctr"/>
          <a:lstStyle/>
          <a:p>
            <a:pPr marL="0" indent="0">
              <a:buNone/>
            </a:pPr>
            <a:r>
              <a:rPr lang="en-US" sz="1500" i="1" dirty="0">
                <a:solidFill>
                  <a:schemeClr val="tx2"/>
                </a:solidFill>
              </a:rPr>
              <a:t>Three noise types are available: quasi-static, white and </a:t>
            </a:r>
            <a:r>
              <a:rPr lang="en-US" sz="1500" b="1" dirty="0">
                <a:solidFill>
                  <a:schemeClr val="accent3"/>
                </a:solidFill>
              </a:rPr>
              <a:t>pink</a:t>
            </a:r>
            <a:r>
              <a:rPr lang="en-US" sz="1500" i="1" dirty="0">
                <a:solidFill>
                  <a:schemeClr val="tx2"/>
                </a:solidFill>
              </a:rPr>
              <a:t>, the 1/f noise that dominates in spin qubits.</a:t>
            </a:r>
          </a:p>
        </p:txBody>
      </p:sp>
      <p:sp>
        <p:nvSpPr>
          <p:cNvPr id="30" name="Step 1">
            <a:extLst>
              <a:ext uri="{FF2B5EF4-FFF2-40B4-BE49-F238E27FC236}">
                <a16:creationId xmlns:a16="http://schemas.microsoft.com/office/drawing/2014/main" id="{04FAA2C1-2A1E-04A4-986C-586136E20A1F}"/>
              </a:ext>
            </a:extLst>
          </p:cNvPr>
          <p:cNvSpPr/>
          <p:nvPr/>
        </p:nvSpPr>
        <p:spPr>
          <a:xfrm>
            <a:off x="548640" y="3824332"/>
            <a:ext cx="3498138" cy="1679000"/>
          </a:xfrm>
          <a:prstGeom prst="roundRect">
            <a:avLst>
              <a:gd name="adj" fmla="val 5000"/>
            </a:avLst>
          </a:prstGeom>
          <a:solidFill>
            <a:schemeClr val="bg2"/>
          </a:solidFill>
          <a:ln w="12700">
            <a:solidFill>
              <a:schemeClr val="accent1"/>
            </a:solidFill>
            <a:prstDash val="solid"/>
          </a:ln>
        </p:spPr>
        <p:txBody>
          <a:bodyPr/>
          <a:lstStyle/>
          <a:p>
            <a:endParaRPr lang="fr-FR"/>
          </a:p>
        </p:txBody>
      </p:sp>
      <p:sp>
        <p:nvSpPr>
          <p:cNvPr id="32" name="Shape 2">
            <a:extLst>
              <a:ext uri="{FF2B5EF4-FFF2-40B4-BE49-F238E27FC236}">
                <a16:creationId xmlns:a16="http://schemas.microsoft.com/office/drawing/2014/main" id="{9F32E206-C601-3B7B-C37C-17A7B832DB9B}"/>
              </a:ext>
            </a:extLst>
          </p:cNvPr>
          <p:cNvSpPr/>
          <p:nvPr/>
        </p:nvSpPr>
        <p:spPr>
          <a:xfrm>
            <a:off x="822960" y="4190092"/>
            <a:ext cx="91440" cy="91440"/>
          </a:xfrm>
          <a:prstGeom prst="rect">
            <a:avLst/>
          </a:prstGeom>
          <a:solidFill>
            <a:schemeClr val="accent2"/>
          </a:solidFill>
          <a:ln/>
        </p:spPr>
        <p:txBody>
          <a:bodyPr/>
          <a:lstStyle/>
          <a:p>
            <a:endParaRPr lang="fr-FR"/>
          </a:p>
        </p:txBody>
      </p:sp>
      <p:sp>
        <p:nvSpPr>
          <p:cNvPr id="34" name="Step title 1">
            <a:extLst>
              <a:ext uri="{FF2B5EF4-FFF2-40B4-BE49-F238E27FC236}">
                <a16:creationId xmlns:a16="http://schemas.microsoft.com/office/drawing/2014/main" id="{60FB4509-2ED0-00BD-6835-298C3ABFF602}"/>
              </a:ext>
            </a:extLst>
          </p:cNvPr>
          <p:cNvSpPr txBox="1"/>
          <p:nvPr/>
        </p:nvSpPr>
        <p:spPr>
          <a:xfrm>
            <a:off x="1051560" y="4094332"/>
            <a:ext cx="2720898" cy="320040"/>
          </a:xfrm>
          <a:prstGeom prst="rect">
            <a:avLst/>
          </a:prstGeom>
          <a:noFill/>
          <a:ln/>
        </p:spPr>
        <p:txBody>
          <a:bodyPr wrap="square" lIns="0" tIns="0" rIns="0" bIns="0" rtlCol="0" anchor="ctr"/>
          <a:lstStyle/>
          <a:p>
            <a:pPr marL="0" indent="0">
              <a:buNone/>
            </a:pPr>
            <a:r>
              <a:rPr lang="en-US" sz="1600" b="1" dirty="0">
                <a:solidFill>
                  <a:schemeClr val="accent3"/>
                </a:solidFill>
              </a:rPr>
              <a:t>1 — Draw a trace</a:t>
            </a:r>
          </a:p>
        </p:txBody>
      </p:sp>
      <p:sp>
        <p:nvSpPr>
          <p:cNvPr id="36" name="Step body 1">
            <a:extLst>
              <a:ext uri="{FF2B5EF4-FFF2-40B4-BE49-F238E27FC236}">
                <a16:creationId xmlns:a16="http://schemas.microsoft.com/office/drawing/2014/main" id="{A91BA625-9214-F12A-A319-CE40F7185CE7}"/>
              </a:ext>
            </a:extLst>
          </p:cNvPr>
          <p:cNvSpPr txBox="1"/>
          <p:nvPr/>
        </p:nvSpPr>
        <p:spPr>
          <a:xfrm>
            <a:off x="822960" y="4644332"/>
            <a:ext cx="2949498" cy="726756"/>
          </a:xfrm>
          <a:prstGeom prst="rect">
            <a:avLst/>
          </a:prstGeom>
          <a:noFill/>
          <a:ln/>
        </p:spPr>
        <p:txBody>
          <a:bodyPr wrap="square" lIns="0" tIns="0" rIns="0" bIns="0" rtlCol="0" anchor="t"/>
          <a:lstStyle/>
          <a:p>
            <a:r>
              <a:rPr lang="en-US" sz="1300" i="1" dirty="0">
                <a:solidFill>
                  <a:schemeClr val="tx2"/>
                </a:solidFill>
              </a:rPr>
              <a:t>A noise trace ε(t) is generated for the whole circuit, </a:t>
            </a:r>
            <a:r>
              <a:rPr lang="en-GB" sz="1300" i="1" dirty="0">
                <a:solidFill>
                  <a:schemeClr val="tx2"/>
                </a:solidFill>
              </a:rPr>
              <a:t>with the spectrum of the chosen type.</a:t>
            </a:r>
            <a:endParaRPr lang="en-US" sz="1300" i="1" dirty="0">
              <a:solidFill>
                <a:schemeClr val="tx2"/>
              </a:solidFill>
            </a:endParaRPr>
          </a:p>
        </p:txBody>
      </p:sp>
      <p:sp>
        <p:nvSpPr>
          <p:cNvPr id="38" name="Step 2">
            <a:extLst>
              <a:ext uri="{FF2B5EF4-FFF2-40B4-BE49-F238E27FC236}">
                <a16:creationId xmlns:a16="http://schemas.microsoft.com/office/drawing/2014/main" id="{2DEB3841-4D7D-089F-0DC4-955E41A0AB1F}"/>
              </a:ext>
            </a:extLst>
          </p:cNvPr>
          <p:cNvSpPr/>
          <p:nvPr/>
        </p:nvSpPr>
        <p:spPr>
          <a:xfrm>
            <a:off x="4346778" y="3824332"/>
            <a:ext cx="3498138" cy="1679000"/>
          </a:xfrm>
          <a:prstGeom prst="roundRect">
            <a:avLst>
              <a:gd name="adj" fmla="val 5000"/>
            </a:avLst>
          </a:prstGeom>
          <a:solidFill>
            <a:schemeClr val="bg2"/>
          </a:solidFill>
          <a:ln w="12700">
            <a:solidFill>
              <a:schemeClr val="accent1"/>
            </a:solidFill>
            <a:prstDash val="solid"/>
          </a:ln>
        </p:spPr>
        <p:txBody>
          <a:bodyPr/>
          <a:lstStyle/>
          <a:p>
            <a:endParaRPr lang="fr-FR"/>
          </a:p>
        </p:txBody>
      </p:sp>
      <p:sp>
        <p:nvSpPr>
          <p:cNvPr id="40" name="Shape 2">
            <a:extLst>
              <a:ext uri="{FF2B5EF4-FFF2-40B4-BE49-F238E27FC236}">
                <a16:creationId xmlns:a16="http://schemas.microsoft.com/office/drawing/2014/main" id="{6B456CAE-6F11-6AB2-567C-38711C3F1BA8}"/>
              </a:ext>
            </a:extLst>
          </p:cNvPr>
          <p:cNvSpPr/>
          <p:nvPr/>
        </p:nvSpPr>
        <p:spPr>
          <a:xfrm>
            <a:off x="4621098" y="4190092"/>
            <a:ext cx="91440" cy="91440"/>
          </a:xfrm>
          <a:prstGeom prst="rect">
            <a:avLst/>
          </a:prstGeom>
          <a:solidFill>
            <a:schemeClr val="accent2"/>
          </a:solidFill>
          <a:ln/>
        </p:spPr>
        <p:txBody>
          <a:bodyPr/>
          <a:lstStyle/>
          <a:p>
            <a:endParaRPr lang="fr-FR"/>
          </a:p>
        </p:txBody>
      </p:sp>
      <p:sp>
        <p:nvSpPr>
          <p:cNvPr id="42" name="Step title 2">
            <a:extLst>
              <a:ext uri="{FF2B5EF4-FFF2-40B4-BE49-F238E27FC236}">
                <a16:creationId xmlns:a16="http://schemas.microsoft.com/office/drawing/2014/main" id="{CDF528B1-2251-7632-D895-536E9FC4F342}"/>
              </a:ext>
            </a:extLst>
          </p:cNvPr>
          <p:cNvSpPr txBox="1"/>
          <p:nvPr/>
        </p:nvSpPr>
        <p:spPr>
          <a:xfrm>
            <a:off x="4849698" y="4094332"/>
            <a:ext cx="2720898" cy="320040"/>
          </a:xfrm>
          <a:prstGeom prst="rect">
            <a:avLst/>
          </a:prstGeom>
          <a:noFill/>
          <a:ln/>
        </p:spPr>
        <p:txBody>
          <a:bodyPr wrap="square" lIns="0" tIns="0" rIns="0" bIns="0" rtlCol="0" anchor="ctr"/>
          <a:lstStyle/>
          <a:p>
            <a:pPr marL="0" indent="0">
              <a:buNone/>
            </a:pPr>
            <a:r>
              <a:rPr lang="en-US" sz="1600" b="1" dirty="0">
                <a:solidFill>
                  <a:schemeClr val="accent3"/>
                </a:solidFill>
              </a:rPr>
              <a:t>2 — Simulate on it</a:t>
            </a:r>
          </a:p>
        </p:txBody>
      </p:sp>
      <p:sp>
        <p:nvSpPr>
          <p:cNvPr id="44" name="Step body 2">
            <a:extLst>
              <a:ext uri="{FF2B5EF4-FFF2-40B4-BE49-F238E27FC236}">
                <a16:creationId xmlns:a16="http://schemas.microsoft.com/office/drawing/2014/main" id="{EFE533F8-E136-9485-B3BC-521AE246FCDE}"/>
              </a:ext>
            </a:extLst>
          </p:cNvPr>
          <p:cNvSpPr txBox="1"/>
          <p:nvPr/>
        </p:nvSpPr>
        <p:spPr>
          <a:xfrm>
            <a:off x="4621098" y="4644332"/>
            <a:ext cx="2949498" cy="1500000"/>
          </a:xfrm>
          <a:prstGeom prst="rect">
            <a:avLst/>
          </a:prstGeom>
          <a:noFill/>
          <a:ln/>
        </p:spPr>
        <p:txBody>
          <a:bodyPr wrap="square" lIns="0" tIns="0" rIns="0" bIns="0" rtlCol="0" anchor="t"/>
          <a:lstStyle/>
          <a:p>
            <a:pPr marL="0" indent="0">
              <a:buNone/>
            </a:pPr>
            <a:r>
              <a:rPr lang="en-US" sz="1300" i="1" dirty="0">
                <a:solidFill>
                  <a:schemeClr val="tx2"/>
                </a:solidFill>
              </a:rPr>
              <a:t>The circuit is integrated on that trace: every gate sees a consecutive slice of the same ε(t).</a:t>
            </a:r>
          </a:p>
        </p:txBody>
      </p:sp>
      <p:sp>
        <p:nvSpPr>
          <p:cNvPr id="46" name="Step 3">
            <a:extLst>
              <a:ext uri="{FF2B5EF4-FFF2-40B4-BE49-F238E27FC236}">
                <a16:creationId xmlns:a16="http://schemas.microsoft.com/office/drawing/2014/main" id="{22FA9D6E-E433-978A-5D58-F5327D8EF6A6}"/>
              </a:ext>
            </a:extLst>
          </p:cNvPr>
          <p:cNvSpPr/>
          <p:nvPr/>
        </p:nvSpPr>
        <p:spPr>
          <a:xfrm>
            <a:off x="8144916" y="3824332"/>
            <a:ext cx="3498138" cy="1679000"/>
          </a:xfrm>
          <a:prstGeom prst="roundRect">
            <a:avLst>
              <a:gd name="adj" fmla="val 5000"/>
            </a:avLst>
          </a:prstGeom>
          <a:solidFill>
            <a:schemeClr val="bg2"/>
          </a:solidFill>
          <a:ln w="12700">
            <a:solidFill>
              <a:schemeClr val="accent1"/>
            </a:solidFill>
            <a:prstDash val="solid"/>
          </a:ln>
        </p:spPr>
        <p:txBody>
          <a:bodyPr/>
          <a:lstStyle/>
          <a:p>
            <a:endParaRPr lang="fr-FR"/>
          </a:p>
        </p:txBody>
      </p:sp>
      <p:sp>
        <p:nvSpPr>
          <p:cNvPr id="48" name="Shape 2">
            <a:extLst>
              <a:ext uri="{FF2B5EF4-FFF2-40B4-BE49-F238E27FC236}">
                <a16:creationId xmlns:a16="http://schemas.microsoft.com/office/drawing/2014/main" id="{5783B2EE-7E49-A652-D054-445328C64953}"/>
              </a:ext>
            </a:extLst>
          </p:cNvPr>
          <p:cNvSpPr/>
          <p:nvPr/>
        </p:nvSpPr>
        <p:spPr>
          <a:xfrm>
            <a:off x="8419236" y="4190092"/>
            <a:ext cx="91440" cy="91440"/>
          </a:xfrm>
          <a:prstGeom prst="rect">
            <a:avLst/>
          </a:prstGeom>
          <a:solidFill>
            <a:schemeClr val="accent2"/>
          </a:solidFill>
          <a:ln/>
        </p:spPr>
        <p:txBody>
          <a:bodyPr/>
          <a:lstStyle/>
          <a:p>
            <a:endParaRPr lang="fr-FR"/>
          </a:p>
        </p:txBody>
      </p:sp>
      <p:sp>
        <p:nvSpPr>
          <p:cNvPr id="50" name="Step title 3">
            <a:extLst>
              <a:ext uri="{FF2B5EF4-FFF2-40B4-BE49-F238E27FC236}">
                <a16:creationId xmlns:a16="http://schemas.microsoft.com/office/drawing/2014/main" id="{196BA74E-EE48-1017-5506-CCF330F20A00}"/>
              </a:ext>
            </a:extLst>
          </p:cNvPr>
          <p:cNvSpPr txBox="1"/>
          <p:nvPr/>
        </p:nvSpPr>
        <p:spPr>
          <a:xfrm>
            <a:off x="8647836" y="4094332"/>
            <a:ext cx="2720898" cy="320040"/>
          </a:xfrm>
          <a:prstGeom prst="rect">
            <a:avLst/>
          </a:prstGeom>
          <a:noFill/>
          <a:ln/>
        </p:spPr>
        <p:txBody>
          <a:bodyPr wrap="square" lIns="0" tIns="0" rIns="0" bIns="0" rtlCol="0" anchor="ctr"/>
          <a:lstStyle/>
          <a:p>
            <a:pPr marL="0" indent="0">
              <a:buNone/>
            </a:pPr>
            <a:r>
              <a:rPr lang="en-US" sz="1600" b="1" dirty="0">
                <a:solidFill>
                  <a:schemeClr val="accent3"/>
                </a:solidFill>
              </a:rPr>
              <a:t>3 — Average</a:t>
            </a:r>
          </a:p>
        </p:txBody>
      </p:sp>
      <p:sp>
        <p:nvSpPr>
          <p:cNvPr id="52" name="Step body 3">
            <a:extLst>
              <a:ext uri="{FF2B5EF4-FFF2-40B4-BE49-F238E27FC236}">
                <a16:creationId xmlns:a16="http://schemas.microsoft.com/office/drawing/2014/main" id="{E5CF1B79-752D-F8BE-D3BF-B8671352A5D0}"/>
              </a:ext>
            </a:extLst>
          </p:cNvPr>
          <p:cNvSpPr txBox="1"/>
          <p:nvPr/>
        </p:nvSpPr>
        <p:spPr>
          <a:xfrm>
            <a:off x="8419236" y="4644332"/>
            <a:ext cx="2949498" cy="1500000"/>
          </a:xfrm>
          <a:prstGeom prst="rect">
            <a:avLst/>
          </a:prstGeom>
          <a:noFill/>
          <a:ln/>
        </p:spPr>
        <p:txBody>
          <a:bodyPr wrap="square" lIns="0" tIns="0" rIns="0" bIns="0" rtlCol="0" anchor="t"/>
          <a:lstStyle/>
          <a:p>
            <a:pPr marL="0" indent="0">
              <a:buNone/>
            </a:pPr>
            <a:r>
              <a:rPr lang="en-US" sz="1300" i="1" dirty="0">
                <a:solidFill>
                  <a:schemeClr val="tx2"/>
                </a:solidFill>
              </a:rPr>
              <a:t>A new trace is drawn and the process repeats. Fidelities are averaged over all realizations.</a:t>
            </a:r>
          </a:p>
        </p:txBody>
      </p:sp>
      <p:sp>
        <p:nvSpPr>
          <p:cNvPr id="54" name="Callout">
            <a:extLst>
              <a:ext uri="{FF2B5EF4-FFF2-40B4-BE49-F238E27FC236}">
                <a16:creationId xmlns:a16="http://schemas.microsoft.com/office/drawing/2014/main" id="{ADBA5C00-00D4-9DFD-1933-9203C106DE53}"/>
              </a:ext>
            </a:extLst>
          </p:cNvPr>
          <p:cNvSpPr/>
          <p:nvPr/>
        </p:nvSpPr>
        <p:spPr>
          <a:xfrm>
            <a:off x="548639" y="5729778"/>
            <a:ext cx="11094415" cy="401280"/>
          </a:xfrm>
          <a:prstGeom prst="roundRect">
            <a:avLst>
              <a:gd name="adj" fmla="val 12500"/>
            </a:avLst>
          </a:prstGeom>
          <a:solidFill>
            <a:schemeClr val="accent4"/>
          </a:solidFill>
          <a:ln/>
        </p:spPr>
        <p:txBody>
          <a:bodyPr/>
          <a:lstStyle/>
          <a:p>
            <a:endParaRPr lang="fr-FR"/>
          </a:p>
        </p:txBody>
      </p:sp>
      <p:sp>
        <p:nvSpPr>
          <p:cNvPr id="56" name="Callout text">
            <a:extLst>
              <a:ext uri="{FF2B5EF4-FFF2-40B4-BE49-F238E27FC236}">
                <a16:creationId xmlns:a16="http://schemas.microsoft.com/office/drawing/2014/main" id="{D6B378A7-6C0C-F8E2-FF0D-9D1127108DB5}"/>
              </a:ext>
            </a:extLst>
          </p:cNvPr>
          <p:cNvSpPr txBox="1"/>
          <p:nvPr/>
        </p:nvSpPr>
        <p:spPr>
          <a:xfrm>
            <a:off x="731519" y="5729778"/>
            <a:ext cx="10728655" cy="401280"/>
          </a:xfrm>
          <a:prstGeom prst="rect">
            <a:avLst/>
          </a:prstGeom>
          <a:noFill/>
          <a:ln/>
        </p:spPr>
        <p:txBody>
          <a:bodyPr wrap="square" lIns="0" tIns="0" rIns="0" bIns="0" rtlCol="0" anchor="ctr"/>
          <a:lstStyle/>
          <a:p>
            <a:r>
              <a:rPr lang="en-GB" sz="1600" b="1" dirty="0">
                <a:solidFill>
                  <a:schemeClr val="accent3"/>
                </a:solidFill>
              </a:rPr>
              <a:t>Pink noise has more weight at low frequencies: it drifts over many gates, so their errors are correlated.</a:t>
            </a:r>
            <a:endParaRPr lang="en-US" sz="1600" b="1" dirty="0">
              <a:solidFill>
                <a:schemeClr val="accent3"/>
              </a:solidFill>
            </a:endParaRPr>
          </a:p>
        </p:txBody>
      </p:sp>
      <p:sp>
        <p:nvSpPr>
          <p:cNvPr id="62" name="Step body 1">
            <a:extLst>
              <a:ext uri="{FF2B5EF4-FFF2-40B4-BE49-F238E27FC236}">
                <a16:creationId xmlns:a16="http://schemas.microsoft.com/office/drawing/2014/main" id="{D7E9E9F4-F284-A137-BB4E-F9CCC568F4F4}"/>
              </a:ext>
            </a:extLst>
          </p:cNvPr>
          <p:cNvSpPr txBox="1"/>
          <p:nvPr/>
        </p:nvSpPr>
        <p:spPr>
          <a:xfrm>
            <a:off x="7214156" y="3425798"/>
            <a:ext cx="973060" cy="201668"/>
          </a:xfrm>
          <a:prstGeom prst="rect">
            <a:avLst/>
          </a:prstGeom>
          <a:noFill/>
          <a:ln/>
        </p:spPr>
        <p:txBody>
          <a:bodyPr wrap="square" lIns="0" tIns="0" rIns="0" bIns="0" rtlCol="0" anchor="t"/>
          <a:lstStyle/>
          <a:p>
            <a:pPr marL="0" indent="0">
              <a:buNone/>
            </a:pPr>
            <a:r>
              <a:rPr lang="en-US" sz="1300" i="1" dirty="0">
                <a:solidFill>
                  <a:schemeClr val="tx2"/>
                </a:solidFill>
              </a:rPr>
              <a:t>White noise</a:t>
            </a:r>
          </a:p>
        </p:txBody>
      </p:sp>
      <p:sp>
        <p:nvSpPr>
          <p:cNvPr id="64" name="Step body 1">
            <a:extLst>
              <a:ext uri="{FF2B5EF4-FFF2-40B4-BE49-F238E27FC236}">
                <a16:creationId xmlns:a16="http://schemas.microsoft.com/office/drawing/2014/main" id="{6D6B728D-2663-34FB-4312-44022D0E75DA}"/>
              </a:ext>
            </a:extLst>
          </p:cNvPr>
          <p:cNvSpPr txBox="1"/>
          <p:nvPr/>
        </p:nvSpPr>
        <p:spPr>
          <a:xfrm>
            <a:off x="11008148" y="3404485"/>
            <a:ext cx="973060" cy="201668"/>
          </a:xfrm>
          <a:prstGeom prst="rect">
            <a:avLst/>
          </a:prstGeom>
          <a:noFill/>
          <a:ln/>
        </p:spPr>
        <p:txBody>
          <a:bodyPr wrap="square" lIns="0" tIns="0" rIns="0" bIns="0" rtlCol="0" anchor="t"/>
          <a:lstStyle/>
          <a:p>
            <a:pPr marL="0" indent="0">
              <a:buNone/>
            </a:pPr>
            <a:r>
              <a:rPr lang="en-US" sz="1300" i="1" dirty="0">
                <a:solidFill>
                  <a:schemeClr val="tx2"/>
                </a:solidFill>
              </a:rPr>
              <a:t>Pink noise</a:t>
            </a:r>
          </a:p>
        </p:txBody>
      </p:sp>
      <p:sp>
        <p:nvSpPr>
          <p:cNvPr id="6" name="Step body 1">
            <a:extLst>
              <a:ext uri="{FF2B5EF4-FFF2-40B4-BE49-F238E27FC236}">
                <a16:creationId xmlns:a16="http://schemas.microsoft.com/office/drawing/2014/main" id="{9A02A4E6-2571-8D64-82E8-8E6C28B2CAB1}"/>
              </a:ext>
            </a:extLst>
          </p:cNvPr>
          <p:cNvSpPr txBox="1"/>
          <p:nvPr/>
        </p:nvSpPr>
        <p:spPr>
          <a:xfrm>
            <a:off x="3331402" y="3406343"/>
            <a:ext cx="1436314" cy="221123"/>
          </a:xfrm>
          <a:prstGeom prst="rect">
            <a:avLst/>
          </a:prstGeom>
          <a:noFill/>
          <a:ln/>
        </p:spPr>
        <p:txBody>
          <a:bodyPr wrap="square" lIns="0" tIns="0" rIns="0" bIns="0" rtlCol="0" anchor="t"/>
          <a:lstStyle/>
          <a:p>
            <a:pPr marL="0" indent="0">
              <a:buNone/>
            </a:pPr>
            <a:r>
              <a:rPr lang="en-US" sz="1300" i="1" dirty="0">
                <a:solidFill>
                  <a:schemeClr val="tx2"/>
                </a:solidFill>
              </a:rPr>
              <a:t>Quasi-static noise</a:t>
            </a:r>
          </a:p>
        </p:txBody>
      </p:sp>
      <p:pic>
        <p:nvPicPr>
          <p:cNvPr id="10" name="Image 9">
            <a:extLst>
              <a:ext uri="{FF2B5EF4-FFF2-40B4-BE49-F238E27FC236}">
                <a16:creationId xmlns:a16="http://schemas.microsoft.com/office/drawing/2014/main" id="{691A67C9-EDAA-5AFC-6E0C-2CD81C9BB20E}"/>
              </a:ext>
            </a:extLst>
          </p:cNvPr>
          <p:cNvPicPr>
            <a:picLocks noChangeAspect="1"/>
          </p:cNvPicPr>
          <p:nvPr/>
        </p:nvPicPr>
        <p:blipFill>
          <a:blip r:embed="rId4"/>
          <a:srcRect l="9695" t="18600" r="67465" b="15036"/>
          <a:stretch>
            <a:fillRect/>
          </a:stretch>
        </p:blipFill>
        <p:spPr>
          <a:xfrm>
            <a:off x="1178624" y="1714319"/>
            <a:ext cx="2030548" cy="1875895"/>
          </a:xfrm>
          <a:prstGeom prst="roundRect">
            <a:avLst/>
          </a:prstGeom>
        </p:spPr>
      </p:pic>
      <p:pic>
        <p:nvPicPr>
          <p:cNvPr id="17" name="Image 16">
            <a:extLst>
              <a:ext uri="{FF2B5EF4-FFF2-40B4-BE49-F238E27FC236}">
                <a16:creationId xmlns:a16="http://schemas.microsoft.com/office/drawing/2014/main" id="{E4BE3CFA-3C8F-94E9-6C8A-6DAE415D2E35}"/>
              </a:ext>
            </a:extLst>
          </p:cNvPr>
          <p:cNvPicPr>
            <a:picLocks noChangeAspect="1"/>
          </p:cNvPicPr>
          <p:nvPr/>
        </p:nvPicPr>
        <p:blipFill>
          <a:blip r:embed="rId4"/>
          <a:srcRect l="41854" t="19155" r="35306" b="14480"/>
          <a:stretch>
            <a:fillRect/>
          </a:stretch>
        </p:blipFill>
        <p:spPr>
          <a:xfrm>
            <a:off x="5091359" y="1714319"/>
            <a:ext cx="2030548" cy="1875895"/>
          </a:xfrm>
          <a:prstGeom prst="roundRect">
            <a:avLst/>
          </a:prstGeom>
        </p:spPr>
      </p:pic>
      <p:pic>
        <p:nvPicPr>
          <p:cNvPr id="19" name="Image 18">
            <a:extLst>
              <a:ext uri="{FF2B5EF4-FFF2-40B4-BE49-F238E27FC236}">
                <a16:creationId xmlns:a16="http://schemas.microsoft.com/office/drawing/2014/main" id="{2B52B579-4E63-FBD4-75F8-B11696B1D05A}"/>
              </a:ext>
            </a:extLst>
          </p:cNvPr>
          <p:cNvPicPr>
            <a:picLocks noChangeAspect="1"/>
          </p:cNvPicPr>
          <p:nvPr/>
        </p:nvPicPr>
        <p:blipFill>
          <a:blip r:embed="rId4"/>
          <a:srcRect l="73915" t="18648" r="3004" b="14425"/>
          <a:stretch>
            <a:fillRect/>
          </a:stretch>
        </p:blipFill>
        <p:spPr>
          <a:xfrm>
            <a:off x="8878762" y="1714319"/>
            <a:ext cx="2052018" cy="1891834"/>
          </a:xfrm>
          <a:prstGeom prst="roundRect">
            <a:avLst/>
          </a:prstGeom>
        </p:spPr>
      </p:pic>
    </p:spTree>
    <p:extLst>
      <p:ext uri="{BB962C8B-B14F-4D97-AF65-F5344CB8AC3E}">
        <p14:creationId xmlns:p14="http://schemas.microsoft.com/office/powerpoint/2010/main" val="246065063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993503-A133-25A9-DCBE-D70A72C670A5}"/>
            </a:ext>
          </a:extLst>
        </p:cNvPr>
        <p:cNvGrpSpPr/>
        <p:nvPr/>
      </p:nvGrpSpPr>
      <p:grpSpPr>
        <a:xfrm>
          <a:off x="0" y="0"/>
          <a:ext cx="0" cy="0"/>
          <a:chOff x="0" y="0"/>
          <a:chExt cx="0" cy="0"/>
        </a:xfrm>
      </p:grpSpPr>
      <p:sp>
        <p:nvSpPr>
          <p:cNvPr id="2" name="Text 10">
            <a:extLst>
              <a:ext uri="{FF2B5EF4-FFF2-40B4-BE49-F238E27FC236}">
                <a16:creationId xmlns:a16="http://schemas.microsoft.com/office/drawing/2014/main" id="{5F3071DB-6BDD-5B0A-121F-D8AC227F86D5}"/>
              </a:ext>
            </a:extLst>
          </p:cNvPr>
          <p:cNvSpPr>
            <a:spLocks noGrp="1"/>
          </p:cNvSpPr>
          <p:nvPr>
            <p:ph type="title" idx="110" hasCustomPrompt="1"/>
          </p:nvPr>
        </p:nvSpPr>
        <p:spPr>
          <a:xfrm>
            <a:off x="548640" y="457200"/>
            <a:ext cx="5731389" cy="777240"/>
          </a:xfrm>
          <a:prstGeom prst="rect">
            <a:avLst/>
          </a:prstGeom>
          <a:noFill/>
          <a:ln/>
        </p:spPr>
        <p:txBody>
          <a:bodyPr wrap="square" lIns="0" tIns="0" rIns="0" bIns="0" rtlCol="0" anchor="t"/>
          <a:lstStyle/>
          <a:p>
            <a:pPr marL="0" indent="0" algn="l">
              <a:buNone/>
            </a:pPr>
            <a:r>
              <a:rPr lang="en-US" sz="3200" dirty="0">
                <a:solidFill>
                  <a:schemeClr val="tx1"/>
                </a:solidFill>
              </a:rPr>
              <a:t>Alloy forge and </a:t>
            </a:r>
            <a:r>
              <a:rPr lang="en-US" sz="3200" dirty="0" err="1">
                <a:solidFill>
                  <a:schemeClr val="tx1"/>
                </a:solidFill>
              </a:rPr>
              <a:t>qBraid</a:t>
            </a:r>
            <a:endParaRPr lang="en-US" sz="3200" dirty="0"/>
          </a:p>
        </p:txBody>
      </p:sp>
      <p:sp>
        <p:nvSpPr>
          <p:cNvPr id="25" name="Slide Number Placeholder 0">
            <a:extLst>
              <a:ext uri="{FF2B5EF4-FFF2-40B4-BE49-F238E27FC236}">
                <a16:creationId xmlns:a16="http://schemas.microsoft.com/office/drawing/2014/main" id="{3B8E99AD-74E2-F83E-AC7F-B75B7699D125}"/>
              </a:ext>
            </a:extLst>
          </p:cNvPr>
          <p:cNvSpPr>
            <a:spLocks noGrp="1"/>
          </p:cNvSpPr>
          <p:nvPr>
            <p:ph type="sldNum" sz="quarter" idx="4294967295"/>
          </p:nvPr>
        </p:nvSpPr>
        <p:spPr>
          <a:xfrm>
            <a:off x="11094415" y="6327648"/>
            <a:ext cx="548640" cy="274320"/>
          </a:xfrm>
          <a:prstGeom prst="rect">
            <a:avLst/>
          </a:prstGeom>
          <a:extLst>
            <a:ext uri="{C572A759-6A51-4108-AA02-DFA0A04FC94B}">
              <ma14:wrappingTextBoxFlag xmlns="" xmlns:ma14="http://schemas.microsoft.com/office/mac/drawingml/2011/main" val="0"/>
            </a:ext>
          </a:extLst>
        </p:spPr>
        <p:txBody>
          <a:bodyPr lIns="0" tIns="0" rIns="0" bIns="0" anchor="ctr"/>
          <a:lstStyle>
            <a:lvl1pPr>
              <a:defRPr sz="1000">
                <a:solidFill>
                  <a:srgbClr val="9AA3BD"/>
                </a:solidFill>
              </a:defRPr>
            </a:lvl1pPr>
          </a:lstStyle>
          <a:p>
            <a:pPr algn="r"/>
            <a:fld id="{F7021451-1387-4CA6-816F-3879F97B5CBC}" type="slidenum">
              <a:rPr lang="en-US" b="0"/>
              <a:t>27</a:t>
            </a:fld>
            <a:endParaRPr lang="en-US"/>
          </a:p>
        </p:txBody>
      </p:sp>
      <p:pic>
        <p:nvPicPr>
          <p:cNvPr id="13" name="Image 12">
            <a:extLst>
              <a:ext uri="{FF2B5EF4-FFF2-40B4-BE49-F238E27FC236}">
                <a16:creationId xmlns:a16="http://schemas.microsoft.com/office/drawing/2014/main" id="{5A595F31-4F62-A02D-D0EE-8146C29EAA15}"/>
              </a:ext>
            </a:extLst>
          </p:cNvPr>
          <p:cNvPicPr>
            <a:picLocks noChangeAspect="1"/>
          </p:cNvPicPr>
          <p:nvPr/>
        </p:nvPicPr>
        <p:blipFill>
          <a:blip r:embed="rId3"/>
          <a:stretch>
            <a:fillRect/>
          </a:stretch>
        </p:blipFill>
        <p:spPr>
          <a:xfrm>
            <a:off x="9724644" y="-443705"/>
            <a:ext cx="2437453" cy="1723866"/>
          </a:xfrm>
          <a:prstGeom prst="rect">
            <a:avLst/>
          </a:prstGeom>
        </p:spPr>
      </p:pic>
      <p:pic>
        <p:nvPicPr>
          <p:cNvPr id="41" name="Image 40">
            <a:extLst>
              <a:ext uri="{FF2B5EF4-FFF2-40B4-BE49-F238E27FC236}">
                <a16:creationId xmlns:a16="http://schemas.microsoft.com/office/drawing/2014/main" id="{8EE2017B-0731-B1CD-C71F-B38A58B784F2}"/>
              </a:ext>
            </a:extLst>
          </p:cNvPr>
          <p:cNvPicPr>
            <a:picLocks noChangeAspect="1"/>
          </p:cNvPicPr>
          <p:nvPr/>
        </p:nvPicPr>
        <p:blipFill>
          <a:blip r:embed="rId4"/>
          <a:stretch>
            <a:fillRect/>
          </a:stretch>
        </p:blipFill>
        <p:spPr>
          <a:xfrm>
            <a:off x="5710012" y="1358105"/>
            <a:ext cx="6096000" cy="3402780"/>
          </a:xfrm>
          <a:prstGeom prst="roundRect">
            <a:avLst>
              <a:gd name="adj" fmla="val 11597"/>
            </a:avLst>
          </a:prstGeom>
        </p:spPr>
      </p:pic>
      <p:sp>
        <p:nvSpPr>
          <p:cNvPr id="43" name="Classical LBM">
            <a:extLst>
              <a:ext uri="{FF2B5EF4-FFF2-40B4-BE49-F238E27FC236}">
                <a16:creationId xmlns:a16="http://schemas.microsoft.com/office/drawing/2014/main" id="{C73E9A0B-6E05-22DB-90C8-9DAA8FF2DB06}"/>
              </a:ext>
            </a:extLst>
          </p:cNvPr>
          <p:cNvSpPr/>
          <p:nvPr/>
        </p:nvSpPr>
        <p:spPr>
          <a:xfrm>
            <a:off x="548640" y="1358104"/>
            <a:ext cx="4572000" cy="3402781"/>
          </a:xfrm>
          <a:prstGeom prst="roundRect">
            <a:avLst>
              <a:gd name="adj" fmla="val 3030"/>
            </a:avLst>
          </a:prstGeom>
          <a:solidFill>
            <a:schemeClr val="bg2"/>
          </a:solidFill>
          <a:ln w="9525">
            <a:solidFill>
              <a:schemeClr val="accent5"/>
            </a:solidFill>
            <a:prstDash val="solid"/>
          </a:ln>
        </p:spPr>
        <p:txBody>
          <a:bodyPr/>
          <a:lstStyle/>
          <a:p>
            <a:endParaRPr lang="fr-FR"/>
          </a:p>
        </p:txBody>
      </p:sp>
      <p:sp>
        <p:nvSpPr>
          <p:cNvPr id="45" name="Shape 2">
            <a:extLst>
              <a:ext uri="{FF2B5EF4-FFF2-40B4-BE49-F238E27FC236}">
                <a16:creationId xmlns:a16="http://schemas.microsoft.com/office/drawing/2014/main" id="{587F1397-FA7F-D772-26F1-458D14851134}"/>
              </a:ext>
            </a:extLst>
          </p:cNvPr>
          <p:cNvSpPr/>
          <p:nvPr/>
        </p:nvSpPr>
        <p:spPr>
          <a:xfrm>
            <a:off x="868680" y="1723865"/>
            <a:ext cx="91440" cy="91440"/>
          </a:xfrm>
          <a:prstGeom prst="rect">
            <a:avLst/>
          </a:prstGeom>
          <a:solidFill>
            <a:schemeClr val="accent2"/>
          </a:solidFill>
          <a:ln/>
        </p:spPr>
        <p:txBody>
          <a:bodyPr/>
          <a:lstStyle/>
          <a:p>
            <a:endParaRPr lang="fr-FR"/>
          </a:p>
        </p:txBody>
      </p:sp>
      <p:sp>
        <p:nvSpPr>
          <p:cNvPr id="47" name="Text 4">
            <a:extLst>
              <a:ext uri="{FF2B5EF4-FFF2-40B4-BE49-F238E27FC236}">
                <a16:creationId xmlns:a16="http://schemas.microsoft.com/office/drawing/2014/main" id="{A2EF20F0-D700-B080-3740-BA88E4F70121}"/>
              </a:ext>
            </a:extLst>
          </p:cNvPr>
          <p:cNvSpPr txBox="1"/>
          <p:nvPr/>
        </p:nvSpPr>
        <p:spPr>
          <a:xfrm>
            <a:off x="868680" y="2135344"/>
            <a:ext cx="3931920" cy="2442661"/>
          </a:xfrm>
          <a:prstGeom prst="rect">
            <a:avLst/>
          </a:prstGeom>
          <a:noFill/>
          <a:ln/>
        </p:spPr>
        <p:txBody>
          <a:bodyPr wrap="square" lIns="0" tIns="0" rIns="0" bIns="0" rtlCol="0" anchor="t"/>
          <a:lstStyle/>
          <a:p>
            <a:pPr marL="203200" indent="-203200">
              <a:spcAft>
                <a:spcPts val="900"/>
              </a:spcAft>
              <a:buSzPct val="100000"/>
              <a:buChar char="•"/>
            </a:pPr>
            <a:r>
              <a:rPr lang="en-US" sz="1500" dirty="0">
                <a:solidFill>
                  <a:schemeClr val="tx1"/>
                </a:solidFill>
              </a:rPr>
              <a:t>qBraid — cloud notebooks with real QPUs and simulators</a:t>
            </a:r>
          </a:p>
          <a:p>
            <a:pPr marL="203200" indent="-203200">
              <a:spcAft>
                <a:spcPts val="900"/>
              </a:spcAft>
              <a:buSzPct val="100000"/>
              <a:buChar char="•"/>
            </a:pPr>
            <a:r>
              <a:rPr lang="en-US" sz="1500" dirty="0">
                <a:solidFill>
                  <a:schemeClr val="tx1"/>
                </a:solidFill>
              </a:rPr>
              <a:t>100 h of free CPU time per month</a:t>
            </a:r>
          </a:p>
          <a:p>
            <a:pPr marL="203200" indent="-203200">
              <a:spcAft>
                <a:spcPts val="900"/>
              </a:spcAft>
              <a:buSzPct val="100000"/>
              <a:buChar char="•"/>
            </a:pPr>
            <a:r>
              <a:rPr lang="en-US" sz="1500" dirty="0">
                <a:solidFill>
                  <a:schemeClr val="tx1"/>
                </a:solidFill>
              </a:rPr>
              <a:t>Alloy Forge — simulator of Quobly's Pioneer QPU</a:t>
            </a:r>
          </a:p>
          <a:p>
            <a:pPr marL="203200" indent="-203200">
              <a:spcAft>
                <a:spcPts val="900"/>
              </a:spcAft>
              <a:buSzPct val="100000"/>
              <a:buChar char="•"/>
            </a:pPr>
            <a:r>
              <a:rPr lang="en-US" sz="1500" dirty="0">
                <a:solidFill>
                  <a:schemeClr val="tx1"/>
                </a:solidFill>
              </a:rPr>
              <a:t>Up to 10 qubits, free</a:t>
            </a:r>
          </a:p>
          <a:p>
            <a:pPr marL="203200" indent="-203200">
              <a:spcAft>
                <a:spcPts val="900"/>
              </a:spcAft>
              <a:buSzPct val="100000"/>
              <a:buChar char="•"/>
            </a:pPr>
            <a:r>
              <a:rPr lang="en-GB" sz="1500" dirty="0"/>
              <a:t>Based on SpinPulse code, with </a:t>
            </a:r>
            <a:r>
              <a:rPr lang="en-GB" sz="1500" dirty="0" err="1"/>
              <a:t>Quobly’s</a:t>
            </a:r>
            <a:r>
              <a:rPr lang="en-GB" sz="1500" dirty="0"/>
              <a:t> hardware specs already set</a:t>
            </a:r>
            <a:endParaRPr lang="en-US" sz="1500" dirty="0">
              <a:solidFill>
                <a:schemeClr val="tx1"/>
              </a:solidFill>
            </a:endParaRPr>
          </a:p>
        </p:txBody>
      </p:sp>
      <p:sp>
        <p:nvSpPr>
          <p:cNvPr id="49" name="Shape 2">
            <a:extLst>
              <a:ext uri="{FF2B5EF4-FFF2-40B4-BE49-F238E27FC236}">
                <a16:creationId xmlns:a16="http://schemas.microsoft.com/office/drawing/2014/main" id="{F2827323-1CA1-7182-475B-A250E763FDE1}"/>
              </a:ext>
            </a:extLst>
          </p:cNvPr>
          <p:cNvSpPr/>
          <p:nvPr/>
        </p:nvSpPr>
        <p:spPr>
          <a:xfrm>
            <a:off x="868680" y="1694729"/>
            <a:ext cx="91440" cy="91440"/>
          </a:xfrm>
          <a:prstGeom prst="rect">
            <a:avLst/>
          </a:prstGeom>
          <a:solidFill>
            <a:schemeClr val="accent2"/>
          </a:solidFill>
          <a:ln/>
        </p:spPr>
        <p:txBody>
          <a:bodyPr/>
          <a:lstStyle/>
          <a:p>
            <a:endParaRPr lang="fr-FR"/>
          </a:p>
        </p:txBody>
      </p:sp>
      <p:sp>
        <p:nvSpPr>
          <p:cNvPr id="51" name="Panel header">
            <a:extLst>
              <a:ext uri="{FF2B5EF4-FFF2-40B4-BE49-F238E27FC236}">
                <a16:creationId xmlns:a16="http://schemas.microsoft.com/office/drawing/2014/main" id="{EAEA2518-8EF1-0741-A33B-225E4277E7FE}"/>
              </a:ext>
            </a:extLst>
          </p:cNvPr>
          <p:cNvSpPr txBox="1"/>
          <p:nvPr/>
        </p:nvSpPr>
        <p:spPr>
          <a:xfrm>
            <a:off x="1097280" y="1639865"/>
            <a:ext cx="3749040" cy="320040"/>
          </a:xfrm>
          <a:prstGeom prst="rect">
            <a:avLst/>
          </a:prstGeom>
          <a:noFill/>
          <a:ln/>
        </p:spPr>
        <p:txBody>
          <a:bodyPr wrap="square" lIns="0" tIns="0" rIns="0" bIns="0" rtlCol="0" anchor="ctr"/>
          <a:lstStyle/>
          <a:p>
            <a:pPr marL="0" indent="0">
              <a:buNone/>
            </a:pPr>
            <a:r>
              <a:rPr lang="en-US" sz="1600" b="1" dirty="0">
                <a:solidFill>
                  <a:schemeClr val="tx1"/>
                </a:solidFill>
              </a:rPr>
              <a:t>Run it in the cloud</a:t>
            </a:r>
          </a:p>
        </p:txBody>
      </p:sp>
      <p:sp>
        <p:nvSpPr>
          <p:cNvPr id="53" name="Shape 5">
            <a:extLst>
              <a:ext uri="{FF2B5EF4-FFF2-40B4-BE49-F238E27FC236}">
                <a16:creationId xmlns:a16="http://schemas.microsoft.com/office/drawing/2014/main" id="{5FB5F2F0-25A0-2C30-49FC-FCF57D97289B}"/>
              </a:ext>
            </a:extLst>
          </p:cNvPr>
          <p:cNvSpPr/>
          <p:nvPr/>
        </p:nvSpPr>
        <p:spPr>
          <a:xfrm>
            <a:off x="548640" y="5100000"/>
            <a:ext cx="11094415" cy="800000"/>
          </a:xfrm>
          <a:prstGeom prst="roundRect">
            <a:avLst>
              <a:gd name="adj" fmla="val 12500"/>
            </a:avLst>
          </a:prstGeom>
          <a:solidFill>
            <a:schemeClr val="accent4"/>
          </a:solidFill>
          <a:ln/>
        </p:spPr>
        <p:txBody>
          <a:bodyPr/>
          <a:lstStyle/>
          <a:p>
            <a:endParaRPr lang="fr-FR"/>
          </a:p>
        </p:txBody>
      </p:sp>
      <p:sp>
        <p:nvSpPr>
          <p:cNvPr id="55" name="Text 6">
            <a:extLst>
              <a:ext uri="{FF2B5EF4-FFF2-40B4-BE49-F238E27FC236}">
                <a16:creationId xmlns:a16="http://schemas.microsoft.com/office/drawing/2014/main" id="{9C31CA23-4377-BFA7-F935-029987587B01}"/>
              </a:ext>
            </a:extLst>
          </p:cNvPr>
          <p:cNvSpPr txBox="1"/>
          <p:nvPr/>
        </p:nvSpPr>
        <p:spPr>
          <a:xfrm>
            <a:off x="731520" y="5100000"/>
            <a:ext cx="10728655" cy="800000"/>
          </a:xfrm>
          <a:prstGeom prst="rect">
            <a:avLst/>
          </a:prstGeom>
          <a:noFill/>
          <a:ln/>
        </p:spPr>
        <p:txBody>
          <a:bodyPr wrap="square" lIns="0" tIns="0" rIns="0" bIns="0" rtlCol="0" anchor="ctr"/>
          <a:lstStyle/>
          <a:p>
            <a:r>
              <a:rPr lang="en-US" sz="1600" b="1" dirty="0">
                <a:solidFill>
                  <a:schemeClr val="accent3"/>
                </a:solidFill>
              </a:rPr>
              <a:t>You can use Alloy Forge for free, directly on </a:t>
            </a:r>
            <a:r>
              <a:rPr lang="en-US" sz="1600" b="1" dirty="0" err="1">
                <a:solidFill>
                  <a:schemeClr val="accent3"/>
                </a:solidFill>
              </a:rPr>
              <a:t>qBraid</a:t>
            </a:r>
            <a:r>
              <a:rPr lang="en-US" sz="1600" b="1" dirty="0">
                <a:solidFill>
                  <a:schemeClr val="accent3"/>
                </a:solidFill>
              </a:rPr>
              <a:t> </a:t>
            </a:r>
            <a:r>
              <a:rPr lang="en-GB" sz="1600" b="1" dirty="0">
                <a:solidFill>
                  <a:schemeClr val="accent3"/>
                </a:solidFill>
              </a:rPr>
              <a:t>or by sending your code</a:t>
            </a:r>
            <a:r>
              <a:rPr lang="en-US" sz="1600" b="1" dirty="0">
                <a:solidFill>
                  <a:schemeClr val="accent3"/>
                </a:solidFill>
              </a:rPr>
              <a:t> from your own laptop with an API key.</a:t>
            </a:r>
          </a:p>
        </p:txBody>
      </p:sp>
    </p:spTree>
    <p:extLst>
      <p:ext uri="{BB962C8B-B14F-4D97-AF65-F5344CB8AC3E}">
        <p14:creationId xmlns:p14="http://schemas.microsoft.com/office/powerpoint/2010/main" val="355828097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10"/>
          <p:cNvSpPr>
            <a:spLocks noGrp="1"/>
          </p:cNvSpPr>
          <p:nvPr>
            <p:ph type="title" idx="110" hasCustomPrompt="1"/>
          </p:nvPr>
        </p:nvSpPr>
        <p:spPr>
          <a:xfrm>
            <a:off x="548640" y="457200"/>
            <a:ext cx="11094415" cy="777240"/>
          </a:xfrm>
          <a:prstGeom prst="rect">
            <a:avLst/>
          </a:prstGeom>
          <a:noFill/>
          <a:ln/>
        </p:spPr>
        <p:txBody>
          <a:bodyPr wrap="square" lIns="0" tIns="0" rIns="0" bIns="0" rtlCol="0" anchor="t"/>
          <a:lstStyle/>
          <a:p>
            <a:pPr marL="0" indent="0" algn="l">
              <a:buNone/>
            </a:pPr>
            <a:r>
              <a:rPr lang="en-US" sz="3200" dirty="0">
                <a:solidFill>
                  <a:schemeClr val="tx1"/>
                </a:solidFill>
              </a:rPr>
              <a:t>Trade nonlinearity for dimension</a:t>
            </a:r>
            <a:endParaRPr lang="en-US" sz="3200" dirty="0"/>
          </a:p>
        </p:txBody>
      </p:sp>
      <p:sp>
        <p:nvSpPr>
          <p:cNvPr id="3" name="Shape 1"/>
          <p:cNvSpPr/>
          <p:nvPr/>
        </p:nvSpPr>
        <p:spPr>
          <a:xfrm>
            <a:off x="548640" y="1188720"/>
            <a:ext cx="91440" cy="91440"/>
          </a:xfrm>
          <a:prstGeom prst="rect">
            <a:avLst/>
          </a:prstGeom>
          <a:solidFill>
            <a:schemeClr val="accent2"/>
          </a:solidFill>
          <a:ln/>
        </p:spPr>
        <p:txBody>
          <a:bodyPr/>
          <a:lstStyle/>
          <a:p>
            <a:endParaRPr lang="fr-FR"/>
          </a:p>
        </p:txBody>
      </p:sp>
      <p:sp>
        <p:nvSpPr>
          <p:cNvPr id="4" name="Text 2"/>
          <p:cNvSpPr txBox="1"/>
          <p:nvPr/>
        </p:nvSpPr>
        <p:spPr>
          <a:xfrm>
            <a:off x="731520" y="1097280"/>
            <a:ext cx="9144000" cy="274320"/>
          </a:xfrm>
          <a:prstGeom prst="rect">
            <a:avLst/>
          </a:prstGeom>
          <a:noFill/>
          <a:ln/>
        </p:spPr>
        <p:txBody>
          <a:bodyPr wrap="square" lIns="0" tIns="0" rIns="0" bIns="0" rtlCol="0" anchor="ctr"/>
          <a:lstStyle/>
          <a:p>
            <a:pPr marL="0" indent="0">
              <a:buNone/>
            </a:pPr>
            <a:r>
              <a:rPr lang="en-US" sz="1200" b="1" kern="0" spc="200" dirty="0">
                <a:solidFill>
                  <a:schemeClr val="tx2"/>
                </a:solidFill>
              </a:rPr>
              <a:t>STEP 1  ·  CARLEMAN LINEARIZATION</a:t>
            </a:r>
            <a:endParaRPr lang="en-US" sz="1200" dirty="0"/>
          </a:p>
        </p:txBody>
      </p:sp>
      <p:sp>
        <p:nvSpPr>
          <p:cNvPr id="5" name="Text 3"/>
          <p:cNvSpPr txBox="1"/>
          <p:nvPr/>
        </p:nvSpPr>
        <p:spPr>
          <a:xfrm>
            <a:off x="548640" y="1691640"/>
            <a:ext cx="5577840" cy="3931920"/>
          </a:xfrm>
          <a:prstGeom prst="rect">
            <a:avLst/>
          </a:prstGeom>
          <a:noFill/>
          <a:ln/>
        </p:spPr>
        <p:txBody>
          <a:bodyPr wrap="square" lIns="0" tIns="0" rIns="0" bIns="0" rtlCol="0" anchor="t"/>
          <a:lstStyle/>
          <a:p>
            <a:pPr marL="203200" indent="-203200">
              <a:spcAft>
                <a:spcPts val="1200"/>
              </a:spcAft>
              <a:buSzPct val="100000"/>
              <a:buChar char="•"/>
            </a:pPr>
            <a:r>
              <a:rPr lang="en-US" sz="1500" dirty="0">
                <a:solidFill>
                  <a:schemeClr val="tx1"/>
                </a:solidFill>
              </a:rPr>
              <a:t>Introduce yⱼ = uʲ: each power couples only to the next, giving an infinite linear chain</a:t>
            </a:r>
            <a:endParaRPr lang="en-US" sz="1500" dirty="0"/>
          </a:p>
          <a:p>
            <a:pPr marL="203200" indent="-203200">
              <a:spcAft>
                <a:spcPts val="1200"/>
              </a:spcAft>
              <a:buSzPct val="100000"/>
              <a:buChar char="•"/>
            </a:pPr>
            <a:r>
              <a:rPr lang="en-US" sz="1500" dirty="0">
                <a:solidFill>
                  <a:schemeClr val="tx1"/>
                </a:solidFill>
              </a:rPr>
              <a:t>Truncate at order N: dy/dt = A(N)·y, and y₁ approximates u</a:t>
            </a:r>
            <a:endParaRPr lang="en-US" sz="1500" dirty="0"/>
          </a:p>
          <a:p>
            <a:pPr marL="203200" indent="-203200">
              <a:spcAft>
                <a:spcPts val="1200"/>
              </a:spcAft>
              <a:buSzPct val="100000"/>
              <a:buChar char="•"/>
            </a:pPr>
            <a:r>
              <a:rPr lang="en-US" sz="1500" dirty="0">
                <a:solidFill>
                  <a:schemeClr val="tx1"/>
                </a:solidFill>
              </a:rPr>
              <a:t>For a PDE on n grid points: dimension n + n² + … + nᴺ, but only about N·log₂ n qubits</a:t>
            </a:r>
            <a:endParaRPr lang="en-US" sz="1500" dirty="0"/>
          </a:p>
          <a:p>
            <a:pPr marL="203200" indent="-203200">
              <a:spcAft>
                <a:spcPts val="1200"/>
              </a:spcAft>
              <a:buSzPct val="100000"/>
              <a:buChar char="•"/>
            </a:pPr>
            <a:r>
              <a:rPr lang="en-US" sz="1500" dirty="0">
                <a:solidFill>
                  <a:schemeClr val="tx1"/>
                </a:solidFill>
              </a:rPr>
              <a:t>Convergence proven for R &lt; 1: nonlinearity weak compared with dissipation</a:t>
            </a:r>
            <a:endParaRPr lang="en-US" sz="1500" dirty="0"/>
          </a:p>
        </p:txBody>
      </p:sp>
      <p:sp>
        <p:nvSpPr>
          <p:cNvPr id="6" name="Equations"/>
          <p:cNvSpPr/>
          <p:nvPr/>
        </p:nvSpPr>
        <p:spPr>
          <a:xfrm>
            <a:off x="6583680" y="1600200"/>
            <a:ext cx="5059375" cy="3977640"/>
          </a:xfrm>
          <a:prstGeom prst="roundRect">
            <a:avLst>
              <a:gd name="adj" fmla="val 3448"/>
            </a:avLst>
          </a:prstGeom>
          <a:solidFill>
            <a:schemeClr val="bg2"/>
          </a:solidFill>
          <a:ln w="12700">
            <a:solidFill>
              <a:schemeClr val="accent1"/>
            </a:solidFill>
            <a:prstDash val="solid"/>
          </a:ln>
        </p:spPr>
        <p:txBody>
          <a:bodyPr/>
          <a:lstStyle/>
          <a:p>
            <a:endParaRPr lang="fr-FR"/>
          </a:p>
        </p:txBody>
      </p:sp>
      <p:pic>
        <p:nvPicPr>
          <p:cNvPr id="7" name="Image 0" descr="du/dt = a u + b u squared"/>
          <p:cNvPicPr>
            <a:picLocks noChangeAspect="1"/>
          </p:cNvPicPr>
          <p:nvPr/>
        </p:nvPicPr>
        <p:blipFill>
          <a:blip r:embed="rId3"/>
          <a:stretch>
            <a:fillRect/>
          </a:stretch>
        </p:blipFill>
        <p:spPr>
          <a:xfrm>
            <a:off x="8176290" y="1920240"/>
            <a:ext cx="1874154" cy="501823"/>
          </a:xfrm>
          <a:prstGeom prst="rect">
            <a:avLst/>
          </a:prstGeom>
        </p:spPr>
      </p:pic>
      <p:pic>
        <p:nvPicPr>
          <p:cNvPr id="8" name="Image 1" descr="dy_j/dt = j a y_j + j b y_(j+1)"/>
          <p:cNvPicPr>
            <a:picLocks noChangeAspect="1"/>
          </p:cNvPicPr>
          <p:nvPr/>
        </p:nvPicPr>
        <p:blipFill>
          <a:blip r:embed="rId4"/>
          <a:stretch>
            <a:fillRect/>
          </a:stretch>
        </p:blipFill>
        <p:spPr>
          <a:xfrm>
            <a:off x="7807604" y="2696383"/>
            <a:ext cx="2611526" cy="563270"/>
          </a:xfrm>
          <a:prstGeom prst="rect">
            <a:avLst/>
          </a:prstGeom>
        </p:spPr>
      </p:pic>
      <p:sp>
        <p:nvSpPr>
          <p:cNvPr id="9" name="Shape 5"/>
          <p:cNvSpPr/>
          <p:nvPr/>
        </p:nvSpPr>
        <p:spPr>
          <a:xfrm>
            <a:off x="7040880" y="3533973"/>
            <a:ext cx="4144975" cy="0"/>
          </a:xfrm>
          <a:prstGeom prst="line">
            <a:avLst/>
          </a:prstGeom>
          <a:noFill/>
          <a:ln w="9525">
            <a:solidFill>
              <a:srgbClr val="3C3F4C"/>
            </a:solidFill>
            <a:prstDash val="solid"/>
          </a:ln>
        </p:spPr>
        <p:txBody>
          <a:bodyPr/>
          <a:lstStyle/>
          <a:p>
            <a:endParaRPr lang="fr-FR"/>
          </a:p>
        </p:txBody>
      </p:sp>
      <p:pic>
        <p:nvPicPr>
          <p:cNvPr id="10" name="Image 2" descr="R = norm of u0 times norm of F2 over absolute real part of lambda1, less than 1"/>
          <p:cNvPicPr>
            <a:picLocks noChangeAspect="1"/>
          </p:cNvPicPr>
          <p:nvPr/>
        </p:nvPicPr>
        <p:blipFill>
          <a:blip r:embed="rId5"/>
          <a:stretch>
            <a:fillRect/>
          </a:stretch>
        </p:blipFill>
        <p:spPr>
          <a:xfrm>
            <a:off x="8094360" y="3762573"/>
            <a:ext cx="2038015" cy="614477"/>
          </a:xfrm>
          <a:prstGeom prst="rect">
            <a:avLst/>
          </a:prstGeom>
        </p:spPr>
      </p:pic>
      <p:sp>
        <p:nvSpPr>
          <p:cNvPr id="11" name="Text 6"/>
          <p:cNvSpPr txBox="1"/>
          <p:nvPr/>
        </p:nvSpPr>
        <p:spPr>
          <a:xfrm>
            <a:off x="6583680" y="4651370"/>
            <a:ext cx="5059375" cy="274320"/>
          </a:xfrm>
          <a:prstGeom prst="rect">
            <a:avLst/>
          </a:prstGeom>
          <a:noFill/>
          <a:ln/>
        </p:spPr>
        <p:txBody>
          <a:bodyPr wrap="square" lIns="0" tIns="0" rIns="0" bIns="0" rtlCol="0" anchor="ctr"/>
          <a:lstStyle/>
          <a:p>
            <a:pPr marL="0" indent="0" algn="ctr">
              <a:buNone/>
            </a:pPr>
            <a:r>
              <a:rPr lang="en-US" sz="1100" dirty="0">
                <a:solidFill>
                  <a:schemeClr val="tx2"/>
                </a:solidFill>
              </a:rPr>
              <a:t>Liu et al., PNAS 118, e2026805118 (2021)</a:t>
            </a:r>
            <a:endParaRPr lang="en-US" sz="1100" dirty="0"/>
          </a:p>
        </p:txBody>
      </p:sp>
      <p:sp>
        <p:nvSpPr>
          <p:cNvPr id="12" name="Text 7"/>
          <p:cNvSpPr txBox="1"/>
          <p:nvPr/>
        </p:nvSpPr>
        <p:spPr>
          <a:xfrm>
            <a:off x="548640" y="5897880"/>
            <a:ext cx="11094415" cy="274320"/>
          </a:xfrm>
          <a:prstGeom prst="rect">
            <a:avLst/>
          </a:prstGeom>
          <a:noFill/>
          <a:ln/>
        </p:spPr>
        <p:txBody>
          <a:bodyPr wrap="square" lIns="0" tIns="0" rIns="0" bIns="0" rtlCol="0" anchor="ctr"/>
          <a:lstStyle/>
          <a:p>
            <a:pPr marL="0" indent="0">
              <a:buNone/>
            </a:pPr>
            <a:r>
              <a:rPr lang="en-US" sz="1100" i="1" dirty="0">
                <a:solidFill>
                  <a:schemeClr val="tx2"/>
                </a:solidFill>
              </a:rPr>
              <a:t>Live session notebook · Step 1</a:t>
            </a:r>
            <a:endParaRPr lang="en-US" sz="1100" dirty="0"/>
          </a:p>
        </p:txBody>
      </p:sp>
      <p:sp>
        <p:nvSpPr>
          <p:cNvPr id="25" name="Slide Number Placeholder 0"/>
          <p:cNvSpPr>
            <a:spLocks noGrp="1"/>
          </p:cNvSpPr>
          <p:nvPr>
            <p:ph type="sldNum" sz="quarter" idx="4294967295"/>
          </p:nvPr>
        </p:nvSpPr>
        <p:spPr>
          <a:xfrm>
            <a:off x="11094415" y="6327648"/>
            <a:ext cx="548640" cy="274320"/>
          </a:xfrm>
          <a:prstGeom prst="rect">
            <a:avLst/>
          </a:prstGeom>
          <a:extLst>
            <a:ext uri="{C572A759-6A51-4108-AA02-DFA0A04FC94B}">
              <ma14:wrappingTextBoxFlag xmlns:ma14="http://schemas.microsoft.com/office/mac/drawingml/2011/main" xmlns="" val="0"/>
            </a:ext>
          </a:extLst>
        </p:spPr>
        <p:txBody>
          <a:bodyPr lIns="0" tIns="0" rIns="0" bIns="0" anchor="ctr"/>
          <a:lstStyle>
            <a:lvl1pPr>
              <a:defRPr sz="1000">
                <a:solidFill>
                  <a:srgbClr val="9AA3BD"/>
                </a:solidFill>
              </a:defRPr>
            </a:lvl1pPr>
          </a:lstStyle>
          <a:p>
            <a:pPr algn="r"/>
            <a:fld id="{F7021451-1387-4CA6-816F-3879F97B5CBC}" type="slidenum">
              <a:rPr lang="en-US" b="0"/>
              <a:t>28</a:t>
            </a:fld>
            <a:endParaRPr lang="en-US"/>
          </a:p>
        </p:txBody>
      </p:sp>
      <p:pic>
        <p:nvPicPr>
          <p:cNvPr id="14" name="Image 13">
            <a:extLst>
              <a:ext uri="{FF2B5EF4-FFF2-40B4-BE49-F238E27FC236}">
                <a16:creationId xmlns:a16="http://schemas.microsoft.com/office/drawing/2014/main" id="{15D2414C-C0D4-D4D0-BB9D-5EC35A780474}"/>
              </a:ext>
            </a:extLst>
          </p:cNvPr>
          <p:cNvPicPr>
            <a:picLocks noChangeAspect="1"/>
          </p:cNvPicPr>
          <p:nvPr/>
        </p:nvPicPr>
        <p:blipFill>
          <a:blip r:embed="rId6"/>
          <a:stretch>
            <a:fillRect/>
          </a:stretch>
        </p:blipFill>
        <p:spPr>
          <a:xfrm>
            <a:off x="9724644" y="-443705"/>
            <a:ext cx="2437453" cy="1723866"/>
          </a:xfrm>
          <a:prstGeom prst="rect">
            <a:avLst/>
          </a:prstGeom>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10"/>
          <p:cNvSpPr>
            <a:spLocks noGrp="1"/>
          </p:cNvSpPr>
          <p:nvPr>
            <p:ph type="title" idx="110" hasCustomPrompt="1"/>
          </p:nvPr>
        </p:nvSpPr>
        <p:spPr>
          <a:xfrm>
            <a:off x="548640" y="457200"/>
            <a:ext cx="11094415" cy="777240"/>
          </a:xfrm>
          <a:prstGeom prst="rect">
            <a:avLst/>
          </a:prstGeom>
          <a:noFill/>
          <a:ln/>
        </p:spPr>
        <p:txBody>
          <a:bodyPr wrap="square" lIns="0" tIns="0" rIns="0" bIns="0" rtlCol="0" anchor="t"/>
          <a:lstStyle/>
          <a:p>
            <a:pPr marL="0" indent="0" algn="l">
              <a:buNone/>
            </a:pPr>
            <a:r>
              <a:rPr lang="en-US" sz="3200" dirty="0">
                <a:solidFill>
                  <a:schemeClr val="tx1"/>
                </a:solidFill>
              </a:rPr>
              <a:t>Error falls geometrically with N</a:t>
            </a:r>
            <a:endParaRPr lang="en-US" sz="3200" dirty="0"/>
          </a:p>
        </p:txBody>
      </p:sp>
      <p:sp>
        <p:nvSpPr>
          <p:cNvPr id="3" name="Shape 1"/>
          <p:cNvSpPr/>
          <p:nvPr/>
        </p:nvSpPr>
        <p:spPr>
          <a:xfrm>
            <a:off x="548640" y="1188720"/>
            <a:ext cx="91440" cy="91440"/>
          </a:xfrm>
          <a:prstGeom prst="rect">
            <a:avLst/>
          </a:prstGeom>
          <a:solidFill>
            <a:schemeClr val="accent2"/>
          </a:solidFill>
          <a:ln/>
        </p:spPr>
        <p:txBody>
          <a:bodyPr/>
          <a:lstStyle/>
          <a:p>
            <a:endParaRPr lang="fr-FR"/>
          </a:p>
        </p:txBody>
      </p:sp>
      <p:sp>
        <p:nvSpPr>
          <p:cNvPr id="4" name="Text 2"/>
          <p:cNvSpPr txBox="1"/>
          <p:nvPr/>
        </p:nvSpPr>
        <p:spPr>
          <a:xfrm>
            <a:off x="731520" y="1097280"/>
            <a:ext cx="9144000" cy="274320"/>
          </a:xfrm>
          <a:prstGeom prst="rect">
            <a:avLst/>
          </a:prstGeom>
          <a:noFill/>
          <a:ln/>
        </p:spPr>
        <p:txBody>
          <a:bodyPr wrap="square" lIns="0" tIns="0" rIns="0" bIns="0" rtlCol="0" anchor="ctr"/>
          <a:lstStyle/>
          <a:p>
            <a:pPr marL="0" indent="0">
              <a:buNone/>
            </a:pPr>
            <a:r>
              <a:rPr lang="en-US" sz="1200" b="1" kern="0" spc="200" dirty="0">
                <a:solidFill>
                  <a:schemeClr val="tx2"/>
                </a:solidFill>
              </a:rPr>
              <a:t>STEP 1  ·  RESULTS</a:t>
            </a:r>
            <a:endParaRPr lang="en-US" sz="1200" dirty="0"/>
          </a:p>
        </p:txBody>
      </p:sp>
      <p:sp>
        <p:nvSpPr>
          <p:cNvPr id="5" name="Chart tile"/>
          <p:cNvSpPr/>
          <p:nvPr/>
        </p:nvSpPr>
        <p:spPr>
          <a:xfrm>
            <a:off x="548640" y="1600200"/>
            <a:ext cx="5852160" cy="3886200"/>
          </a:xfrm>
          <a:prstGeom prst="roundRect">
            <a:avLst>
              <a:gd name="adj" fmla="val 2824"/>
            </a:avLst>
          </a:prstGeom>
          <a:solidFill>
            <a:schemeClr val="tx1"/>
          </a:solidFill>
          <a:ln/>
        </p:spPr>
        <p:txBody>
          <a:bodyPr/>
          <a:lstStyle/>
          <a:p>
            <a:endParaRPr lang="fr-FR"/>
          </a:p>
        </p:txBody>
      </p:sp>
      <p:pic>
        <p:nvPicPr>
          <p:cNvPr id="6" name="Image 0" descr="Carleman max error versus truncation order N on a log scale, falling from 0.1 at N=1 to 5e-6 at N=10"/>
          <p:cNvPicPr>
            <a:picLocks noChangeAspect="1"/>
          </p:cNvPicPr>
          <p:nvPr/>
        </p:nvPicPr>
        <p:blipFill>
          <a:blip r:embed="rId3"/>
          <a:stretch>
            <a:fillRect/>
          </a:stretch>
        </p:blipFill>
        <p:spPr>
          <a:xfrm>
            <a:off x="795814" y="1691640"/>
            <a:ext cx="5357813" cy="3429000"/>
          </a:xfrm>
          <a:prstGeom prst="rect">
            <a:avLst/>
          </a:prstGeom>
        </p:spPr>
      </p:pic>
      <p:sp>
        <p:nvSpPr>
          <p:cNvPr id="7" name="Text 4"/>
          <p:cNvSpPr txBox="1"/>
          <p:nvPr/>
        </p:nvSpPr>
        <p:spPr>
          <a:xfrm>
            <a:off x="777240" y="5138928"/>
            <a:ext cx="5394960" cy="274320"/>
          </a:xfrm>
          <a:prstGeom prst="rect">
            <a:avLst/>
          </a:prstGeom>
          <a:noFill/>
          <a:ln/>
        </p:spPr>
        <p:txBody>
          <a:bodyPr wrap="square" lIns="0" tIns="0" rIns="0" bIns="0" rtlCol="0" anchor="ctr"/>
          <a:lstStyle/>
          <a:p>
            <a:pPr marL="0" indent="0">
              <a:buNone/>
            </a:pPr>
            <a:r>
              <a:rPr lang="en-US" sz="1100" dirty="0">
                <a:solidFill>
                  <a:schemeClr val="bg1"/>
                </a:solidFill>
              </a:rPr>
              <a:t>du/dt = −u + 0.5u², u₀ = 0.8, t ∈ [0, 4]</a:t>
            </a:r>
            <a:endParaRPr lang="en-US" sz="1100" dirty="0"/>
          </a:p>
        </p:txBody>
      </p:sp>
      <p:sp>
        <p:nvSpPr>
          <p:cNvPr id="8" name="Text 5"/>
          <p:cNvSpPr txBox="1"/>
          <p:nvPr/>
        </p:nvSpPr>
        <p:spPr>
          <a:xfrm>
            <a:off x="6720840" y="1600200"/>
            <a:ext cx="4922215" cy="365760"/>
          </a:xfrm>
          <a:prstGeom prst="rect">
            <a:avLst/>
          </a:prstGeom>
          <a:noFill/>
          <a:ln/>
        </p:spPr>
        <p:txBody>
          <a:bodyPr wrap="square" lIns="0" tIns="0" rIns="0" bIns="0" rtlCol="0" anchor="ctr"/>
          <a:lstStyle/>
          <a:p>
            <a:pPr marL="0" indent="0">
              <a:buNone/>
            </a:pPr>
            <a:r>
              <a:rPr lang="en-US" sz="1600" b="1" dirty="0">
                <a:solidFill>
                  <a:schemeClr val="tx1"/>
                </a:solidFill>
              </a:rPr>
              <a:t>Viscous Burgers, 6 grid points</a:t>
            </a:r>
            <a:endParaRPr lang="en-US" sz="1600" dirty="0"/>
          </a:p>
        </p:txBody>
      </p:sp>
      <p:graphicFrame>
        <p:nvGraphicFramePr>
          <p:cNvPr id="9" name="Burgers results"/>
          <p:cNvGraphicFramePr>
            <a:graphicFrameLocks noGrp="1"/>
          </p:cNvGraphicFramePr>
          <p:nvPr/>
        </p:nvGraphicFramePr>
        <p:xfrm>
          <a:off x="6720840" y="2057400"/>
          <a:ext cx="4922215" cy="1737360"/>
        </p:xfrm>
        <a:graphic>
          <a:graphicData uri="http://schemas.openxmlformats.org/drawingml/2006/table">
            <a:tbl>
              <a:tblPr/>
              <a:tblGrid>
                <a:gridCol w="640080">
                  <a:extLst>
                    <a:ext uri="{9D8B030D-6E8A-4147-A177-3AD203B41FA5}">
                      <a16:colId xmlns:a16="http://schemas.microsoft.com/office/drawing/2014/main" val="20000"/>
                    </a:ext>
                  </a:extLst>
                </a:gridCol>
                <a:gridCol w="1371600">
                  <a:extLst>
                    <a:ext uri="{9D8B030D-6E8A-4147-A177-3AD203B41FA5}">
                      <a16:colId xmlns:a16="http://schemas.microsoft.com/office/drawing/2014/main" val="20001"/>
                    </a:ext>
                  </a:extLst>
                </a:gridCol>
                <a:gridCol w="1097280">
                  <a:extLst>
                    <a:ext uri="{9D8B030D-6E8A-4147-A177-3AD203B41FA5}">
                      <a16:colId xmlns:a16="http://schemas.microsoft.com/office/drawing/2014/main" val="20002"/>
                    </a:ext>
                  </a:extLst>
                </a:gridCol>
                <a:gridCol w="1813255">
                  <a:extLst>
                    <a:ext uri="{9D8B030D-6E8A-4147-A177-3AD203B41FA5}">
                      <a16:colId xmlns:a16="http://schemas.microsoft.com/office/drawing/2014/main" val="20003"/>
                    </a:ext>
                  </a:extLst>
                </a:gridCol>
              </a:tblGrid>
              <a:tr h="347472">
                <a:tc>
                  <a:txBody>
                    <a:bodyPr/>
                    <a:lstStyle/>
                    <a:p>
                      <a:pPr marL="0" indent="0" algn="l">
                        <a:buNone/>
                      </a:pPr>
                      <a:r>
                        <a:rPr lang="en-US" sz="1100" b="1" dirty="0">
                          <a:solidFill>
                            <a:srgbClr val="9AA3BD"/>
                          </a:solidFill>
                          <a:latin typeface="Aptos" pitchFamily="34" charset="0"/>
                          <a:ea typeface="Aptos" pitchFamily="34" charset="-122"/>
                          <a:cs typeface="Aptos" pitchFamily="34" charset="-120"/>
                        </a:rPr>
                        <a:t>N</a:t>
                      </a:r>
                      <a:endParaRPr lang="en-US" sz="1100" dirty="0">
                        <a:latin typeface="Aptos" charset="0"/>
                        <a:ea typeface="Aptos" charset="0"/>
                        <a:cs typeface="Aptos" charset="0"/>
                      </a:endParaRPr>
                    </a:p>
                  </a:txBody>
                  <a:tcPr marL="109728" marR="109728" marT="0" marB="0" anchor="ctr">
                    <a:lnL w="9525" cap="flat" cmpd="sng" algn="ctr">
                      <a:solidFill>
                        <a:srgbClr val="3C3F4C"/>
                      </a:solidFill>
                      <a:prstDash val="solid"/>
                      <a:round/>
                      <a:headEnd type="none" w="med" len="med"/>
                      <a:tailEnd type="none" w="med" len="med"/>
                    </a:lnL>
                    <a:lnR w="9525" cap="flat" cmpd="sng" algn="ctr">
                      <a:solidFill>
                        <a:srgbClr val="3C3F4C"/>
                      </a:solidFill>
                      <a:prstDash val="solid"/>
                      <a:round/>
                      <a:headEnd type="none" w="med" len="med"/>
                      <a:tailEnd type="none" w="med" len="med"/>
                    </a:lnR>
                    <a:lnT w="9525" cap="flat" cmpd="sng" algn="ctr">
                      <a:solidFill>
                        <a:srgbClr val="3C3F4C"/>
                      </a:solidFill>
                      <a:prstDash val="solid"/>
                      <a:round/>
                      <a:headEnd type="none" w="med" len="med"/>
                      <a:tailEnd type="none" w="med" len="med"/>
                    </a:lnT>
                    <a:lnB w="9525" cap="flat" cmpd="sng" algn="ctr">
                      <a:solidFill>
                        <a:srgbClr val="3C3F4C"/>
                      </a:solidFill>
                      <a:prstDash val="solid"/>
                      <a:round/>
                      <a:headEnd type="none" w="med" len="med"/>
                      <a:tailEnd type="none" w="med" len="med"/>
                    </a:lnB>
                    <a:solidFill>
                      <a:srgbClr val="161B30"/>
                    </a:solidFill>
                  </a:tcPr>
                </a:tc>
                <a:tc>
                  <a:txBody>
                    <a:bodyPr/>
                    <a:lstStyle/>
                    <a:p>
                      <a:pPr marL="0" indent="0" algn="r">
                        <a:buNone/>
                      </a:pPr>
                      <a:r>
                        <a:rPr lang="en-US" sz="1100" b="1" dirty="0">
                          <a:solidFill>
                            <a:srgbClr val="9AA3BD"/>
                          </a:solidFill>
                          <a:latin typeface="Aptos" pitchFamily="34" charset="0"/>
                          <a:ea typeface="Aptos" pitchFamily="34" charset="-122"/>
                          <a:cs typeface="Aptos" pitchFamily="34" charset="-120"/>
                        </a:rPr>
                        <a:t>Dimension</a:t>
                      </a:r>
                      <a:endParaRPr lang="en-US" sz="1100" dirty="0">
                        <a:latin typeface="Aptos" charset="0"/>
                        <a:ea typeface="Aptos" charset="0"/>
                        <a:cs typeface="Aptos" charset="0"/>
                      </a:endParaRPr>
                    </a:p>
                  </a:txBody>
                  <a:tcPr marL="109728" marR="109728" marT="0" marB="0" anchor="ctr">
                    <a:lnL w="9525" cap="flat" cmpd="sng" algn="ctr">
                      <a:solidFill>
                        <a:srgbClr val="3C3F4C"/>
                      </a:solidFill>
                      <a:prstDash val="solid"/>
                      <a:round/>
                      <a:headEnd type="none" w="med" len="med"/>
                      <a:tailEnd type="none" w="med" len="med"/>
                    </a:lnL>
                    <a:lnR w="9525" cap="flat" cmpd="sng" algn="ctr">
                      <a:solidFill>
                        <a:srgbClr val="3C3F4C"/>
                      </a:solidFill>
                      <a:prstDash val="solid"/>
                      <a:round/>
                      <a:headEnd type="none" w="med" len="med"/>
                      <a:tailEnd type="none" w="med" len="med"/>
                    </a:lnR>
                    <a:lnT w="9525" cap="flat" cmpd="sng" algn="ctr">
                      <a:solidFill>
                        <a:srgbClr val="3C3F4C"/>
                      </a:solidFill>
                      <a:prstDash val="solid"/>
                      <a:round/>
                      <a:headEnd type="none" w="med" len="med"/>
                      <a:tailEnd type="none" w="med" len="med"/>
                    </a:lnT>
                    <a:lnB w="9525" cap="flat" cmpd="sng" algn="ctr">
                      <a:solidFill>
                        <a:srgbClr val="3C3F4C"/>
                      </a:solidFill>
                      <a:prstDash val="solid"/>
                      <a:round/>
                      <a:headEnd type="none" w="med" len="med"/>
                      <a:tailEnd type="none" w="med" len="med"/>
                    </a:lnB>
                    <a:solidFill>
                      <a:srgbClr val="161B30"/>
                    </a:solidFill>
                  </a:tcPr>
                </a:tc>
                <a:tc>
                  <a:txBody>
                    <a:bodyPr/>
                    <a:lstStyle/>
                    <a:p>
                      <a:pPr marL="0" indent="0" algn="r">
                        <a:buNone/>
                      </a:pPr>
                      <a:r>
                        <a:rPr lang="en-US" sz="1100" b="1" dirty="0">
                          <a:solidFill>
                            <a:srgbClr val="9AA3BD"/>
                          </a:solidFill>
                          <a:latin typeface="Aptos" pitchFamily="34" charset="0"/>
                          <a:ea typeface="Aptos" pitchFamily="34" charset="-122"/>
                          <a:cs typeface="Aptos" pitchFamily="34" charset="-120"/>
                        </a:rPr>
                        <a:t>Qubits</a:t>
                      </a:r>
                      <a:endParaRPr lang="en-US" sz="1100" dirty="0">
                        <a:latin typeface="Aptos" charset="0"/>
                        <a:ea typeface="Aptos" charset="0"/>
                        <a:cs typeface="Aptos" charset="0"/>
                      </a:endParaRPr>
                    </a:p>
                  </a:txBody>
                  <a:tcPr marL="109728" marR="109728" marT="0" marB="0" anchor="ctr">
                    <a:lnL w="9525" cap="flat" cmpd="sng" algn="ctr">
                      <a:solidFill>
                        <a:srgbClr val="3C3F4C"/>
                      </a:solidFill>
                      <a:prstDash val="solid"/>
                      <a:round/>
                      <a:headEnd type="none" w="med" len="med"/>
                      <a:tailEnd type="none" w="med" len="med"/>
                    </a:lnL>
                    <a:lnR w="9525" cap="flat" cmpd="sng" algn="ctr">
                      <a:solidFill>
                        <a:srgbClr val="3C3F4C"/>
                      </a:solidFill>
                      <a:prstDash val="solid"/>
                      <a:round/>
                      <a:headEnd type="none" w="med" len="med"/>
                      <a:tailEnd type="none" w="med" len="med"/>
                    </a:lnR>
                    <a:lnT w="9525" cap="flat" cmpd="sng" algn="ctr">
                      <a:solidFill>
                        <a:srgbClr val="3C3F4C"/>
                      </a:solidFill>
                      <a:prstDash val="solid"/>
                      <a:round/>
                      <a:headEnd type="none" w="med" len="med"/>
                      <a:tailEnd type="none" w="med" len="med"/>
                    </a:lnT>
                    <a:lnB w="9525" cap="flat" cmpd="sng" algn="ctr">
                      <a:solidFill>
                        <a:srgbClr val="3C3F4C"/>
                      </a:solidFill>
                      <a:prstDash val="solid"/>
                      <a:round/>
                      <a:headEnd type="none" w="med" len="med"/>
                      <a:tailEnd type="none" w="med" len="med"/>
                    </a:lnB>
                    <a:solidFill>
                      <a:srgbClr val="161B30"/>
                    </a:solidFill>
                  </a:tcPr>
                </a:tc>
                <a:tc>
                  <a:txBody>
                    <a:bodyPr/>
                    <a:lstStyle/>
                    <a:p>
                      <a:pPr marL="0" indent="0" algn="r">
                        <a:buNone/>
                      </a:pPr>
                      <a:r>
                        <a:rPr lang="en-US" sz="1100" b="1" dirty="0">
                          <a:solidFill>
                            <a:srgbClr val="9AA3BD"/>
                          </a:solidFill>
                          <a:latin typeface="Aptos" pitchFamily="34" charset="0"/>
                          <a:ea typeface="Aptos" pitchFamily="34" charset="-122"/>
                          <a:cs typeface="Aptos" pitchFamily="34" charset="-120"/>
                        </a:rPr>
                        <a:t>Rel. error</a:t>
                      </a:r>
                      <a:endParaRPr lang="en-US" sz="1100" dirty="0">
                        <a:latin typeface="Aptos" charset="0"/>
                        <a:ea typeface="Aptos" charset="0"/>
                        <a:cs typeface="Aptos" charset="0"/>
                      </a:endParaRPr>
                    </a:p>
                  </a:txBody>
                  <a:tcPr marL="109728" marR="109728" marT="0" marB="0" anchor="ctr">
                    <a:lnL w="9525" cap="flat" cmpd="sng" algn="ctr">
                      <a:solidFill>
                        <a:srgbClr val="3C3F4C"/>
                      </a:solidFill>
                      <a:prstDash val="solid"/>
                      <a:round/>
                      <a:headEnd type="none" w="med" len="med"/>
                      <a:tailEnd type="none" w="med" len="med"/>
                    </a:lnL>
                    <a:lnR w="9525" cap="flat" cmpd="sng" algn="ctr">
                      <a:solidFill>
                        <a:srgbClr val="3C3F4C"/>
                      </a:solidFill>
                      <a:prstDash val="solid"/>
                      <a:round/>
                      <a:headEnd type="none" w="med" len="med"/>
                      <a:tailEnd type="none" w="med" len="med"/>
                    </a:lnR>
                    <a:lnT w="9525" cap="flat" cmpd="sng" algn="ctr">
                      <a:solidFill>
                        <a:srgbClr val="3C3F4C"/>
                      </a:solidFill>
                      <a:prstDash val="solid"/>
                      <a:round/>
                      <a:headEnd type="none" w="med" len="med"/>
                      <a:tailEnd type="none" w="med" len="med"/>
                    </a:lnT>
                    <a:lnB w="9525" cap="flat" cmpd="sng" algn="ctr">
                      <a:solidFill>
                        <a:srgbClr val="3C3F4C"/>
                      </a:solidFill>
                      <a:prstDash val="solid"/>
                      <a:round/>
                      <a:headEnd type="none" w="med" len="med"/>
                      <a:tailEnd type="none" w="med" len="med"/>
                    </a:lnB>
                    <a:solidFill>
                      <a:srgbClr val="161B30"/>
                    </a:solidFill>
                  </a:tcPr>
                </a:tc>
                <a:extLst>
                  <a:ext uri="{0D108BD9-81ED-4DB2-BD59-A6C34878D82A}">
                    <a16:rowId xmlns:a16="http://schemas.microsoft.com/office/drawing/2014/main" val="10000"/>
                  </a:ext>
                </a:extLst>
              </a:tr>
              <a:tr h="347472">
                <a:tc>
                  <a:txBody>
                    <a:bodyPr/>
                    <a:lstStyle/>
                    <a:p>
                      <a:pPr marL="0" indent="0" algn="l">
                        <a:buNone/>
                      </a:pPr>
                      <a:r>
                        <a:rPr lang="en-US" sz="1300" b="1" dirty="0">
                          <a:solidFill>
                            <a:srgbClr val="E9ECF3"/>
                          </a:solidFill>
                          <a:latin typeface="Aptos" pitchFamily="34" charset="0"/>
                          <a:ea typeface="Aptos" pitchFamily="34" charset="-122"/>
                          <a:cs typeface="Aptos" pitchFamily="34" charset="-120"/>
                        </a:rPr>
                        <a:t>1</a:t>
                      </a:r>
                      <a:endParaRPr lang="en-US" sz="1300" dirty="0">
                        <a:latin typeface="Aptos" charset="0"/>
                        <a:ea typeface="Aptos" charset="0"/>
                        <a:cs typeface="Aptos" charset="0"/>
                      </a:endParaRPr>
                    </a:p>
                  </a:txBody>
                  <a:tcPr marL="109728" marR="109728" marT="0" marB="0" anchor="ctr">
                    <a:lnL w="9525" cap="flat" cmpd="sng" algn="ctr">
                      <a:solidFill>
                        <a:srgbClr val="3C3F4C"/>
                      </a:solidFill>
                      <a:prstDash val="solid"/>
                      <a:round/>
                      <a:headEnd type="none" w="med" len="med"/>
                      <a:tailEnd type="none" w="med" len="med"/>
                    </a:lnL>
                    <a:lnR w="9525" cap="flat" cmpd="sng" algn="ctr">
                      <a:solidFill>
                        <a:srgbClr val="3C3F4C"/>
                      </a:solidFill>
                      <a:prstDash val="solid"/>
                      <a:round/>
                      <a:headEnd type="none" w="med" len="med"/>
                      <a:tailEnd type="none" w="med" len="med"/>
                    </a:lnR>
                    <a:lnT w="9525" cap="flat" cmpd="sng" algn="ctr">
                      <a:solidFill>
                        <a:srgbClr val="3C3F4C"/>
                      </a:solidFill>
                      <a:prstDash val="solid"/>
                      <a:round/>
                      <a:headEnd type="none" w="med" len="med"/>
                      <a:tailEnd type="none" w="med" len="med"/>
                    </a:lnT>
                    <a:lnB w="9525" cap="flat" cmpd="sng" algn="ctr">
                      <a:solidFill>
                        <a:srgbClr val="3C3F4C"/>
                      </a:solidFill>
                      <a:prstDash val="solid"/>
                      <a:round/>
                      <a:headEnd type="none" w="med" len="med"/>
                      <a:tailEnd type="none" w="med" len="med"/>
                    </a:lnB>
                    <a:solidFill>
                      <a:srgbClr val="161B30"/>
                    </a:solidFill>
                  </a:tcPr>
                </a:tc>
                <a:tc>
                  <a:txBody>
                    <a:bodyPr/>
                    <a:lstStyle/>
                    <a:p>
                      <a:pPr marL="0" indent="0" algn="r">
                        <a:buNone/>
                      </a:pPr>
                      <a:r>
                        <a:rPr lang="en-US" sz="1300" dirty="0">
                          <a:solidFill>
                            <a:srgbClr val="9AA3BD"/>
                          </a:solidFill>
                          <a:latin typeface="Aptos" pitchFamily="34" charset="0"/>
                          <a:ea typeface="Aptos" pitchFamily="34" charset="-122"/>
                          <a:cs typeface="Aptos" pitchFamily="34" charset="-120"/>
                        </a:rPr>
                        <a:t>6</a:t>
                      </a:r>
                      <a:endParaRPr lang="en-US" sz="1300" dirty="0">
                        <a:latin typeface="Aptos" charset="0"/>
                        <a:ea typeface="Aptos" charset="0"/>
                        <a:cs typeface="Aptos" charset="0"/>
                      </a:endParaRPr>
                    </a:p>
                  </a:txBody>
                  <a:tcPr marL="109728" marR="109728" marT="0" marB="0" anchor="ctr">
                    <a:lnL w="9525" cap="flat" cmpd="sng" algn="ctr">
                      <a:solidFill>
                        <a:srgbClr val="3C3F4C"/>
                      </a:solidFill>
                      <a:prstDash val="solid"/>
                      <a:round/>
                      <a:headEnd type="none" w="med" len="med"/>
                      <a:tailEnd type="none" w="med" len="med"/>
                    </a:lnL>
                    <a:lnR w="9525" cap="flat" cmpd="sng" algn="ctr">
                      <a:solidFill>
                        <a:srgbClr val="3C3F4C"/>
                      </a:solidFill>
                      <a:prstDash val="solid"/>
                      <a:round/>
                      <a:headEnd type="none" w="med" len="med"/>
                      <a:tailEnd type="none" w="med" len="med"/>
                    </a:lnR>
                    <a:lnT w="9525" cap="flat" cmpd="sng" algn="ctr">
                      <a:solidFill>
                        <a:srgbClr val="3C3F4C"/>
                      </a:solidFill>
                      <a:prstDash val="solid"/>
                      <a:round/>
                      <a:headEnd type="none" w="med" len="med"/>
                      <a:tailEnd type="none" w="med" len="med"/>
                    </a:lnT>
                    <a:lnB w="9525" cap="flat" cmpd="sng" algn="ctr">
                      <a:solidFill>
                        <a:srgbClr val="3C3F4C"/>
                      </a:solidFill>
                      <a:prstDash val="solid"/>
                      <a:round/>
                      <a:headEnd type="none" w="med" len="med"/>
                      <a:tailEnd type="none" w="med" len="med"/>
                    </a:lnB>
                    <a:solidFill>
                      <a:srgbClr val="161B30"/>
                    </a:solidFill>
                  </a:tcPr>
                </a:tc>
                <a:tc>
                  <a:txBody>
                    <a:bodyPr/>
                    <a:lstStyle/>
                    <a:p>
                      <a:pPr marL="0" indent="0" algn="r">
                        <a:buNone/>
                      </a:pPr>
                      <a:r>
                        <a:rPr lang="en-US" sz="1300" dirty="0">
                          <a:solidFill>
                            <a:srgbClr val="9AA3BD"/>
                          </a:solidFill>
                          <a:latin typeface="Aptos" pitchFamily="34" charset="0"/>
                          <a:ea typeface="Aptos" pitchFamily="34" charset="-122"/>
                          <a:cs typeface="Aptos" pitchFamily="34" charset="-120"/>
                        </a:rPr>
                        <a:t>3</a:t>
                      </a:r>
                      <a:endParaRPr lang="en-US" sz="1300" dirty="0">
                        <a:latin typeface="Aptos" charset="0"/>
                        <a:ea typeface="Aptos" charset="0"/>
                        <a:cs typeface="Aptos" charset="0"/>
                      </a:endParaRPr>
                    </a:p>
                  </a:txBody>
                  <a:tcPr marL="109728" marR="109728" marT="0" marB="0" anchor="ctr">
                    <a:lnL w="9525" cap="flat" cmpd="sng" algn="ctr">
                      <a:solidFill>
                        <a:srgbClr val="3C3F4C"/>
                      </a:solidFill>
                      <a:prstDash val="solid"/>
                      <a:round/>
                      <a:headEnd type="none" w="med" len="med"/>
                      <a:tailEnd type="none" w="med" len="med"/>
                    </a:lnL>
                    <a:lnR w="9525" cap="flat" cmpd="sng" algn="ctr">
                      <a:solidFill>
                        <a:srgbClr val="3C3F4C"/>
                      </a:solidFill>
                      <a:prstDash val="solid"/>
                      <a:round/>
                      <a:headEnd type="none" w="med" len="med"/>
                      <a:tailEnd type="none" w="med" len="med"/>
                    </a:lnR>
                    <a:lnT w="9525" cap="flat" cmpd="sng" algn="ctr">
                      <a:solidFill>
                        <a:srgbClr val="3C3F4C"/>
                      </a:solidFill>
                      <a:prstDash val="solid"/>
                      <a:round/>
                      <a:headEnd type="none" w="med" len="med"/>
                      <a:tailEnd type="none" w="med" len="med"/>
                    </a:lnT>
                    <a:lnB w="9525" cap="flat" cmpd="sng" algn="ctr">
                      <a:solidFill>
                        <a:srgbClr val="3C3F4C"/>
                      </a:solidFill>
                      <a:prstDash val="solid"/>
                      <a:round/>
                      <a:headEnd type="none" w="med" len="med"/>
                      <a:tailEnd type="none" w="med" len="med"/>
                    </a:lnB>
                    <a:solidFill>
                      <a:srgbClr val="161B30"/>
                    </a:solidFill>
                  </a:tcPr>
                </a:tc>
                <a:tc>
                  <a:txBody>
                    <a:bodyPr/>
                    <a:lstStyle/>
                    <a:p>
                      <a:pPr marL="0" indent="0" algn="r">
                        <a:buNone/>
                      </a:pPr>
                      <a:r>
                        <a:rPr lang="en-US" sz="1300" dirty="0">
                          <a:solidFill>
                            <a:srgbClr val="9AA3BD"/>
                          </a:solidFill>
                          <a:latin typeface="Aptos" pitchFamily="34" charset="0"/>
                          <a:ea typeface="Aptos" pitchFamily="34" charset="-122"/>
                          <a:cs typeface="Aptos" pitchFamily="34" charset="-120"/>
                        </a:rPr>
                        <a:t>2.2 × 10⁻¹</a:t>
                      </a:r>
                      <a:endParaRPr lang="en-US" sz="1300" dirty="0">
                        <a:latin typeface="Aptos" charset="0"/>
                        <a:ea typeface="Aptos" charset="0"/>
                        <a:cs typeface="Aptos" charset="0"/>
                      </a:endParaRPr>
                    </a:p>
                  </a:txBody>
                  <a:tcPr marL="109728" marR="109728" marT="0" marB="0" anchor="ctr">
                    <a:lnL w="9525" cap="flat" cmpd="sng" algn="ctr">
                      <a:solidFill>
                        <a:srgbClr val="3C3F4C"/>
                      </a:solidFill>
                      <a:prstDash val="solid"/>
                      <a:round/>
                      <a:headEnd type="none" w="med" len="med"/>
                      <a:tailEnd type="none" w="med" len="med"/>
                    </a:lnL>
                    <a:lnR w="9525" cap="flat" cmpd="sng" algn="ctr">
                      <a:solidFill>
                        <a:srgbClr val="3C3F4C"/>
                      </a:solidFill>
                      <a:prstDash val="solid"/>
                      <a:round/>
                      <a:headEnd type="none" w="med" len="med"/>
                      <a:tailEnd type="none" w="med" len="med"/>
                    </a:lnR>
                    <a:lnT w="9525" cap="flat" cmpd="sng" algn="ctr">
                      <a:solidFill>
                        <a:srgbClr val="3C3F4C"/>
                      </a:solidFill>
                      <a:prstDash val="solid"/>
                      <a:round/>
                      <a:headEnd type="none" w="med" len="med"/>
                      <a:tailEnd type="none" w="med" len="med"/>
                    </a:lnT>
                    <a:lnB w="9525" cap="flat" cmpd="sng" algn="ctr">
                      <a:solidFill>
                        <a:srgbClr val="3C3F4C"/>
                      </a:solidFill>
                      <a:prstDash val="solid"/>
                      <a:round/>
                      <a:headEnd type="none" w="med" len="med"/>
                      <a:tailEnd type="none" w="med" len="med"/>
                    </a:lnB>
                    <a:solidFill>
                      <a:srgbClr val="161B30"/>
                    </a:solidFill>
                  </a:tcPr>
                </a:tc>
                <a:extLst>
                  <a:ext uri="{0D108BD9-81ED-4DB2-BD59-A6C34878D82A}">
                    <a16:rowId xmlns:a16="http://schemas.microsoft.com/office/drawing/2014/main" val="10001"/>
                  </a:ext>
                </a:extLst>
              </a:tr>
              <a:tr h="347472">
                <a:tc>
                  <a:txBody>
                    <a:bodyPr/>
                    <a:lstStyle/>
                    <a:p>
                      <a:pPr marL="0" indent="0" algn="l">
                        <a:buNone/>
                      </a:pPr>
                      <a:r>
                        <a:rPr lang="en-US" sz="1300" b="1" dirty="0">
                          <a:solidFill>
                            <a:srgbClr val="E9ECF3"/>
                          </a:solidFill>
                          <a:latin typeface="Aptos" pitchFamily="34" charset="0"/>
                          <a:ea typeface="Aptos" pitchFamily="34" charset="-122"/>
                          <a:cs typeface="Aptos" pitchFamily="34" charset="-120"/>
                        </a:rPr>
                        <a:t>2</a:t>
                      </a:r>
                      <a:endParaRPr lang="en-US" sz="1300" dirty="0">
                        <a:latin typeface="Aptos" charset="0"/>
                        <a:ea typeface="Aptos" charset="0"/>
                        <a:cs typeface="Aptos" charset="0"/>
                      </a:endParaRPr>
                    </a:p>
                  </a:txBody>
                  <a:tcPr marL="109728" marR="109728" marT="0" marB="0" anchor="ctr">
                    <a:lnL w="9525" cap="flat" cmpd="sng" algn="ctr">
                      <a:solidFill>
                        <a:srgbClr val="3C3F4C"/>
                      </a:solidFill>
                      <a:prstDash val="solid"/>
                      <a:round/>
                      <a:headEnd type="none" w="med" len="med"/>
                      <a:tailEnd type="none" w="med" len="med"/>
                    </a:lnL>
                    <a:lnR w="9525" cap="flat" cmpd="sng" algn="ctr">
                      <a:solidFill>
                        <a:srgbClr val="3C3F4C"/>
                      </a:solidFill>
                      <a:prstDash val="solid"/>
                      <a:round/>
                      <a:headEnd type="none" w="med" len="med"/>
                      <a:tailEnd type="none" w="med" len="med"/>
                    </a:lnR>
                    <a:lnT w="9525" cap="flat" cmpd="sng" algn="ctr">
                      <a:solidFill>
                        <a:srgbClr val="3C3F4C"/>
                      </a:solidFill>
                      <a:prstDash val="solid"/>
                      <a:round/>
                      <a:headEnd type="none" w="med" len="med"/>
                      <a:tailEnd type="none" w="med" len="med"/>
                    </a:lnT>
                    <a:lnB w="9525" cap="flat" cmpd="sng" algn="ctr">
                      <a:solidFill>
                        <a:srgbClr val="3C3F4C"/>
                      </a:solidFill>
                      <a:prstDash val="solid"/>
                      <a:round/>
                      <a:headEnd type="none" w="med" len="med"/>
                      <a:tailEnd type="none" w="med" len="med"/>
                    </a:lnB>
                    <a:solidFill>
                      <a:srgbClr val="1B213B"/>
                    </a:solidFill>
                  </a:tcPr>
                </a:tc>
                <a:tc>
                  <a:txBody>
                    <a:bodyPr/>
                    <a:lstStyle/>
                    <a:p>
                      <a:pPr marL="0" indent="0" algn="r">
                        <a:buNone/>
                      </a:pPr>
                      <a:r>
                        <a:rPr lang="en-US" sz="1300" dirty="0">
                          <a:solidFill>
                            <a:srgbClr val="9AA3BD"/>
                          </a:solidFill>
                          <a:latin typeface="Aptos" pitchFamily="34" charset="0"/>
                          <a:ea typeface="Aptos" pitchFamily="34" charset="-122"/>
                          <a:cs typeface="Aptos" pitchFamily="34" charset="-120"/>
                        </a:rPr>
                        <a:t>42</a:t>
                      </a:r>
                      <a:endParaRPr lang="en-US" sz="1300" dirty="0">
                        <a:latin typeface="Aptos" charset="0"/>
                        <a:ea typeface="Aptos" charset="0"/>
                        <a:cs typeface="Aptos" charset="0"/>
                      </a:endParaRPr>
                    </a:p>
                  </a:txBody>
                  <a:tcPr marL="109728" marR="109728" marT="0" marB="0" anchor="ctr">
                    <a:lnL w="9525" cap="flat" cmpd="sng" algn="ctr">
                      <a:solidFill>
                        <a:srgbClr val="3C3F4C"/>
                      </a:solidFill>
                      <a:prstDash val="solid"/>
                      <a:round/>
                      <a:headEnd type="none" w="med" len="med"/>
                      <a:tailEnd type="none" w="med" len="med"/>
                    </a:lnL>
                    <a:lnR w="9525" cap="flat" cmpd="sng" algn="ctr">
                      <a:solidFill>
                        <a:srgbClr val="3C3F4C"/>
                      </a:solidFill>
                      <a:prstDash val="solid"/>
                      <a:round/>
                      <a:headEnd type="none" w="med" len="med"/>
                      <a:tailEnd type="none" w="med" len="med"/>
                    </a:lnR>
                    <a:lnT w="9525" cap="flat" cmpd="sng" algn="ctr">
                      <a:solidFill>
                        <a:srgbClr val="3C3F4C"/>
                      </a:solidFill>
                      <a:prstDash val="solid"/>
                      <a:round/>
                      <a:headEnd type="none" w="med" len="med"/>
                      <a:tailEnd type="none" w="med" len="med"/>
                    </a:lnT>
                    <a:lnB w="9525" cap="flat" cmpd="sng" algn="ctr">
                      <a:solidFill>
                        <a:srgbClr val="3C3F4C"/>
                      </a:solidFill>
                      <a:prstDash val="solid"/>
                      <a:round/>
                      <a:headEnd type="none" w="med" len="med"/>
                      <a:tailEnd type="none" w="med" len="med"/>
                    </a:lnB>
                    <a:solidFill>
                      <a:srgbClr val="1B213B"/>
                    </a:solidFill>
                  </a:tcPr>
                </a:tc>
                <a:tc>
                  <a:txBody>
                    <a:bodyPr/>
                    <a:lstStyle/>
                    <a:p>
                      <a:pPr marL="0" indent="0" algn="r">
                        <a:buNone/>
                      </a:pPr>
                      <a:r>
                        <a:rPr lang="en-US" sz="1300" dirty="0">
                          <a:solidFill>
                            <a:srgbClr val="9AA3BD"/>
                          </a:solidFill>
                          <a:latin typeface="Aptos" pitchFamily="34" charset="0"/>
                          <a:ea typeface="Aptos" pitchFamily="34" charset="-122"/>
                          <a:cs typeface="Aptos" pitchFamily="34" charset="-120"/>
                        </a:rPr>
                        <a:t>6</a:t>
                      </a:r>
                      <a:endParaRPr lang="en-US" sz="1300" dirty="0">
                        <a:latin typeface="Aptos" charset="0"/>
                        <a:ea typeface="Aptos" charset="0"/>
                        <a:cs typeface="Aptos" charset="0"/>
                      </a:endParaRPr>
                    </a:p>
                  </a:txBody>
                  <a:tcPr marL="109728" marR="109728" marT="0" marB="0" anchor="ctr">
                    <a:lnL w="9525" cap="flat" cmpd="sng" algn="ctr">
                      <a:solidFill>
                        <a:srgbClr val="3C3F4C"/>
                      </a:solidFill>
                      <a:prstDash val="solid"/>
                      <a:round/>
                      <a:headEnd type="none" w="med" len="med"/>
                      <a:tailEnd type="none" w="med" len="med"/>
                    </a:lnL>
                    <a:lnR w="9525" cap="flat" cmpd="sng" algn="ctr">
                      <a:solidFill>
                        <a:srgbClr val="3C3F4C"/>
                      </a:solidFill>
                      <a:prstDash val="solid"/>
                      <a:round/>
                      <a:headEnd type="none" w="med" len="med"/>
                      <a:tailEnd type="none" w="med" len="med"/>
                    </a:lnR>
                    <a:lnT w="9525" cap="flat" cmpd="sng" algn="ctr">
                      <a:solidFill>
                        <a:srgbClr val="3C3F4C"/>
                      </a:solidFill>
                      <a:prstDash val="solid"/>
                      <a:round/>
                      <a:headEnd type="none" w="med" len="med"/>
                      <a:tailEnd type="none" w="med" len="med"/>
                    </a:lnT>
                    <a:lnB w="9525" cap="flat" cmpd="sng" algn="ctr">
                      <a:solidFill>
                        <a:srgbClr val="3C3F4C"/>
                      </a:solidFill>
                      <a:prstDash val="solid"/>
                      <a:round/>
                      <a:headEnd type="none" w="med" len="med"/>
                      <a:tailEnd type="none" w="med" len="med"/>
                    </a:lnB>
                    <a:solidFill>
                      <a:srgbClr val="1B213B"/>
                    </a:solidFill>
                  </a:tcPr>
                </a:tc>
                <a:tc>
                  <a:txBody>
                    <a:bodyPr/>
                    <a:lstStyle/>
                    <a:p>
                      <a:pPr marL="0" indent="0" algn="r">
                        <a:buNone/>
                      </a:pPr>
                      <a:r>
                        <a:rPr lang="en-US" sz="1300" dirty="0">
                          <a:solidFill>
                            <a:srgbClr val="9AA3BD"/>
                          </a:solidFill>
                          <a:latin typeface="Aptos" pitchFamily="34" charset="0"/>
                          <a:ea typeface="Aptos" pitchFamily="34" charset="-122"/>
                          <a:cs typeface="Aptos" pitchFamily="34" charset="-120"/>
                        </a:rPr>
                        <a:t>8.8 × 10⁻²</a:t>
                      </a:r>
                      <a:endParaRPr lang="en-US" sz="1300" dirty="0">
                        <a:latin typeface="Aptos" charset="0"/>
                        <a:ea typeface="Aptos" charset="0"/>
                        <a:cs typeface="Aptos" charset="0"/>
                      </a:endParaRPr>
                    </a:p>
                  </a:txBody>
                  <a:tcPr marL="109728" marR="109728" marT="0" marB="0" anchor="ctr">
                    <a:lnL w="9525" cap="flat" cmpd="sng" algn="ctr">
                      <a:solidFill>
                        <a:srgbClr val="3C3F4C"/>
                      </a:solidFill>
                      <a:prstDash val="solid"/>
                      <a:round/>
                      <a:headEnd type="none" w="med" len="med"/>
                      <a:tailEnd type="none" w="med" len="med"/>
                    </a:lnL>
                    <a:lnR w="9525" cap="flat" cmpd="sng" algn="ctr">
                      <a:solidFill>
                        <a:srgbClr val="3C3F4C"/>
                      </a:solidFill>
                      <a:prstDash val="solid"/>
                      <a:round/>
                      <a:headEnd type="none" w="med" len="med"/>
                      <a:tailEnd type="none" w="med" len="med"/>
                    </a:lnR>
                    <a:lnT w="9525" cap="flat" cmpd="sng" algn="ctr">
                      <a:solidFill>
                        <a:srgbClr val="3C3F4C"/>
                      </a:solidFill>
                      <a:prstDash val="solid"/>
                      <a:round/>
                      <a:headEnd type="none" w="med" len="med"/>
                      <a:tailEnd type="none" w="med" len="med"/>
                    </a:lnT>
                    <a:lnB w="9525" cap="flat" cmpd="sng" algn="ctr">
                      <a:solidFill>
                        <a:srgbClr val="3C3F4C"/>
                      </a:solidFill>
                      <a:prstDash val="solid"/>
                      <a:round/>
                      <a:headEnd type="none" w="med" len="med"/>
                      <a:tailEnd type="none" w="med" len="med"/>
                    </a:lnB>
                    <a:solidFill>
                      <a:srgbClr val="1B213B"/>
                    </a:solidFill>
                  </a:tcPr>
                </a:tc>
                <a:extLst>
                  <a:ext uri="{0D108BD9-81ED-4DB2-BD59-A6C34878D82A}">
                    <a16:rowId xmlns:a16="http://schemas.microsoft.com/office/drawing/2014/main" val="10002"/>
                  </a:ext>
                </a:extLst>
              </a:tr>
              <a:tr h="347472">
                <a:tc>
                  <a:txBody>
                    <a:bodyPr/>
                    <a:lstStyle/>
                    <a:p>
                      <a:pPr marL="0" indent="0" algn="l">
                        <a:buNone/>
                      </a:pPr>
                      <a:r>
                        <a:rPr lang="en-US" sz="1300" b="1" dirty="0">
                          <a:solidFill>
                            <a:srgbClr val="E9ECF3"/>
                          </a:solidFill>
                          <a:latin typeface="Aptos" pitchFamily="34" charset="0"/>
                          <a:ea typeface="Aptos" pitchFamily="34" charset="-122"/>
                          <a:cs typeface="Aptos" pitchFamily="34" charset="-120"/>
                        </a:rPr>
                        <a:t>3</a:t>
                      </a:r>
                      <a:endParaRPr lang="en-US" sz="1300" dirty="0">
                        <a:latin typeface="Aptos" charset="0"/>
                        <a:ea typeface="Aptos" charset="0"/>
                        <a:cs typeface="Aptos" charset="0"/>
                      </a:endParaRPr>
                    </a:p>
                  </a:txBody>
                  <a:tcPr marL="109728" marR="109728" marT="0" marB="0" anchor="ctr">
                    <a:lnL w="9525" cap="flat" cmpd="sng" algn="ctr">
                      <a:solidFill>
                        <a:srgbClr val="3C3F4C"/>
                      </a:solidFill>
                      <a:prstDash val="solid"/>
                      <a:round/>
                      <a:headEnd type="none" w="med" len="med"/>
                      <a:tailEnd type="none" w="med" len="med"/>
                    </a:lnL>
                    <a:lnR w="9525" cap="flat" cmpd="sng" algn="ctr">
                      <a:solidFill>
                        <a:srgbClr val="3C3F4C"/>
                      </a:solidFill>
                      <a:prstDash val="solid"/>
                      <a:round/>
                      <a:headEnd type="none" w="med" len="med"/>
                      <a:tailEnd type="none" w="med" len="med"/>
                    </a:lnR>
                    <a:lnT w="9525" cap="flat" cmpd="sng" algn="ctr">
                      <a:solidFill>
                        <a:srgbClr val="3C3F4C"/>
                      </a:solidFill>
                      <a:prstDash val="solid"/>
                      <a:round/>
                      <a:headEnd type="none" w="med" len="med"/>
                      <a:tailEnd type="none" w="med" len="med"/>
                    </a:lnT>
                    <a:lnB w="9525" cap="flat" cmpd="sng" algn="ctr">
                      <a:solidFill>
                        <a:srgbClr val="3C3F4C"/>
                      </a:solidFill>
                      <a:prstDash val="solid"/>
                      <a:round/>
                      <a:headEnd type="none" w="med" len="med"/>
                      <a:tailEnd type="none" w="med" len="med"/>
                    </a:lnB>
                    <a:solidFill>
                      <a:srgbClr val="161B30"/>
                    </a:solidFill>
                  </a:tcPr>
                </a:tc>
                <a:tc>
                  <a:txBody>
                    <a:bodyPr/>
                    <a:lstStyle/>
                    <a:p>
                      <a:pPr marL="0" indent="0" algn="r">
                        <a:buNone/>
                      </a:pPr>
                      <a:r>
                        <a:rPr lang="en-US" sz="1300" dirty="0">
                          <a:solidFill>
                            <a:srgbClr val="9AA3BD"/>
                          </a:solidFill>
                          <a:latin typeface="Aptos" pitchFamily="34" charset="0"/>
                          <a:ea typeface="Aptos" pitchFamily="34" charset="-122"/>
                          <a:cs typeface="Aptos" pitchFamily="34" charset="-120"/>
                        </a:rPr>
                        <a:t>258</a:t>
                      </a:r>
                      <a:endParaRPr lang="en-US" sz="1300" dirty="0">
                        <a:latin typeface="Aptos" charset="0"/>
                        <a:ea typeface="Aptos" charset="0"/>
                        <a:cs typeface="Aptos" charset="0"/>
                      </a:endParaRPr>
                    </a:p>
                  </a:txBody>
                  <a:tcPr marL="109728" marR="109728" marT="0" marB="0" anchor="ctr">
                    <a:lnL w="9525" cap="flat" cmpd="sng" algn="ctr">
                      <a:solidFill>
                        <a:srgbClr val="3C3F4C"/>
                      </a:solidFill>
                      <a:prstDash val="solid"/>
                      <a:round/>
                      <a:headEnd type="none" w="med" len="med"/>
                      <a:tailEnd type="none" w="med" len="med"/>
                    </a:lnL>
                    <a:lnR w="9525" cap="flat" cmpd="sng" algn="ctr">
                      <a:solidFill>
                        <a:srgbClr val="3C3F4C"/>
                      </a:solidFill>
                      <a:prstDash val="solid"/>
                      <a:round/>
                      <a:headEnd type="none" w="med" len="med"/>
                      <a:tailEnd type="none" w="med" len="med"/>
                    </a:lnR>
                    <a:lnT w="9525" cap="flat" cmpd="sng" algn="ctr">
                      <a:solidFill>
                        <a:srgbClr val="3C3F4C"/>
                      </a:solidFill>
                      <a:prstDash val="solid"/>
                      <a:round/>
                      <a:headEnd type="none" w="med" len="med"/>
                      <a:tailEnd type="none" w="med" len="med"/>
                    </a:lnT>
                    <a:lnB w="9525" cap="flat" cmpd="sng" algn="ctr">
                      <a:solidFill>
                        <a:srgbClr val="3C3F4C"/>
                      </a:solidFill>
                      <a:prstDash val="solid"/>
                      <a:round/>
                      <a:headEnd type="none" w="med" len="med"/>
                      <a:tailEnd type="none" w="med" len="med"/>
                    </a:lnB>
                    <a:solidFill>
                      <a:srgbClr val="161B30"/>
                    </a:solidFill>
                  </a:tcPr>
                </a:tc>
                <a:tc>
                  <a:txBody>
                    <a:bodyPr/>
                    <a:lstStyle/>
                    <a:p>
                      <a:pPr marL="0" indent="0" algn="r">
                        <a:buNone/>
                      </a:pPr>
                      <a:r>
                        <a:rPr lang="en-US" sz="1300" dirty="0">
                          <a:solidFill>
                            <a:srgbClr val="9AA3BD"/>
                          </a:solidFill>
                          <a:latin typeface="Aptos" pitchFamily="34" charset="0"/>
                          <a:ea typeface="Aptos" pitchFamily="34" charset="-122"/>
                          <a:cs typeface="Aptos" pitchFamily="34" charset="-120"/>
                        </a:rPr>
                        <a:t>9</a:t>
                      </a:r>
                      <a:endParaRPr lang="en-US" sz="1300" dirty="0">
                        <a:latin typeface="Aptos" charset="0"/>
                        <a:ea typeface="Aptos" charset="0"/>
                        <a:cs typeface="Aptos" charset="0"/>
                      </a:endParaRPr>
                    </a:p>
                  </a:txBody>
                  <a:tcPr marL="109728" marR="109728" marT="0" marB="0" anchor="ctr">
                    <a:lnL w="9525" cap="flat" cmpd="sng" algn="ctr">
                      <a:solidFill>
                        <a:srgbClr val="3C3F4C"/>
                      </a:solidFill>
                      <a:prstDash val="solid"/>
                      <a:round/>
                      <a:headEnd type="none" w="med" len="med"/>
                      <a:tailEnd type="none" w="med" len="med"/>
                    </a:lnL>
                    <a:lnR w="9525" cap="flat" cmpd="sng" algn="ctr">
                      <a:solidFill>
                        <a:srgbClr val="3C3F4C"/>
                      </a:solidFill>
                      <a:prstDash val="solid"/>
                      <a:round/>
                      <a:headEnd type="none" w="med" len="med"/>
                      <a:tailEnd type="none" w="med" len="med"/>
                    </a:lnR>
                    <a:lnT w="9525" cap="flat" cmpd="sng" algn="ctr">
                      <a:solidFill>
                        <a:srgbClr val="3C3F4C"/>
                      </a:solidFill>
                      <a:prstDash val="solid"/>
                      <a:round/>
                      <a:headEnd type="none" w="med" len="med"/>
                      <a:tailEnd type="none" w="med" len="med"/>
                    </a:lnT>
                    <a:lnB w="9525" cap="flat" cmpd="sng" algn="ctr">
                      <a:solidFill>
                        <a:srgbClr val="3C3F4C"/>
                      </a:solidFill>
                      <a:prstDash val="solid"/>
                      <a:round/>
                      <a:headEnd type="none" w="med" len="med"/>
                      <a:tailEnd type="none" w="med" len="med"/>
                    </a:lnB>
                    <a:solidFill>
                      <a:srgbClr val="161B30"/>
                    </a:solidFill>
                  </a:tcPr>
                </a:tc>
                <a:tc>
                  <a:txBody>
                    <a:bodyPr/>
                    <a:lstStyle/>
                    <a:p>
                      <a:pPr marL="0" indent="0" algn="r">
                        <a:buNone/>
                      </a:pPr>
                      <a:r>
                        <a:rPr lang="en-US" sz="1300" dirty="0">
                          <a:solidFill>
                            <a:srgbClr val="9AA3BD"/>
                          </a:solidFill>
                          <a:latin typeface="Aptos" pitchFamily="34" charset="0"/>
                          <a:ea typeface="Aptos" pitchFamily="34" charset="-122"/>
                          <a:cs typeface="Aptos" pitchFamily="34" charset="-120"/>
                        </a:rPr>
                        <a:t>3.3 × 10⁻²</a:t>
                      </a:r>
                      <a:endParaRPr lang="en-US" sz="1300" dirty="0">
                        <a:latin typeface="Aptos" charset="0"/>
                        <a:ea typeface="Aptos" charset="0"/>
                        <a:cs typeface="Aptos" charset="0"/>
                      </a:endParaRPr>
                    </a:p>
                  </a:txBody>
                  <a:tcPr marL="109728" marR="109728" marT="0" marB="0" anchor="ctr">
                    <a:lnL w="9525" cap="flat" cmpd="sng" algn="ctr">
                      <a:solidFill>
                        <a:srgbClr val="3C3F4C"/>
                      </a:solidFill>
                      <a:prstDash val="solid"/>
                      <a:round/>
                      <a:headEnd type="none" w="med" len="med"/>
                      <a:tailEnd type="none" w="med" len="med"/>
                    </a:lnL>
                    <a:lnR w="9525" cap="flat" cmpd="sng" algn="ctr">
                      <a:solidFill>
                        <a:srgbClr val="3C3F4C"/>
                      </a:solidFill>
                      <a:prstDash val="solid"/>
                      <a:round/>
                      <a:headEnd type="none" w="med" len="med"/>
                      <a:tailEnd type="none" w="med" len="med"/>
                    </a:lnR>
                    <a:lnT w="9525" cap="flat" cmpd="sng" algn="ctr">
                      <a:solidFill>
                        <a:srgbClr val="3C3F4C"/>
                      </a:solidFill>
                      <a:prstDash val="solid"/>
                      <a:round/>
                      <a:headEnd type="none" w="med" len="med"/>
                      <a:tailEnd type="none" w="med" len="med"/>
                    </a:lnT>
                    <a:lnB w="9525" cap="flat" cmpd="sng" algn="ctr">
                      <a:solidFill>
                        <a:srgbClr val="3C3F4C"/>
                      </a:solidFill>
                      <a:prstDash val="solid"/>
                      <a:round/>
                      <a:headEnd type="none" w="med" len="med"/>
                      <a:tailEnd type="none" w="med" len="med"/>
                    </a:lnB>
                    <a:solidFill>
                      <a:srgbClr val="161B30"/>
                    </a:solidFill>
                  </a:tcPr>
                </a:tc>
                <a:extLst>
                  <a:ext uri="{0D108BD9-81ED-4DB2-BD59-A6C34878D82A}">
                    <a16:rowId xmlns:a16="http://schemas.microsoft.com/office/drawing/2014/main" val="10003"/>
                  </a:ext>
                </a:extLst>
              </a:tr>
              <a:tr h="347472">
                <a:tc>
                  <a:txBody>
                    <a:bodyPr/>
                    <a:lstStyle/>
                    <a:p>
                      <a:pPr marL="0" indent="0" algn="l">
                        <a:buNone/>
                      </a:pPr>
                      <a:r>
                        <a:rPr lang="en-US" sz="1300" b="1" dirty="0">
                          <a:solidFill>
                            <a:srgbClr val="E9ECF3"/>
                          </a:solidFill>
                          <a:latin typeface="Aptos" pitchFamily="34" charset="0"/>
                          <a:ea typeface="Aptos" pitchFamily="34" charset="-122"/>
                          <a:cs typeface="Aptos" pitchFamily="34" charset="-120"/>
                        </a:rPr>
                        <a:t>4</a:t>
                      </a:r>
                      <a:endParaRPr lang="en-US" sz="1300" dirty="0">
                        <a:latin typeface="Aptos" charset="0"/>
                        <a:ea typeface="Aptos" charset="0"/>
                        <a:cs typeface="Aptos" charset="0"/>
                      </a:endParaRPr>
                    </a:p>
                  </a:txBody>
                  <a:tcPr marL="109728" marR="109728" marT="0" marB="0" anchor="ctr">
                    <a:lnL w="9525" cap="flat" cmpd="sng" algn="ctr">
                      <a:solidFill>
                        <a:srgbClr val="3C3F4C"/>
                      </a:solidFill>
                      <a:prstDash val="solid"/>
                      <a:round/>
                      <a:headEnd type="none" w="med" len="med"/>
                      <a:tailEnd type="none" w="med" len="med"/>
                    </a:lnL>
                    <a:lnR w="9525" cap="flat" cmpd="sng" algn="ctr">
                      <a:solidFill>
                        <a:srgbClr val="3C3F4C"/>
                      </a:solidFill>
                      <a:prstDash val="solid"/>
                      <a:round/>
                      <a:headEnd type="none" w="med" len="med"/>
                      <a:tailEnd type="none" w="med" len="med"/>
                    </a:lnR>
                    <a:lnT w="9525" cap="flat" cmpd="sng" algn="ctr">
                      <a:solidFill>
                        <a:srgbClr val="3C3F4C"/>
                      </a:solidFill>
                      <a:prstDash val="solid"/>
                      <a:round/>
                      <a:headEnd type="none" w="med" len="med"/>
                      <a:tailEnd type="none" w="med" len="med"/>
                    </a:lnT>
                    <a:lnB w="9525" cap="flat" cmpd="sng" algn="ctr">
                      <a:solidFill>
                        <a:srgbClr val="3C3F4C"/>
                      </a:solidFill>
                      <a:prstDash val="solid"/>
                      <a:round/>
                      <a:headEnd type="none" w="med" len="med"/>
                      <a:tailEnd type="none" w="med" len="med"/>
                    </a:lnB>
                    <a:solidFill>
                      <a:srgbClr val="1B213B"/>
                    </a:solidFill>
                  </a:tcPr>
                </a:tc>
                <a:tc>
                  <a:txBody>
                    <a:bodyPr/>
                    <a:lstStyle/>
                    <a:p>
                      <a:pPr marL="0" indent="0" algn="r">
                        <a:buNone/>
                      </a:pPr>
                      <a:r>
                        <a:rPr lang="en-US" sz="1300" dirty="0">
                          <a:solidFill>
                            <a:srgbClr val="9AA3BD"/>
                          </a:solidFill>
                          <a:latin typeface="Aptos" pitchFamily="34" charset="0"/>
                          <a:ea typeface="Aptos" pitchFamily="34" charset="-122"/>
                          <a:cs typeface="Aptos" pitchFamily="34" charset="-120"/>
                        </a:rPr>
                        <a:t>1,554</a:t>
                      </a:r>
                      <a:endParaRPr lang="en-US" sz="1300" dirty="0">
                        <a:latin typeface="Aptos" charset="0"/>
                        <a:ea typeface="Aptos" charset="0"/>
                        <a:cs typeface="Aptos" charset="0"/>
                      </a:endParaRPr>
                    </a:p>
                  </a:txBody>
                  <a:tcPr marL="109728" marR="109728" marT="0" marB="0" anchor="ctr">
                    <a:lnL w="9525" cap="flat" cmpd="sng" algn="ctr">
                      <a:solidFill>
                        <a:srgbClr val="3C3F4C"/>
                      </a:solidFill>
                      <a:prstDash val="solid"/>
                      <a:round/>
                      <a:headEnd type="none" w="med" len="med"/>
                      <a:tailEnd type="none" w="med" len="med"/>
                    </a:lnL>
                    <a:lnR w="9525" cap="flat" cmpd="sng" algn="ctr">
                      <a:solidFill>
                        <a:srgbClr val="3C3F4C"/>
                      </a:solidFill>
                      <a:prstDash val="solid"/>
                      <a:round/>
                      <a:headEnd type="none" w="med" len="med"/>
                      <a:tailEnd type="none" w="med" len="med"/>
                    </a:lnR>
                    <a:lnT w="9525" cap="flat" cmpd="sng" algn="ctr">
                      <a:solidFill>
                        <a:srgbClr val="3C3F4C"/>
                      </a:solidFill>
                      <a:prstDash val="solid"/>
                      <a:round/>
                      <a:headEnd type="none" w="med" len="med"/>
                      <a:tailEnd type="none" w="med" len="med"/>
                    </a:lnT>
                    <a:lnB w="9525" cap="flat" cmpd="sng" algn="ctr">
                      <a:solidFill>
                        <a:srgbClr val="3C3F4C"/>
                      </a:solidFill>
                      <a:prstDash val="solid"/>
                      <a:round/>
                      <a:headEnd type="none" w="med" len="med"/>
                      <a:tailEnd type="none" w="med" len="med"/>
                    </a:lnB>
                    <a:solidFill>
                      <a:srgbClr val="1B213B"/>
                    </a:solidFill>
                  </a:tcPr>
                </a:tc>
                <a:tc>
                  <a:txBody>
                    <a:bodyPr/>
                    <a:lstStyle/>
                    <a:p>
                      <a:pPr marL="0" indent="0" algn="r">
                        <a:buNone/>
                      </a:pPr>
                      <a:r>
                        <a:rPr lang="en-US" sz="1300" dirty="0">
                          <a:solidFill>
                            <a:srgbClr val="9AA3BD"/>
                          </a:solidFill>
                          <a:latin typeface="Aptos" pitchFamily="34" charset="0"/>
                          <a:ea typeface="Aptos" pitchFamily="34" charset="-122"/>
                          <a:cs typeface="Aptos" pitchFamily="34" charset="-120"/>
                        </a:rPr>
                        <a:t>11</a:t>
                      </a:r>
                      <a:endParaRPr lang="en-US" sz="1300" dirty="0">
                        <a:latin typeface="Aptos" charset="0"/>
                        <a:ea typeface="Aptos" charset="0"/>
                        <a:cs typeface="Aptos" charset="0"/>
                      </a:endParaRPr>
                    </a:p>
                  </a:txBody>
                  <a:tcPr marL="109728" marR="109728" marT="0" marB="0" anchor="ctr">
                    <a:lnL w="9525" cap="flat" cmpd="sng" algn="ctr">
                      <a:solidFill>
                        <a:srgbClr val="3C3F4C"/>
                      </a:solidFill>
                      <a:prstDash val="solid"/>
                      <a:round/>
                      <a:headEnd type="none" w="med" len="med"/>
                      <a:tailEnd type="none" w="med" len="med"/>
                    </a:lnL>
                    <a:lnR w="9525" cap="flat" cmpd="sng" algn="ctr">
                      <a:solidFill>
                        <a:srgbClr val="3C3F4C"/>
                      </a:solidFill>
                      <a:prstDash val="solid"/>
                      <a:round/>
                      <a:headEnd type="none" w="med" len="med"/>
                      <a:tailEnd type="none" w="med" len="med"/>
                    </a:lnR>
                    <a:lnT w="9525" cap="flat" cmpd="sng" algn="ctr">
                      <a:solidFill>
                        <a:srgbClr val="3C3F4C"/>
                      </a:solidFill>
                      <a:prstDash val="solid"/>
                      <a:round/>
                      <a:headEnd type="none" w="med" len="med"/>
                      <a:tailEnd type="none" w="med" len="med"/>
                    </a:lnT>
                    <a:lnB w="9525" cap="flat" cmpd="sng" algn="ctr">
                      <a:solidFill>
                        <a:srgbClr val="3C3F4C"/>
                      </a:solidFill>
                      <a:prstDash val="solid"/>
                      <a:round/>
                      <a:headEnd type="none" w="med" len="med"/>
                      <a:tailEnd type="none" w="med" len="med"/>
                    </a:lnB>
                    <a:solidFill>
                      <a:srgbClr val="1B213B"/>
                    </a:solidFill>
                  </a:tcPr>
                </a:tc>
                <a:tc>
                  <a:txBody>
                    <a:bodyPr/>
                    <a:lstStyle/>
                    <a:p>
                      <a:pPr marL="0" indent="0" algn="r">
                        <a:buNone/>
                      </a:pPr>
                      <a:r>
                        <a:rPr lang="en-US" sz="1300" dirty="0">
                          <a:solidFill>
                            <a:srgbClr val="9AA3BD"/>
                          </a:solidFill>
                          <a:latin typeface="Aptos" pitchFamily="34" charset="0"/>
                          <a:ea typeface="Aptos" pitchFamily="34" charset="-122"/>
                          <a:cs typeface="Aptos" pitchFamily="34" charset="-120"/>
                        </a:rPr>
                        <a:t>1.2 × 10⁻²</a:t>
                      </a:r>
                      <a:endParaRPr lang="en-US" sz="1300" dirty="0">
                        <a:latin typeface="Aptos" charset="0"/>
                        <a:ea typeface="Aptos" charset="0"/>
                        <a:cs typeface="Aptos" charset="0"/>
                      </a:endParaRPr>
                    </a:p>
                  </a:txBody>
                  <a:tcPr marL="109728" marR="109728" marT="0" marB="0" anchor="ctr">
                    <a:lnL w="9525" cap="flat" cmpd="sng" algn="ctr">
                      <a:solidFill>
                        <a:srgbClr val="3C3F4C"/>
                      </a:solidFill>
                      <a:prstDash val="solid"/>
                      <a:round/>
                      <a:headEnd type="none" w="med" len="med"/>
                      <a:tailEnd type="none" w="med" len="med"/>
                    </a:lnL>
                    <a:lnR w="9525" cap="flat" cmpd="sng" algn="ctr">
                      <a:solidFill>
                        <a:srgbClr val="3C3F4C"/>
                      </a:solidFill>
                      <a:prstDash val="solid"/>
                      <a:round/>
                      <a:headEnd type="none" w="med" len="med"/>
                      <a:tailEnd type="none" w="med" len="med"/>
                    </a:lnR>
                    <a:lnT w="9525" cap="flat" cmpd="sng" algn="ctr">
                      <a:solidFill>
                        <a:srgbClr val="3C3F4C"/>
                      </a:solidFill>
                      <a:prstDash val="solid"/>
                      <a:round/>
                      <a:headEnd type="none" w="med" len="med"/>
                      <a:tailEnd type="none" w="med" len="med"/>
                    </a:lnT>
                    <a:lnB w="9525" cap="flat" cmpd="sng" algn="ctr">
                      <a:solidFill>
                        <a:srgbClr val="3C3F4C"/>
                      </a:solidFill>
                      <a:prstDash val="solid"/>
                      <a:round/>
                      <a:headEnd type="none" w="med" len="med"/>
                      <a:tailEnd type="none" w="med" len="med"/>
                    </a:lnB>
                    <a:solidFill>
                      <a:srgbClr val="1B213B"/>
                    </a:solidFill>
                  </a:tcPr>
                </a:tc>
                <a:extLst>
                  <a:ext uri="{0D108BD9-81ED-4DB2-BD59-A6C34878D82A}">
                    <a16:rowId xmlns:a16="http://schemas.microsoft.com/office/drawing/2014/main" val="10004"/>
                  </a:ext>
                </a:extLst>
              </a:tr>
            </a:tbl>
          </a:graphicData>
        </a:graphic>
      </p:graphicFrame>
      <p:sp>
        <p:nvSpPr>
          <p:cNvPr id="10" name="Callout"/>
          <p:cNvSpPr/>
          <p:nvPr/>
        </p:nvSpPr>
        <p:spPr>
          <a:xfrm>
            <a:off x="6720840" y="3977640"/>
            <a:ext cx="4922215" cy="1508760"/>
          </a:xfrm>
          <a:prstGeom prst="roundRect">
            <a:avLst>
              <a:gd name="adj" fmla="val 6061"/>
            </a:avLst>
          </a:prstGeom>
          <a:solidFill>
            <a:schemeClr val="accent1"/>
          </a:solidFill>
          <a:ln/>
        </p:spPr>
        <p:txBody>
          <a:bodyPr/>
          <a:lstStyle/>
          <a:p>
            <a:endParaRPr lang="fr-FR"/>
          </a:p>
        </p:txBody>
      </p:sp>
      <p:sp>
        <p:nvSpPr>
          <p:cNvPr id="11" name="Shape 7"/>
          <p:cNvSpPr/>
          <p:nvPr/>
        </p:nvSpPr>
        <p:spPr>
          <a:xfrm>
            <a:off x="6949440" y="4206240"/>
            <a:ext cx="91440" cy="91440"/>
          </a:xfrm>
          <a:prstGeom prst="rect">
            <a:avLst/>
          </a:prstGeom>
          <a:solidFill>
            <a:schemeClr val="accent2"/>
          </a:solidFill>
          <a:ln/>
        </p:spPr>
        <p:txBody>
          <a:bodyPr/>
          <a:lstStyle/>
          <a:p>
            <a:endParaRPr lang="fr-FR"/>
          </a:p>
        </p:txBody>
      </p:sp>
      <p:sp>
        <p:nvSpPr>
          <p:cNvPr id="12" name="Text 8"/>
          <p:cNvSpPr txBox="1"/>
          <p:nvPr/>
        </p:nvSpPr>
        <p:spPr>
          <a:xfrm>
            <a:off x="7132320" y="4087368"/>
            <a:ext cx="4327855" cy="1289304"/>
          </a:xfrm>
          <a:prstGeom prst="rect">
            <a:avLst/>
          </a:prstGeom>
          <a:noFill/>
          <a:ln/>
        </p:spPr>
        <p:txBody>
          <a:bodyPr wrap="square" lIns="0" tIns="0" rIns="0" bIns="0" rtlCol="0" anchor="t"/>
          <a:lstStyle/>
          <a:p>
            <a:pPr marL="0" indent="0">
              <a:buNone/>
            </a:pPr>
            <a:r>
              <a:rPr lang="en-US" sz="1400" b="1" dirty="0">
                <a:solidFill>
                  <a:schemeClr val="tx1"/>
                </a:solidFill>
              </a:rPr>
              <a:t>R ≈ 4.9</a:t>
            </a:r>
            <a:r>
              <a:rPr lang="en-US" sz="1400" dirty="0">
                <a:solidFill>
                  <a:schemeClr val="tx1"/>
                </a:solidFill>
              </a:rPr>
              <a:t>, outside the theorem, yet the error still falls. R &lt; 1 is sufficient, not necessary: worst-case bounds can overestimate resources.</a:t>
            </a:r>
            <a:endParaRPr lang="en-US" sz="1400" dirty="0"/>
          </a:p>
        </p:txBody>
      </p:sp>
      <p:sp>
        <p:nvSpPr>
          <p:cNvPr id="13" name="Text 9"/>
          <p:cNvSpPr txBox="1"/>
          <p:nvPr/>
        </p:nvSpPr>
        <p:spPr>
          <a:xfrm>
            <a:off x="548640" y="5897880"/>
            <a:ext cx="11094415" cy="274320"/>
          </a:xfrm>
          <a:prstGeom prst="rect">
            <a:avLst/>
          </a:prstGeom>
          <a:noFill/>
          <a:ln/>
        </p:spPr>
        <p:txBody>
          <a:bodyPr wrap="square" lIns="0" tIns="0" rIns="0" bIns="0" rtlCol="0" anchor="ctr"/>
          <a:lstStyle/>
          <a:p>
            <a:pPr marL="0" indent="0">
              <a:buNone/>
            </a:pPr>
            <a:r>
              <a:rPr lang="en-US" sz="1100" i="1" dirty="0">
                <a:solidFill>
                  <a:schemeClr val="tx2"/>
                </a:solidFill>
              </a:rPr>
              <a:t>Live session notebook · Step 1</a:t>
            </a:r>
            <a:endParaRPr lang="en-US" sz="1100" dirty="0"/>
          </a:p>
        </p:txBody>
      </p:sp>
      <p:sp>
        <p:nvSpPr>
          <p:cNvPr id="25" name="Slide Number Placeholder 0"/>
          <p:cNvSpPr>
            <a:spLocks noGrp="1"/>
          </p:cNvSpPr>
          <p:nvPr>
            <p:ph type="sldNum" sz="quarter" idx="4294967295"/>
          </p:nvPr>
        </p:nvSpPr>
        <p:spPr>
          <a:xfrm>
            <a:off x="11094415" y="6327648"/>
            <a:ext cx="548640" cy="274320"/>
          </a:xfrm>
          <a:prstGeom prst="rect">
            <a:avLst/>
          </a:prstGeom>
          <a:extLst>
            <a:ext uri="{C572A759-6A51-4108-AA02-DFA0A04FC94B}">
              <ma14:wrappingTextBoxFlag xmlns:ma14="http://schemas.microsoft.com/office/mac/drawingml/2011/main" xmlns="" val="0"/>
            </a:ext>
          </a:extLst>
        </p:spPr>
        <p:txBody>
          <a:bodyPr lIns="0" tIns="0" rIns="0" bIns="0" anchor="ctr"/>
          <a:lstStyle>
            <a:lvl1pPr>
              <a:defRPr sz="1000">
                <a:solidFill>
                  <a:srgbClr val="9AA3BD"/>
                </a:solidFill>
              </a:defRPr>
            </a:lvl1pPr>
          </a:lstStyle>
          <a:p>
            <a:pPr algn="r"/>
            <a:fld id="{F7021451-1387-4CA6-816F-3879F97B5CBC}" type="slidenum">
              <a:rPr lang="en-US" b="0"/>
              <a:t>29</a:t>
            </a:fld>
            <a:endParaRPr lang="en-US"/>
          </a:p>
        </p:txBody>
      </p:sp>
      <p:pic>
        <p:nvPicPr>
          <p:cNvPr id="15" name="Image 14">
            <a:extLst>
              <a:ext uri="{FF2B5EF4-FFF2-40B4-BE49-F238E27FC236}">
                <a16:creationId xmlns:a16="http://schemas.microsoft.com/office/drawing/2014/main" id="{71867B8D-C2AA-8A83-C916-55864ED64C5D}"/>
              </a:ext>
            </a:extLst>
          </p:cNvPr>
          <p:cNvPicPr>
            <a:picLocks noChangeAspect="1"/>
          </p:cNvPicPr>
          <p:nvPr/>
        </p:nvPicPr>
        <p:blipFill>
          <a:blip r:embed="rId4"/>
          <a:stretch>
            <a:fillRect/>
          </a:stretch>
        </p:blipFill>
        <p:spPr>
          <a:xfrm>
            <a:off x="9724644" y="-443705"/>
            <a:ext cx="2437453" cy="1723866"/>
          </a:xfrm>
          <a:prstGeom prst="rect">
            <a:avLst/>
          </a:prstGeom>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10"/>
          <p:cNvSpPr>
            <a:spLocks noGrp="1"/>
          </p:cNvSpPr>
          <p:nvPr>
            <p:ph type="title" idx="110" hasCustomPrompt="1"/>
          </p:nvPr>
        </p:nvSpPr>
        <p:spPr>
          <a:xfrm>
            <a:off x="548640" y="457200"/>
            <a:ext cx="11094415" cy="777240"/>
          </a:xfrm>
          <a:prstGeom prst="rect">
            <a:avLst/>
          </a:prstGeom>
          <a:noFill/>
          <a:ln/>
        </p:spPr>
        <p:txBody>
          <a:bodyPr wrap="square" lIns="0" tIns="0" rIns="0" bIns="0" rtlCol="0" anchor="t"/>
          <a:lstStyle/>
          <a:p>
            <a:pPr marL="0" indent="0" algn="l">
              <a:buNone/>
            </a:pPr>
            <a:r>
              <a:rPr lang="en-US" sz="3200" dirty="0">
                <a:solidFill>
                  <a:schemeClr val="tx1"/>
                </a:solidFill>
              </a:rPr>
              <a:t>Non-unitary dynamics from unitaries</a:t>
            </a:r>
            <a:endParaRPr lang="en-US" sz="3200" dirty="0"/>
          </a:p>
        </p:txBody>
      </p:sp>
      <p:sp>
        <p:nvSpPr>
          <p:cNvPr id="3" name="Shape 1"/>
          <p:cNvSpPr/>
          <p:nvPr/>
        </p:nvSpPr>
        <p:spPr>
          <a:xfrm>
            <a:off x="548640" y="1188720"/>
            <a:ext cx="91440" cy="91440"/>
          </a:xfrm>
          <a:prstGeom prst="rect">
            <a:avLst/>
          </a:prstGeom>
          <a:solidFill>
            <a:schemeClr val="accent2"/>
          </a:solidFill>
          <a:ln/>
        </p:spPr>
        <p:txBody>
          <a:bodyPr/>
          <a:lstStyle/>
          <a:p>
            <a:endParaRPr lang="fr-FR"/>
          </a:p>
        </p:txBody>
      </p:sp>
      <p:sp>
        <p:nvSpPr>
          <p:cNvPr id="4" name="Text 2"/>
          <p:cNvSpPr txBox="1"/>
          <p:nvPr/>
        </p:nvSpPr>
        <p:spPr>
          <a:xfrm>
            <a:off x="731520" y="1097280"/>
            <a:ext cx="9144000" cy="274320"/>
          </a:xfrm>
          <a:prstGeom prst="rect">
            <a:avLst/>
          </a:prstGeom>
          <a:noFill/>
          <a:ln/>
        </p:spPr>
        <p:txBody>
          <a:bodyPr wrap="square" lIns="0" tIns="0" rIns="0" bIns="0" rtlCol="0" anchor="ctr"/>
          <a:lstStyle/>
          <a:p>
            <a:pPr marL="0" indent="0">
              <a:buNone/>
            </a:pPr>
            <a:r>
              <a:rPr lang="en-US" sz="1200" b="1" kern="0" spc="200" dirty="0">
                <a:solidFill>
                  <a:schemeClr val="tx2"/>
                </a:solidFill>
              </a:rPr>
              <a:t>STEP 2  ·  LINEAR COMBINATION OF HAMILTONIAN SIMULATIONS</a:t>
            </a:r>
            <a:endParaRPr lang="en-US" sz="1200" dirty="0"/>
          </a:p>
        </p:txBody>
      </p:sp>
      <p:sp>
        <p:nvSpPr>
          <p:cNvPr id="5" name="Text 3"/>
          <p:cNvSpPr txBox="1"/>
          <p:nvPr/>
        </p:nvSpPr>
        <p:spPr>
          <a:xfrm>
            <a:off x="548640" y="1691640"/>
            <a:ext cx="5577840" cy="3931920"/>
          </a:xfrm>
          <a:prstGeom prst="rect">
            <a:avLst/>
          </a:prstGeom>
          <a:noFill/>
          <a:ln/>
        </p:spPr>
        <p:txBody>
          <a:bodyPr wrap="square" lIns="0" tIns="0" rIns="0" bIns="0" rtlCol="0" anchor="t"/>
          <a:lstStyle/>
          <a:p>
            <a:pPr marL="203200" indent="-203200">
              <a:spcAft>
                <a:spcPts val="1200"/>
              </a:spcAft>
              <a:buSzPct val="100000"/>
              <a:buChar char="•"/>
            </a:pPr>
            <a:r>
              <a:rPr lang="en-US" sz="1500" dirty="0">
                <a:solidFill>
                  <a:schemeClr val="tx1"/>
                </a:solidFill>
              </a:rPr>
              <a:t>After linearization, dy/dt = −A·y has a non-unitary propagator e^(−tA)</a:t>
            </a:r>
            <a:endParaRPr lang="en-US" sz="1500" dirty="0"/>
          </a:p>
          <a:p>
            <a:pPr marL="203200" indent="-203200">
              <a:spcAft>
                <a:spcPts val="1200"/>
              </a:spcAft>
              <a:buSzPct val="100000"/>
              <a:buChar char="•"/>
            </a:pPr>
            <a:r>
              <a:rPr lang="en-US" sz="1500" dirty="0">
                <a:solidFill>
                  <a:schemeClr val="tx1"/>
                </a:solidFill>
              </a:rPr>
              <a:t>Split A into two Hermitian parts, L and H</a:t>
            </a:r>
            <a:endParaRPr lang="en-US" sz="1500" dirty="0"/>
          </a:p>
          <a:p>
            <a:pPr marL="203200" indent="-203200">
              <a:spcAft>
                <a:spcPts val="1200"/>
              </a:spcAft>
              <a:buSzPct val="100000"/>
              <a:buChar char="•"/>
            </a:pPr>
            <a:r>
              <a:rPr lang="en-US" sz="1500" dirty="0">
                <a:solidFill>
                  <a:schemeClr val="tx1"/>
                </a:solidFill>
              </a:rPr>
              <a:t>If L ⪰ 0 (dissipative), e^(−tA) is a weighted integral of Hamiltonian simulations</a:t>
            </a:r>
            <a:endParaRPr lang="en-US" sz="1500" dirty="0"/>
          </a:p>
          <a:p>
            <a:pPr marL="203200" indent="-203200">
              <a:spcAft>
                <a:spcPts val="1200"/>
              </a:spcAft>
              <a:buSzPct val="100000"/>
              <a:buChar char="•"/>
            </a:pPr>
            <a:r>
              <a:rPr lang="en-US" sz="1500" dirty="0">
                <a:solidFill>
                  <a:schemeClr val="tx1"/>
                </a:solidFill>
              </a:rPr>
              <a:t>M quadrature nodes give a sum of M unitaries, implemented by LCU on ⌈log₂ M⌉ ancilla qubits</a:t>
            </a:r>
            <a:endParaRPr lang="en-US" sz="1500" dirty="0"/>
          </a:p>
        </p:txBody>
      </p:sp>
      <p:sp>
        <p:nvSpPr>
          <p:cNvPr id="6" name="Equations"/>
          <p:cNvSpPr/>
          <p:nvPr/>
        </p:nvSpPr>
        <p:spPr>
          <a:xfrm>
            <a:off x="6583680" y="1600200"/>
            <a:ext cx="5059375" cy="3977640"/>
          </a:xfrm>
          <a:prstGeom prst="roundRect">
            <a:avLst>
              <a:gd name="adj" fmla="val 3448"/>
            </a:avLst>
          </a:prstGeom>
          <a:solidFill>
            <a:schemeClr val="bg2"/>
          </a:solidFill>
          <a:ln w="12700">
            <a:solidFill>
              <a:schemeClr val="accent1"/>
            </a:solidFill>
            <a:prstDash val="solid"/>
          </a:ln>
        </p:spPr>
        <p:txBody>
          <a:bodyPr/>
          <a:lstStyle/>
          <a:p>
            <a:endParaRPr lang="fr-FR"/>
          </a:p>
        </p:txBody>
      </p:sp>
      <p:pic>
        <p:nvPicPr>
          <p:cNvPr id="7" name="Image 0" descr="A = L + iH, L = (A + A dagger)/2, H = (A - A dagger)/2i"/>
          <p:cNvPicPr>
            <a:picLocks noChangeAspect="1"/>
          </p:cNvPicPr>
          <p:nvPr/>
        </p:nvPicPr>
        <p:blipFill>
          <a:blip r:embed="rId3"/>
          <a:stretch>
            <a:fillRect/>
          </a:stretch>
        </p:blipFill>
        <p:spPr>
          <a:xfrm>
            <a:off x="6909892" y="2103120"/>
            <a:ext cx="4406951" cy="489661"/>
          </a:xfrm>
          <a:prstGeom prst="rect">
            <a:avLst/>
          </a:prstGeom>
        </p:spPr>
      </p:pic>
      <p:sp>
        <p:nvSpPr>
          <p:cNvPr id="8" name="Shape 5"/>
          <p:cNvSpPr/>
          <p:nvPr/>
        </p:nvSpPr>
        <p:spPr>
          <a:xfrm>
            <a:off x="7040880" y="2958541"/>
            <a:ext cx="4144975" cy="0"/>
          </a:xfrm>
          <a:prstGeom prst="line">
            <a:avLst/>
          </a:prstGeom>
          <a:noFill/>
          <a:ln w="9525">
            <a:solidFill>
              <a:srgbClr val="3C3F4C"/>
            </a:solidFill>
            <a:prstDash val="solid"/>
          </a:ln>
        </p:spPr>
        <p:txBody>
          <a:bodyPr/>
          <a:lstStyle/>
          <a:p>
            <a:endParaRPr lang="fr-FR"/>
          </a:p>
        </p:txBody>
      </p:sp>
      <p:pic>
        <p:nvPicPr>
          <p:cNvPr id="9" name="Image 1" descr="e^(-tA) equals the integral over k of 1/(pi(1+k^2)) times e^(-it(kL+H))"/>
          <p:cNvPicPr>
            <a:picLocks noChangeAspect="1"/>
          </p:cNvPicPr>
          <p:nvPr/>
        </p:nvPicPr>
        <p:blipFill>
          <a:blip r:embed="rId4"/>
          <a:stretch>
            <a:fillRect/>
          </a:stretch>
        </p:blipFill>
        <p:spPr>
          <a:xfrm>
            <a:off x="7049750" y="3278581"/>
            <a:ext cx="4127236" cy="870509"/>
          </a:xfrm>
          <a:prstGeom prst="rect">
            <a:avLst/>
          </a:prstGeom>
        </p:spPr>
      </p:pic>
      <p:sp>
        <p:nvSpPr>
          <p:cNvPr id="10" name="Text 6"/>
          <p:cNvSpPr txBox="1"/>
          <p:nvPr/>
        </p:nvSpPr>
        <p:spPr>
          <a:xfrm>
            <a:off x="6583680" y="4560570"/>
            <a:ext cx="5059375" cy="274320"/>
          </a:xfrm>
          <a:prstGeom prst="rect">
            <a:avLst/>
          </a:prstGeom>
          <a:noFill/>
          <a:ln/>
        </p:spPr>
        <p:txBody>
          <a:bodyPr wrap="square" lIns="0" tIns="0" rIns="0" bIns="0" rtlCol="0" anchor="ctr"/>
          <a:lstStyle/>
          <a:p>
            <a:pPr marL="0" indent="0" algn="ctr">
              <a:buNone/>
            </a:pPr>
            <a:r>
              <a:rPr lang="en-US" sz="1100" dirty="0">
                <a:solidFill>
                  <a:schemeClr val="tx2"/>
                </a:solidFill>
              </a:rPr>
              <a:t>An, Liu, Lin, PRL 131, 150603 (2023)</a:t>
            </a:r>
            <a:endParaRPr lang="en-US" sz="1100" dirty="0"/>
          </a:p>
        </p:txBody>
      </p:sp>
      <p:sp>
        <p:nvSpPr>
          <p:cNvPr id="11" name="Text 7"/>
          <p:cNvSpPr txBox="1"/>
          <p:nvPr/>
        </p:nvSpPr>
        <p:spPr>
          <a:xfrm>
            <a:off x="548640" y="5897880"/>
            <a:ext cx="11094415" cy="274320"/>
          </a:xfrm>
          <a:prstGeom prst="rect">
            <a:avLst/>
          </a:prstGeom>
          <a:noFill/>
          <a:ln/>
        </p:spPr>
        <p:txBody>
          <a:bodyPr wrap="square" lIns="0" tIns="0" rIns="0" bIns="0" rtlCol="0" anchor="ctr"/>
          <a:lstStyle/>
          <a:p>
            <a:pPr marL="0" indent="0">
              <a:buNone/>
            </a:pPr>
            <a:r>
              <a:rPr lang="en-US" sz="1100" i="1" dirty="0">
                <a:solidFill>
                  <a:schemeClr val="tx2"/>
                </a:solidFill>
              </a:rPr>
              <a:t>Live session notebook · Step 2</a:t>
            </a:r>
            <a:endParaRPr lang="en-US" sz="1100" dirty="0"/>
          </a:p>
        </p:txBody>
      </p:sp>
      <p:sp>
        <p:nvSpPr>
          <p:cNvPr id="25" name="Slide Number Placeholder 0"/>
          <p:cNvSpPr>
            <a:spLocks noGrp="1"/>
          </p:cNvSpPr>
          <p:nvPr>
            <p:ph type="sldNum" sz="quarter" idx="4294967295"/>
          </p:nvPr>
        </p:nvSpPr>
        <p:spPr>
          <a:xfrm>
            <a:off x="11094415" y="6327648"/>
            <a:ext cx="548640" cy="274320"/>
          </a:xfrm>
          <a:prstGeom prst="rect">
            <a:avLst/>
          </a:prstGeom>
          <a:extLst>
            <a:ext uri="{C572A759-6A51-4108-AA02-DFA0A04FC94B}">
              <ma14:wrappingTextBoxFlag xmlns:ma14="http://schemas.microsoft.com/office/mac/drawingml/2011/main" xmlns="" val="0"/>
            </a:ext>
          </a:extLst>
        </p:spPr>
        <p:txBody>
          <a:bodyPr lIns="0" tIns="0" rIns="0" bIns="0" anchor="ctr"/>
          <a:lstStyle>
            <a:lvl1pPr>
              <a:defRPr sz="1000">
                <a:solidFill>
                  <a:srgbClr val="9AA3BD"/>
                </a:solidFill>
              </a:defRPr>
            </a:lvl1pPr>
          </a:lstStyle>
          <a:p>
            <a:pPr algn="r"/>
            <a:fld id="{F7021451-1387-4CA6-816F-3879F97B5CBC}" type="slidenum">
              <a:rPr lang="en-US" b="0"/>
              <a:t>30</a:t>
            </a:fld>
            <a:endParaRPr lang="en-US"/>
          </a:p>
        </p:txBody>
      </p:sp>
      <p:pic>
        <p:nvPicPr>
          <p:cNvPr id="13" name="Image 12">
            <a:extLst>
              <a:ext uri="{FF2B5EF4-FFF2-40B4-BE49-F238E27FC236}">
                <a16:creationId xmlns:a16="http://schemas.microsoft.com/office/drawing/2014/main" id="{A22318C8-BAEF-83F7-748A-9B1CAF08AFC3}"/>
              </a:ext>
            </a:extLst>
          </p:cNvPr>
          <p:cNvPicPr>
            <a:picLocks noChangeAspect="1"/>
          </p:cNvPicPr>
          <p:nvPr/>
        </p:nvPicPr>
        <p:blipFill>
          <a:blip r:embed="rId5"/>
          <a:stretch>
            <a:fillRect/>
          </a:stretch>
        </p:blipFill>
        <p:spPr>
          <a:xfrm>
            <a:off x="9724644" y="-443705"/>
            <a:ext cx="2437453" cy="1723866"/>
          </a:xfrm>
          <a:prstGeom prst="rect">
            <a:avLst/>
          </a:prstGeom>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10"/>
          <p:cNvSpPr>
            <a:spLocks noGrp="1"/>
          </p:cNvSpPr>
          <p:nvPr>
            <p:ph type="title" idx="110" hasCustomPrompt="1"/>
          </p:nvPr>
        </p:nvSpPr>
        <p:spPr>
          <a:xfrm>
            <a:off x="548640" y="457200"/>
            <a:ext cx="11094415" cy="777240"/>
          </a:xfrm>
          <a:prstGeom prst="rect">
            <a:avLst/>
          </a:prstGeom>
          <a:noFill/>
          <a:ln/>
        </p:spPr>
        <p:txBody>
          <a:bodyPr wrap="square" lIns="0" tIns="0" rIns="0" bIns="0" rtlCol="0" anchor="t"/>
          <a:lstStyle/>
          <a:p>
            <a:pPr marL="0" indent="0" algn="l">
              <a:buNone/>
            </a:pPr>
            <a:r>
              <a:rPr lang="en-US" sz="3200" dirty="0">
                <a:solidFill>
                  <a:schemeClr val="tx1"/>
                </a:solidFill>
              </a:rPr>
              <a:t>Rebuilding e^(−tA) from unitaries</a:t>
            </a:r>
            <a:endParaRPr lang="en-US" sz="3200" dirty="0"/>
          </a:p>
        </p:txBody>
      </p:sp>
      <p:sp>
        <p:nvSpPr>
          <p:cNvPr id="3" name="Shape 1"/>
          <p:cNvSpPr/>
          <p:nvPr/>
        </p:nvSpPr>
        <p:spPr>
          <a:xfrm>
            <a:off x="548640" y="1188720"/>
            <a:ext cx="91440" cy="91440"/>
          </a:xfrm>
          <a:prstGeom prst="rect">
            <a:avLst/>
          </a:prstGeom>
          <a:solidFill>
            <a:schemeClr val="accent2"/>
          </a:solidFill>
          <a:ln/>
        </p:spPr>
        <p:txBody>
          <a:bodyPr/>
          <a:lstStyle/>
          <a:p>
            <a:endParaRPr lang="fr-FR"/>
          </a:p>
        </p:txBody>
      </p:sp>
      <p:sp>
        <p:nvSpPr>
          <p:cNvPr id="4" name="Text 2"/>
          <p:cNvSpPr txBox="1"/>
          <p:nvPr/>
        </p:nvSpPr>
        <p:spPr>
          <a:xfrm>
            <a:off x="731520" y="1097280"/>
            <a:ext cx="9144000" cy="274320"/>
          </a:xfrm>
          <a:prstGeom prst="rect">
            <a:avLst/>
          </a:prstGeom>
          <a:noFill/>
          <a:ln/>
        </p:spPr>
        <p:txBody>
          <a:bodyPr wrap="square" lIns="0" tIns="0" rIns="0" bIns="0" rtlCol="0" anchor="ctr"/>
          <a:lstStyle/>
          <a:p>
            <a:pPr marL="0" indent="0">
              <a:buNone/>
            </a:pPr>
            <a:r>
              <a:rPr lang="en-US" sz="1200" b="1" kern="0" spc="200" dirty="0">
                <a:solidFill>
                  <a:schemeClr val="tx2"/>
                </a:solidFill>
              </a:rPr>
              <a:t>STEP 2  ·  RESULTS</a:t>
            </a:r>
            <a:endParaRPr lang="en-US" sz="1200" dirty="0"/>
          </a:p>
        </p:txBody>
      </p:sp>
      <p:sp>
        <p:nvSpPr>
          <p:cNvPr id="5" name="Chart tile"/>
          <p:cNvSpPr/>
          <p:nvPr/>
        </p:nvSpPr>
        <p:spPr>
          <a:xfrm>
            <a:off x="548640" y="1600200"/>
            <a:ext cx="5852160" cy="3886200"/>
          </a:xfrm>
          <a:prstGeom prst="roundRect">
            <a:avLst>
              <a:gd name="adj" fmla="val 2824"/>
            </a:avLst>
          </a:prstGeom>
          <a:solidFill>
            <a:schemeClr val="tx1"/>
          </a:solidFill>
          <a:ln/>
        </p:spPr>
        <p:txBody>
          <a:bodyPr/>
          <a:lstStyle/>
          <a:p>
            <a:endParaRPr lang="fr-FR"/>
          </a:p>
        </p:txBody>
      </p:sp>
      <p:pic>
        <p:nvPicPr>
          <p:cNvPr id="6" name="Image 0" descr="LCHS relative error versus integration cutoff K, log-log, below a dashed 1/K bound, reaching 1e-4 at K=200"/>
          <p:cNvPicPr>
            <a:picLocks noChangeAspect="1"/>
          </p:cNvPicPr>
          <p:nvPr/>
        </p:nvPicPr>
        <p:blipFill>
          <a:blip r:embed="rId3"/>
          <a:stretch>
            <a:fillRect/>
          </a:stretch>
        </p:blipFill>
        <p:spPr>
          <a:xfrm>
            <a:off x="795814" y="1691640"/>
            <a:ext cx="5357813" cy="3429000"/>
          </a:xfrm>
          <a:prstGeom prst="rect">
            <a:avLst/>
          </a:prstGeom>
        </p:spPr>
      </p:pic>
      <p:sp>
        <p:nvSpPr>
          <p:cNvPr id="7" name="Text 4"/>
          <p:cNvSpPr txBox="1"/>
          <p:nvPr/>
        </p:nvSpPr>
        <p:spPr>
          <a:xfrm>
            <a:off x="777240" y="5138928"/>
            <a:ext cx="5394960" cy="274320"/>
          </a:xfrm>
          <a:prstGeom prst="rect">
            <a:avLst/>
          </a:prstGeom>
          <a:noFill/>
          <a:ln/>
        </p:spPr>
        <p:txBody>
          <a:bodyPr wrap="square" lIns="0" tIns="0" rIns="0" bIns="0" rtlCol="0" anchor="ctr"/>
          <a:lstStyle/>
          <a:p>
            <a:pPr marL="0" indent="0">
              <a:buNone/>
            </a:pPr>
            <a:r>
              <a:rPr lang="en-US" sz="1100" dirty="0">
                <a:solidFill>
                  <a:schemeClr val="bg1"/>
                </a:solidFill>
              </a:rPr>
              <a:t>4 × 4 dissipative test matrix, t = 1</a:t>
            </a:r>
            <a:endParaRPr lang="en-US" sz="1100" dirty="0"/>
          </a:p>
        </p:txBody>
      </p:sp>
      <p:sp>
        <p:nvSpPr>
          <p:cNvPr id="8" name="Text 5"/>
          <p:cNvSpPr txBox="1"/>
          <p:nvPr/>
        </p:nvSpPr>
        <p:spPr>
          <a:xfrm>
            <a:off x="6720840" y="1554480"/>
            <a:ext cx="4922215" cy="868680"/>
          </a:xfrm>
          <a:prstGeom prst="rect">
            <a:avLst/>
          </a:prstGeom>
          <a:noFill/>
          <a:ln/>
        </p:spPr>
        <p:txBody>
          <a:bodyPr wrap="square" lIns="0" tIns="0" rIns="0" bIns="0" rtlCol="0" anchor="ctr"/>
          <a:lstStyle/>
          <a:p>
            <a:pPr marL="0" indent="0">
              <a:buNone/>
            </a:pPr>
            <a:r>
              <a:rPr lang="en-US" sz="5400" b="1" dirty="0">
                <a:solidFill>
                  <a:schemeClr val="tx1"/>
                </a:solidFill>
              </a:rPr>
              <a:t>10</a:t>
            </a:r>
            <a:r>
              <a:rPr lang="en-US" sz="5400" b="1" baseline="30000" dirty="0">
                <a:solidFill>
                  <a:schemeClr val="tx1"/>
                </a:solidFill>
              </a:rPr>
              <a:t>−4</a:t>
            </a:r>
            <a:endParaRPr lang="en-US" sz="5400" dirty="0"/>
          </a:p>
        </p:txBody>
      </p:sp>
      <p:sp>
        <p:nvSpPr>
          <p:cNvPr id="9" name="Text 6"/>
          <p:cNvSpPr txBox="1"/>
          <p:nvPr/>
        </p:nvSpPr>
        <p:spPr>
          <a:xfrm>
            <a:off x="6720840" y="2423160"/>
            <a:ext cx="4922215" cy="548640"/>
          </a:xfrm>
          <a:prstGeom prst="rect">
            <a:avLst/>
          </a:prstGeom>
          <a:noFill/>
          <a:ln/>
        </p:spPr>
        <p:txBody>
          <a:bodyPr wrap="square" lIns="0" tIns="0" rIns="0" bIns="0" rtlCol="0" anchor="t"/>
          <a:lstStyle/>
          <a:p>
            <a:pPr marL="0" indent="0">
              <a:buNone/>
            </a:pPr>
            <a:r>
              <a:rPr lang="en-US" sz="1400" dirty="0">
                <a:solidFill>
                  <a:schemeClr val="tx2"/>
                </a:solidFill>
              </a:rPr>
              <a:t>relative error at K = 200, down from 5 × 10⁻² at K = 5, using unitaries only</a:t>
            </a:r>
            <a:endParaRPr lang="en-US" sz="1400" dirty="0"/>
          </a:p>
        </p:txBody>
      </p:sp>
      <p:sp>
        <p:nvSpPr>
          <p:cNvPr id="10" name="Shape 7"/>
          <p:cNvSpPr/>
          <p:nvPr/>
        </p:nvSpPr>
        <p:spPr>
          <a:xfrm>
            <a:off x="6720840" y="3154680"/>
            <a:ext cx="4922215" cy="0"/>
          </a:xfrm>
          <a:prstGeom prst="line">
            <a:avLst/>
          </a:prstGeom>
          <a:noFill/>
          <a:ln w="9525">
            <a:solidFill>
              <a:srgbClr val="3C3F4C"/>
            </a:solidFill>
            <a:prstDash val="solid"/>
          </a:ln>
        </p:spPr>
        <p:txBody>
          <a:bodyPr/>
          <a:lstStyle/>
          <a:p>
            <a:endParaRPr lang="fr-FR"/>
          </a:p>
        </p:txBody>
      </p:sp>
      <p:sp>
        <p:nvSpPr>
          <p:cNvPr id="11" name="Text 8"/>
          <p:cNvSpPr txBox="1"/>
          <p:nvPr/>
        </p:nvSpPr>
        <p:spPr>
          <a:xfrm>
            <a:off x="6720840" y="3337560"/>
            <a:ext cx="4922215" cy="2103120"/>
          </a:xfrm>
          <a:prstGeom prst="rect">
            <a:avLst/>
          </a:prstGeom>
          <a:noFill/>
          <a:ln/>
        </p:spPr>
        <p:txBody>
          <a:bodyPr wrap="square" lIns="0" tIns="0" rIns="0" bIns="0" rtlCol="0" anchor="t"/>
          <a:lstStyle/>
          <a:p>
            <a:pPr marL="203200" indent="-203200">
              <a:spcAft>
                <a:spcPts val="1200"/>
              </a:spcAft>
              <a:buSzPct val="100000"/>
              <a:buChar char="•"/>
            </a:pPr>
            <a:r>
              <a:rPr lang="en-US" sz="1400" dirty="0">
                <a:solidFill>
                  <a:schemeClr val="tx1"/>
                </a:solidFill>
              </a:rPr>
              <a:t>Guaranteed error is O(1/K) because the kernel has heavy tails</a:t>
            </a:r>
            <a:endParaRPr lang="en-US" sz="1400" dirty="0"/>
          </a:p>
          <a:p>
            <a:pPr marL="203200" indent="-203200">
              <a:spcAft>
                <a:spcPts val="1200"/>
              </a:spcAft>
              <a:buSzPct val="100000"/>
              <a:buChar char="•"/>
            </a:pPr>
            <a:r>
              <a:rPr lang="en-US" sz="1400" dirty="0">
                <a:solidFill>
                  <a:schemeClr val="tx1"/>
                </a:solidFill>
              </a:rPr>
              <a:t>Cancellations make it faster here; cost estimates use the bound</a:t>
            </a:r>
            <a:endParaRPr lang="en-US" sz="1400" dirty="0"/>
          </a:p>
          <a:p>
            <a:pPr marL="203200" indent="-203200">
              <a:spcAft>
                <a:spcPts val="1200"/>
              </a:spcAft>
              <a:buSzPct val="100000"/>
              <a:buChar char="•"/>
            </a:pPr>
            <a:r>
              <a:rPr lang="en-US" sz="1400" dirty="0">
                <a:solidFill>
                  <a:schemeClr val="tx1"/>
                </a:solidFill>
              </a:rPr>
              <a:t>Improved kernels decay almost exponentially (An, Childs, Lin, 2023)</a:t>
            </a:r>
            <a:endParaRPr lang="en-US" sz="1400" dirty="0"/>
          </a:p>
        </p:txBody>
      </p:sp>
      <p:sp>
        <p:nvSpPr>
          <p:cNvPr id="12" name="Text 9"/>
          <p:cNvSpPr txBox="1"/>
          <p:nvPr/>
        </p:nvSpPr>
        <p:spPr>
          <a:xfrm>
            <a:off x="548640" y="5897880"/>
            <a:ext cx="11094415" cy="274320"/>
          </a:xfrm>
          <a:prstGeom prst="rect">
            <a:avLst/>
          </a:prstGeom>
          <a:noFill/>
          <a:ln/>
        </p:spPr>
        <p:txBody>
          <a:bodyPr wrap="square" lIns="0" tIns="0" rIns="0" bIns="0" rtlCol="0" anchor="ctr"/>
          <a:lstStyle/>
          <a:p>
            <a:pPr marL="0" indent="0">
              <a:buNone/>
            </a:pPr>
            <a:r>
              <a:rPr lang="en-US" sz="1100" i="1" dirty="0">
                <a:solidFill>
                  <a:schemeClr val="tx2"/>
                </a:solidFill>
              </a:rPr>
              <a:t>Live session notebook · Step 2</a:t>
            </a:r>
            <a:endParaRPr lang="en-US" sz="1100" dirty="0"/>
          </a:p>
        </p:txBody>
      </p:sp>
      <p:sp>
        <p:nvSpPr>
          <p:cNvPr id="25" name="Slide Number Placeholder 0"/>
          <p:cNvSpPr>
            <a:spLocks noGrp="1"/>
          </p:cNvSpPr>
          <p:nvPr>
            <p:ph type="sldNum" sz="quarter" idx="4294967295"/>
          </p:nvPr>
        </p:nvSpPr>
        <p:spPr>
          <a:xfrm>
            <a:off x="11094415" y="6327648"/>
            <a:ext cx="548640" cy="274320"/>
          </a:xfrm>
          <a:prstGeom prst="rect">
            <a:avLst/>
          </a:prstGeom>
          <a:extLst>
            <a:ext uri="{C572A759-6A51-4108-AA02-DFA0A04FC94B}">
              <ma14:wrappingTextBoxFlag xmlns:ma14="http://schemas.microsoft.com/office/mac/drawingml/2011/main" xmlns="" val="0"/>
            </a:ext>
          </a:extLst>
        </p:spPr>
        <p:txBody>
          <a:bodyPr lIns="0" tIns="0" rIns="0" bIns="0" anchor="ctr"/>
          <a:lstStyle>
            <a:lvl1pPr>
              <a:defRPr sz="1000">
                <a:solidFill>
                  <a:srgbClr val="9AA3BD"/>
                </a:solidFill>
              </a:defRPr>
            </a:lvl1pPr>
          </a:lstStyle>
          <a:p>
            <a:pPr algn="r"/>
            <a:fld id="{F7021451-1387-4CA6-816F-3879F97B5CBC}" type="slidenum">
              <a:rPr lang="en-US" b="0"/>
              <a:t>31</a:t>
            </a:fld>
            <a:endParaRPr lang="en-US"/>
          </a:p>
        </p:txBody>
      </p:sp>
      <p:pic>
        <p:nvPicPr>
          <p:cNvPr id="14" name="Image 13">
            <a:extLst>
              <a:ext uri="{FF2B5EF4-FFF2-40B4-BE49-F238E27FC236}">
                <a16:creationId xmlns:a16="http://schemas.microsoft.com/office/drawing/2014/main" id="{A8389646-F65A-EF0C-DF2B-5F63DDAD73E1}"/>
              </a:ext>
            </a:extLst>
          </p:cNvPr>
          <p:cNvPicPr>
            <a:picLocks noChangeAspect="1"/>
          </p:cNvPicPr>
          <p:nvPr/>
        </p:nvPicPr>
        <p:blipFill>
          <a:blip r:embed="rId4"/>
          <a:stretch>
            <a:fillRect/>
          </a:stretch>
        </p:blipFill>
        <p:spPr>
          <a:xfrm>
            <a:off x="9724644" y="-443705"/>
            <a:ext cx="2437453" cy="1723866"/>
          </a:xfrm>
          <a:prstGeom prst="rect">
            <a:avLst/>
          </a:prstGeom>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10"/>
          <p:cNvSpPr>
            <a:spLocks noGrp="1"/>
          </p:cNvSpPr>
          <p:nvPr>
            <p:ph type="title" idx="110" hasCustomPrompt="1"/>
          </p:nvPr>
        </p:nvSpPr>
        <p:spPr>
          <a:xfrm>
            <a:off x="548640" y="457200"/>
            <a:ext cx="11094415" cy="777240"/>
          </a:xfrm>
          <a:prstGeom prst="rect">
            <a:avLst/>
          </a:prstGeom>
          <a:noFill/>
          <a:ln/>
        </p:spPr>
        <p:txBody>
          <a:bodyPr wrap="square" lIns="0" tIns="0" rIns="0" bIns="0" rtlCol="0" anchor="t"/>
          <a:lstStyle/>
          <a:p>
            <a:pPr marL="0" indent="0" algn="l">
              <a:buNone/>
            </a:pPr>
            <a:r>
              <a:rPr lang="en-US" sz="3200" dirty="0">
                <a:solidFill>
                  <a:schemeClr val="tx1"/>
                </a:solidFill>
              </a:rPr>
              <a:t>A matrix inside a unitary</a:t>
            </a:r>
            <a:endParaRPr lang="en-US" sz="3200" dirty="0"/>
          </a:p>
        </p:txBody>
      </p:sp>
      <p:sp>
        <p:nvSpPr>
          <p:cNvPr id="3" name="Shape 1"/>
          <p:cNvSpPr/>
          <p:nvPr/>
        </p:nvSpPr>
        <p:spPr>
          <a:xfrm>
            <a:off x="548640" y="1188720"/>
            <a:ext cx="91440" cy="91440"/>
          </a:xfrm>
          <a:prstGeom prst="rect">
            <a:avLst/>
          </a:prstGeom>
          <a:solidFill>
            <a:schemeClr val="accent2"/>
          </a:solidFill>
          <a:ln/>
        </p:spPr>
        <p:txBody>
          <a:bodyPr/>
          <a:lstStyle/>
          <a:p>
            <a:endParaRPr lang="fr-FR"/>
          </a:p>
        </p:txBody>
      </p:sp>
      <p:sp>
        <p:nvSpPr>
          <p:cNvPr id="4" name="Text 2"/>
          <p:cNvSpPr txBox="1"/>
          <p:nvPr/>
        </p:nvSpPr>
        <p:spPr>
          <a:xfrm>
            <a:off x="731520" y="1097280"/>
            <a:ext cx="9144000" cy="274320"/>
          </a:xfrm>
          <a:prstGeom prst="rect">
            <a:avLst/>
          </a:prstGeom>
          <a:noFill/>
          <a:ln/>
        </p:spPr>
        <p:txBody>
          <a:bodyPr wrap="square" lIns="0" tIns="0" rIns="0" bIns="0" rtlCol="0" anchor="ctr"/>
          <a:lstStyle/>
          <a:p>
            <a:pPr marL="0" indent="0">
              <a:buNone/>
            </a:pPr>
            <a:r>
              <a:rPr lang="en-US" sz="1200" b="1" kern="0" spc="200" dirty="0">
                <a:solidFill>
                  <a:schemeClr val="tx2"/>
                </a:solidFill>
              </a:rPr>
              <a:t>STEP 3  ·  BLOCK ENCODING BY LCU</a:t>
            </a:r>
            <a:endParaRPr lang="en-US" sz="1200" dirty="0"/>
          </a:p>
        </p:txBody>
      </p:sp>
      <p:sp>
        <p:nvSpPr>
          <p:cNvPr id="5" name="Block A"/>
          <p:cNvSpPr/>
          <p:nvPr/>
        </p:nvSpPr>
        <p:spPr>
          <a:xfrm>
            <a:off x="548640" y="1737360"/>
            <a:ext cx="777240" cy="777240"/>
          </a:xfrm>
          <a:prstGeom prst="rect">
            <a:avLst/>
          </a:prstGeom>
          <a:solidFill>
            <a:schemeClr val="accent1"/>
          </a:solidFill>
          <a:ln w="19050">
            <a:solidFill>
              <a:schemeClr val="bg2"/>
            </a:solidFill>
            <a:prstDash val="solid"/>
          </a:ln>
        </p:spPr>
        <p:txBody>
          <a:bodyPr/>
          <a:lstStyle/>
          <a:p>
            <a:endParaRPr lang="fr-FR"/>
          </a:p>
        </p:txBody>
      </p:sp>
      <p:sp>
        <p:nvSpPr>
          <p:cNvPr id="6" name="Text 4"/>
          <p:cNvSpPr txBox="1"/>
          <p:nvPr/>
        </p:nvSpPr>
        <p:spPr>
          <a:xfrm>
            <a:off x="548640" y="1737360"/>
            <a:ext cx="777240" cy="777240"/>
          </a:xfrm>
          <a:prstGeom prst="rect">
            <a:avLst/>
          </a:prstGeom>
          <a:noFill/>
          <a:ln/>
        </p:spPr>
        <p:txBody>
          <a:bodyPr wrap="square" lIns="0" tIns="0" rIns="0" bIns="0" rtlCol="0" anchor="ctr"/>
          <a:lstStyle/>
          <a:p>
            <a:pPr marL="0" indent="0" algn="ctr">
              <a:buNone/>
            </a:pPr>
            <a:r>
              <a:rPr lang="en-US" sz="1700" b="1" i="1" dirty="0">
                <a:solidFill>
                  <a:schemeClr val="tx1"/>
                </a:solidFill>
              </a:rPr>
              <a:t>A / α</a:t>
            </a:r>
            <a:endParaRPr lang="en-US" sz="1700" dirty="0"/>
          </a:p>
        </p:txBody>
      </p:sp>
      <p:sp>
        <p:nvSpPr>
          <p:cNvPr id="7" name="Block"/>
          <p:cNvSpPr/>
          <p:nvPr/>
        </p:nvSpPr>
        <p:spPr>
          <a:xfrm>
            <a:off x="1325880" y="1737360"/>
            <a:ext cx="777240" cy="777240"/>
          </a:xfrm>
          <a:prstGeom prst="rect">
            <a:avLst/>
          </a:prstGeom>
          <a:solidFill>
            <a:schemeClr val="accent4"/>
          </a:solidFill>
          <a:ln w="19050">
            <a:solidFill>
              <a:schemeClr val="bg2"/>
            </a:solidFill>
            <a:prstDash val="solid"/>
          </a:ln>
        </p:spPr>
        <p:txBody>
          <a:bodyPr/>
          <a:lstStyle/>
          <a:p>
            <a:endParaRPr lang="fr-FR"/>
          </a:p>
        </p:txBody>
      </p:sp>
      <p:sp>
        <p:nvSpPr>
          <p:cNvPr id="8" name="Text 6"/>
          <p:cNvSpPr txBox="1"/>
          <p:nvPr/>
        </p:nvSpPr>
        <p:spPr>
          <a:xfrm>
            <a:off x="1325880" y="1737360"/>
            <a:ext cx="777240" cy="777240"/>
          </a:xfrm>
          <a:prstGeom prst="rect">
            <a:avLst/>
          </a:prstGeom>
          <a:noFill/>
          <a:ln/>
        </p:spPr>
        <p:txBody>
          <a:bodyPr wrap="square" lIns="0" tIns="0" rIns="0" bIns="0" rtlCol="0" anchor="ctr"/>
          <a:lstStyle/>
          <a:p>
            <a:pPr marL="0" indent="0" algn="ctr">
              <a:buNone/>
            </a:pPr>
            <a:r>
              <a:rPr lang="en-US" sz="1600" dirty="0">
                <a:solidFill>
                  <a:schemeClr val="tx2"/>
                </a:solidFill>
              </a:rPr>
              <a:t>∗</a:t>
            </a:r>
            <a:endParaRPr lang="en-US" sz="1600" dirty="0"/>
          </a:p>
        </p:txBody>
      </p:sp>
      <p:sp>
        <p:nvSpPr>
          <p:cNvPr id="9" name="Block"/>
          <p:cNvSpPr/>
          <p:nvPr/>
        </p:nvSpPr>
        <p:spPr>
          <a:xfrm>
            <a:off x="548640" y="2514600"/>
            <a:ext cx="777240" cy="777240"/>
          </a:xfrm>
          <a:prstGeom prst="rect">
            <a:avLst/>
          </a:prstGeom>
          <a:solidFill>
            <a:schemeClr val="accent4"/>
          </a:solidFill>
          <a:ln w="19050">
            <a:solidFill>
              <a:schemeClr val="bg2"/>
            </a:solidFill>
            <a:prstDash val="solid"/>
          </a:ln>
        </p:spPr>
        <p:txBody>
          <a:bodyPr/>
          <a:lstStyle/>
          <a:p>
            <a:endParaRPr lang="fr-FR"/>
          </a:p>
        </p:txBody>
      </p:sp>
      <p:sp>
        <p:nvSpPr>
          <p:cNvPr id="10" name="Text 8"/>
          <p:cNvSpPr txBox="1"/>
          <p:nvPr/>
        </p:nvSpPr>
        <p:spPr>
          <a:xfrm>
            <a:off x="548640" y="2514600"/>
            <a:ext cx="777240" cy="777240"/>
          </a:xfrm>
          <a:prstGeom prst="rect">
            <a:avLst/>
          </a:prstGeom>
          <a:noFill/>
          <a:ln/>
        </p:spPr>
        <p:txBody>
          <a:bodyPr wrap="square" lIns="0" tIns="0" rIns="0" bIns="0" rtlCol="0" anchor="ctr"/>
          <a:lstStyle/>
          <a:p>
            <a:pPr marL="0" indent="0" algn="ctr">
              <a:buNone/>
            </a:pPr>
            <a:r>
              <a:rPr lang="en-US" sz="1600" dirty="0">
                <a:solidFill>
                  <a:schemeClr val="tx2"/>
                </a:solidFill>
              </a:rPr>
              <a:t>∗</a:t>
            </a:r>
            <a:endParaRPr lang="en-US" sz="1600" dirty="0"/>
          </a:p>
        </p:txBody>
      </p:sp>
      <p:sp>
        <p:nvSpPr>
          <p:cNvPr id="11" name="Block"/>
          <p:cNvSpPr/>
          <p:nvPr/>
        </p:nvSpPr>
        <p:spPr>
          <a:xfrm>
            <a:off x="1325880" y="2514600"/>
            <a:ext cx="777240" cy="777240"/>
          </a:xfrm>
          <a:prstGeom prst="rect">
            <a:avLst/>
          </a:prstGeom>
          <a:solidFill>
            <a:schemeClr val="accent4"/>
          </a:solidFill>
          <a:ln w="19050">
            <a:solidFill>
              <a:schemeClr val="bg2"/>
            </a:solidFill>
            <a:prstDash val="solid"/>
          </a:ln>
        </p:spPr>
        <p:txBody>
          <a:bodyPr/>
          <a:lstStyle/>
          <a:p>
            <a:endParaRPr lang="fr-FR"/>
          </a:p>
        </p:txBody>
      </p:sp>
      <p:sp>
        <p:nvSpPr>
          <p:cNvPr id="12" name="Text 10"/>
          <p:cNvSpPr txBox="1"/>
          <p:nvPr/>
        </p:nvSpPr>
        <p:spPr>
          <a:xfrm>
            <a:off x="1325880" y="2514600"/>
            <a:ext cx="777240" cy="777240"/>
          </a:xfrm>
          <a:prstGeom prst="rect">
            <a:avLst/>
          </a:prstGeom>
          <a:noFill/>
          <a:ln/>
        </p:spPr>
        <p:txBody>
          <a:bodyPr wrap="square" lIns="0" tIns="0" rIns="0" bIns="0" rtlCol="0" anchor="ctr"/>
          <a:lstStyle/>
          <a:p>
            <a:pPr marL="0" indent="0" algn="ctr">
              <a:buNone/>
            </a:pPr>
            <a:r>
              <a:rPr lang="en-US" sz="1600" dirty="0">
                <a:solidFill>
                  <a:schemeClr val="tx2"/>
                </a:solidFill>
              </a:rPr>
              <a:t>∗</a:t>
            </a:r>
            <a:endParaRPr lang="en-US" sz="1600" dirty="0"/>
          </a:p>
        </p:txBody>
      </p:sp>
      <p:sp>
        <p:nvSpPr>
          <p:cNvPr id="13" name="Text 11"/>
          <p:cNvSpPr txBox="1"/>
          <p:nvPr/>
        </p:nvSpPr>
        <p:spPr>
          <a:xfrm>
            <a:off x="2423160" y="1965960"/>
            <a:ext cx="3886200" cy="1097280"/>
          </a:xfrm>
          <a:prstGeom prst="rect">
            <a:avLst/>
          </a:prstGeom>
          <a:noFill/>
          <a:ln/>
        </p:spPr>
        <p:txBody>
          <a:bodyPr wrap="square" lIns="0" tIns="0" rIns="0" bIns="0" rtlCol="0" anchor="t"/>
          <a:lstStyle/>
          <a:p>
            <a:pPr marL="0" indent="0">
              <a:buNone/>
            </a:pPr>
            <a:r>
              <a:rPr lang="en-US" sz="1500" dirty="0">
                <a:solidFill>
                  <a:schemeClr val="tx1"/>
                </a:solidFill>
              </a:rPr>
              <a:t>U is unitary; the matrix A, scaled by α, sits in its top-left block</a:t>
            </a:r>
            <a:endParaRPr lang="en-US" sz="1500" dirty="0"/>
          </a:p>
        </p:txBody>
      </p:sp>
      <p:sp>
        <p:nvSpPr>
          <p:cNvPr id="14" name="Text 12"/>
          <p:cNvSpPr txBox="1"/>
          <p:nvPr/>
        </p:nvSpPr>
        <p:spPr>
          <a:xfrm>
            <a:off x="548640" y="3703320"/>
            <a:ext cx="411480" cy="457200"/>
          </a:xfrm>
          <a:prstGeom prst="rect">
            <a:avLst/>
          </a:prstGeom>
          <a:noFill/>
          <a:ln/>
        </p:spPr>
        <p:txBody>
          <a:bodyPr wrap="square" lIns="0" tIns="0" rIns="0" bIns="0" rtlCol="0" anchor="ctr"/>
          <a:lstStyle/>
          <a:p>
            <a:pPr marL="0" indent="0">
              <a:buNone/>
            </a:pPr>
            <a:r>
              <a:rPr lang="en-US" sz="1500" dirty="0">
                <a:solidFill>
                  <a:schemeClr val="tx1"/>
                </a:solidFill>
              </a:rPr>
              <a:t>|0⟩</a:t>
            </a:r>
            <a:endParaRPr lang="en-US" sz="1500" dirty="0"/>
          </a:p>
        </p:txBody>
      </p:sp>
      <p:sp>
        <p:nvSpPr>
          <p:cNvPr id="15" name="Gate PREP"/>
          <p:cNvSpPr/>
          <p:nvPr/>
        </p:nvSpPr>
        <p:spPr>
          <a:xfrm>
            <a:off x="1371600" y="3703320"/>
            <a:ext cx="1097280" cy="457200"/>
          </a:xfrm>
          <a:prstGeom prst="roundRect">
            <a:avLst>
              <a:gd name="adj" fmla="val 16000"/>
            </a:avLst>
          </a:prstGeom>
          <a:solidFill>
            <a:schemeClr val="bg2"/>
          </a:solidFill>
          <a:ln w="15875">
            <a:solidFill>
              <a:schemeClr val="accent1"/>
            </a:solidFill>
            <a:prstDash val="solid"/>
          </a:ln>
        </p:spPr>
        <p:txBody>
          <a:bodyPr/>
          <a:lstStyle/>
          <a:p>
            <a:endParaRPr lang="fr-FR"/>
          </a:p>
        </p:txBody>
      </p:sp>
      <p:sp>
        <p:nvSpPr>
          <p:cNvPr id="16" name="Text 14"/>
          <p:cNvSpPr txBox="1"/>
          <p:nvPr/>
        </p:nvSpPr>
        <p:spPr>
          <a:xfrm>
            <a:off x="1371600" y="3703320"/>
            <a:ext cx="1097280" cy="457200"/>
          </a:xfrm>
          <a:prstGeom prst="rect">
            <a:avLst/>
          </a:prstGeom>
          <a:noFill/>
          <a:ln/>
        </p:spPr>
        <p:txBody>
          <a:bodyPr wrap="square" lIns="0" tIns="0" rIns="0" bIns="0" rtlCol="0" anchor="ctr"/>
          <a:lstStyle/>
          <a:p>
            <a:pPr marL="0" indent="0" algn="ctr">
              <a:buNone/>
            </a:pPr>
            <a:r>
              <a:rPr lang="en-US" sz="1300" b="1" dirty="0">
                <a:solidFill>
                  <a:schemeClr val="tx1"/>
                </a:solidFill>
              </a:rPr>
              <a:t>PREP</a:t>
            </a:r>
            <a:endParaRPr lang="en-US" sz="1300" dirty="0"/>
          </a:p>
        </p:txBody>
      </p:sp>
      <p:sp>
        <p:nvSpPr>
          <p:cNvPr id="17" name="Shape 15"/>
          <p:cNvSpPr/>
          <p:nvPr/>
        </p:nvSpPr>
        <p:spPr>
          <a:xfrm>
            <a:off x="1005840" y="3840480"/>
            <a:ext cx="292608" cy="182880"/>
          </a:xfrm>
          <a:prstGeom prst="rightArrow">
            <a:avLst/>
          </a:prstGeom>
          <a:solidFill>
            <a:schemeClr val="accent1"/>
          </a:solidFill>
          <a:ln/>
        </p:spPr>
        <p:txBody>
          <a:bodyPr/>
          <a:lstStyle/>
          <a:p>
            <a:endParaRPr lang="fr-FR"/>
          </a:p>
        </p:txBody>
      </p:sp>
      <p:sp>
        <p:nvSpPr>
          <p:cNvPr id="18" name="Gate SELECT"/>
          <p:cNvSpPr/>
          <p:nvPr/>
        </p:nvSpPr>
        <p:spPr>
          <a:xfrm>
            <a:off x="2834640" y="3703320"/>
            <a:ext cx="1097280" cy="457200"/>
          </a:xfrm>
          <a:prstGeom prst="roundRect">
            <a:avLst>
              <a:gd name="adj" fmla="val 16000"/>
            </a:avLst>
          </a:prstGeom>
          <a:solidFill>
            <a:schemeClr val="accent1"/>
          </a:solidFill>
          <a:ln w="15875">
            <a:solidFill>
              <a:schemeClr val="accent1"/>
            </a:solidFill>
            <a:prstDash val="solid"/>
          </a:ln>
        </p:spPr>
        <p:txBody>
          <a:bodyPr/>
          <a:lstStyle/>
          <a:p>
            <a:endParaRPr lang="fr-FR"/>
          </a:p>
        </p:txBody>
      </p:sp>
      <p:sp>
        <p:nvSpPr>
          <p:cNvPr id="19" name="Text 17"/>
          <p:cNvSpPr txBox="1"/>
          <p:nvPr/>
        </p:nvSpPr>
        <p:spPr>
          <a:xfrm>
            <a:off x="2834640" y="3703320"/>
            <a:ext cx="1097280" cy="457200"/>
          </a:xfrm>
          <a:prstGeom prst="rect">
            <a:avLst/>
          </a:prstGeom>
          <a:noFill/>
          <a:ln/>
        </p:spPr>
        <p:txBody>
          <a:bodyPr wrap="square" lIns="0" tIns="0" rIns="0" bIns="0" rtlCol="0" anchor="ctr"/>
          <a:lstStyle/>
          <a:p>
            <a:pPr marL="0" indent="0" algn="ctr">
              <a:buNone/>
            </a:pPr>
            <a:r>
              <a:rPr lang="en-US" sz="1300" b="1" dirty="0">
                <a:solidFill>
                  <a:schemeClr val="tx1"/>
                </a:solidFill>
              </a:rPr>
              <a:t>SELECT</a:t>
            </a:r>
            <a:endParaRPr lang="en-US" sz="1300" dirty="0"/>
          </a:p>
        </p:txBody>
      </p:sp>
      <p:sp>
        <p:nvSpPr>
          <p:cNvPr id="20" name="Shape 18"/>
          <p:cNvSpPr/>
          <p:nvPr/>
        </p:nvSpPr>
        <p:spPr>
          <a:xfrm>
            <a:off x="2514600" y="3840480"/>
            <a:ext cx="246888" cy="182880"/>
          </a:xfrm>
          <a:prstGeom prst="rightArrow">
            <a:avLst/>
          </a:prstGeom>
          <a:solidFill>
            <a:schemeClr val="accent1"/>
          </a:solidFill>
          <a:ln/>
        </p:spPr>
        <p:txBody>
          <a:bodyPr/>
          <a:lstStyle/>
          <a:p>
            <a:endParaRPr lang="fr-FR"/>
          </a:p>
        </p:txBody>
      </p:sp>
      <p:sp>
        <p:nvSpPr>
          <p:cNvPr id="21" name="Gate PREP†"/>
          <p:cNvSpPr/>
          <p:nvPr/>
        </p:nvSpPr>
        <p:spPr>
          <a:xfrm>
            <a:off x="4480560" y="3703320"/>
            <a:ext cx="1097280" cy="457200"/>
          </a:xfrm>
          <a:prstGeom prst="roundRect">
            <a:avLst>
              <a:gd name="adj" fmla="val 16000"/>
            </a:avLst>
          </a:prstGeom>
          <a:solidFill>
            <a:schemeClr val="bg2"/>
          </a:solidFill>
          <a:ln w="15875">
            <a:solidFill>
              <a:schemeClr val="accent1"/>
            </a:solidFill>
            <a:prstDash val="solid"/>
          </a:ln>
        </p:spPr>
        <p:txBody>
          <a:bodyPr/>
          <a:lstStyle/>
          <a:p>
            <a:endParaRPr lang="fr-FR"/>
          </a:p>
        </p:txBody>
      </p:sp>
      <p:sp>
        <p:nvSpPr>
          <p:cNvPr id="22" name="Text 20"/>
          <p:cNvSpPr txBox="1"/>
          <p:nvPr/>
        </p:nvSpPr>
        <p:spPr>
          <a:xfrm>
            <a:off x="4480560" y="3703320"/>
            <a:ext cx="1097280" cy="457200"/>
          </a:xfrm>
          <a:prstGeom prst="rect">
            <a:avLst/>
          </a:prstGeom>
          <a:noFill/>
          <a:ln/>
        </p:spPr>
        <p:txBody>
          <a:bodyPr wrap="square" lIns="0" tIns="0" rIns="0" bIns="0" rtlCol="0" anchor="ctr"/>
          <a:lstStyle/>
          <a:p>
            <a:pPr marL="0" indent="0" algn="ctr">
              <a:buNone/>
            </a:pPr>
            <a:r>
              <a:rPr lang="en-US" sz="1300" b="1" dirty="0">
                <a:solidFill>
                  <a:schemeClr val="tx1"/>
                </a:solidFill>
              </a:rPr>
              <a:t>PREP†</a:t>
            </a:r>
            <a:endParaRPr lang="en-US" sz="1300" dirty="0"/>
          </a:p>
        </p:txBody>
      </p:sp>
      <p:sp>
        <p:nvSpPr>
          <p:cNvPr id="23" name="Shape 21"/>
          <p:cNvSpPr/>
          <p:nvPr/>
        </p:nvSpPr>
        <p:spPr>
          <a:xfrm>
            <a:off x="3977640" y="3840480"/>
            <a:ext cx="429768" cy="182880"/>
          </a:xfrm>
          <a:prstGeom prst="rightArrow">
            <a:avLst/>
          </a:prstGeom>
          <a:solidFill>
            <a:schemeClr val="accent1"/>
          </a:solidFill>
          <a:ln/>
        </p:spPr>
        <p:txBody>
          <a:bodyPr/>
          <a:lstStyle/>
          <a:p>
            <a:endParaRPr lang="fr-FR"/>
          </a:p>
        </p:txBody>
      </p:sp>
      <p:sp>
        <p:nvSpPr>
          <p:cNvPr id="24" name="Text 22"/>
          <p:cNvSpPr txBox="1"/>
          <p:nvPr/>
        </p:nvSpPr>
        <p:spPr>
          <a:xfrm>
            <a:off x="548640" y="4434840"/>
            <a:ext cx="5760720" cy="594360"/>
          </a:xfrm>
          <a:prstGeom prst="rect">
            <a:avLst/>
          </a:prstGeom>
          <a:noFill/>
          <a:ln/>
        </p:spPr>
        <p:txBody>
          <a:bodyPr wrap="square" lIns="0" tIns="0" rIns="0" bIns="0" rtlCol="0" anchor="t"/>
          <a:lstStyle/>
          <a:p>
            <a:pPr marL="0" indent="0">
              <a:buNone/>
            </a:pPr>
            <a:r>
              <a:rPr lang="en-US" sz="1400" dirty="0">
                <a:solidFill>
                  <a:schemeClr val="tx2"/>
                </a:solidFill>
              </a:rPr>
              <a:t>Cost scales with α: about α·t queries to U for simulation, α·‖A⁻¹‖ for linear systems</a:t>
            </a:r>
            <a:endParaRPr lang="en-US" sz="1400" dirty="0"/>
          </a:p>
        </p:txBody>
      </p:sp>
      <p:sp>
        <p:nvSpPr>
          <p:cNvPr id="25" name="Equations"/>
          <p:cNvSpPr/>
          <p:nvPr/>
        </p:nvSpPr>
        <p:spPr>
          <a:xfrm>
            <a:off x="6583680" y="1600200"/>
            <a:ext cx="5059375" cy="3977640"/>
          </a:xfrm>
          <a:prstGeom prst="roundRect">
            <a:avLst>
              <a:gd name="adj" fmla="val 3448"/>
            </a:avLst>
          </a:prstGeom>
          <a:solidFill>
            <a:schemeClr val="bg2"/>
          </a:solidFill>
          <a:ln w="12700">
            <a:solidFill>
              <a:schemeClr val="accent1"/>
            </a:solidFill>
            <a:prstDash val="solid"/>
          </a:ln>
        </p:spPr>
        <p:txBody>
          <a:bodyPr/>
          <a:lstStyle/>
          <a:p>
            <a:endParaRPr lang="fr-FR"/>
          </a:p>
        </p:txBody>
      </p:sp>
      <p:sp>
        <p:nvSpPr>
          <p:cNvPr id="26" name="Text 24"/>
          <p:cNvSpPr txBox="1"/>
          <p:nvPr/>
        </p:nvSpPr>
        <p:spPr>
          <a:xfrm>
            <a:off x="6583680" y="1783080"/>
            <a:ext cx="5059375" cy="320040"/>
          </a:xfrm>
          <a:prstGeom prst="rect">
            <a:avLst/>
          </a:prstGeom>
          <a:noFill/>
          <a:ln/>
        </p:spPr>
        <p:txBody>
          <a:bodyPr wrap="square" lIns="0" tIns="0" rIns="0" bIns="0" rtlCol="0" anchor="ctr"/>
          <a:lstStyle/>
          <a:p>
            <a:pPr marL="0" indent="0" algn="ctr">
              <a:buNone/>
            </a:pPr>
            <a:r>
              <a:rPr lang="en-US" sz="1300" dirty="0">
                <a:solidFill>
                  <a:schemeClr val="tx2"/>
                </a:solidFill>
              </a:rPr>
              <a:t>A = Σᵢ cᵢ Pᵢ (Pauli strings),  α = Σᵢ |cᵢ|</a:t>
            </a:r>
            <a:endParaRPr lang="en-US" sz="1300" dirty="0"/>
          </a:p>
        </p:txBody>
      </p:sp>
      <p:pic>
        <p:nvPicPr>
          <p:cNvPr id="27" name="Image 0" descr="U = (PREP dagger tensor I) SELECT (PREP tensor I)"/>
          <p:cNvPicPr>
            <a:picLocks noChangeAspect="1"/>
          </p:cNvPicPr>
          <p:nvPr/>
        </p:nvPicPr>
        <p:blipFill>
          <a:blip r:embed="rId3"/>
          <a:stretch>
            <a:fillRect/>
          </a:stretch>
        </p:blipFill>
        <p:spPr>
          <a:xfrm>
            <a:off x="6895948" y="2240280"/>
            <a:ext cx="4434840" cy="374904"/>
          </a:xfrm>
          <a:prstGeom prst="rect">
            <a:avLst/>
          </a:prstGeom>
        </p:spPr>
      </p:pic>
      <p:sp>
        <p:nvSpPr>
          <p:cNvPr id="28" name="Shape 25"/>
          <p:cNvSpPr/>
          <p:nvPr/>
        </p:nvSpPr>
        <p:spPr>
          <a:xfrm>
            <a:off x="7040880" y="2843784"/>
            <a:ext cx="4144975" cy="0"/>
          </a:xfrm>
          <a:prstGeom prst="line">
            <a:avLst/>
          </a:prstGeom>
          <a:noFill/>
          <a:ln w="9525">
            <a:solidFill>
              <a:srgbClr val="3C3F4C"/>
            </a:solidFill>
            <a:prstDash val="solid"/>
          </a:ln>
        </p:spPr>
        <p:txBody>
          <a:bodyPr/>
          <a:lstStyle/>
          <a:p>
            <a:endParaRPr lang="fr-FR"/>
          </a:p>
        </p:txBody>
      </p:sp>
      <p:pic>
        <p:nvPicPr>
          <p:cNvPr id="29" name="Image 1" descr="PREP |0&gt; = sum over i of sqrt(c_i / alpha) |i&gt;"/>
          <p:cNvPicPr>
            <a:picLocks noChangeAspect="1"/>
          </p:cNvPicPr>
          <p:nvPr/>
        </p:nvPicPr>
        <p:blipFill>
          <a:blip r:embed="rId4"/>
          <a:stretch>
            <a:fillRect/>
          </a:stretch>
        </p:blipFill>
        <p:spPr>
          <a:xfrm>
            <a:off x="7514768" y="3026664"/>
            <a:ext cx="3197200" cy="700888"/>
          </a:xfrm>
          <a:prstGeom prst="rect">
            <a:avLst/>
          </a:prstGeom>
        </p:spPr>
      </p:pic>
      <p:pic>
        <p:nvPicPr>
          <p:cNvPr id="30" name="Image 2" descr="SELECT = sum over i of |i&gt;&lt;i| tensor P_i"/>
          <p:cNvPicPr>
            <a:picLocks noChangeAspect="1"/>
          </p:cNvPicPr>
          <p:nvPr/>
        </p:nvPicPr>
        <p:blipFill>
          <a:blip r:embed="rId5"/>
          <a:stretch>
            <a:fillRect/>
          </a:stretch>
        </p:blipFill>
        <p:spPr>
          <a:xfrm>
            <a:off x="7557973" y="4001872"/>
            <a:ext cx="3110789" cy="681685"/>
          </a:xfrm>
          <a:prstGeom prst="rect">
            <a:avLst/>
          </a:prstGeom>
        </p:spPr>
      </p:pic>
      <p:sp>
        <p:nvSpPr>
          <p:cNvPr id="31" name="Text 26"/>
          <p:cNvSpPr txBox="1"/>
          <p:nvPr/>
        </p:nvSpPr>
        <p:spPr>
          <a:xfrm>
            <a:off x="548640" y="5897880"/>
            <a:ext cx="11094415" cy="274320"/>
          </a:xfrm>
          <a:prstGeom prst="rect">
            <a:avLst/>
          </a:prstGeom>
          <a:noFill/>
          <a:ln/>
        </p:spPr>
        <p:txBody>
          <a:bodyPr wrap="square" lIns="0" tIns="0" rIns="0" bIns="0" rtlCol="0" anchor="ctr"/>
          <a:lstStyle/>
          <a:p>
            <a:pPr marL="0" indent="0">
              <a:buNone/>
            </a:pPr>
            <a:r>
              <a:rPr lang="en-US" sz="1100" i="1" dirty="0">
                <a:solidFill>
                  <a:schemeClr val="tx2"/>
                </a:solidFill>
              </a:rPr>
              <a:t>Live session notebook · Step 3 · Gilyén, Su, Low, Wiebe, STOC 2019</a:t>
            </a:r>
            <a:endParaRPr lang="en-US" sz="1100" dirty="0"/>
          </a:p>
        </p:txBody>
      </p:sp>
      <p:sp>
        <p:nvSpPr>
          <p:cNvPr id="32" name="Slide Number Placeholder 0"/>
          <p:cNvSpPr>
            <a:spLocks noGrp="1"/>
          </p:cNvSpPr>
          <p:nvPr>
            <p:ph type="sldNum" sz="quarter" idx="4294967295"/>
          </p:nvPr>
        </p:nvSpPr>
        <p:spPr>
          <a:xfrm>
            <a:off x="11094415" y="6327648"/>
            <a:ext cx="548640" cy="274320"/>
          </a:xfrm>
          <a:prstGeom prst="rect">
            <a:avLst/>
          </a:prstGeom>
          <a:extLst>
            <a:ext uri="{C572A759-6A51-4108-AA02-DFA0A04FC94B}">
              <ma14:wrappingTextBoxFlag xmlns:ma14="http://schemas.microsoft.com/office/mac/drawingml/2011/main" xmlns="" val="0"/>
            </a:ext>
          </a:extLst>
        </p:spPr>
        <p:txBody>
          <a:bodyPr lIns="0" tIns="0" rIns="0" bIns="0" anchor="ctr"/>
          <a:lstStyle>
            <a:lvl1pPr>
              <a:defRPr sz="1000">
                <a:solidFill>
                  <a:srgbClr val="9AA3BD"/>
                </a:solidFill>
              </a:defRPr>
            </a:lvl1pPr>
          </a:lstStyle>
          <a:p>
            <a:pPr algn="r"/>
            <a:fld id="{F7021451-1387-4CA6-816F-3879F97B5CBC}" type="slidenum">
              <a:rPr lang="en-US" b="0"/>
              <a:t>32</a:t>
            </a:fld>
            <a:endParaRPr lang="en-US"/>
          </a:p>
        </p:txBody>
      </p:sp>
      <p:pic>
        <p:nvPicPr>
          <p:cNvPr id="34" name="Image 33">
            <a:extLst>
              <a:ext uri="{FF2B5EF4-FFF2-40B4-BE49-F238E27FC236}">
                <a16:creationId xmlns:a16="http://schemas.microsoft.com/office/drawing/2014/main" id="{73E7DF5A-A3B6-77CC-1AAE-8C21B06D0378}"/>
              </a:ext>
            </a:extLst>
          </p:cNvPr>
          <p:cNvPicPr>
            <a:picLocks noChangeAspect="1"/>
          </p:cNvPicPr>
          <p:nvPr/>
        </p:nvPicPr>
        <p:blipFill>
          <a:blip r:embed="rId6"/>
          <a:stretch>
            <a:fillRect/>
          </a:stretch>
        </p:blipFill>
        <p:spPr>
          <a:xfrm>
            <a:off x="9724644" y="-443705"/>
            <a:ext cx="2437453" cy="1723866"/>
          </a:xfrm>
          <a:prstGeom prst="rect">
            <a:avLst/>
          </a:prstGeom>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10"/>
          <p:cNvSpPr>
            <a:spLocks noGrp="1"/>
          </p:cNvSpPr>
          <p:nvPr>
            <p:ph type="title" idx="110" hasCustomPrompt="1"/>
          </p:nvPr>
        </p:nvSpPr>
        <p:spPr>
          <a:xfrm>
            <a:off x="548640" y="457200"/>
            <a:ext cx="11094415" cy="777240"/>
          </a:xfrm>
          <a:prstGeom prst="rect">
            <a:avLst/>
          </a:prstGeom>
          <a:noFill/>
          <a:ln/>
        </p:spPr>
        <p:txBody>
          <a:bodyPr wrap="square" lIns="0" tIns="0" rIns="0" bIns="0" rtlCol="0" anchor="t"/>
          <a:lstStyle/>
          <a:p>
            <a:pPr marL="0" indent="0" algn="l">
              <a:buNone/>
            </a:pPr>
            <a:r>
              <a:rPr lang="en-US" sz="3200" dirty="0">
                <a:solidFill>
                  <a:schemeClr val="tx1"/>
                </a:solidFill>
              </a:rPr>
              <a:t>The 1D Laplacian on two qubits</a:t>
            </a:r>
            <a:endParaRPr lang="en-US" sz="3200" dirty="0"/>
          </a:p>
        </p:txBody>
      </p:sp>
      <p:sp>
        <p:nvSpPr>
          <p:cNvPr id="3" name="Shape 1"/>
          <p:cNvSpPr/>
          <p:nvPr/>
        </p:nvSpPr>
        <p:spPr>
          <a:xfrm>
            <a:off x="548640" y="1188720"/>
            <a:ext cx="91440" cy="91440"/>
          </a:xfrm>
          <a:prstGeom prst="rect">
            <a:avLst/>
          </a:prstGeom>
          <a:solidFill>
            <a:schemeClr val="accent2"/>
          </a:solidFill>
          <a:ln/>
        </p:spPr>
        <p:txBody>
          <a:bodyPr/>
          <a:lstStyle/>
          <a:p>
            <a:endParaRPr lang="fr-FR"/>
          </a:p>
        </p:txBody>
      </p:sp>
      <p:sp>
        <p:nvSpPr>
          <p:cNvPr id="4" name="Text 2"/>
          <p:cNvSpPr txBox="1"/>
          <p:nvPr/>
        </p:nvSpPr>
        <p:spPr>
          <a:xfrm>
            <a:off x="731520" y="1097280"/>
            <a:ext cx="9144000" cy="274320"/>
          </a:xfrm>
          <a:prstGeom prst="rect">
            <a:avLst/>
          </a:prstGeom>
          <a:noFill/>
          <a:ln/>
        </p:spPr>
        <p:txBody>
          <a:bodyPr wrap="square" lIns="0" tIns="0" rIns="0" bIns="0" rtlCol="0" anchor="ctr"/>
          <a:lstStyle/>
          <a:p>
            <a:pPr marL="0" indent="0">
              <a:buNone/>
            </a:pPr>
            <a:r>
              <a:rPr lang="en-US" sz="1200" b="1" kern="0" spc="200" dirty="0">
                <a:solidFill>
                  <a:schemeClr val="tx2"/>
                </a:solidFill>
              </a:rPr>
              <a:t>STEP 3  ·  RESULTS</a:t>
            </a:r>
            <a:endParaRPr lang="en-US" sz="1200" dirty="0"/>
          </a:p>
        </p:txBody>
      </p:sp>
      <p:sp>
        <p:nvSpPr>
          <p:cNvPr id="5" name="Matrix"/>
          <p:cNvSpPr/>
          <p:nvPr/>
        </p:nvSpPr>
        <p:spPr>
          <a:xfrm>
            <a:off x="548640" y="1600200"/>
            <a:ext cx="4206240" cy="3977640"/>
          </a:xfrm>
          <a:prstGeom prst="roundRect">
            <a:avLst>
              <a:gd name="adj" fmla="val 3448"/>
            </a:avLst>
          </a:prstGeom>
          <a:solidFill>
            <a:schemeClr val="bg2"/>
          </a:solidFill>
          <a:ln w="12700">
            <a:solidFill>
              <a:schemeClr val="accent1"/>
            </a:solidFill>
            <a:prstDash val="solid"/>
          </a:ln>
        </p:spPr>
        <p:txBody>
          <a:bodyPr/>
          <a:lstStyle/>
          <a:p>
            <a:endParaRPr lang="fr-FR"/>
          </a:p>
        </p:txBody>
      </p:sp>
      <p:sp>
        <p:nvSpPr>
          <p:cNvPr id="6" name="Shape 4"/>
          <p:cNvSpPr/>
          <p:nvPr/>
        </p:nvSpPr>
        <p:spPr>
          <a:xfrm>
            <a:off x="1207008" y="1920240"/>
            <a:ext cx="0" cy="2194560"/>
          </a:xfrm>
          <a:prstGeom prst="line">
            <a:avLst/>
          </a:prstGeom>
          <a:noFill/>
          <a:ln w="19050">
            <a:solidFill>
              <a:srgbClr val="E9ECF3"/>
            </a:solidFill>
            <a:prstDash val="solid"/>
          </a:ln>
        </p:spPr>
        <p:txBody>
          <a:bodyPr/>
          <a:lstStyle/>
          <a:p>
            <a:endParaRPr lang="fr-FR"/>
          </a:p>
        </p:txBody>
      </p:sp>
      <p:sp>
        <p:nvSpPr>
          <p:cNvPr id="7" name="Shape 5"/>
          <p:cNvSpPr/>
          <p:nvPr/>
        </p:nvSpPr>
        <p:spPr>
          <a:xfrm>
            <a:off x="4096512" y="1920240"/>
            <a:ext cx="0" cy="2194560"/>
          </a:xfrm>
          <a:prstGeom prst="line">
            <a:avLst/>
          </a:prstGeom>
          <a:noFill/>
          <a:ln w="19050">
            <a:solidFill>
              <a:srgbClr val="E9ECF3"/>
            </a:solidFill>
            <a:prstDash val="solid"/>
          </a:ln>
        </p:spPr>
        <p:txBody>
          <a:bodyPr/>
          <a:lstStyle/>
          <a:p>
            <a:endParaRPr lang="fr-FR"/>
          </a:p>
        </p:txBody>
      </p:sp>
      <p:sp>
        <p:nvSpPr>
          <p:cNvPr id="8" name="Text 6"/>
          <p:cNvSpPr txBox="1"/>
          <p:nvPr/>
        </p:nvSpPr>
        <p:spPr>
          <a:xfrm>
            <a:off x="1280160" y="1920240"/>
            <a:ext cx="685800" cy="548640"/>
          </a:xfrm>
          <a:prstGeom prst="rect">
            <a:avLst/>
          </a:prstGeom>
          <a:noFill/>
          <a:ln/>
        </p:spPr>
        <p:txBody>
          <a:bodyPr wrap="square" lIns="0" tIns="0" rIns="0" bIns="0" rtlCol="0" anchor="ctr"/>
          <a:lstStyle/>
          <a:p>
            <a:pPr marL="0" indent="0" algn="ctr">
              <a:buNone/>
            </a:pPr>
            <a:r>
              <a:rPr lang="en-US" sz="1800" b="1" dirty="0">
                <a:solidFill>
                  <a:schemeClr val="tx1"/>
                </a:solidFill>
              </a:rPr>
              <a:t>2</a:t>
            </a:r>
            <a:endParaRPr lang="en-US" sz="1800" dirty="0"/>
          </a:p>
        </p:txBody>
      </p:sp>
      <p:sp>
        <p:nvSpPr>
          <p:cNvPr id="9" name="Text 7"/>
          <p:cNvSpPr txBox="1"/>
          <p:nvPr/>
        </p:nvSpPr>
        <p:spPr>
          <a:xfrm>
            <a:off x="1965960" y="1920240"/>
            <a:ext cx="685800" cy="548640"/>
          </a:xfrm>
          <a:prstGeom prst="rect">
            <a:avLst/>
          </a:prstGeom>
          <a:noFill/>
          <a:ln/>
        </p:spPr>
        <p:txBody>
          <a:bodyPr wrap="square" lIns="0" tIns="0" rIns="0" bIns="0" rtlCol="0" anchor="ctr"/>
          <a:lstStyle/>
          <a:p>
            <a:pPr marL="0" indent="0" algn="ctr">
              <a:buNone/>
            </a:pPr>
            <a:r>
              <a:rPr lang="en-US" sz="1800" dirty="0">
                <a:solidFill>
                  <a:schemeClr val="tx2"/>
                </a:solidFill>
              </a:rPr>
              <a:t>−1</a:t>
            </a:r>
            <a:endParaRPr lang="en-US" sz="1800" dirty="0"/>
          </a:p>
        </p:txBody>
      </p:sp>
      <p:sp>
        <p:nvSpPr>
          <p:cNvPr id="10" name="Text 8"/>
          <p:cNvSpPr txBox="1"/>
          <p:nvPr/>
        </p:nvSpPr>
        <p:spPr>
          <a:xfrm>
            <a:off x="2651760" y="1920240"/>
            <a:ext cx="685800" cy="548640"/>
          </a:xfrm>
          <a:prstGeom prst="rect">
            <a:avLst/>
          </a:prstGeom>
          <a:noFill/>
          <a:ln/>
        </p:spPr>
        <p:txBody>
          <a:bodyPr wrap="square" lIns="0" tIns="0" rIns="0" bIns="0" rtlCol="0" anchor="ctr"/>
          <a:lstStyle/>
          <a:p>
            <a:pPr marL="0" indent="0" algn="ctr">
              <a:buNone/>
            </a:pPr>
            <a:r>
              <a:rPr lang="en-US" sz="1800" dirty="0">
                <a:solidFill>
                  <a:schemeClr val="accent6"/>
                </a:solidFill>
              </a:rPr>
              <a:t>0</a:t>
            </a:r>
            <a:endParaRPr lang="en-US" sz="1800" dirty="0"/>
          </a:p>
        </p:txBody>
      </p:sp>
      <p:sp>
        <p:nvSpPr>
          <p:cNvPr id="11" name="Text 9"/>
          <p:cNvSpPr txBox="1"/>
          <p:nvPr/>
        </p:nvSpPr>
        <p:spPr>
          <a:xfrm>
            <a:off x="3337560" y="1920240"/>
            <a:ext cx="685800" cy="548640"/>
          </a:xfrm>
          <a:prstGeom prst="rect">
            <a:avLst/>
          </a:prstGeom>
          <a:noFill/>
          <a:ln/>
        </p:spPr>
        <p:txBody>
          <a:bodyPr wrap="square" lIns="0" tIns="0" rIns="0" bIns="0" rtlCol="0" anchor="ctr"/>
          <a:lstStyle/>
          <a:p>
            <a:pPr marL="0" indent="0" algn="ctr">
              <a:buNone/>
            </a:pPr>
            <a:r>
              <a:rPr lang="en-US" sz="1800" dirty="0">
                <a:solidFill>
                  <a:schemeClr val="accent6"/>
                </a:solidFill>
              </a:rPr>
              <a:t>0</a:t>
            </a:r>
            <a:endParaRPr lang="en-US" sz="1800" dirty="0"/>
          </a:p>
        </p:txBody>
      </p:sp>
      <p:sp>
        <p:nvSpPr>
          <p:cNvPr id="12" name="Text 10"/>
          <p:cNvSpPr txBox="1"/>
          <p:nvPr/>
        </p:nvSpPr>
        <p:spPr>
          <a:xfrm>
            <a:off x="1280160" y="2468880"/>
            <a:ext cx="685800" cy="548640"/>
          </a:xfrm>
          <a:prstGeom prst="rect">
            <a:avLst/>
          </a:prstGeom>
          <a:noFill/>
          <a:ln/>
        </p:spPr>
        <p:txBody>
          <a:bodyPr wrap="square" lIns="0" tIns="0" rIns="0" bIns="0" rtlCol="0" anchor="ctr"/>
          <a:lstStyle/>
          <a:p>
            <a:pPr marL="0" indent="0" algn="ctr">
              <a:buNone/>
            </a:pPr>
            <a:r>
              <a:rPr lang="en-US" sz="1800" dirty="0">
                <a:solidFill>
                  <a:schemeClr val="tx2"/>
                </a:solidFill>
              </a:rPr>
              <a:t>−1</a:t>
            </a:r>
            <a:endParaRPr lang="en-US" sz="1800" dirty="0"/>
          </a:p>
        </p:txBody>
      </p:sp>
      <p:sp>
        <p:nvSpPr>
          <p:cNvPr id="13" name="Text 11"/>
          <p:cNvSpPr txBox="1"/>
          <p:nvPr/>
        </p:nvSpPr>
        <p:spPr>
          <a:xfrm>
            <a:off x="1965960" y="2468880"/>
            <a:ext cx="685800" cy="548640"/>
          </a:xfrm>
          <a:prstGeom prst="rect">
            <a:avLst/>
          </a:prstGeom>
          <a:noFill/>
          <a:ln/>
        </p:spPr>
        <p:txBody>
          <a:bodyPr wrap="square" lIns="0" tIns="0" rIns="0" bIns="0" rtlCol="0" anchor="ctr"/>
          <a:lstStyle/>
          <a:p>
            <a:pPr marL="0" indent="0" algn="ctr">
              <a:buNone/>
            </a:pPr>
            <a:r>
              <a:rPr lang="en-US" sz="1800" b="1" dirty="0">
                <a:solidFill>
                  <a:schemeClr val="tx1"/>
                </a:solidFill>
              </a:rPr>
              <a:t>2</a:t>
            </a:r>
            <a:endParaRPr lang="en-US" sz="1800" dirty="0"/>
          </a:p>
        </p:txBody>
      </p:sp>
      <p:sp>
        <p:nvSpPr>
          <p:cNvPr id="14" name="Text 12"/>
          <p:cNvSpPr txBox="1"/>
          <p:nvPr/>
        </p:nvSpPr>
        <p:spPr>
          <a:xfrm>
            <a:off x="2651760" y="2468880"/>
            <a:ext cx="685800" cy="548640"/>
          </a:xfrm>
          <a:prstGeom prst="rect">
            <a:avLst/>
          </a:prstGeom>
          <a:noFill/>
          <a:ln/>
        </p:spPr>
        <p:txBody>
          <a:bodyPr wrap="square" lIns="0" tIns="0" rIns="0" bIns="0" rtlCol="0" anchor="ctr"/>
          <a:lstStyle/>
          <a:p>
            <a:pPr marL="0" indent="0" algn="ctr">
              <a:buNone/>
            </a:pPr>
            <a:r>
              <a:rPr lang="en-US" sz="1800" dirty="0">
                <a:solidFill>
                  <a:schemeClr val="tx2"/>
                </a:solidFill>
              </a:rPr>
              <a:t>−1</a:t>
            </a:r>
            <a:endParaRPr lang="en-US" sz="1800" dirty="0"/>
          </a:p>
        </p:txBody>
      </p:sp>
      <p:sp>
        <p:nvSpPr>
          <p:cNvPr id="15" name="Text 13"/>
          <p:cNvSpPr txBox="1"/>
          <p:nvPr/>
        </p:nvSpPr>
        <p:spPr>
          <a:xfrm>
            <a:off x="3337560" y="2468880"/>
            <a:ext cx="685800" cy="548640"/>
          </a:xfrm>
          <a:prstGeom prst="rect">
            <a:avLst/>
          </a:prstGeom>
          <a:noFill/>
          <a:ln/>
        </p:spPr>
        <p:txBody>
          <a:bodyPr wrap="square" lIns="0" tIns="0" rIns="0" bIns="0" rtlCol="0" anchor="ctr"/>
          <a:lstStyle/>
          <a:p>
            <a:pPr marL="0" indent="0" algn="ctr">
              <a:buNone/>
            </a:pPr>
            <a:r>
              <a:rPr lang="en-US" sz="1800" dirty="0">
                <a:solidFill>
                  <a:schemeClr val="accent6"/>
                </a:solidFill>
              </a:rPr>
              <a:t>0</a:t>
            </a:r>
            <a:endParaRPr lang="en-US" sz="1800" dirty="0"/>
          </a:p>
        </p:txBody>
      </p:sp>
      <p:sp>
        <p:nvSpPr>
          <p:cNvPr id="16" name="Text 14"/>
          <p:cNvSpPr txBox="1"/>
          <p:nvPr/>
        </p:nvSpPr>
        <p:spPr>
          <a:xfrm>
            <a:off x="1280160" y="3017520"/>
            <a:ext cx="685800" cy="548640"/>
          </a:xfrm>
          <a:prstGeom prst="rect">
            <a:avLst/>
          </a:prstGeom>
          <a:noFill/>
          <a:ln/>
        </p:spPr>
        <p:txBody>
          <a:bodyPr wrap="square" lIns="0" tIns="0" rIns="0" bIns="0" rtlCol="0" anchor="ctr"/>
          <a:lstStyle/>
          <a:p>
            <a:pPr marL="0" indent="0" algn="ctr">
              <a:buNone/>
            </a:pPr>
            <a:r>
              <a:rPr lang="en-US" sz="1800" dirty="0">
                <a:solidFill>
                  <a:schemeClr val="accent6"/>
                </a:solidFill>
              </a:rPr>
              <a:t>0</a:t>
            </a:r>
            <a:endParaRPr lang="en-US" sz="1800" dirty="0"/>
          </a:p>
        </p:txBody>
      </p:sp>
      <p:sp>
        <p:nvSpPr>
          <p:cNvPr id="17" name="Text 15"/>
          <p:cNvSpPr txBox="1"/>
          <p:nvPr/>
        </p:nvSpPr>
        <p:spPr>
          <a:xfrm>
            <a:off x="1965960" y="3017520"/>
            <a:ext cx="685800" cy="548640"/>
          </a:xfrm>
          <a:prstGeom prst="rect">
            <a:avLst/>
          </a:prstGeom>
          <a:noFill/>
          <a:ln/>
        </p:spPr>
        <p:txBody>
          <a:bodyPr wrap="square" lIns="0" tIns="0" rIns="0" bIns="0" rtlCol="0" anchor="ctr"/>
          <a:lstStyle/>
          <a:p>
            <a:pPr marL="0" indent="0" algn="ctr">
              <a:buNone/>
            </a:pPr>
            <a:r>
              <a:rPr lang="en-US" sz="1800" dirty="0">
                <a:solidFill>
                  <a:schemeClr val="tx2"/>
                </a:solidFill>
              </a:rPr>
              <a:t>−1</a:t>
            </a:r>
            <a:endParaRPr lang="en-US" sz="1800" dirty="0"/>
          </a:p>
        </p:txBody>
      </p:sp>
      <p:sp>
        <p:nvSpPr>
          <p:cNvPr id="18" name="Text 16"/>
          <p:cNvSpPr txBox="1"/>
          <p:nvPr/>
        </p:nvSpPr>
        <p:spPr>
          <a:xfrm>
            <a:off x="2651760" y="3017520"/>
            <a:ext cx="685800" cy="548640"/>
          </a:xfrm>
          <a:prstGeom prst="rect">
            <a:avLst/>
          </a:prstGeom>
          <a:noFill/>
          <a:ln/>
        </p:spPr>
        <p:txBody>
          <a:bodyPr wrap="square" lIns="0" tIns="0" rIns="0" bIns="0" rtlCol="0" anchor="ctr"/>
          <a:lstStyle/>
          <a:p>
            <a:pPr marL="0" indent="0" algn="ctr">
              <a:buNone/>
            </a:pPr>
            <a:r>
              <a:rPr lang="en-US" sz="1800" b="1" dirty="0">
                <a:solidFill>
                  <a:schemeClr val="tx1"/>
                </a:solidFill>
              </a:rPr>
              <a:t>2</a:t>
            </a:r>
            <a:endParaRPr lang="en-US" sz="1800" dirty="0"/>
          </a:p>
        </p:txBody>
      </p:sp>
      <p:sp>
        <p:nvSpPr>
          <p:cNvPr id="19" name="Text 17"/>
          <p:cNvSpPr txBox="1"/>
          <p:nvPr/>
        </p:nvSpPr>
        <p:spPr>
          <a:xfrm>
            <a:off x="3337560" y="3017520"/>
            <a:ext cx="685800" cy="548640"/>
          </a:xfrm>
          <a:prstGeom prst="rect">
            <a:avLst/>
          </a:prstGeom>
          <a:noFill/>
          <a:ln/>
        </p:spPr>
        <p:txBody>
          <a:bodyPr wrap="square" lIns="0" tIns="0" rIns="0" bIns="0" rtlCol="0" anchor="ctr"/>
          <a:lstStyle/>
          <a:p>
            <a:pPr marL="0" indent="0" algn="ctr">
              <a:buNone/>
            </a:pPr>
            <a:r>
              <a:rPr lang="en-US" sz="1800" dirty="0">
                <a:solidFill>
                  <a:schemeClr val="tx2"/>
                </a:solidFill>
              </a:rPr>
              <a:t>−1</a:t>
            </a:r>
            <a:endParaRPr lang="en-US" sz="1800" dirty="0"/>
          </a:p>
        </p:txBody>
      </p:sp>
      <p:sp>
        <p:nvSpPr>
          <p:cNvPr id="20" name="Text 18"/>
          <p:cNvSpPr txBox="1"/>
          <p:nvPr/>
        </p:nvSpPr>
        <p:spPr>
          <a:xfrm>
            <a:off x="1280160" y="3566160"/>
            <a:ext cx="685800" cy="548640"/>
          </a:xfrm>
          <a:prstGeom prst="rect">
            <a:avLst/>
          </a:prstGeom>
          <a:noFill/>
          <a:ln/>
        </p:spPr>
        <p:txBody>
          <a:bodyPr wrap="square" lIns="0" tIns="0" rIns="0" bIns="0" rtlCol="0" anchor="ctr"/>
          <a:lstStyle/>
          <a:p>
            <a:pPr marL="0" indent="0" algn="ctr">
              <a:buNone/>
            </a:pPr>
            <a:r>
              <a:rPr lang="en-US" sz="1800" dirty="0">
                <a:solidFill>
                  <a:schemeClr val="accent6"/>
                </a:solidFill>
              </a:rPr>
              <a:t>0</a:t>
            </a:r>
            <a:endParaRPr lang="en-US" sz="1800" dirty="0"/>
          </a:p>
        </p:txBody>
      </p:sp>
      <p:sp>
        <p:nvSpPr>
          <p:cNvPr id="21" name="Text 19"/>
          <p:cNvSpPr txBox="1"/>
          <p:nvPr/>
        </p:nvSpPr>
        <p:spPr>
          <a:xfrm>
            <a:off x="1965960" y="3566160"/>
            <a:ext cx="685800" cy="548640"/>
          </a:xfrm>
          <a:prstGeom prst="rect">
            <a:avLst/>
          </a:prstGeom>
          <a:noFill/>
          <a:ln/>
        </p:spPr>
        <p:txBody>
          <a:bodyPr wrap="square" lIns="0" tIns="0" rIns="0" bIns="0" rtlCol="0" anchor="ctr"/>
          <a:lstStyle/>
          <a:p>
            <a:pPr marL="0" indent="0" algn="ctr">
              <a:buNone/>
            </a:pPr>
            <a:r>
              <a:rPr lang="en-US" sz="1800" dirty="0">
                <a:solidFill>
                  <a:schemeClr val="accent6"/>
                </a:solidFill>
              </a:rPr>
              <a:t>0</a:t>
            </a:r>
            <a:endParaRPr lang="en-US" sz="1800" dirty="0"/>
          </a:p>
        </p:txBody>
      </p:sp>
      <p:sp>
        <p:nvSpPr>
          <p:cNvPr id="22" name="Text 20"/>
          <p:cNvSpPr txBox="1"/>
          <p:nvPr/>
        </p:nvSpPr>
        <p:spPr>
          <a:xfrm>
            <a:off x="2651760" y="3566160"/>
            <a:ext cx="685800" cy="548640"/>
          </a:xfrm>
          <a:prstGeom prst="rect">
            <a:avLst/>
          </a:prstGeom>
          <a:noFill/>
          <a:ln/>
        </p:spPr>
        <p:txBody>
          <a:bodyPr wrap="square" lIns="0" tIns="0" rIns="0" bIns="0" rtlCol="0" anchor="ctr"/>
          <a:lstStyle/>
          <a:p>
            <a:pPr marL="0" indent="0" algn="ctr">
              <a:buNone/>
            </a:pPr>
            <a:r>
              <a:rPr lang="en-US" sz="1800" dirty="0">
                <a:solidFill>
                  <a:schemeClr val="tx2"/>
                </a:solidFill>
              </a:rPr>
              <a:t>−1</a:t>
            </a:r>
            <a:endParaRPr lang="en-US" sz="1800" dirty="0"/>
          </a:p>
        </p:txBody>
      </p:sp>
      <p:sp>
        <p:nvSpPr>
          <p:cNvPr id="23" name="Text 21"/>
          <p:cNvSpPr txBox="1"/>
          <p:nvPr/>
        </p:nvSpPr>
        <p:spPr>
          <a:xfrm>
            <a:off x="3337560" y="3566160"/>
            <a:ext cx="685800" cy="548640"/>
          </a:xfrm>
          <a:prstGeom prst="rect">
            <a:avLst/>
          </a:prstGeom>
          <a:noFill/>
          <a:ln/>
        </p:spPr>
        <p:txBody>
          <a:bodyPr wrap="square" lIns="0" tIns="0" rIns="0" bIns="0" rtlCol="0" anchor="ctr"/>
          <a:lstStyle/>
          <a:p>
            <a:pPr marL="0" indent="0" algn="ctr">
              <a:buNone/>
            </a:pPr>
            <a:r>
              <a:rPr lang="en-US" sz="1800" b="1" dirty="0">
                <a:solidFill>
                  <a:schemeClr val="tx1"/>
                </a:solidFill>
              </a:rPr>
              <a:t>2</a:t>
            </a:r>
            <a:endParaRPr lang="en-US" sz="1800" dirty="0"/>
          </a:p>
        </p:txBody>
      </p:sp>
      <p:pic>
        <p:nvPicPr>
          <p:cNvPr id="24" name="Image 0" descr="A = 2 II - IX - 1/2 XX - 1/2 YY"/>
          <p:cNvPicPr>
            <a:picLocks noChangeAspect="1"/>
          </p:cNvPicPr>
          <p:nvPr/>
        </p:nvPicPr>
        <p:blipFill>
          <a:blip r:embed="rId3"/>
          <a:stretch>
            <a:fillRect/>
          </a:stretch>
        </p:blipFill>
        <p:spPr>
          <a:xfrm>
            <a:off x="923544" y="4434840"/>
            <a:ext cx="3456432" cy="451256"/>
          </a:xfrm>
          <a:prstGeom prst="rect">
            <a:avLst/>
          </a:prstGeom>
        </p:spPr>
      </p:pic>
      <p:graphicFrame>
        <p:nvGraphicFramePr>
          <p:cNvPr id="30" name="Encoding results"/>
          <p:cNvGraphicFramePr>
            <a:graphicFrameLocks noGrp="1"/>
          </p:cNvGraphicFramePr>
          <p:nvPr/>
        </p:nvGraphicFramePr>
        <p:xfrm>
          <a:off x="5120640" y="1600200"/>
          <a:ext cx="6522415" cy="2304288"/>
        </p:xfrm>
        <a:graphic>
          <a:graphicData uri="http://schemas.openxmlformats.org/drawingml/2006/table">
            <a:tbl>
              <a:tblPr/>
              <a:tblGrid>
                <a:gridCol w="4876495">
                  <a:extLst>
                    <a:ext uri="{9D8B030D-6E8A-4147-A177-3AD203B41FA5}">
                      <a16:colId xmlns:a16="http://schemas.microsoft.com/office/drawing/2014/main" val="20000"/>
                    </a:ext>
                  </a:extLst>
                </a:gridCol>
                <a:gridCol w="1645920">
                  <a:extLst>
                    <a:ext uri="{9D8B030D-6E8A-4147-A177-3AD203B41FA5}">
                      <a16:colId xmlns:a16="http://schemas.microsoft.com/office/drawing/2014/main" val="20001"/>
                    </a:ext>
                  </a:extLst>
                </a:gridCol>
              </a:tblGrid>
              <a:tr h="384048">
                <a:tc>
                  <a:txBody>
                    <a:bodyPr/>
                    <a:lstStyle/>
                    <a:p>
                      <a:pPr marL="0" indent="0" algn="l">
                        <a:buNone/>
                      </a:pPr>
                      <a:r>
                        <a:rPr lang="en-US" sz="1100" b="1" dirty="0">
                          <a:solidFill>
                            <a:srgbClr val="9AA3BD"/>
                          </a:solidFill>
                          <a:latin typeface="Aptos" pitchFamily="34" charset="0"/>
                          <a:ea typeface="Aptos" pitchFamily="34" charset="-122"/>
                          <a:cs typeface="Aptos" pitchFamily="34" charset="-120"/>
                        </a:rPr>
                        <a:t>Quantity</a:t>
                      </a:r>
                      <a:endParaRPr lang="en-US" sz="1100" dirty="0">
                        <a:latin typeface="Aptos" charset="0"/>
                        <a:ea typeface="Aptos" charset="0"/>
                        <a:cs typeface="Aptos" charset="0"/>
                      </a:endParaRPr>
                    </a:p>
                  </a:txBody>
                  <a:tcPr marL="109728" marR="109728" marT="0" marB="0" anchor="ctr">
                    <a:lnL w="9525" cap="flat" cmpd="sng" algn="ctr">
                      <a:solidFill>
                        <a:srgbClr val="3C3F4C"/>
                      </a:solidFill>
                      <a:prstDash val="solid"/>
                      <a:round/>
                      <a:headEnd type="none" w="med" len="med"/>
                      <a:tailEnd type="none" w="med" len="med"/>
                    </a:lnL>
                    <a:lnR w="9525" cap="flat" cmpd="sng" algn="ctr">
                      <a:solidFill>
                        <a:srgbClr val="3C3F4C"/>
                      </a:solidFill>
                      <a:prstDash val="solid"/>
                      <a:round/>
                      <a:headEnd type="none" w="med" len="med"/>
                      <a:tailEnd type="none" w="med" len="med"/>
                    </a:lnR>
                    <a:lnT w="9525" cap="flat" cmpd="sng" algn="ctr">
                      <a:solidFill>
                        <a:srgbClr val="3C3F4C"/>
                      </a:solidFill>
                      <a:prstDash val="solid"/>
                      <a:round/>
                      <a:headEnd type="none" w="med" len="med"/>
                      <a:tailEnd type="none" w="med" len="med"/>
                    </a:lnT>
                    <a:lnB w="9525" cap="flat" cmpd="sng" algn="ctr">
                      <a:solidFill>
                        <a:srgbClr val="3C3F4C"/>
                      </a:solidFill>
                      <a:prstDash val="solid"/>
                      <a:round/>
                      <a:headEnd type="none" w="med" len="med"/>
                      <a:tailEnd type="none" w="med" len="med"/>
                    </a:lnB>
                    <a:solidFill>
                      <a:srgbClr val="161B30"/>
                    </a:solidFill>
                  </a:tcPr>
                </a:tc>
                <a:tc>
                  <a:txBody>
                    <a:bodyPr/>
                    <a:lstStyle/>
                    <a:p>
                      <a:pPr marL="0" indent="0" algn="r">
                        <a:buNone/>
                      </a:pPr>
                      <a:r>
                        <a:rPr lang="en-US" sz="1100" b="1" dirty="0">
                          <a:solidFill>
                            <a:srgbClr val="9AA3BD"/>
                          </a:solidFill>
                          <a:latin typeface="Aptos" pitchFamily="34" charset="0"/>
                          <a:ea typeface="Aptos" pitchFamily="34" charset="-122"/>
                          <a:cs typeface="Aptos" pitchFamily="34" charset="-120"/>
                        </a:rPr>
                        <a:t>Value</a:t>
                      </a:r>
                      <a:endParaRPr lang="en-US" sz="1100" dirty="0">
                        <a:latin typeface="Aptos" charset="0"/>
                        <a:ea typeface="Aptos" charset="0"/>
                        <a:cs typeface="Aptos" charset="0"/>
                      </a:endParaRPr>
                    </a:p>
                  </a:txBody>
                  <a:tcPr marL="109728" marR="109728" marT="0" marB="0" anchor="ctr">
                    <a:lnL w="9525" cap="flat" cmpd="sng" algn="ctr">
                      <a:solidFill>
                        <a:srgbClr val="3C3F4C"/>
                      </a:solidFill>
                      <a:prstDash val="solid"/>
                      <a:round/>
                      <a:headEnd type="none" w="med" len="med"/>
                      <a:tailEnd type="none" w="med" len="med"/>
                    </a:lnL>
                    <a:lnR w="9525" cap="flat" cmpd="sng" algn="ctr">
                      <a:solidFill>
                        <a:srgbClr val="3C3F4C"/>
                      </a:solidFill>
                      <a:prstDash val="solid"/>
                      <a:round/>
                      <a:headEnd type="none" w="med" len="med"/>
                      <a:tailEnd type="none" w="med" len="med"/>
                    </a:lnR>
                    <a:lnT w="9525" cap="flat" cmpd="sng" algn="ctr">
                      <a:solidFill>
                        <a:srgbClr val="3C3F4C"/>
                      </a:solidFill>
                      <a:prstDash val="solid"/>
                      <a:round/>
                      <a:headEnd type="none" w="med" len="med"/>
                      <a:tailEnd type="none" w="med" len="med"/>
                    </a:lnT>
                    <a:lnB w="9525" cap="flat" cmpd="sng" algn="ctr">
                      <a:solidFill>
                        <a:srgbClr val="3C3F4C"/>
                      </a:solidFill>
                      <a:prstDash val="solid"/>
                      <a:round/>
                      <a:headEnd type="none" w="med" len="med"/>
                      <a:tailEnd type="none" w="med" len="med"/>
                    </a:lnB>
                    <a:solidFill>
                      <a:srgbClr val="161B30"/>
                    </a:solidFill>
                  </a:tcPr>
                </a:tc>
                <a:extLst>
                  <a:ext uri="{0D108BD9-81ED-4DB2-BD59-A6C34878D82A}">
                    <a16:rowId xmlns:a16="http://schemas.microsoft.com/office/drawing/2014/main" val="10000"/>
                  </a:ext>
                </a:extLst>
              </a:tr>
              <a:tr h="384048">
                <a:tc>
                  <a:txBody>
                    <a:bodyPr/>
                    <a:lstStyle/>
                    <a:p>
                      <a:pPr marL="0" indent="0" algn="l">
                        <a:buNone/>
                      </a:pPr>
                      <a:r>
                        <a:rPr lang="en-US" sz="1300" b="1" dirty="0">
                          <a:solidFill>
                            <a:srgbClr val="E9ECF3"/>
                          </a:solidFill>
                          <a:latin typeface="Aptos" pitchFamily="34" charset="0"/>
                          <a:ea typeface="Aptos" pitchFamily="34" charset="-122"/>
                          <a:cs typeface="Aptos" pitchFamily="34" charset="-120"/>
                        </a:rPr>
                        <a:t>Pauli terms</a:t>
                      </a:r>
                      <a:endParaRPr lang="en-US" sz="1300" dirty="0">
                        <a:latin typeface="Aptos" charset="0"/>
                        <a:ea typeface="Aptos" charset="0"/>
                        <a:cs typeface="Aptos" charset="0"/>
                      </a:endParaRPr>
                    </a:p>
                  </a:txBody>
                  <a:tcPr marL="109728" marR="109728" marT="0" marB="0" anchor="ctr">
                    <a:lnL w="9525" cap="flat" cmpd="sng" algn="ctr">
                      <a:solidFill>
                        <a:srgbClr val="3C3F4C"/>
                      </a:solidFill>
                      <a:prstDash val="solid"/>
                      <a:round/>
                      <a:headEnd type="none" w="med" len="med"/>
                      <a:tailEnd type="none" w="med" len="med"/>
                    </a:lnL>
                    <a:lnR w="9525" cap="flat" cmpd="sng" algn="ctr">
                      <a:solidFill>
                        <a:srgbClr val="3C3F4C"/>
                      </a:solidFill>
                      <a:prstDash val="solid"/>
                      <a:round/>
                      <a:headEnd type="none" w="med" len="med"/>
                      <a:tailEnd type="none" w="med" len="med"/>
                    </a:lnR>
                    <a:lnT w="9525" cap="flat" cmpd="sng" algn="ctr">
                      <a:solidFill>
                        <a:srgbClr val="3C3F4C"/>
                      </a:solidFill>
                      <a:prstDash val="solid"/>
                      <a:round/>
                      <a:headEnd type="none" w="med" len="med"/>
                      <a:tailEnd type="none" w="med" len="med"/>
                    </a:lnT>
                    <a:lnB w="9525" cap="flat" cmpd="sng" algn="ctr">
                      <a:solidFill>
                        <a:srgbClr val="3C3F4C"/>
                      </a:solidFill>
                      <a:prstDash val="solid"/>
                      <a:round/>
                      <a:headEnd type="none" w="med" len="med"/>
                      <a:tailEnd type="none" w="med" len="med"/>
                    </a:lnB>
                    <a:solidFill>
                      <a:srgbClr val="161B30"/>
                    </a:solidFill>
                  </a:tcPr>
                </a:tc>
                <a:tc>
                  <a:txBody>
                    <a:bodyPr/>
                    <a:lstStyle/>
                    <a:p>
                      <a:pPr marL="0" indent="0" algn="r">
                        <a:buNone/>
                      </a:pPr>
                      <a:r>
                        <a:rPr lang="en-US" sz="1300" dirty="0">
                          <a:solidFill>
                            <a:srgbClr val="9AA3BD"/>
                          </a:solidFill>
                          <a:latin typeface="Aptos" pitchFamily="34" charset="0"/>
                          <a:ea typeface="Aptos" pitchFamily="34" charset="-122"/>
                          <a:cs typeface="Aptos" pitchFamily="34" charset="-120"/>
                        </a:rPr>
                        <a:t>4</a:t>
                      </a:r>
                      <a:endParaRPr lang="en-US" sz="1300" dirty="0">
                        <a:latin typeface="Aptos" charset="0"/>
                        <a:ea typeface="Aptos" charset="0"/>
                        <a:cs typeface="Aptos" charset="0"/>
                      </a:endParaRPr>
                    </a:p>
                  </a:txBody>
                  <a:tcPr marL="109728" marR="109728" marT="0" marB="0" anchor="ctr">
                    <a:lnL w="9525" cap="flat" cmpd="sng" algn="ctr">
                      <a:solidFill>
                        <a:srgbClr val="3C3F4C"/>
                      </a:solidFill>
                      <a:prstDash val="solid"/>
                      <a:round/>
                      <a:headEnd type="none" w="med" len="med"/>
                      <a:tailEnd type="none" w="med" len="med"/>
                    </a:lnL>
                    <a:lnR w="9525" cap="flat" cmpd="sng" algn="ctr">
                      <a:solidFill>
                        <a:srgbClr val="3C3F4C"/>
                      </a:solidFill>
                      <a:prstDash val="solid"/>
                      <a:round/>
                      <a:headEnd type="none" w="med" len="med"/>
                      <a:tailEnd type="none" w="med" len="med"/>
                    </a:lnR>
                    <a:lnT w="9525" cap="flat" cmpd="sng" algn="ctr">
                      <a:solidFill>
                        <a:srgbClr val="3C3F4C"/>
                      </a:solidFill>
                      <a:prstDash val="solid"/>
                      <a:round/>
                      <a:headEnd type="none" w="med" len="med"/>
                      <a:tailEnd type="none" w="med" len="med"/>
                    </a:lnT>
                    <a:lnB w="9525" cap="flat" cmpd="sng" algn="ctr">
                      <a:solidFill>
                        <a:srgbClr val="3C3F4C"/>
                      </a:solidFill>
                      <a:prstDash val="solid"/>
                      <a:round/>
                      <a:headEnd type="none" w="med" len="med"/>
                      <a:tailEnd type="none" w="med" len="med"/>
                    </a:lnB>
                    <a:solidFill>
                      <a:srgbClr val="161B30"/>
                    </a:solidFill>
                  </a:tcPr>
                </a:tc>
                <a:extLst>
                  <a:ext uri="{0D108BD9-81ED-4DB2-BD59-A6C34878D82A}">
                    <a16:rowId xmlns:a16="http://schemas.microsoft.com/office/drawing/2014/main" val="10001"/>
                  </a:ext>
                </a:extLst>
              </a:tr>
              <a:tr h="384048">
                <a:tc>
                  <a:txBody>
                    <a:bodyPr/>
                    <a:lstStyle/>
                    <a:p>
                      <a:pPr marL="0" indent="0" algn="l">
                        <a:buNone/>
                      </a:pPr>
                      <a:r>
                        <a:rPr lang="en-US" sz="1300" b="1" dirty="0">
                          <a:solidFill>
                            <a:srgbClr val="E9ECF3"/>
                          </a:solidFill>
                          <a:latin typeface="Aptos" pitchFamily="34" charset="0"/>
                          <a:ea typeface="Aptos" pitchFamily="34" charset="-122"/>
                          <a:cs typeface="Aptos" pitchFamily="34" charset="-120"/>
                        </a:rPr>
                        <a:t>Ancilla qubits</a:t>
                      </a:r>
                      <a:endParaRPr lang="en-US" sz="1300" dirty="0">
                        <a:latin typeface="Aptos" charset="0"/>
                        <a:ea typeface="Aptos" charset="0"/>
                        <a:cs typeface="Aptos" charset="0"/>
                      </a:endParaRPr>
                    </a:p>
                  </a:txBody>
                  <a:tcPr marL="109728" marR="109728" marT="0" marB="0" anchor="ctr">
                    <a:lnL w="9525" cap="flat" cmpd="sng" algn="ctr">
                      <a:solidFill>
                        <a:srgbClr val="3C3F4C"/>
                      </a:solidFill>
                      <a:prstDash val="solid"/>
                      <a:round/>
                      <a:headEnd type="none" w="med" len="med"/>
                      <a:tailEnd type="none" w="med" len="med"/>
                    </a:lnL>
                    <a:lnR w="9525" cap="flat" cmpd="sng" algn="ctr">
                      <a:solidFill>
                        <a:srgbClr val="3C3F4C"/>
                      </a:solidFill>
                      <a:prstDash val="solid"/>
                      <a:round/>
                      <a:headEnd type="none" w="med" len="med"/>
                      <a:tailEnd type="none" w="med" len="med"/>
                    </a:lnR>
                    <a:lnT w="9525" cap="flat" cmpd="sng" algn="ctr">
                      <a:solidFill>
                        <a:srgbClr val="3C3F4C"/>
                      </a:solidFill>
                      <a:prstDash val="solid"/>
                      <a:round/>
                      <a:headEnd type="none" w="med" len="med"/>
                      <a:tailEnd type="none" w="med" len="med"/>
                    </a:lnT>
                    <a:lnB w="9525" cap="flat" cmpd="sng" algn="ctr">
                      <a:solidFill>
                        <a:srgbClr val="3C3F4C"/>
                      </a:solidFill>
                      <a:prstDash val="solid"/>
                      <a:round/>
                      <a:headEnd type="none" w="med" len="med"/>
                      <a:tailEnd type="none" w="med" len="med"/>
                    </a:lnB>
                    <a:solidFill>
                      <a:srgbClr val="1B213B"/>
                    </a:solidFill>
                  </a:tcPr>
                </a:tc>
                <a:tc>
                  <a:txBody>
                    <a:bodyPr/>
                    <a:lstStyle/>
                    <a:p>
                      <a:pPr marL="0" indent="0" algn="r">
                        <a:buNone/>
                      </a:pPr>
                      <a:r>
                        <a:rPr lang="en-US" sz="1300" dirty="0">
                          <a:solidFill>
                            <a:srgbClr val="9AA3BD"/>
                          </a:solidFill>
                          <a:latin typeface="Aptos" pitchFamily="34" charset="0"/>
                          <a:ea typeface="Aptos" pitchFamily="34" charset="-122"/>
                          <a:cs typeface="Aptos" pitchFamily="34" charset="-120"/>
                        </a:rPr>
                        <a:t>2</a:t>
                      </a:r>
                      <a:endParaRPr lang="en-US" sz="1300" dirty="0">
                        <a:latin typeface="Aptos" charset="0"/>
                        <a:ea typeface="Aptos" charset="0"/>
                        <a:cs typeface="Aptos" charset="0"/>
                      </a:endParaRPr>
                    </a:p>
                  </a:txBody>
                  <a:tcPr marL="109728" marR="109728" marT="0" marB="0" anchor="ctr">
                    <a:lnL w="9525" cap="flat" cmpd="sng" algn="ctr">
                      <a:solidFill>
                        <a:srgbClr val="3C3F4C"/>
                      </a:solidFill>
                      <a:prstDash val="solid"/>
                      <a:round/>
                      <a:headEnd type="none" w="med" len="med"/>
                      <a:tailEnd type="none" w="med" len="med"/>
                    </a:lnL>
                    <a:lnR w="9525" cap="flat" cmpd="sng" algn="ctr">
                      <a:solidFill>
                        <a:srgbClr val="3C3F4C"/>
                      </a:solidFill>
                      <a:prstDash val="solid"/>
                      <a:round/>
                      <a:headEnd type="none" w="med" len="med"/>
                      <a:tailEnd type="none" w="med" len="med"/>
                    </a:lnR>
                    <a:lnT w="9525" cap="flat" cmpd="sng" algn="ctr">
                      <a:solidFill>
                        <a:srgbClr val="3C3F4C"/>
                      </a:solidFill>
                      <a:prstDash val="solid"/>
                      <a:round/>
                      <a:headEnd type="none" w="med" len="med"/>
                      <a:tailEnd type="none" w="med" len="med"/>
                    </a:lnT>
                    <a:lnB w="9525" cap="flat" cmpd="sng" algn="ctr">
                      <a:solidFill>
                        <a:srgbClr val="3C3F4C"/>
                      </a:solidFill>
                      <a:prstDash val="solid"/>
                      <a:round/>
                      <a:headEnd type="none" w="med" len="med"/>
                      <a:tailEnd type="none" w="med" len="med"/>
                    </a:lnB>
                    <a:solidFill>
                      <a:srgbClr val="1B213B"/>
                    </a:solidFill>
                  </a:tcPr>
                </a:tc>
                <a:extLst>
                  <a:ext uri="{0D108BD9-81ED-4DB2-BD59-A6C34878D82A}">
                    <a16:rowId xmlns:a16="http://schemas.microsoft.com/office/drawing/2014/main" val="10002"/>
                  </a:ext>
                </a:extLst>
              </a:tr>
              <a:tr h="384048">
                <a:tc>
                  <a:txBody>
                    <a:bodyPr/>
                    <a:lstStyle/>
                    <a:p>
                      <a:pPr marL="0" indent="0" algn="l">
                        <a:buNone/>
                      </a:pPr>
                      <a:r>
                        <a:rPr lang="en-US" sz="1300" b="1" dirty="0">
                          <a:solidFill>
                            <a:srgbClr val="E9ECF3"/>
                          </a:solidFill>
                          <a:latin typeface="Aptos" pitchFamily="34" charset="0"/>
                          <a:ea typeface="Aptos" pitchFamily="34" charset="-122"/>
                          <a:cs typeface="Aptos" pitchFamily="34" charset="-120"/>
                        </a:rPr>
                        <a:t>Normalization α</a:t>
                      </a:r>
                      <a:endParaRPr lang="en-US" sz="1300" dirty="0">
                        <a:latin typeface="Aptos" charset="0"/>
                        <a:ea typeface="Aptos" charset="0"/>
                        <a:cs typeface="Aptos" charset="0"/>
                      </a:endParaRPr>
                    </a:p>
                  </a:txBody>
                  <a:tcPr marL="109728" marR="109728" marT="0" marB="0" anchor="ctr">
                    <a:lnL w="9525" cap="flat" cmpd="sng" algn="ctr">
                      <a:solidFill>
                        <a:srgbClr val="3C3F4C"/>
                      </a:solidFill>
                      <a:prstDash val="solid"/>
                      <a:round/>
                      <a:headEnd type="none" w="med" len="med"/>
                      <a:tailEnd type="none" w="med" len="med"/>
                    </a:lnL>
                    <a:lnR w="9525" cap="flat" cmpd="sng" algn="ctr">
                      <a:solidFill>
                        <a:srgbClr val="3C3F4C"/>
                      </a:solidFill>
                      <a:prstDash val="solid"/>
                      <a:round/>
                      <a:headEnd type="none" w="med" len="med"/>
                      <a:tailEnd type="none" w="med" len="med"/>
                    </a:lnR>
                    <a:lnT w="9525" cap="flat" cmpd="sng" algn="ctr">
                      <a:solidFill>
                        <a:srgbClr val="3C3F4C"/>
                      </a:solidFill>
                      <a:prstDash val="solid"/>
                      <a:round/>
                      <a:headEnd type="none" w="med" len="med"/>
                      <a:tailEnd type="none" w="med" len="med"/>
                    </a:lnT>
                    <a:lnB w="9525" cap="flat" cmpd="sng" algn="ctr">
                      <a:solidFill>
                        <a:srgbClr val="3C3F4C"/>
                      </a:solidFill>
                      <a:prstDash val="solid"/>
                      <a:round/>
                      <a:headEnd type="none" w="med" len="med"/>
                      <a:tailEnd type="none" w="med" len="med"/>
                    </a:lnB>
                    <a:solidFill>
                      <a:srgbClr val="161B30"/>
                    </a:solidFill>
                  </a:tcPr>
                </a:tc>
                <a:tc>
                  <a:txBody>
                    <a:bodyPr/>
                    <a:lstStyle/>
                    <a:p>
                      <a:pPr marL="0" indent="0" algn="r">
                        <a:buNone/>
                      </a:pPr>
                      <a:r>
                        <a:rPr lang="en-US" sz="1300" dirty="0">
                          <a:solidFill>
                            <a:srgbClr val="9AA3BD"/>
                          </a:solidFill>
                          <a:latin typeface="Aptos" pitchFamily="34" charset="0"/>
                          <a:ea typeface="Aptos" pitchFamily="34" charset="-122"/>
                          <a:cs typeface="Aptos" pitchFamily="34" charset="-120"/>
                        </a:rPr>
                        <a:t>4.00</a:t>
                      </a:r>
                      <a:endParaRPr lang="en-US" sz="1300" dirty="0">
                        <a:latin typeface="Aptos" charset="0"/>
                        <a:ea typeface="Aptos" charset="0"/>
                        <a:cs typeface="Aptos" charset="0"/>
                      </a:endParaRPr>
                    </a:p>
                  </a:txBody>
                  <a:tcPr marL="109728" marR="109728" marT="0" marB="0" anchor="ctr">
                    <a:lnL w="9525" cap="flat" cmpd="sng" algn="ctr">
                      <a:solidFill>
                        <a:srgbClr val="3C3F4C"/>
                      </a:solidFill>
                      <a:prstDash val="solid"/>
                      <a:round/>
                      <a:headEnd type="none" w="med" len="med"/>
                      <a:tailEnd type="none" w="med" len="med"/>
                    </a:lnL>
                    <a:lnR w="9525" cap="flat" cmpd="sng" algn="ctr">
                      <a:solidFill>
                        <a:srgbClr val="3C3F4C"/>
                      </a:solidFill>
                      <a:prstDash val="solid"/>
                      <a:round/>
                      <a:headEnd type="none" w="med" len="med"/>
                      <a:tailEnd type="none" w="med" len="med"/>
                    </a:lnR>
                    <a:lnT w="9525" cap="flat" cmpd="sng" algn="ctr">
                      <a:solidFill>
                        <a:srgbClr val="3C3F4C"/>
                      </a:solidFill>
                      <a:prstDash val="solid"/>
                      <a:round/>
                      <a:headEnd type="none" w="med" len="med"/>
                      <a:tailEnd type="none" w="med" len="med"/>
                    </a:lnT>
                    <a:lnB w="9525" cap="flat" cmpd="sng" algn="ctr">
                      <a:solidFill>
                        <a:srgbClr val="3C3F4C"/>
                      </a:solidFill>
                      <a:prstDash val="solid"/>
                      <a:round/>
                      <a:headEnd type="none" w="med" len="med"/>
                      <a:tailEnd type="none" w="med" len="med"/>
                    </a:lnB>
                    <a:solidFill>
                      <a:srgbClr val="161B30"/>
                    </a:solidFill>
                  </a:tcPr>
                </a:tc>
                <a:extLst>
                  <a:ext uri="{0D108BD9-81ED-4DB2-BD59-A6C34878D82A}">
                    <a16:rowId xmlns:a16="http://schemas.microsoft.com/office/drawing/2014/main" val="10003"/>
                  </a:ext>
                </a:extLst>
              </a:tr>
              <a:tr h="384048">
                <a:tc>
                  <a:txBody>
                    <a:bodyPr/>
                    <a:lstStyle/>
                    <a:p>
                      <a:pPr marL="0" indent="0" algn="l">
                        <a:buNone/>
                      </a:pPr>
                      <a:r>
                        <a:rPr lang="en-US" sz="1300" b="1" dirty="0">
                          <a:solidFill>
                            <a:srgbClr val="E9ECF3"/>
                          </a:solidFill>
                          <a:latin typeface="Aptos" pitchFamily="34" charset="0"/>
                          <a:ea typeface="Aptos" pitchFamily="34" charset="-122"/>
                          <a:cs typeface="Aptos" pitchFamily="34" charset="-120"/>
                        </a:rPr>
                        <a:t>Spectral norm ‖A‖₂</a:t>
                      </a:r>
                      <a:endParaRPr lang="en-US" sz="1300" dirty="0">
                        <a:latin typeface="Aptos" charset="0"/>
                        <a:ea typeface="Aptos" charset="0"/>
                        <a:cs typeface="Aptos" charset="0"/>
                      </a:endParaRPr>
                    </a:p>
                  </a:txBody>
                  <a:tcPr marL="109728" marR="109728" marT="0" marB="0" anchor="ctr">
                    <a:lnL w="9525" cap="flat" cmpd="sng" algn="ctr">
                      <a:solidFill>
                        <a:srgbClr val="3C3F4C"/>
                      </a:solidFill>
                      <a:prstDash val="solid"/>
                      <a:round/>
                      <a:headEnd type="none" w="med" len="med"/>
                      <a:tailEnd type="none" w="med" len="med"/>
                    </a:lnL>
                    <a:lnR w="9525" cap="flat" cmpd="sng" algn="ctr">
                      <a:solidFill>
                        <a:srgbClr val="3C3F4C"/>
                      </a:solidFill>
                      <a:prstDash val="solid"/>
                      <a:round/>
                      <a:headEnd type="none" w="med" len="med"/>
                      <a:tailEnd type="none" w="med" len="med"/>
                    </a:lnR>
                    <a:lnT w="9525" cap="flat" cmpd="sng" algn="ctr">
                      <a:solidFill>
                        <a:srgbClr val="3C3F4C"/>
                      </a:solidFill>
                      <a:prstDash val="solid"/>
                      <a:round/>
                      <a:headEnd type="none" w="med" len="med"/>
                      <a:tailEnd type="none" w="med" len="med"/>
                    </a:lnT>
                    <a:lnB w="9525" cap="flat" cmpd="sng" algn="ctr">
                      <a:solidFill>
                        <a:srgbClr val="3C3F4C"/>
                      </a:solidFill>
                      <a:prstDash val="solid"/>
                      <a:round/>
                      <a:headEnd type="none" w="med" len="med"/>
                      <a:tailEnd type="none" w="med" len="med"/>
                    </a:lnB>
                    <a:solidFill>
                      <a:srgbClr val="1B213B"/>
                    </a:solidFill>
                  </a:tcPr>
                </a:tc>
                <a:tc>
                  <a:txBody>
                    <a:bodyPr/>
                    <a:lstStyle/>
                    <a:p>
                      <a:pPr marL="0" indent="0" algn="r">
                        <a:buNone/>
                      </a:pPr>
                      <a:r>
                        <a:rPr lang="en-US" sz="1300" dirty="0">
                          <a:solidFill>
                            <a:srgbClr val="9AA3BD"/>
                          </a:solidFill>
                          <a:latin typeface="Aptos" pitchFamily="34" charset="0"/>
                          <a:ea typeface="Aptos" pitchFamily="34" charset="-122"/>
                          <a:cs typeface="Aptos" pitchFamily="34" charset="-120"/>
                        </a:rPr>
                        <a:t>3.62</a:t>
                      </a:r>
                      <a:endParaRPr lang="en-US" sz="1300" dirty="0">
                        <a:latin typeface="Aptos" charset="0"/>
                        <a:ea typeface="Aptos" charset="0"/>
                        <a:cs typeface="Aptos" charset="0"/>
                      </a:endParaRPr>
                    </a:p>
                  </a:txBody>
                  <a:tcPr marL="109728" marR="109728" marT="0" marB="0" anchor="ctr">
                    <a:lnL w="9525" cap="flat" cmpd="sng" algn="ctr">
                      <a:solidFill>
                        <a:srgbClr val="3C3F4C"/>
                      </a:solidFill>
                      <a:prstDash val="solid"/>
                      <a:round/>
                      <a:headEnd type="none" w="med" len="med"/>
                      <a:tailEnd type="none" w="med" len="med"/>
                    </a:lnL>
                    <a:lnR w="9525" cap="flat" cmpd="sng" algn="ctr">
                      <a:solidFill>
                        <a:srgbClr val="3C3F4C"/>
                      </a:solidFill>
                      <a:prstDash val="solid"/>
                      <a:round/>
                      <a:headEnd type="none" w="med" len="med"/>
                      <a:tailEnd type="none" w="med" len="med"/>
                    </a:lnR>
                    <a:lnT w="9525" cap="flat" cmpd="sng" algn="ctr">
                      <a:solidFill>
                        <a:srgbClr val="3C3F4C"/>
                      </a:solidFill>
                      <a:prstDash val="solid"/>
                      <a:round/>
                      <a:headEnd type="none" w="med" len="med"/>
                      <a:tailEnd type="none" w="med" len="med"/>
                    </a:lnT>
                    <a:lnB w="9525" cap="flat" cmpd="sng" algn="ctr">
                      <a:solidFill>
                        <a:srgbClr val="3C3F4C"/>
                      </a:solidFill>
                      <a:prstDash val="solid"/>
                      <a:round/>
                      <a:headEnd type="none" w="med" len="med"/>
                      <a:tailEnd type="none" w="med" len="med"/>
                    </a:lnB>
                    <a:solidFill>
                      <a:srgbClr val="1B213B"/>
                    </a:solidFill>
                  </a:tcPr>
                </a:tc>
                <a:extLst>
                  <a:ext uri="{0D108BD9-81ED-4DB2-BD59-A6C34878D82A}">
                    <a16:rowId xmlns:a16="http://schemas.microsoft.com/office/drawing/2014/main" val="10004"/>
                  </a:ext>
                </a:extLst>
              </a:tr>
              <a:tr h="384048">
                <a:tc>
                  <a:txBody>
                    <a:bodyPr/>
                    <a:lstStyle/>
                    <a:p>
                      <a:pPr marL="0" indent="0" algn="l">
                        <a:buNone/>
                      </a:pPr>
                      <a:r>
                        <a:rPr lang="en-US" sz="1300" b="1" dirty="0">
                          <a:solidFill>
                            <a:srgbClr val="E9ECF3"/>
                          </a:solidFill>
                          <a:latin typeface="Aptos" pitchFamily="34" charset="0"/>
                          <a:ea typeface="Aptos" pitchFamily="34" charset="-122"/>
                          <a:cs typeface="Aptos" pitchFamily="34" charset="-120"/>
                        </a:rPr>
                        <a:t>α × top-left block = A</a:t>
                      </a:r>
                      <a:endParaRPr lang="en-US" sz="1300" dirty="0">
                        <a:latin typeface="Aptos" charset="0"/>
                        <a:ea typeface="Aptos" charset="0"/>
                        <a:cs typeface="Aptos" charset="0"/>
                      </a:endParaRPr>
                    </a:p>
                  </a:txBody>
                  <a:tcPr marL="109728" marR="109728" marT="0" marB="0" anchor="ctr">
                    <a:lnL w="9525" cap="flat" cmpd="sng" algn="ctr">
                      <a:solidFill>
                        <a:srgbClr val="3C3F4C"/>
                      </a:solidFill>
                      <a:prstDash val="solid"/>
                      <a:round/>
                      <a:headEnd type="none" w="med" len="med"/>
                      <a:tailEnd type="none" w="med" len="med"/>
                    </a:lnL>
                    <a:lnR w="9525" cap="flat" cmpd="sng" algn="ctr">
                      <a:solidFill>
                        <a:srgbClr val="3C3F4C"/>
                      </a:solidFill>
                      <a:prstDash val="solid"/>
                      <a:round/>
                      <a:headEnd type="none" w="med" len="med"/>
                      <a:tailEnd type="none" w="med" len="med"/>
                    </a:lnR>
                    <a:lnT w="9525" cap="flat" cmpd="sng" algn="ctr">
                      <a:solidFill>
                        <a:srgbClr val="3C3F4C"/>
                      </a:solidFill>
                      <a:prstDash val="solid"/>
                      <a:round/>
                      <a:headEnd type="none" w="med" len="med"/>
                      <a:tailEnd type="none" w="med" len="med"/>
                    </a:lnT>
                    <a:lnB w="9525" cap="flat" cmpd="sng" algn="ctr">
                      <a:solidFill>
                        <a:srgbClr val="3C3F4C"/>
                      </a:solidFill>
                      <a:prstDash val="solid"/>
                      <a:round/>
                      <a:headEnd type="none" w="med" len="med"/>
                      <a:tailEnd type="none" w="med" len="med"/>
                    </a:lnB>
                    <a:solidFill>
                      <a:srgbClr val="161B30"/>
                    </a:solidFill>
                  </a:tcPr>
                </a:tc>
                <a:tc>
                  <a:txBody>
                    <a:bodyPr/>
                    <a:lstStyle/>
                    <a:p>
                      <a:pPr marL="0" indent="0" algn="r">
                        <a:buNone/>
                      </a:pPr>
                      <a:r>
                        <a:rPr lang="en-US" sz="1300" dirty="0">
                          <a:solidFill>
                            <a:srgbClr val="9AA3BD"/>
                          </a:solidFill>
                          <a:latin typeface="Aptos" pitchFamily="34" charset="0"/>
                          <a:ea typeface="Aptos" pitchFamily="34" charset="-122"/>
                          <a:cs typeface="Aptos" pitchFamily="34" charset="-120"/>
                        </a:rPr>
                        <a:t>exact</a:t>
                      </a:r>
                      <a:endParaRPr lang="en-US" sz="1300" dirty="0">
                        <a:latin typeface="Aptos" charset="0"/>
                        <a:ea typeface="Aptos" charset="0"/>
                        <a:cs typeface="Aptos" charset="0"/>
                      </a:endParaRPr>
                    </a:p>
                  </a:txBody>
                  <a:tcPr marL="109728" marR="109728" marT="0" marB="0" anchor="ctr">
                    <a:lnL w="9525" cap="flat" cmpd="sng" algn="ctr">
                      <a:solidFill>
                        <a:srgbClr val="3C3F4C"/>
                      </a:solidFill>
                      <a:prstDash val="solid"/>
                      <a:round/>
                      <a:headEnd type="none" w="med" len="med"/>
                      <a:tailEnd type="none" w="med" len="med"/>
                    </a:lnL>
                    <a:lnR w="9525" cap="flat" cmpd="sng" algn="ctr">
                      <a:solidFill>
                        <a:srgbClr val="3C3F4C"/>
                      </a:solidFill>
                      <a:prstDash val="solid"/>
                      <a:round/>
                      <a:headEnd type="none" w="med" len="med"/>
                      <a:tailEnd type="none" w="med" len="med"/>
                    </a:lnR>
                    <a:lnT w="9525" cap="flat" cmpd="sng" algn="ctr">
                      <a:solidFill>
                        <a:srgbClr val="3C3F4C"/>
                      </a:solidFill>
                      <a:prstDash val="solid"/>
                      <a:round/>
                      <a:headEnd type="none" w="med" len="med"/>
                      <a:tailEnd type="none" w="med" len="med"/>
                    </a:lnT>
                    <a:lnB w="9525" cap="flat" cmpd="sng" algn="ctr">
                      <a:solidFill>
                        <a:srgbClr val="3C3F4C"/>
                      </a:solidFill>
                      <a:prstDash val="solid"/>
                      <a:round/>
                      <a:headEnd type="none" w="med" len="med"/>
                      <a:tailEnd type="none" w="med" len="med"/>
                    </a:lnB>
                    <a:solidFill>
                      <a:srgbClr val="161B30"/>
                    </a:solidFill>
                  </a:tcPr>
                </a:tc>
                <a:extLst>
                  <a:ext uri="{0D108BD9-81ED-4DB2-BD59-A6C34878D82A}">
                    <a16:rowId xmlns:a16="http://schemas.microsoft.com/office/drawing/2014/main" val="10005"/>
                  </a:ext>
                </a:extLst>
              </a:tr>
            </a:tbl>
          </a:graphicData>
        </a:graphic>
      </p:graphicFrame>
      <p:sp>
        <p:nvSpPr>
          <p:cNvPr id="26" name="Callout"/>
          <p:cNvSpPr/>
          <p:nvPr/>
        </p:nvSpPr>
        <p:spPr>
          <a:xfrm>
            <a:off x="5120640" y="4160520"/>
            <a:ext cx="6522415" cy="1417320"/>
          </a:xfrm>
          <a:prstGeom prst="roundRect">
            <a:avLst>
              <a:gd name="adj" fmla="val 6452"/>
            </a:avLst>
          </a:prstGeom>
          <a:solidFill>
            <a:schemeClr val="accent1"/>
          </a:solidFill>
          <a:ln/>
        </p:spPr>
        <p:txBody>
          <a:bodyPr/>
          <a:lstStyle/>
          <a:p>
            <a:endParaRPr lang="fr-FR"/>
          </a:p>
        </p:txBody>
      </p:sp>
      <p:sp>
        <p:nvSpPr>
          <p:cNvPr id="27" name="Shape 23"/>
          <p:cNvSpPr/>
          <p:nvPr/>
        </p:nvSpPr>
        <p:spPr>
          <a:xfrm>
            <a:off x="5349240" y="4389120"/>
            <a:ext cx="91440" cy="91440"/>
          </a:xfrm>
          <a:prstGeom prst="rect">
            <a:avLst/>
          </a:prstGeom>
          <a:solidFill>
            <a:schemeClr val="accent2"/>
          </a:solidFill>
          <a:ln/>
        </p:spPr>
        <p:txBody>
          <a:bodyPr/>
          <a:lstStyle/>
          <a:p>
            <a:endParaRPr lang="fr-FR"/>
          </a:p>
        </p:txBody>
      </p:sp>
      <p:sp>
        <p:nvSpPr>
          <p:cNvPr id="28" name="Text 24"/>
          <p:cNvSpPr txBox="1"/>
          <p:nvPr/>
        </p:nvSpPr>
        <p:spPr>
          <a:xfrm>
            <a:off x="5532120" y="4270248"/>
            <a:ext cx="5928055" cy="1197864"/>
          </a:xfrm>
          <a:prstGeom prst="rect">
            <a:avLst/>
          </a:prstGeom>
          <a:noFill/>
          <a:ln/>
        </p:spPr>
        <p:txBody>
          <a:bodyPr wrap="square" lIns="0" tIns="0" rIns="0" bIns="0" rtlCol="0" anchor="t"/>
          <a:lstStyle/>
          <a:p>
            <a:pPr marL="0" indent="0">
              <a:buNone/>
            </a:pPr>
            <a:r>
              <a:rPr lang="en-US" sz="1400" dirty="0">
                <a:solidFill>
                  <a:schemeClr val="tx1"/>
                </a:solidFill>
              </a:rPr>
              <a:t>The encoding is exact; the price is </a:t>
            </a:r>
            <a:r>
              <a:rPr lang="en-US" sz="1400" b="1" dirty="0">
                <a:solidFill>
                  <a:schemeClr val="tx1"/>
                </a:solidFill>
              </a:rPr>
              <a:t>α 10% above ‖A‖₂</a:t>
            </a:r>
            <a:r>
              <a:rPr lang="en-US" sz="1400" dirty="0">
                <a:solidFill>
                  <a:schemeClr val="tx1"/>
                </a:solidFill>
              </a:rPr>
              <a:t>. On the 8-point periodic Laplacian, Pauli LCU gives α = 5, a shift-operator encoding α = 4.</a:t>
            </a:r>
            <a:endParaRPr lang="en-US" sz="1400" dirty="0"/>
          </a:p>
        </p:txBody>
      </p:sp>
      <p:sp>
        <p:nvSpPr>
          <p:cNvPr id="29" name="Text 25"/>
          <p:cNvSpPr txBox="1"/>
          <p:nvPr/>
        </p:nvSpPr>
        <p:spPr>
          <a:xfrm>
            <a:off x="548640" y="5897880"/>
            <a:ext cx="11094415" cy="274320"/>
          </a:xfrm>
          <a:prstGeom prst="rect">
            <a:avLst/>
          </a:prstGeom>
          <a:noFill/>
          <a:ln/>
        </p:spPr>
        <p:txBody>
          <a:bodyPr wrap="square" lIns="0" tIns="0" rIns="0" bIns="0" rtlCol="0" anchor="ctr"/>
          <a:lstStyle/>
          <a:p>
            <a:pPr marL="0" indent="0">
              <a:buNone/>
            </a:pPr>
            <a:r>
              <a:rPr lang="en-US" sz="1100" i="1" dirty="0">
                <a:solidFill>
                  <a:schemeClr val="tx2"/>
                </a:solidFill>
              </a:rPr>
              <a:t>Live session notebook · Step 3</a:t>
            </a:r>
            <a:endParaRPr lang="en-US" sz="1100" dirty="0"/>
          </a:p>
        </p:txBody>
      </p:sp>
      <p:sp>
        <p:nvSpPr>
          <p:cNvPr id="25" name="Slide Number Placeholder 0"/>
          <p:cNvSpPr>
            <a:spLocks noGrp="1"/>
          </p:cNvSpPr>
          <p:nvPr>
            <p:ph type="sldNum" sz="quarter" idx="4294967295"/>
          </p:nvPr>
        </p:nvSpPr>
        <p:spPr>
          <a:xfrm>
            <a:off x="11094415" y="6327648"/>
            <a:ext cx="548640" cy="274320"/>
          </a:xfrm>
          <a:prstGeom prst="rect">
            <a:avLst/>
          </a:prstGeom>
          <a:extLst>
            <a:ext uri="{C572A759-6A51-4108-AA02-DFA0A04FC94B}">
              <ma14:wrappingTextBoxFlag xmlns:ma14="http://schemas.microsoft.com/office/mac/drawingml/2011/main" xmlns="" val="0"/>
            </a:ext>
          </a:extLst>
        </p:spPr>
        <p:txBody>
          <a:bodyPr lIns="0" tIns="0" rIns="0" bIns="0" anchor="ctr"/>
          <a:lstStyle>
            <a:lvl1pPr>
              <a:defRPr sz="1000">
                <a:solidFill>
                  <a:srgbClr val="9AA3BD"/>
                </a:solidFill>
              </a:defRPr>
            </a:lvl1pPr>
          </a:lstStyle>
          <a:p>
            <a:pPr algn="r"/>
            <a:fld id="{F7021451-1387-4CA6-816F-3879F97B5CBC}" type="slidenum">
              <a:rPr lang="en-US" b="0"/>
              <a:t>33</a:t>
            </a:fld>
            <a:endParaRPr lang="en-US"/>
          </a:p>
        </p:txBody>
      </p:sp>
      <p:pic>
        <p:nvPicPr>
          <p:cNvPr id="32" name="Image 31">
            <a:extLst>
              <a:ext uri="{FF2B5EF4-FFF2-40B4-BE49-F238E27FC236}">
                <a16:creationId xmlns:a16="http://schemas.microsoft.com/office/drawing/2014/main" id="{0D825CDB-4D11-AAFE-EDEC-0D8A5F38B9A8}"/>
              </a:ext>
            </a:extLst>
          </p:cNvPr>
          <p:cNvPicPr>
            <a:picLocks noChangeAspect="1"/>
          </p:cNvPicPr>
          <p:nvPr/>
        </p:nvPicPr>
        <p:blipFill>
          <a:blip r:embed="rId4"/>
          <a:stretch>
            <a:fillRect/>
          </a:stretch>
        </p:blipFill>
        <p:spPr>
          <a:xfrm>
            <a:off x="9724644" y="-443705"/>
            <a:ext cx="2437453" cy="1723866"/>
          </a:xfrm>
          <a:prstGeom prst="rect">
            <a:avLst/>
          </a:prstGeom>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10"/>
          <p:cNvSpPr>
            <a:spLocks noGrp="1"/>
          </p:cNvSpPr>
          <p:nvPr>
            <p:ph type="title" idx="110" hasCustomPrompt="1"/>
          </p:nvPr>
        </p:nvSpPr>
        <p:spPr>
          <a:xfrm>
            <a:off x="548640" y="457200"/>
            <a:ext cx="11094415" cy="777240"/>
          </a:xfrm>
          <a:prstGeom prst="rect">
            <a:avLst/>
          </a:prstGeom>
          <a:noFill/>
          <a:ln/>
        </p:spPr>
        <p:txBody>
          <a:bodyPr wrap="square" lIns="0" tIns="0" rIns="0" bIns="0" rtlCol="0" anchor="t"/>
          <a:lstStyle/>
          <a:p>
            <a:pPr marL="0" indent="0" algn="l">
              <a:buNone/>
            </a:pPr>
            <a:r>
              <a:rPr lang="en-US" sz="3200" dirty="0">
                <a:solidFill>
                  <a:schemeClr val="tx1"/>
                </a:solidFill>
              </a:rPr>
              <a:t>Move the nonlinearity into a local collision</a:t>
            </a:r>
            <a:endParaRPr lang="en-US" sz="3200" dirty="0"/>
          </a:p>
        </p:txBody>
      </p:sp>
      <p:sp>
        <p:nvSpPr>
          <p:cNvPr id="3" name="Shape 1"/>
          <p:cNvSpPr/>
          <p:nvPr/>
        </p:nvSpPr>
        <p:spPr>
          <a:xfrm>
            <a:off x="548640" y="1188720"/>
            <a:ext cx="91440" cy="91440"/>
          </a:xfrm>
          <a:prstGeom prst="rect">
            <a:avLst/>
          </a:prstGeom>
          <a:solidFill>
            <a:schemeClr val="accent2"/>
          </a:solidFill>
          <a:ln/>
        </p:spPr>
        <p:txBody>
          <a:bodyPr/>
          <a:lstStyle/>
          <a:p>
            <a:endParaRPr lang="fr-FR"/>
          </a:p>
        </p:txBody>
      </p:sp>
      <p:sp>
        <p:nvSpPr>
          <p:cNvPr id="4" name="Text 2"/>
          <p:cNvSpPr txBox="1"/>
          <p:nvPr/>
        </p:nvSpPr>
        <p:spPr>
          <a:xfrm>
            <a:off x="731520" y="1097280"/>
            <a:ext cx="9144000" cy="274320"/>
          </a:xfrm>
          <a:prstGeom prst="rect">
            <a:avLst/>
          </a:prstGeom>
          <a:noFill/>
          <a:ln/>
        </p:spPr>
        <p:txBody>
          <a:bodyPr wrap="square" lIns="0" tIns="0" rIns="0" bIns="0" rtlCol="0" anchor="ctr"/>
          <a:lstStyle/>
          <a:p>
            <a:pPr marL="0" indent="0">
              <a:buNone/>
            </a:pPr>
            <a:r>
              <a:rPr lang="en-US" sz="1200" b="1" kern="0" spc="200" dirty="0">
                <a:solidFill>
                  <a:schemeClr val="tx2"/>
                </a:solidFill>
              </a:rPr>
              <a:t>LATTICE BOLTZMANN + CARLEMAN</a:t>
            </a:r>
            <a:endParaRPr lang="en-US" sz="1200" dirty="0"/>
          </a:p>
        </p:txBody>
      </p:sp>
      <p:sp>
        <p:nvSpPr>
          <p:cNvPr id="5" name="Text 3"/>
          <p:cNvSpPr txBox="1"/>
          <p:nvPr/>
        </p:nvSpPr>
        <p:spPr>
          <a:xfrm>
            <a:off x="548640" y="1691640"/>
            <a:ext cx="5577840" cy="3931920"/>
          </a:xfrm>
          <a:prstGeom prst="rect">
            <a:avLst/>
          </a:prstGeom>
          <a:noFill/>
          <a:ln/>
        </p:spPr>
        <p:txBody>
          <a:bodyPr wrap="square" lIns="0" tIns="0" rIns="0" bIns="0" rtlCol="0" anchor="t"/>
          <a:lstStyle/>
          <a:p>
            <a:pPr marL="203200" indent="-203200">
              <a:spcAft>
                <a:spcPts val="1200"/>
              </a:spcAft>
              <a:buSzPct val="100000"/>
              <a:buChar char="•"/>
            </a:pPr>
            <a:r>
              <a:rPr lang="en-US" sz="1500" dirty="0">
                <a:solidFill>
                  <a:schemeClr val="tx1"/>
                </a:solidFill>
              </a:rPr>
              <a:t>Navier–Stokes: the nonlinearity u·∇u grows with the Reynolds number, where Carleman fails</a:t>
            </a:r>
            <a:endParaRPr lang="en-US" sz="1500" dirty="0"/>
          </a:p>
          <a:p>
            <a:pPr marL="203200" indent="-203200">
              <a:spcAft>
                <a:spcPts val="1200"/>
              </a:spcAft>
              <a:buSzPct val="100000"/>
              <a:buChar char="•"/>
            </a:pPr>
            <a:r>
              <a:rPr lang="en-US" sz="1500" dirty="0">
                <a:solidFill>
                  <a:schemeClr val="tx1"/>
                </a:solidFill>
              </a:rPr>
              <a:t>Lattice Boltzmann: populations fᵢ stream along velocities cᵢ and relax toward a local equilibrium</a:t>
            </a:r>
            <a:endParaRPr lang="en-US" sz="1500" dirty="0"/>
          </a:p>
          <a:p>
            <a:pPr marL="203200" indent="-203200">
              <a:spcAft>
                <a:spcPts val="1200"/>
              </a:spcAft>
              <a:buSzPct val="100000"/>
              <a:buChar char="•"/>
            </a:pPr>
            <a:r>
              <a:rPr lang="en-US" sz="1500" dirty="0">
                <a:solidFill>
                  <a:schemeClr val="tx1"/>
                </a:solidFill>
              </a:rPr>
              <a:t>Streaming S is a permutation: a shift circuit on qubits</a:t>
            </a:r>
            <a:endParaRPr lang="en-US" sz="1500" dirty="0"/>
          </a:p>
          <a:p>
            <a:pPr marL="203200" indent="-203200">
              <a:spcAft>
                <a:spcPts val="1200"/>
              </a:spcAft>
              <a:buSzPct val="100000"/>
              <a:buChar char="•"/>
            </a:pPr>
            <a:r>
              <a:rPr lang="en-US" sz="1500" dirty="0">
                <a:solidFill>
                  <a:schemeClr val="tx1"/>
                </a:solidFill>
              </a:rPr>
              <a:t>Collision is quadratic in f, with strength set by the Mach number u/cₛ</a:t>
            </a:r>
            <a:endParaRPr lang="en-US" sz="1500" dirty="0"/>
          </a:p>
        </p:txBody>
      </p:sp>
      <p:sp>
        <p:nvSpPr>
          <p:cNvPr id="6" name="Equations"/>
          <p:cNvSpPr/>
          <p:nvPr/>
        </p:nvSpPr>
        <p:spPr>
          <a:xfrm>
            <a:off x="6583680" y="1600200"/>
            <a:ext cx="5059375" cy="3977640"/>
          </a:xfrm>
          <a:prstGeom prst="roundRect">
            <a:avLst>
              <a:gd name="adj" fmla="val 3448"/>
            </a:avLst>
          </a:prstGeom>
          <a:solidFill>
            <a:schemeClr val="bg2"/>
          </a:solidFill>
          <a:ln w="12700">
            <a:solidFill>
              <a:schemeClr val="accent1"/>
            </a:solidFill>
            <a:prstDash val="solid"/>
          </a:ln>
        </p:spPr>
        <p:txBody>
          <a:bodyPr/>
          <a:lstStyle/>
          <a:p>
            <a:endParaRPr lang="fr-FR"/>
          </a:p>
        </p:txBody>
      </p:sp>
      <p:pic>
        <p:nvPicPr>
          <p:cNvPr id="7" name="Image 0" descr="f_i(x + c_i, t + 1) = f_i - omega (f_i - f_i^eq)"/>
          <p:cNvPicPr>
            <a:picLocks noChangeAspect="1"/>
          </p:cNvPicPr>
          <p:nvPr/>
        </p:nvPicPr>
        <p:blipFill>
          <a:blip r:embed="rId3"/>
          <a:stretch>
            <a:fillRect/>
          </a:stretch>
        </p:blipFill>
        <p:spPr>
          <a:xfrm>
            <a:off x="7058711" y="1874520"/>
            <a:ext cx="4109314" cy="393649"/>
          </a:xfrm>
          <a:prstGeom prst="rect">
            <a:avLst/>
          </a:prstGeom>
        </p:spPr>
      </p:pic>
      <p:pic>
        <p:nvPicPr>
          <p:cNvPr id="8" name="Image 1" descr="f_i^eq = w_i (rho + c_i J / cs^2 + (c_i^2 - cs^2) J^2 / (2 cs^4))"/>
          <p:cNvPicPr>
            <a:picLocks noChangeAspect="1"/>
          </p:cNvPicPr>
          <p:nvPr/>
        </p:nvPicPr>
        <p:blipFill>
          <a:blip r:embed="rId4"/>
          <a:stretch>
            <a:fillRect/>
          </a:stretch>
        </p:blipFill>
        <p:spPr>
          <a:xfrm>
            <a:off x="7394753" y="2451049"/>
            <a:ext cx="3437230" cy="624078"/>
          </a:xfrm>
          <a:prstGeom prst="rect">
            <a:avLst/>
          </a:prstGeom>
        </p:spPr>
      </p:pic>
      <p:sp>
        <p:nvSpPr>
          <p:cNvPr id="9" name="Shape 5"/>
          <p:cNvSpPr/>
          <p:nvPr/>
        </p:nvSpPr>
        <p:spPr>
          <a:xfrm>
            <a:off x="7040880" y="3303727"/>
            <a:ext cx="4144975" cy="0"/>
          </a:xfrm>
          <a:prstGeom prst="line">
            <a:avLst/>
          </a:prstGeom>
          <a:noFill/>
          <a:ln w="9525">
            <a:solidFill>
              <a:srgbClr val="3C3F4C"/>
            </a:solidFill>
            <a:prstDash val="solid"/>
          </a:ln>
        </p:spPr>
        <p:txBody>
          <a:bodyPr/>
          <a:lstStyle/>
          <a:p>
            <a:endParaRPr lang="fr-FR"/>
          </a:p>
        </p:txBody>
      </p:sp>
      <p:pic>
        <p:nvPicPr>
          <p:cNvPr id="10" name="Image 2" descr="f maps to S (C1 f + C2 f tensor f)"/>
          <p:cNvPicPr>
            <a:picLocks noChangeAspect="1"/>
          </p:cNvPicPr>
          <p:nvPr/>
        </p:nvPicPr>
        <p:blipFill>
          <a:blip r:embed="rId5"/>
          <a:stretch>
            <a:fillRect/>
          </a:stretch>
        </p:blipFill>
        <p:spPr>
          <a:xfrm>
            <a:off x="7624724" y="3486607"/>
            <a:ext cx="2977286" cy="402336"/>
          </a:xfrm>
          <a:prstGeom prst="rect">
            <a:avLst/>
          </a:prstGeom>
        </p:spPr>
      </p:pic>
      <p:sp>
        <p:nvSpPr>
          <p:cNvPr id="11" name="Text 6"/>
          <p:cNvSpPr txBox="1"/>
          <p:nvPr/>
        </p:nvSpPr>
        <p:spPr>
          <a:xfrm>
            <a:off x="6766560" y="4208983"/>
            <a:ext cx="4693615" cy="274320"/>
          </a:xfrm>
          <a:prstGeom prst="rect">
            <a:avLst/>
          </a:prstGeom>
          <a:noFill/>
          <a:ln/>
        </p:spPr>
        <p:txBody>
          <a:bodyPr wrap="square" lIns="0" tIns="0" rIns="0" bIns="0" rtlCol="0" anchor="ctr"/>
          <a:lstStyle/>
          <a:p>
            <a:pPr marL="0" indent="0" algn="ctr">
              <a:buNone/>
            </a:pPr>
            <a:r>
              <a:rPr lang="en-US" sz="1100" dirty="0">
                <a:solidFill>
                  <a:schemeClr val="tx2"/>
                </a:solidFill>
              </a:rPr>
              <a:t>D1Q3: cᵢ ∈ {0, +1, −1}, cₛ² = 1/3, viscosity ν = cₛ²(1/ω − 1/2)</a:t>
            </a:r>
            <a:endParaRPr lang="en-US" sz="1100" dirty="0"/>
          </a:p>
        </p:txBody>
      </p:sp>
      <p:sp>
        <p:nvSpPr>
          <p:cNvPr id="12" name="Text 7"/>
          <p:cNvSpPr txBox="1"/>
          <p:nvPr/>
        </p:nvSpPr>
        <p:spPr>
          <a:xfrm>
            <a:off x="548640" y="5897880"/>
            <a:ext cx="11094415" cy="274320"/>
          </a:xfrm>
          <a:prstGeom prst="rect">
            <a:avLst/>
          </a:prstGeom>
          <a:noFill/>
          <a:ln/>
        </p:spPr>
        <p:txBody>
          <a:bodyPr wrap="square" lIns="0" tIns="0" rIns="0" bIns="0" rtlCol="0" anchor="ctr"/>
          <a:lstStyle/>
          <a:p>
            <a:pPr marL="0" indent="0">
              <a:buNone/>
            </a:pPr>
            <a:r>
              <a:rPr lang="en-US" sz="1100" i="1" dirty="0">
                <a:solidFill>
                  <a:schemeClr val="tx2"/>
                </a:solidFill>
              </a:rPr>
              <a:t>Lattice Boltzmann notebook · Itani, Succi, Fluids 7, 24 (2022) · Sanavio, Succi, AVS Quantum Sci. 6, 023802 (2024)</a:t>
            </a:r>
            <a:endParaRPr lang="en-US" sz="1100" dirty="0"/>
          </a:p>
        </p:txBody>
      </p:sp>
      <p:sp>
        <p:nvSpPr>
          <p:cNvPr id="25" name="Slide Number Placeholder 0"/>
          <p:cNvSpPr>
            <a:spLocks noGrp="1"/>
          </p:cNvSpPr>
          <p:nvPr>
            <p:ph type="sldNum" sz="quarter" idx="4294967295"/>
          </p:nvPr>
        </p:nvSpPr>
        <p:spPr>
          <a:xfrm>
            <a:off x="11094415" y="6327648"/>
            <a:ext cx="548640" cy="274320"/>
          </a:xfrm>
          <a:prstGeom prst="rect">
            <a:avLst/>
          </a:prstGeom>
          <a:extLst>
            <a:ext uri="{C572A759-6A51-4108-AA02-DFA0A04FC94B}">
              <ma14:wrappingTextBoxFlag xmlns:ma14="http://schemas.microsoft.com/office/mac/drawingml/2011/main" xmlns="" val="0"/>
            </a:ext>
          </a:extLst>
        </p:spPr>
        <p:txBody>
          <a:bodyPr lIns="0" tIns="0" rIns="0" bIns="0" anchor="ctr"/>
          <a:lstStyle>
            <a:lvl1pPr>
              <a:defRPr sz="1000">
                <a:solidFill>
                  <a:srgbClr val="9AA3BD"/>
                </a:solidFill>
              </a:defRPr>
            </a:lvl1pPr>
          </a:lstStyle>
          <a:p>
            <a:pPr algn="r"/>
            <a:fld id="{F7021451-1387-4CA6-816F-3879F97B5CBC}" type="slidenum">
              <a:rPr lang="en-US" b="0"/>
              <a:t>34</a:t>
            </a:fld>
            <a:endParaRPr lang="en-US"/>
          </a:p>
        </p:txBody>
      </p:sp>
      <p:pic>
        <p:nvPicPr>
          <p:cNvPr id="14" name="Image 13">
            <a:extLst>
              <a:ext uri="{FF2B5EF4-FFF2-40B4-BE49-F238E27FC236}">
                <a16:creationId xmlns:a16="http://schemas.microsoft.com/office/drawing/2014/main" id="{500A85C6-CEF3-4E68-B5D0-6897ECF4947B}"/>
              </a:ext>
            </a:extLst>
          </p:cNvPr>
          <p:cNvPicPr>
            <a:picLocks noChangeAspect="1"/>
          </p:cNvPicPr>
          <p:nvPr/>
        </p:nvPicPr>
        <p:blipFill>
          <a:blip r:embed="rId6"/>
          <a:stretch>
            <a:fillRect/>
          </a:stretch>
        </p:blipFill>
        <p:spPr>
          <a:xfrm>
            <a:off x="9724644" y="-443705"/>
            <a:ext cx="2437453" cy="1723866"/>
          </a:xfrm>
          <a:prstGeom prst="rect">
            <a:avLst/>
          </a:prstGeom>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10"/>
          <p:cNvSpPr>
            <a:spLocks noGrp="1"/>
          </p:cNvSpPr>
          <p:nvPr>
            <p:ph type="title" idx="110" hasCustomPrompt="1"/>
          </p:nvPr>
        </p:nvSpPr>
        <p:spPr>
          <a:xfrm>
            <a:off x="548640" y="457200"/>
            <a:ext cx="11094415" cy="777240"/>
          </a:xfrm>
          <a:prstGeom prst="rect">
            <a:avLst/>
          </a:prstGeom>
          <a:noFill/>
          <a:ln/>
        </p:spPr>
        <p:txBody>
          <a:bodyPr wrap="square" lIns="0" tIns="0" rIns="0" bIns="0" rtlCol="0" anchor="t"/>
          <a:lstStyle/>
          <a:p>
            <a:pPr marL="0" indent="0" algn="l">
              <a:buNone/>
            </a:pPr>
            <a:r>
              <a:rPr lang="en-US" sz="3200" dirty="0">
                <a:solidFill>
                  <a:schemeClr val="tx1"/>
                </a:solidFill>
              </a:rPr>
              <a:t>The Mach number controls the error</a:t>
            </a:r>
            <a:endParaRPr lang="en-US" sz="3200" dirty="0"/>
          </a:p>
        </p:txBody>
      </p:sp>
      <p:sp>
        <p:nvSpPr>
          <p:cNvPr id="3" name="Shape 1"/>
          <p:cNvSpPr/>
          <p:nvPr/>
        </p:nvSpPr>
        <p:spPr>
          <a:xfrm>
            <a:off x="548640" y="1188720"/>
            <a:ext cx="91440" cy="91440"/>
          </a:xfrm>
          <a:prstGeom prst="rect">
            <a:avLst/>
          </a:prstGeom>
          <a:solidFill>
            <a:schemeClr val="accent2"/>
          </a:solidFill>
          <a:ln/>
        </p:spPr>
        <p:txBody>
          <a:bodyPr/>
          <a:lstStyle/>
          <a:p>
            <a:endParaRPr lang="fr-FR"/>
          </a:p>
        </p:txBody>
      </p:sp>
      <p:sp>
        <p:nvSpPr>
          <p:cNvPr id="4" name="Text 2"/>
          <p:cNvSpPr txBox="1"/>
          <p:nvPr/>
        </p:nvSpPr>
        <p:spPr>
          <a:xfrm>
            <a:off x="731520" y="1097280"/>
            <a:ext cx="9144000" cy="274320"/>
          </a:xfrm>
          <a:prstGeom prst="rect">
            <a:avLst/>
          </a:prstGeom>
          <a:noFill/>
          <a:ln/>
        </p:spPr>
        <p:txBody>
          <a:bodyPr wrap="square" lIns="0" tIns="0" rIns="0" bIns="0" rtlCol="0" anchor="ctr"/>
          <a:lstStyle/>
          <a:p>
            <a:pPr marL="0" indent="0">
              <a:buNone/>
            </a:pPr>
            <a:r>
              <a:rPr lang="en-US" sz="1200" b="1" kern="0" spc="200" dirty="0">
                <a:solidFill>
                  <a:schemeClr val="tx2"/>
                </a:solidFill>
              </a:rPr>
              <a:t>LATTICE BOLTZMANN  ·  RESULTS</a:t>
            </a:r>
            <a:endParaRPr lang="en-US" sz="1200" dirty="0"/>
          </a:p>
        </p:txBody>
      </p:sp>
      <p:sp>
        <p:nvSpPr>
          <p:cNvPr id="5" name="Chart tile"/>
          <p:cNvSpPr/>
          <p:nvPr/>
        </p:nvSpPr>
        <p:spPr>
          <a:xfrm>
            <a:off x="548640" y="1600200"/>
            <a:ext cx="5852160" cy="3886200"/>
          </a:xfrm>
          <a:prstGeom prst="roundRect">
            <a:avLst>
              <a:gd name="adj" fmla="val 2824"/>
            </a:avLst>
          </a:prstGeom>
          <a:solidFill>
            <a:schemeClr val="tx1"/>
          </a:solidFill>
          <a:ln/>
        </p:spPr>
        <p:txBody>
          <a:bodyPr/>
          <a:lstStyle/>
          <a:p>
            <a:endParaRPr lang="fr-FR"/>
          </a:p>
        </p:txBody>
      </p:sp>
      <p:pic>
        <p:nvPicPr>
          <p:cNvPr id="6" name="Image 0" descr="Relative momentum error versus Mach number for Carleman orders 1, 2 and 3; error rises with Mach and N=3 is lowest, 7e-8 at Ma 0.02"/>
          <p:cNvPicPr>
            <a:picLocks noChangeAspect="1"/>
          </p:cNvPicPr>
          <p:nvPr/>
        </p:nvPicPr>
        <p:blipFill>
          <a:blip r:embed="rId3"/>
          <a:stretch>
            <a:fillRect/>
          </a:stretch>
        </p:blipFill>
        <p:spPr>
          <a:xfrm>
            <a:off x="795814" y="1691640"/>
            <a:ext cx="5357813" cy="3429000"/>
          </a:xfrm>
          <a:prstGeom prst="rect">
            <a:avLst/>
          </a:prstGeom>
        </p:spPr>
      </p:pic>
      <p:sp>
        <p:nvSpPr>
          <p:cNvPr id="7" name="Text 4"/>
          <p:cNvSpPr txBox="1"/>
          <p:nvPr/>
        </p:nvSpPr>
        <p:spPr>
          <a:xfrm>
            <a:off x="777240" y="5138928"/>
            <a:ext cx="5394960" cy="274320"/>
          </a:xfrm>
          <a:prstGeom prst="rect">
            <a:avLst/>
          </a:prstGeom>
          <a:noFill/>
          <a:ln/>
        </p:spPr>
        <p:txBody>
          <a:bodyPr wrap="square" lIns="0" tIns="0" rIns="0" bIns="0" rtlCol="0" anchor="ctr"/>
          <a:lstStyle/>
          <a:p>
            <a:pPr marL="0" indent="0">
              <a:buNone/>
            </a:pPr>
            <a:r>
              <a:rPr lang="en-US" sz="1100" dirty="0">
                <a:solidFill>
                  <a:schemeClr val="bg1"/>
                </a:solidFill>
              </a:rPr>
              <a:t>D1Q3, 8 sites, ω = 1, error after 20 time steps</a:t>
            </a:r>
            <a:endParaRPr lang="en-US" sz="1100" dirty="0"/>
          </a:p>
        </p:txBody>
      </p:sp>
      <p:sp>
        <p:nvSpPr>
          <p:cNvPr id="8" name="Text 5"/>
          <p:cNvSpPr txBox="1"/>
          <p:nvPr/>
        </p:nvSpPr>
        <p:spPr>
          <a:xfrm>
            <a:off x="6720840" y="1600200"/>
            <a:ext cx="4922215" cy="365760"/>
          </a:xfrm>
          <a:prstGeom prst="rect">
            <a:avLst/>
          </a:prstGeom>
          <a:noFill/>
          <a:ln/>
        </p:spPr>
        <p:txBody>
          <a:bodyPr wrap="square" lIns="0" tIns="0" rIns="0" bIns="0" rtlCol="0" anchor="ctr"/>
          <a:lstStyle/>
          <a:p>
            <a:pPr marL="0" indent="0">
              <a:buNone/>
            </a:pPr>
            <a:r>
              <a:rPr lang="en-US" sz="1600" b="1" dirty="0">
                <a:solidFill>
                  <a:schemeClr val="tx1"/>
                </a:solidFill>
              </a:rPr>
              <a:t>Carleman size at Ma = 0.17</a:t>
            </a:r>
            <a:endParaRPr lang="en-US" sz="1600" dirty="0"/>
          </a:p>
        </p:txBody>
      </p:sp>
      <p:graphicFrame>
        <p:nvGraphicFramePr>
          <p:cNvPr id="9" name="Carleman LB size"/>
          <p:cNvGraphicFramePr>
            <a:graphicFrameLocks noGrp="1"/>
          </p:cNvGraphicFramePr>
          <p:nvPr/>
        </p:nvGraphicFramePr>
        <p:xfrm>
          <a:off x="6720840" y="2057400"/>
          <a:ext cx="4922215" cy="1389888"/>
        </p:xfrm>
        <a:graphic>
          <a:graphicData uri="http://schemas.openxmlformats.org/drawingml/2006/table">
            <a:tbl>
              <a:tblPr/>
              <a:tblGrid>
                <a:gridCol w="640080">
                  <a:extLst>
                    <a:ext uri="{9D8B030D-6E8A-4147-A177-3AD203B41FA5}">
                      <a16:colId xmlns:a16="http://schemas.microsoft.com/office/drawing/2014/main" val="20000"/>
                    </a:ext>
                  </a:extLst>
                </a:gridCol>
                <a:gridCol w="1371600">
                  <a:extLst>
                    <a:ext uri="{9D8B030D-6E8A-4147-A177-3AD203B41FA5}">
                      <a16:colId xmlns:a16="http://schemas.microsoft.com/office/drawing/2014/main" val="20001"/>
                    </a:ext>
                  </a:extLst>
                </a:gridCol>
                <a:gridCol w="1097280">
                  <a:extLst>
                    <a:ext uri="{9D8B030D-6E8A-4147-A177-3AD203B41FA5}">
                      <a16:colId xmlns:a16="http://schemas.microsoft.com/office/drawing/2014/main" val="20002"/>
                    </a:ext>
                  </a:extLst>
                </a:gridCol>
                <a:gridCol w="1813255">
                  <a:extLst>
                    <a:ext uri="{9D8B030D-6E8A-4147-A177-3AD203B41FA5}">
                      <a16:colId xmlns:a16="http://schemas.microsoft.com/office/drawing/2014/main" val="20003"/>
                    </a:ext>
                  </a:extLst>
                </a:gridCol>
              </a:tblGrid>
              <a:tr h="347472">
                <a:tc>
                  <a:txBody>
                    <a:bodyPr/>
                    <a:lstStyle/>
                    <a:p>
                      <a:pPr marL="0" indent="0" algn="l">
                        <a:buNone/>
                      </a:pPr>
                      <a:r>
                        <a:rPr lang="en-US" sz="1100" b="1" dirty="0">
                          <a:solidFill>
                            <a:srgbClr val="9AA3BD"/>
                          </a:solidFill>
                          <a:latin typeface="Aptos" pitchFamily="34" charset="0"/>
                          <a:ea typeface="Aptos" pitchFamily="34" charset="-122"/>
                          <a:cs typeface="Aptos" pitchFamily="34" charset="-120"/>
                        </a:rPr>
                        <a:t>N</a:t>
                      </a:r>
                      <a:endParaRPr lang="en-US" sz="1100" dirty="0">
                        <a:latin typeface="Aptos" charset="0"/>
                        <a:ea typeface="Aptos" charset="0"/>
                        <a:cs typeface="Aptos" charset="0"/>
                      </a:endParaRPr>
                    </a:p>
                  </a:txBody>
                  <a:tcPr marL="109728" marR="109728" marT="0" marB="0" anchor="ctr">
                    <a:lnL w="9525" cap="flat" cmpd="sng" algn="ctr">
                      <a:solidFill>
                        <a:srgbClr val="3C3F4C"/>
                      </a:solidFill>
                      <a:prstDash val="solid"/>
                      <a:round/>
                      <a:headEnd type="none" w="med" len="med"/>
                      <a:tailEnd type="none" w="med" len="med"/>
                    </a:lnL>
                    <a:lnR w="9525" cap="flat" cmpd="sng" algn="ctr">
                      <a:solidFill>
                        <a:srgbClr val="3C3F4C"/>
                      </a:solidFill>
                      <a:prstDash val="solid"/>
                      <a:round/>
                      <a:headEnd type="none" w="med" len="med"/>
                      <a:tailEnd type="none" w="med" len="med"/>
                    </a:lnR>
                    <a:lnT w="9525" cap="flat" cmpd="sng" algn="ctr">
                      <a:solidFill>
                        <a:srgbClr val="3C3F4C"/>
                      </a:solidFill>
                      <a:prstDash val="solid"/>
                      <a:round/>
                      <a:headEnd type="none" w="med" len="med"/>
                      <a:tailEnd type="none" w="med" len="med"/>
                    </a:lnT>
                    <a:lnB w="9525" cap="flat" cmpd="sng" algn="ctr">
                      <a:solidFill>
                        <a:srgbClr val="3C3F4C"/>
                      </a:solidFill>
                      <a:prstDash val="solid"/>
                      <a:round/>
                      <a:headEnd type="none" w="med" len="med"/>
                      <a:tailEnd type="none" w="med" len="med"/>
                    </a:lnB>
                    <a:solidFill>
                      <a:srgbClr val="161B30"/>
                    </a:solidFill>
                  </a:tcPr>
                </a:tc>
                <a:tc>
                  <a:txBody>
                    <a:bodyPr/>
                    <a:lstStyle/>
                    <a:p>
                      <a:pPr marL="0" indent="0" algn="r">
                        <a:buNone/>
                      </a:pPr>
                      <a:r>
                        <a:rPr lang="en-US" sz="1100" b="1" dirty="0">
                          <a:solidFill>
                            <a:srgbClr val="9AA3BD"/>
                          </a:solidFill>
                          <a:latin typeface="Aptos" pitchFamily="34" charset="0"/>
                          <a:ea typeface="Aptos" pitchFamily="34" charset="-122"/>
                          <a:cs typeface="Aptos" pitchFamily="34" charset="-120"/>
                        </a:rPr>
                        <a:t>Dimension</a:t>
                      </a:r>
                      <a:endParaRPr lang="en-US" sz="1100" dirty="0">
                        <a:latin typeface="Aptos" charset="0"/>
                        <a:ea typeface="Aptos" charset="0"/>
                        <a:cs typeface="Aptos" charset="0"/>
                      </a:endParaRPr>
                    </a:p>
                  </a:txBody>
                  <a:tcPr marL="109728" marR="109728" marT="0" marB="0" anchor="ctr">
                    <a:lnL w="9525" cap="flat" cmpd="sng" algn="ctr">
                      <a:solidFill>
                        <a:srgbClr val="3C3F4C"/>
                      </a:solidFill>
                      <a:prstDash val="solid"/>
                      <a:round/>
                      <a:headEnd type="none" w="med" len="med"/>
                      <a:tailEnd type="none" w="med" len="med"/>
                    </a:lnL>
                    <a:lnR w="9525" cap="flat" cmpd="sng" algn="ctr">
                      <a:solidFill>
                        <a:srgbClr val="3C3F4C"/>
                      </a:solidFill>
                      <a:prstDash val="solid"/>
                      <a:round/>
                      <a:headEnd type="none" w="med" len="med"/>
                      <a:tailEnd type="none" w="med" len="med"/>
                    </a:lnR>
                    <a:lnT w="9525" cap="flat" cmpd="sng" algn="ctr">
                      <a:solidFill>
                        <a:srgbClr val="3C3F4C"/>
                      </a:solidFill>
                      <a:prstDash val="solid"/>
                      <a:round/>
                      <a:headEnd type="none" w="med" len="med"/>
                      <a:tailEnd type="none" w="med" len="med"/>
                    </a:lnT>
                    <a:lnB w="9525" cap="flat" cmpd="sng" algn="ctr">
                      <a:solidFill>
                        <a:srgbClr val="3C3F4C"/>
                      </a:solidFill>
                      <a:prstDash val="solid"/>
                      <a:round/>
                      <a:headEnd type="none" w="med" len="med"/>
                      <a:tailEnd type="none" w="med" len="med"/>
                    </a:lnB>
                    <a:solidFill>
                      <a:srgbClr val="161B30"/>
                    </a:solidFill>
                  </a:tcPr>
                </a:tc>
                <a:tc>
                  <a:txBody>
                    <a:bodyPr/>
                    <a:lstStyle/>
                    <a:p>
                      <a:pPr marL="0" indent="0" algn="r">
                        <a:buNone/>
                      </a:pPr>
                      <a:r>
                        <a:rPr lang="en-US" sz="1100" b="1" dirty="0">
                          <a:solidFill>
                            <a:srgbClr val="9AA3BD"/>
                          </a:solidFill>
                          <a:latin typeface="Aptos" pitchFamily="34" charset="0"/>
                          <a:ea typeface="Aptos" pitchFamily="34" charset="-122"/>
                          <a:cs typeface="Aptos" pitchFamily="34" charset="-120"/>
                        </a:rPr>
                        <a:t>Qubits</a:t>
                      </a:r>
                      <a:endParaRPr lang="en-US" sz="1100" dirty="0">
                        <a:latin typeface="Aptos" charset="0"/>
                        <a:ea typeface="Aptos" charset="0"/>
                        <a:cs typeface="Aptos" charset="0"/>
                      </a:endParaRPr>
                    </a:p>
                  </a:txBody>
                  <a:tcPr marL="109728" marR="109728" marT="0" marB="0" anchor="ctr">
                    <a:lnL w="9525" cap="flat" cmpd="sng" algn="ctr">
                      <a:solidFill>
                        <a:srgbClr val="3C3F4C"/>
                      </a:solidFill>
                      <a:prstDash val="solid"/>
                      <a:round/>
                      <a:headEnd type="none" w="med" len="med"/>
                      <a:tailEnd type="none" w="med" len="med"/>
                    </a:lnL>
                    <a:lnR w="9525" cap="flat" cmpd="sng" algn="ctr">
                      <a:solidFill>
                        <a:srgbClr val="3C3F4C"/>
                      </a:solidFill>
                      <a:prstDash val="solid"/>
                      <a:round/>
                      <a:headEnd type="none" w="med" len="med"/>
                      <a:tailEnd type="none" w="med" len="med"/>
                    </a:lnR>
                    <a:lnT w="9525" cap="flat" cmpd="sng" algn="ctr">
                      <a:solidFill>
                        <a:srgbClr val="3C3F4C"/>
                      </a:solidFill>
                      <a:prstDash val="solid"/>
                      <a:round/>
                      <a:headEnd type="none" w="med" len="med"/>
                      <a:tailEnd type="none" w="med" len="med"/>
                    </a:lnT>
                    <a:lnB w="9525" cap="flat" cmpd="sng" algn="ctr">
                      <a:solidFill>
                        <a:srgbClr val="3C3F4C"/>
                      </a:solidFill>
                      <a:prstDash val="solid"/>
                      <a:round/>
                      <a:headEnd type="none" w="med" len="med"/>
                      <a:tailEnd type="none" w="med" len="med"/>
                    </a:lnB>
                    <a:solidFill>
                      <a:srgbClr val="161B30"/>
                    </a:solidFill>
                  </a:tcPr>
                </a:tc>
                <a:tc>
                  <a:txBody>
                    <a:bodyPr/>
                    <a:lstStyle/>
                    <a:p>
                      <a:pPr marL="0" indent="0" algn="r">
                        <a:buNone/>
                      </a:pPr>
                      <a:r>
                        <a:rPr lang="en-US" sz="1100" b="1" dirty="0">
                          <a:solidFill>
                            <a:srgbClr val="9AA3BD"/>
                          </a:solidFill>
                          <a:latin typeface="Aptos" pitchFamily="34" charset="0"/>
                          <a:ea typeface="Aptos" pitchFamily="34" charset="-122"/>
                          <a:cs typeface="Aptos" pitchFamily="34" charset="-120"/>
                        </a:rPr>
                        <a:t>Rel. error</a:t>
                      </a:r>
                      <a:endParaRPr lang="en-US" sz="1100" dirty="0">
                        <a:latin typeface="Aptos" charset="0"/>
                        <a:ea typeface="Aptos" charset="0"/>
                        <a:cs typeface="Aptos" charset="0"/>
                      </a:endParaRPr>
                    </a:p>
                  </a:txBody>
                  <a:tcPr marL="109728" marR="109728" marT="0" marB="0" anchor="ctr">
                    <a:lnL w="9525" cap="flat" cmpd="sng" algn="ctr">
                      <a:solidFill>
                        <a:srgbClr val="3C3F4C"/>
                      </a:solidFill>
                      <a:prstDash val="solid"/>
                      <a:round/>
                      <a:headEnd type="none" w="med" len="med"/>
                      <a:tailEnd type="none" w="med" len="med"/>
                    </a:lnL>
                    <a:lnR w="9525" cap="flat" cmpd="sng" algn="ctr">
                      <a:solidFill>
                        <a:srgbClr val="3C3F4C"/>
                      </a:solidFill>
                      <a:prstDash val="solid"/>
                      <a:round/>
                      <a:headEnd type="none" w="med" len="med"/>
                      <a:tailEnd type="none" w="med" len="med"/>
                    </a:lnR>
                    <a:lnT w="9525" cap="flat" cmpd="sng" algn="ctr">
                      <a:solidFill>
                        <a:srgbClr val="3C3F4C"/>
                      </a:solidFill>
                      <a:prstDash val="solid"/>
                      <a:round/>
                      <a:headEnd type="none" w="med" len="med"/>
                      <a:tailEnd type="none" w="med" len="med"/>
                    </a:lnT>
                    <a:lnB w="9525" cap="flat" cmpd="sng" algn="ctr">
                      <a:solidFill>
                        <a:srgbClr val="3C3F4C"/>
                      </a:solidFill>
                      <a:prstDash val="solid"/>
                      <a:round/>
                      <a:headEnd type="none" w="med" len="med"/>
                      <a:tailEnd type="none" w="med" len="med"/>
                    </a:lnB>
                    <a:solidFill>
                      <a:srgbClr val="161B30"/>
                    </a:solidFill>
                  </a:tcPr>
                </a:tc>
                <a:extLst>
                  <a:ext uri="{0D108BD9-81ED-4DB2-BD59-A6C34878D82A}">
                    <a16:rowId xmlns:a16="http://schemas.microsoft.com/office/drawing/2014/main" val="10000"/>
                  </a:ext>
                </a:extLst>
              </a:tr>
              <a:tr h="347472">
                <a:tc>
                  <a:txBody>
                    <a:bodyPr/>
                    <a:lstStyle/>
                    <a:p>
                      <a:pPr marL="0" indent="0" algn="l">
                        <a:buNone/>
                      </a:pPr>
                      <a:r>
                        <a:rPr lang="en-US" sz="1300" b="1" dirty="0">
                          <a:solidFill>
                            <a:srgbClr val="E9ECF3"/>
                          </a:solidFill>
                          <a:latin typeface="Aptos" pitchFamily="34" charset="0"/>
                          <a:ea typeface="Aptos" pitchFamily="34" charset="-122"/>
                          <a:cs typeface="Aptos" pitchFamily="34" charset="-120"/>
                        </a:rPr>
                        <a:t>1</a:t>
                      </a:r>
                      <a:endParaRPr lang="en-US" sz="1300" dirty="0">
                        <a:latin typeface="Aptos" charset="0"/>
                        <a:ea typeface="Aptos" charset="0"/>
                        <a:cs typeface="Aptos" charset="0"/>
                      </a:endParaRPr>
                    </a:p>
                  </a:txBody>
                  <a:tcPr marL="109728" marR="109728" marT="0" marB="0" anchor="ctr">
                    <a:lnL w="9525" cap="flat" cmpd="sng" algn="ctr">
                      <a:solidFill>
                        <a:srgbClr val="3C3F4C"/>
                      </a:solidFill>
                      <a:prstDash val="solid"/>
                      <a:round/>
                      <a:headEnd type="none" w="med" len="med"/>
                      <a:tailEnd type="none" w="med" len="med"/>
                    </a:lnL>
                    <a:lnR w="9525" cap="flat" cmpd="sng" algn="ctr">
                      <a:solidFill>
                        <a:srgbClr val="3C3F4C"/>
                      </a:solidFill>
                      <a:prstDash val="solid"/>
                      <a:round/>
                      <a:headEnd type="none" w="med" len="med"/>
                      <a:tailEnd type="none" w="med" len="med"/>
                    </a:lnR>
                    <a:lnT w="9525" cap="flat" cmpd="sng" algn="ctr">
                      <a:solidFill>
                        <a:srgbClr val="3C3F4C"/>
                      </a:solidFill>
                      <a:prstDash val="solid"/>
                      <a:round/>
                      <a:headEnd type="none" w="med" len="med"/>
                      <a:tailEnd type="none" w="med" len="med"/>
                    </a:lnT>
                    <a:lnB w="9525" cap="flat" cmpd="sng" algn="ctr">
                      <a:solidFill>
                        <a:srgbClr val="3C3F4C"/>
                      </a:solidFill>
                      <a:prstDash val="solid"/>
                      <a:round/>
                      <a:headEnd type="none" w="med" len="med"/>
                      <a:tailEnd type="none" w="med" len="med"/>
                    </a:lnB>
                    <a:solidFill>
                      <a:srgbClr val="161B30"/>
                    </a:solidFill>
                  </a:tcPr>
                </a:tc>
                <a:tc>
                  <a:txBody>
                    <a:bodyPr/>
                    <a:lstStyle/>
                    <a:p>
                      <a:pPr marL="0" indent="0" algn="r">
                        <a:buNone/>
                      </a:pPr>
                      <a:r>
                        <a:rPr lang="en-US" sz="1300" dirty="0">
                          <a:solidFill>
                            <a:srgbClr val="9AA3BD"/>
                          </a:solidFill>
                          <a:latin typeface="Aptos" pitchFamily="34" charset="0"/>
                          <a:ea typeface="Aptos" pitchFamily="34" charset="-122"/>
                          <a:cs typeface="Aptos" pitchFamily="34" charset="-120"/>
                        </a:rPr>
                        <a:t>24</a:t>
                      </a:r>
                      <a:endParaRPr lang="en-US" sz="1300" dirty="0">
                        <a:latin typeface="Aptos" charset="0"/>
                        <a:ea typeface="Aptos" charset="0"/>
                        <a:cs typeface="Aptos" charset="0"/>
                      </a:endParaRPr>
                    </a:p>
                  </a:txBody>
                  <a:tcPr marL="109728" marR="109728" marT="0" marB="0" anchor="ctr">
                    <a:lnL w="9525" cap="flat" cmpd="sng" algn="ctr">
                      <a:solidFill>
                        <a:srgbClr val="3C3F4C"/>
                      </a:solidFill>
                      <a:prstDash val="solid"/>
                      <a:round/>
                      <a:headEnd type="none" w="med" len="med"/>
                      <a:tailEnd type="none" w="med" len="med"/>
                    </a:lnL>
                    <a:lnR w="9525" cap="flat" cmpd="sng" algn="ctr">
                      <a:solidFill>
                        <a:srgbClr val="3C3F4C"/>
                      </a:solidFill>
                      <a:prstDash val="solid"/>
                      <a:round/>
                      <a:headEnd type="none" w="med" len="med"/>
                      <a:tailEnd type="none" w="med" len="med"/>
                    </a:lnR>
                    <a:lnT w="9525" cap="flat" cmpd="sng" algn="ctr">
                      <a:solidFill>
                        <a:srgbClr val="3C3F4C"/>
                      </a:solidFill>
                      <a:prstDash val="solid"/>
                      <a:round/>
                      <a:headEnd type="none" w="med" len="med"/>
                      <a:tailEnd type="none" w="med" len="med"/>
                    </a:lnT>
                    <a:lnB w="9525" cap="flat" cmpd="sng" algn="ctr">
                      <a:solidFill>
                        <a:srgbClr val="3C3F4C"/>
                      </a:solidFill>
                      <a:prstDash val="solid"/>
                      <a:round/>
                      <a:headEnd type="none" w="med" len="med"/>
                      <a:tailEnd type="none" w="med" len="med"/>
                    </a:lnB>
                    <a:solidFill>
                      <a:srgbClr val="161B30"/>
                    </a:solidFill>
                  </a:tcPr>
                </a:tc>
                <a:tc>
                  <a:txBody>
                    <a:bodyPr/>
                    <a:lstStyle/>
                    <a:p>
                      <a:pPr marL="0" indent="0" algn="r">
                        <a:buNone/>
                      </a:pPr>
                      <a:r>
                        <a:rPr lang="en-US" sz="1300" dirty="0">
                          <a:solidFill>
                            <a:srgbClr val="9AA3BD"/>
                          </a:solidFill>
                          <a:latin typeface="Aptos" pitchFamily="34" charset="0"/>
                          <a:ea typeface="Aptos" pitchFamily="34" charset="-122"/>
                          <a:cs typeface="Aptos" pitchFamily="34" charset="-120"/>
                        </a:rPr>
                        <a:t>5</a:t>
                      </a:r>
                      <a:endParaRPr lang="en-US" sz="1300" dirty="0">
                        <a:latin typeface="Aptos" charset="0"/>
                        <a:ea typeface="Aptos" charset="0"/>
                        <a:cs typeface="Aptos" charset="0"/>
                      </a:endParaRPr>
                    </a:p>
                  </a:txBody>
                  <a:tcPr marL="109728" marR="109728" marT="0" marB="0" anchor="ctr">
                    <a:lnL w="9525" cap="flat" cmpd="sng" algn="ctr">
                      <a:solidFill>
                        <a:srgbClr val="3C3F4C"/>
                      </a:solidFill>
                      <a:prstDash val="solid"/>
                      <a:round/>
                      <a:headEnd type="none" w="med" len="med"/>
                      <a:tailEnd type="none" w="med" len="med"/>
                    </a:lnL>
                    <a:lnR w="9525" cap="flat" cmpd="sng" algn="ctr">
                      <a:solidFill>
                        <a:srgbClr val="3C3F4C"/>
                      </a:solidFill>
                      <a:prstDash val="solid"/>
                      <a:round/>
                      <a:headEnd type="none" w="med" len="med"/>
                      <a:tailEnd type="none" w="med" len="med"/>
                    </a:lnR>
                    <a:lnT w="9525" cap="flat" cmpd="sng" algn="ctr">
                      <a:solidFill>
                        <a:srgbClr val="3C3F4C"/>
                      </a:solidFill>
                      <a:prstDash val="solid"/>
                      <a:round/>
                      <a:headEnd type="none" w="med" len="med"/>
                      <a:tailEnd type="none" w="med" len="med"/>
                    </a:lnT>
                    <a:lnB w="9525" cap="flat" cmpd="sng" algn="ctr">
                      <a:solidFill>
                        <a:srgbClr val="3C3F4C"/>
                      </a:solidFill>
                      <a:prstDash val="solid"/>
                      <a:round/>
                      <a:headEnd type="none" w="med" len="med"/>
                      <a:tailEnd type="none" w="med" len="med"/>
                    </a:lnB>
                    <a:solidFill>
                      <a:srgbClr val="161B30"/>
                    </a:solidFill>
                  </a:tcPr>
                </a:tc>
                <a:tc>
                  <a:txBody>
                    <a:bodyPr/>
                    <a:lstStyle/>
                    <a:p>
                      <a:pPr marL="0" indent="0" algn="r">
                        <a:buNone/>
                      </a:pPr>
                      <a:r>
                        <a:rPr lang="en-US" sz="1300" dirty="0">
                          <a:solidFill>
                            <a:srgbClr val="9AA3BD"/>
                          </a:solidFill>
                          <a:latin typeface="Aptos" pitchFamily="34" charset="0"/>
                          <a:ea typeface="Aptos" pitchFamily="34" charset="-122"/>
                          <a:cs typeface="Aptos" pitchFamily="34" charset="-120"/>
                        </a:rPr>
                        <a:t>9.1 × 10⁻³</a:t>
                      </a:r>
                      <a:endParaRPr lang="en-US" sz="1300" dirty="0">
                        <a:latin typeface="Aptos" charset="0"/>
                        <a:ea typeface="Aptos" charset="0"/>
                        <a:cs typeface="Aptos" charset="0"/>
                      </a:endParaRPr>
                    </a:p>
                  </a:txBody>
                  <a:tcPr marL="109728" marR="109728" marT="0" marB="0" anchor="ctr">
                    <a:lnL w="9525" cap="flat" cmpd="sng" algn="ctr">
                      <a:solidFill>
                        <a:srgbClr val="3C3F4C"/>
                      </a:solidFill>
                      <a:prstDash val="solid"/>
                      <a:round/>
                      <a:headEnd type="none" w="med" len="med"/>
                      <a:tailEnd type="none" w="med" len="med"/>
                    </a:lnL>
                    <a:lnR w="9525" cap="flat" cmpd="sng" algn="ctr">
                      <a:solidFill>
                        <a:srgbClr val="3C3F4C"/>
                      </a:solidFill>
                      <a:prstDash val="solid"/>
                      <a:round/>
                      <a:headEnd type="none" w="med" len="med"/>
                      <a:tailEnd type="none" w="med" len="med"/>
                    </a:lnR>
                    <a:lnT w="9525" cap="flat" cmpd="sng" algn="ctr">
                      <a:solidFill>
                        <a:srgbClr val="3C3F4C"/>
                      </a:solidFill>
                      <a:prstDash val="solid"/>
                      <a:round/>
                      <a:headEnd type="none" w="med" len="med"/>
                      <a:tailEnd type="none" w="med" len="med"/>
                    </a:lnT>
                    <a:lnB w="9525" cap="flat" cmpd="sng" algn="ctr">
                      <a:solidFill>
                        <a:srgbClr val="3C3F4C"/>
                      </a:solidFill>
                      <a:prstDash val="solid"/>
                      <a:round/>
                      <a:headEnd type="none" w="med" len="med"/>
                      <a:tailEnd type="none" w="med" len="med"/>
                    </a:lnB>
                    <a:solidFill>
                      <a:srgbClr val="161B30"/>
                    </a:solidFill>
                  </a:tcPr>
                </a:tc>
                <a:extLst>
                  <a:ext uri="{0D108BD9-81ED-4DB2-BD59-A6C34878D82A}">
                    <a16:rowId xmlns:a16="http://schemas.microsoft.com/office/drawing/2014/main" val="10001"/>
                  </a:ext>
                </a:extLst>
              </a:tr>
              <a:tr h="347472">
                <a:tc>
                  <a:txBody>
                    <a:bodyPr/>
                    <a:lstStyle/>
                    <a:p>
                      <a:pPr marL="0" indent="0" algn="l">
                        <a:buNone/>
                      </a:pPr>
                      <a:r>
                        <a:rPr lang="en-US" sz="1300" b="1" dirty="0">
                          <a:solidFill>
                            <a:srgbClr val="E9ECF3"/>
                          </a:solidFill>
                          <a:latin typeface="Aptos" pitchFamily="34" charset="0"/>
                          <a:ea typeface="Aptos" pitchFamily="34" charset="-122"/>
                          <a:cs typeface="Aptos" pitchFamily="34" charset="-120"/>
                        </a:rPr>
                        <a:t>2</a:t>
                      </a:r>
                      <a:endParaRPr lang="en-US" sz="1300" dirty="0">
                        <a:latin typeface="Aptos" charset="0"/>
                        <a:ea typeface="Aptos" charset="0"/>
                        <a:cs typeface="Aptos" charset="0"/>
                      </a:endParaRPr>
                    </a:p>
                  </a:txBody>
                  <a:tcPr marL="109728" marR="109728" marT="0" marB="0" anchor="ctr">
                    <a:lnL w="9525" cap="flat" cmpd="sng" algn="ctr">
                      <a:solidFill>
                        <a:srgbClr val="3C3F4C"/>
                      </a:solidFill>
                      <a:prstDash val="solid"/>
                      <a:round/>
                      <a:headEnd type="none" w="med" len="med"/>
                      <a:tailEnd type="none" w="med" len="med"/>
                    </a:lnL>
                    <a:lnR w="9525" cap="flat" cmpd="sng" algn="ctr">
                      <a:solidFill>
                        <a:srgbClr val="3C3F4C"/>
                      </a:solidFill>
                      <a:prstDash val="solid"/>
                      <a:round/>
                      <a:headEnd type="none" w="med" len="med"/>
                      <a:tailEnd type="none" w="med" len="med"/>
                    </a:lnR>
                    <a:lnT w="9525" cap="flat" cmpd="sng" algn="ctr">
                      <a:solidFill>
                        <a:srgbClr val="3C3F4C"/>
                      </a:solidFill>
                      <a:prstDash val="solid"/>
                      <a:round/>
                      <a:headEnd type="none" w="med" len="med"/>
                      <a:tailEnd type="none" w="med" len="med"/>
                    </a:lnT>
                    <a:lnB w="9525" cap="flat" cmpd="sng" algn="ctr">
                      <a:solidFill>
                        <a:srgbClr val="3C3F4C"/>
                      </a:solidFill>
                      <a:prstDash val="solid"/>
                      <a:round/>
                      <a:headEnd type="none" w="med" len="med"/>
                      <a:tailEnd type="none" w="med" len="med"/>
                    </a:lnB>
                    <a:solidFill>
                      <a:srgbClr val="1B213B"/>
                    </a:solidFill>
                  </a:tcPr>
                </a:tc>
                <a:tc>
                  <a:txBody>
                    <a:bodyPr/>
                    <a:lstStyle/>
                    <a:p>
                      <a:pPr marL="0" indent="0" algn="r">
                        <a:buNone/>
                      </a:pPr>
                      <a:r>
                        <a:rPr lang="en-US" sz="1300" dirty="0">
                          <a:solidFill>
                            <a:srgbClr val="9AA3BD"/>
                          </a:solidFill>
                          <a:latin typeface="Aptos" pitchFamily="34" charset="0"/>
                          <a:ea typeface="Aptos" pitchFamily="34" charset="-122"/>
                          <a:cs typeface="Aptos" pitchFamily="34" charset="-120"/>
                        </a:rPr>
                        <a:t>600</a:t>
                      </a:r>
                      <a:endParaRPr lang="en-US" sz="1300" dirty="0">
                        <a:latin typeface="Aptos" charset="0"/>
                        <a:ea typeface="Aptos" charset="0"/>
                        <a:cs typeface="Aptos" charset="0"/>
                      </a:endParaRPr>
                    </a:p>
                  </a:txBody>
                  <a:tcPr marL="109728" marR="109728" marT="0" marB="0" anchor="ctr">
                    <a:lnL w="9525" cap="flat" cmpd="sng" algn="ctr">
                      <a:solidFill>
                        <a:srgbClr val="3C3F4C"/>
                      </a:solidFill>
                      <a:prstDash val="solid"/>
                      <a:round/>
                      <a:headEnd type="none" w="med" len="med"/>
                      <a:tailEnd type="none" w="med" len="med"/>
                    </a:lnL>
                    <a:lnR w="9525" cap="flat" cmpd="sng" algn="ctr">
                      <a:solidFill>
                        <a:srgbClr val="3C3F4C"/>
                      </a:solidFill>
                      <a:prstDash val="solid"/>
                      <a:round/>
                      <a:headEnd type="none" w="med" len="med"/>
                      <a:tailEnd type="none" w="med" len="med"/>
                    </a:lnR>
                    <a:lnT w="9525" cap="flat" cmpd="sng" algn="ctr">
                      <a:solidFill>
                        <a:srgbClr val="3C3F4C"/>
                      </a:solidFill>
                      <a:prstDash val="solid"/>
                      <a:round/>
                      <a:headEnd type="none" w="med" len="med"/>
                      <a:tailEnd type="none" w="med" len="med"/>
                    </a:lnT>
                    <a:lnB w="9525" cap="flat" cmpd="sng" algn="ctr">
                      <a:solidFill>
                        <a:srgbClr val="3C3F4C"/>
                      </a:solidFill>
                      <a:prstDash val="solid"/>
                      <a:round/>
                      <a:headEnd type="none" w="med" len="med"/>
                      <a:tailEnd type="none" w="med" len="med"/>
                    </a:lnB>
                    <a:solidFill>
                      <a:srgbClr val="1B213B"/>
                    </a:solidFill>
                  </a:tcPr>
                </a:tc>
                <a:tc>
                  <a:txBody>
                    <a:bodyPr/>
                    <a:lstStyle/>
                    <a:p>
                      <a:pPr marL="0" indent="0" algn="r">
                        <a:buNone/>
                      </a:pPr>
                      <a:r>
                        <a:rPr lang="en-US" sz="1300" dirty="0">
                          <a:solidFill>
                            <a:srgbClr val="9AA3BD"/>
                          </a:solidFill>
                          <a:latin typeface="Aptos" pitchFamily="34" charset="0"/>
                          <a:ea typeface="Aptos" pitchFamily="34" charset="-122"/>
                          <a:cs typeface="Aptos" pitchFamily="34" charset="-120"/>
                        </a:rPr>
                        <a:t>10</a:t>
                      </a:r>
                      <a:endParaRPr lang="en-US" sz="1300" dirty="0">
                        <a:latin typeface="Aptos" charset="0"/>
                        <a:ea typeface="Aptos" charset="0"/>
                        <a:cs typeface="Aptos" charset="0"/>
                      </a:endParaRPr>
                    </a:p>
                  </a:txBody>
                  <a:tcPr marL="109728" marR="109728" marT="0" marB="0" anchor="ctr">
                    <a:lnL w="9525" cap="flat" cmpd="sng" algn="ctr">
                      <a:solidFill>
                        <a:srgbClr val="3C3F4C"/>
                      </a:solidFill>
                      <a:prstDash val="solid"/>
                      <a:round/>
                      <a:headEnd type="none" w="med" len="med"/>
                      <a:tailEnd type="none" w="med" len="med"/>
                    </a:lnL>
                    <a:lnR w="9525" cap="flat" cmpd="sng" algn="ctr">
                      <a:solidFill>
                        <a:srgbClr val="3C3F4C"/>
                      </a:solidFill>
                      <a:prstDash val="solid"/>
                      <a:round/>
                      <a:headEnd type="none" w="med" len="med"/>
                      <a:tailEnd type="none" w="med" len="med"/>
                    </a:lnR>
                    <a:lnT w="9525" cap="flat" cmpd="sng" algn="ctr">
                      <a:solidFill>
                        <a:srgbClr val="3C3F4C"/>
                      </a:solidFill>
                      <a:prstDash val="solid"/>
                      <a:round/>
                      <a:headEnd type="none" w="med" len="med"/>
                      <a:tailEnd type="none" w="med" len="med"/>
                    </a:lnT>
                    <a:lnB w="9525" cap="flat" cmpd="sng" algn="ctr">
                      <a:solidFill>
                        <a:srgbClr val="3C3F4C"/>
                      </a:solidFill>
                      <a:prstDash val="solid"/>
                      <a:round/>
                      <a:headEnd type="none" w="med" len="med"/>
                      <a:tailEnd type="none" w="med" len="med"/>
                    </a:lnB>
                    <a:solidFill>
                      <a:srgbClr val="1B213B"/>
                    </a:solidFill>
                  </a:tcPr>
                </a:tc>
                <a:tc>
                  <a:txBody>
                    <a:bodyPr/>
                    <a:lstStyle/>
                    <a:p>
                      <a:pPr marL="0" indent="0" algn="r">
                        <a:buNone/>
                      </a:pPr>
                      <a:r>
                        <a:rPr lang="en-US" sz="1300" dirty="0">
                          <a:solidFill>
                            <a:srgbClr val="9AA3BD"/>
                          </a:solidFill>
                          <a:latin typeface="Aptos" pitchFamily="34" charset="0"/>
                          <a:ea typeface="Aptos" pitchFamily="34" charset="-122"/>
                          <a:cs typeface="Aptos" pitchFamily="34" charset="-120"/>
                        </a:rPr>
                        <a:t>4.4 × 10⁻³</a:t>
                      </a:r>
                      <a:endParaRPr lang="en-US" sz="1300" dirty="0">
                        <a:latin typeface="Aptos" charset="0"/>
                        <a:ea typeface="Aptos" charset="0"/>
                        <a:cs typeface="Aptos" charset="0"/>
                      </a:endParaRPr>
                    </a:p>
                  </a:txBody>
                  <a:tcPr marL="109728" marR="109728" marT="0" marB="0" anchor="ctr">
                    <a:lnL w="9525" cap="flat" cmpd="sng" algn="ctr">
                      <a:solidFill>
                        <a:srgbClr val="3C3F4C"/>
                      </a:solidFill>
                      <a:prstDash val="solid"/>
                      <a:round/>
                      <a:headEnd type="none" w="med" len="med"/>
                      <a:tailEnd type="none" w="med" len="med"/>
                    </a:lnL>
                    <a:lnR w="9525" cap="flat" cmpd="sng" algn="ctr">
                      <a:solidFill>
                        <a:srgbClr val="3C3F4C"/>
                      </a:solidFill>
                      <a:prstDash val="solid"/>
                      <a:round/>
                      <a:headEnd type="none" w="med" len="med"/>
                      <a:tailEnd type="none" w="med" len="med"/>
                    </a:lnR>
                    <a:lnT w="9525" cap="flat" cmpd="sng" algn="ctr">
                      <a:solidFill>
                        <a:srgbClr val="3C3F4C"/>
                      </a:solidFill>
                      <a:prstDash val="solid"/>
                      <a:round/>
                      <a:headEnd type="none" w="med" len="med"/>
                      <a:tailEnd type="none" w="med" len="med"/>
                    </a:lnT>
                    <a:lnB w="9525" cap="flat" cmpd="sng" algn="ctr">
                      <a:solidFill>
                        <a:srgbClr val="3C3F4C"/>
                      </a:solidFill>
                      <a:prstDash val="solid"/>
                      <a:round/>
                      <a:headEnd type="none" w="med" len="med"/>
                      <a:tailEnd type="none" w="med" len="med"/>
                    </a:lnB>
                    <a:solidFill>
                      <a:srgbClr val="1B213B"/>
                    </a:solidFill>
                  </a:tcPr>
                </a:tc>
                <a:extLst>
                  <a:ext uri="{0D108BD9-81ED-4DB2-BD59-A6C34878D82A}">
                    <a16:rowId xmlns:a16="http://schemas.microsoft.com/office/drawing/2014/main" val="10002"/>
                  </a:ext>
                </a:extLst>
              </a:tr>
              <a:tr h="347472">
                <a:tc>
                  <a:txBody>
                    <a:bodyPr/>
                    <a:lstStyle/>
                    <a:p>
                      <a:pPr marL="0" indent="0" algn="l">
                        <a:buNone/>
                      </a:pPr>
                      <a:r>
                        <a:rPr lang="en-US" sz="1300" b="1" dirty="0">
                          <a:solidFill>
                            <a:srgbClr val="E9ECF3"/>
                          </a:solidFill>
                          <a:latin typeface="Aptos" pitchFamily="34" charset="0"/>
                          <a:ea typeface="Aptos" pitchFamily="34" charset="-122"/>
                          <a:cs typeface="Aptos" pitchFamily="34" charset="-120"/>
                        </a:rPr>
                        <a:t>3</a:t>
                      </a:r>
                      <a:endParaRPr lang="en-US" sz="1300" dirty="0">
                        <a:latin typeface="Aptos" charset="0"/>
                        <a:ea typeface="Aptos" charset="0"/>
                        <a:cs typeface="Aptos" charset="0"/>
                      </a:endParaRPr>
                    </a:p>
                  </a:txBody>
                  <a:tcPr marL="109728" marR="109728" marT="0" marB="0" anchor="ctr">
                    <a:lnL w="9525" cap="flat" cmpd="sng" algn="ctr">
                      <a:solidFill>
                        <a:srgbClr val="3C3F4C"/>
                      </a:solidFill>
                      <a:prstDash val="solid"/>
                      <a:round/>
                      <a:headEnd type="none" w="med" len="med"/>
                      <a:tailEnd type="none" w="med" len="med"/>
                    </a:lnL>
                    <a:lnR w="9525" cap="flat" cmpd="sng" algn="ctr">
                      <a:solidFill>
                        <a:srgbClr val="3C3F4C"/>
                      </a:solidFill>
                      <a:prstDash val="solid"/>
                      <a:round/>
                      <a:headEnd type="none" w="med" len="med"/>
                      <a:tailEnd type="none" w="med" len="med"/>
                    </a:lnR>
                    <a:lnT w="9525" cap="flat" cmpd="sng" algn="ctr">
                      <a:solidFill>
                        <a:srgbClr val="3C3F4C"/>
                      </a:solidFill>
                      <a:prstDash val="solid"/>
                      <a:round/>
                      <a:headEnd type="none" w="med" len="med"/>
                      <a:tailEnd type="none" w="med" len="med"/>
                    </a:lnT>
                    <a:lnB w="9525" cap="flat" cmpd="sng" algn="ctr">
                      <a:solidFill>
                        <a:srgbClr val="3C3F4C"/>
                      </a:solidFill>
                      <a:prstDash val="solid"/>
                      <a:round/>
                      <a:headEnd type="none" w="med" len="med"/>
                      <a:tailEnd type="none" w="med" len="med"/>
                    </a:lnB>
                    <a:solidFill>
                      <a:srgbClr val="161B30"/>
                    </a:solidFill>
                  </a:tcPr>
                </a:tc>
                <a:tc>
                  <a:txBody>
                    <a:bodyPr/>
                    <a:lstStyle/>
                    <a:p>
                      <a:pPr marL="0" indent="0" algn="r">
                        <a:buNone/>
                      </a:pPr>
                      <a:r>
                        <a:rPr lang="en-US" sz="1300" dirty="0">
                          <a:solidFill>
                            <a:srgbClr val="9AA3BD"/>
                          </a:solidFill>
                          <a:latin typeface="Aptos" pitchFamily="34" charset="0"/>
                          <a:ea typeface="Aptos" pitchFamily="34" charset="-122"/>
                          <a:cs typeface="Aptos" pitchFamily="34" charset="-120"/>
                        </a:rPr>
                        <a:t>14,424</a:t>
                      </a:r>
                      <a:endParaRPr lang="en-US" sz="1300" dirty="0">
                        <a:latin typeface="Aptos" charset="0"/>
                        <a:ea typeface="Aptos" charset="0"/>
                        <a:cs typeface="Aptos" charset="0"/>
                      </a:endParaRPr>
                    </a:p>
                  </a:txBody>
                  <a:tcPr marL="109728" marR="109728" marT="0" marB="0" anchor="ctr">
                    <a:lnL w="9525" cap="flat" cmpd="sng" algn="ctr">
                      <a:solidFill>
                        <a:srgbClr val="3C3F4C"/>
                      </a:solidFill>
                      <a:prstDash val="solid"/>
                      <a:round/>
                      <a:headEnd type="none" w="med" len="med"/>
                      <a:tailEnd type="none" w="med" len="med"/>
                    </a:lnL>
                    <a:lnR w="9525" cap="flat" cmpd="sng" algn="ctr">
                      <a:solidFill>
                        <a:srgbClr val="3C3F4C"/>
                      </a:solidFill>
                      <a:prstDash val="solid"/>
                      <a:round/>
                      <a:headEnd type="none" w="med" len="med"/>
                      <a:tailEnd type="none" w="med" len="med"/>
                    </a:lnR>
                    <a:lnT w="9525" cap="flat" cmpd="sng" algn="ctr">
                      <a:solidFill>
                        <a:srgbClr val="3C3F4C"/>
                      </a:solidFill>
                      <a:prstDash val="solid"/>
                      <a:round/>
                      <a:headEnd type="none" w="med" len="med"/>
                      <a:tailEnd type="none" w="med" len="med"/>
                    </a:lnT>
                    <a:lnB w="9525" cap="flat" cmpd="sng" algn="ctr">
                      <a:solidFill>
                        <a:srgbClr val="3C3F4C"/>
                      </a:solidFill>
                      <a:prstDash val="solid"/>
                      <a:round/>
                      <a:headEnd type="none" w="med" len="med"/>
                      <a:tailEnd type="none" w="med" len="med"/>
                    </a:lnB>
                    <a:solidFill>
                      <a:srgbClr val="161B30"/>
                    </a:solidFill>
                  </a:tcPr>
                </a:tc>
                <a:tc>
                  <a:txBody>
                    <a:bodyPr/>
                    <a:lstStyle/>
                    <a:p>
                      <a:pPr marL="0" indent="0" algn="r">
                        <a:buNone/>
                      </a:pPr>
                      <a:r>
                        <a:rPr lang="en-US" sz="1300" dirty="0">
                          <a:solidFill>
                            <a:srgbClr val="9AA3BD"/>
                          </a:solidFill>
                          <a:latin typeface="Aptos" pitchFamily="34" charset="0"/>
                          <a:ea typeface="Aptos" pitchFamily="34" charset="-122"/>
                          <a:cs typeface="Aptos" pitchFamily="34" charset="-120"/>
                        </a:rPr>
                        <a:t>14</a:t>
                      </a:r>
                      <a:endParaRPr lang="en-US" sz="1300" dirty="0">
                        <a:latin typeface="Aptos" charset="0"/>
                        <a:ea typeface="Aptos" charset="0"/>
                        <a:cs typeface="Aptos" charset="0"/>
                      </a:endParaRPr>
                    </a:p>
                  </a:txBody>
                  <a:tcPr marL="109728" marR="109728" marT="0" marB="0" anchor="ctr">
                    <a:lnL w="9525" cap="flat" cmpd="sng" algn="ctr">
                      <a:solidFill>
                        <a:srgbClr val="3C3F4C"/>
                      </a:solidFill>
                      <a:prstDash val="solid"/>
                      <a:round/>
                      <a:headEnd type="none" w="med" len="med"/>
                      <a:tailEnd type="none" w="med" len="med"/>
                    </a:lnL>
                    <a:lnR w="9525" cap="flat" cmpd="sng" algn="ctr">
                      <a:solidFill>
                        <a:srgbClr val="3C3F4C"/>
                      </a:solidFill>
                      <a:prstDash val="solid"/>
                      <a:round/>
                      <a:headEnd type="none" w="med" len="med"/>
                      <a:tailEnd type="none" w="med" len="med"/>
                    </a:lnR>
                    <a:lnT w="9525" cap="flat" cmpd="sng" algn="ctr">
                      <a:solidFill>
                        <a:srgbClr val="3C3F4C"/>
                      </a:solidFill>
                      <a:prstDash val="solid"/>
                      <a:round/>
                      <a:headEnd type="none" w="med" len="med"/>
                      <a:tailEnd type="none" w="med" len="med"/>
                    </a:lnT>
                    <a:lnB w="9525" cap="flat" cmpd="sng" algn="ctr">
                      <a:solidFill>
                        <a:srgbClr val="3C3F4C"/>
                      </a:solidFill>
                      <a:prstDash val="solid"/>
                      <a:round/>
                      <a:headEnd type="none" w="med" len="med"/>
                      <a:tailEnd type="none" w="med" len="med"/>
                    </a:lnB>
                    <a:solidFill>
                      <a:srgbClr val="161B30"/>
                    </a:solidFill>
                  </a:tcPr>
                </a:tc>
                <a:tc>
                  <a:txBody>
                    <a:bodyPr/>
                    <a:lstStyle/>
                    <a:p>
                      <a:pPr marL="0" indent="0" algn="r">
                        <a:buNone/>
                      </a:pPr>
                      <a:r>
                        <a:rPr lang="en-US" sz="1300" dirty="0">
                          <a:solidFill>
                            <a:srgbClr val="9AA3BD"/>
                          </a:solidFill>
                          <a:latin typeface="Aptos" pitchFamily="34" charset="0"/>
                          <a:ea typeface="Aptos" pitchFamily="34" charset="-122"/>
                          <a:cs typeface="Aptos" pitchFamily="34" charset="-120"/>
                        </a:rPr>
                        <a:t>6.7 × 10⁻⁵</a:t>
                      </a:r>
                      <a:endParaRPr lang="en-US" sz="1300" dirty="0">
                        <a:latin typeface="Aptos" charset="0"/>
                        <a:ea typeface="Aptos" charset="0"/>
                        <a:cs typeface="Aptos" charset="0"/>
                      </a:endParaRPr>
                    </a:p>
                  </a:txBody>
                  <a:tcPr marL="109728" marR="109728" marT="0" marB="0" anchor="ctr">
                    <a:lnL w="9525" cap="flat" cmpd="sng" algn="ctr">
                      <a:solidFill>
                        <a:srgbClr val="3C3F4C"/>
                      </a:solidFill>
                      <a:prstDash val="solid"/>
                      <a:round/>
                      <a:headEnd type="none" w="med" len="med"/>
                      <a:tailEnd type="none" w="med" len="med"/>
                    </a:lnL>
                    <a:lnR w="9525" cap="flat" cmpd="sng" algn="ctr">
                      <a:solidFill>
                        <a:srgbClr val="3C3F4C"/>
                      </a:solidFill>
                      <a:prstDash val="solid"/>
                      <a:round/>
                      <a:headEnd type="none" w="med" len="med"/>
                      <a:tailEnd type="none" w="med" len="med"/>
                    </a:lnR>
                    <a:lnT w="9525" cap="flat" cmpd="sng" algn="ctr">
                      <a:solidFill>
                        <a:srgbClr val="3C3F4C"/>
                      </a:solidFill>
                      <a:prstDash val="solid"/>
                      <a:round/>
                      <a:headEnd type="none" w="med" len="med"/>
                      <a:tailEnd type="none" w="med" len="med"/>
                    </a:lnT>
                    <a:lnB w="9525" cap="flat" cmpd="sng" algn="ctr">
                      <a:solidFill>
                        <a:srgbClr val="3C3F4C"/>
                      </a:solidFill>
                      <a:prstDash val="solid"/>
                      <a:round/>
                      <a:headEnd type="none" w="med" len="med"/>
                      <a:tailEnd type="none" w="med" len="med"/>
                    </a:lnB>
                    <a:solidFill>
                      <a:srgbClr val="161B30"/>
                    </a:solidFill>
                  </a:tcPr>
                </a:tc>
                <a:extLst>
                  <a:ext uri="{0D108BD9-81ED-4DB2-BD59-A6C34878D82A}">
                    <a16:rowId xmlns:a16="http://schemas.microsoft.com/office/drawing/2014/main" val="10003"/>
                  </a:ext>
                </a:extLst>
              </a:tr>
            </a:tbl>
          </a:graphicData>
        </a:graphic>
      </p:graphicFrame>
      <p:sp>
        <p:nvSpPr>
          <p:cNvPr id="10" name="Callout"/>
          <p:cNvSpPr/>
          <p:nvPr/>
        </p:nvSpPr>
        <p:spPr>
          <a:xfrm>
            <a:off x="6720840" y="3611880"/>
            <a:ext cx="4922215" cy="1417320"/>
          </a:xfrm>
          <a:prstGeom prst="roundRect">
            <a:avLst>
              <a:gd name="adj" fmla="val 6452"/>
            </a:avLst>
          </a:prstGeom>
          <a:solidFill>
            <a:schemeClr val="accent1"/>
          </a:solidFill>
          <a:ln/>
        </p:spPr>
        <p:txBody>
          <a:bodyPr/>
          <a:lstStyle/>
          <a:p>
            <a:endParaRPr lang="fr-FR"/>
          </a:p>
        </p:txBody>
      </p:sp>
      <p:sp>
        <p:nvSpPr>
          <p:cNvPr id="11" name="Shape 7"/>
          <p:cNvSpPr/>
          <p:nvPr/>
        </p:nvSpPr>
        <p:spPr>
          <a:xfrm>
            <a:off x="6949440" y="3840480"/>
            <a:ext cx="91440" cy="91440"/>
          </a:xfrm>
          <a:prstGeom prst="rect">
            <a:avLst/>
          </a:prstGeom>
          <a:solidFill>
            <a:schemeClr val="accent2"/>
          </a:solidFill>
          <a:ln/>
        </p:spPr>
        <p:txBody>
          <a:bodyPr/>
          <a:lstStyle/>
          <a:p>
            <a:endParaRPr lang="fr-FR"/>
          </a:p>
        </p:txBody>
      </p:sp>
      <p:sp>
        <p:nvSpPr>
          <p:cNvPr id="12" name="Text 8"/>
          <p:cNvSpPr txBox="1"/>
          <p:nvPr/>
        </p:nvSpPr>
        <p:spPr>
          <a:xfrm>
            <a:off x="7132320" y="3721608"/>
            <a:ext cx="4327855" cy="1197864"/>
          </a:xfrm>
          <a:prstGeom prst="rect">
            <a:avLst/>
          </a:prstGeom>
          <a:noFill/>
          <a:ln/>
        </p:spPr>
        <p:txBody>
          <a:bodyPr wrap="square" lIns="0" tIns="0" rIns="0" bIns="0" rtlCol="0" anchor="t"/>
          <a:lstStyle/>
          <a:p>
            <a:pPr marL="0" indent="0">
              <a:buNone/>
            </a:pPr>
            <a:r>
              <a:rPr lang="en-US" sz="1400" dirty="0">
                <a:solidFill>
                  <a:schemeClr val="tx1"/>
                </a:solidFill>
              </a:rPr>
              <a:t>At </a:t>
            </a:r>
            <a:r>
              <a:rPr lang="en-US" sz="1400" b="1" dirty="0">
                <a:solidFill>
                  <a:schemeClr val="tx1"/>
                </a:solidFill>
              </a:rPr>
              <a:t>Ma ≈ 0.02</a:t>
            </a:r>
            <a:r>
              <a:rPr lang="en-US" sz="1400" dirty="0">
                <a:solidFill>
                  <a:schemeClr val="tx1"/>
                </a:solidFill>
              </a:rPr>
              <a:t>, third order reaches </a:t>
            </a:r>
            <a:r>
              <a:rPr lang="en-US" sz="1400" b="1" dirty="0">
                <a:solidFill>
                  <a:schemeClr val="tx1"/>
                </a:solidFill>
              </a:rPr>
              <a:t>7 × 10⁻⁸</a:t>
            </a:r>
            <a:r>
              <a:rPr lang="en-US" sz="1400" dirty="0">
                <a:solidFill>
                  <a:schemeClr val="tx1"/>
                </a:solidFill>
              </a:rPr>
              <a:t>. Low-Mach flows are the natural regime: each extra order cuts the error by orders of magnitude.</a:t>
            </a:r>
            <a:endParaRPr lang="en-US" sz="1400" dirty="0"/>
          </a:p>
        </p:txBody>
      </p:sp>
      <p:sp>
        <p:nvSpPr>
          <p:cNvPr id="13" name="Text 9"/>
          <p:cNvSpPr txBox="1"/>
          <p:nvPr/>
        </p:nvSpPr>
        <p:spPr>
          <a:xfrm>
            <a:off x="548640" y="5897880"/>
            <a:ext cx="11094415" cy="274320"/>
          </a:xfrm>
          <a:prstGeom prst="rect">
            <a:avLst/>
          </a:prstGeom>
          <a:noFill/>
          <a:ln/>
        </p:spPr>
        <p:txBody>
          <a:bodyPr wrap="square" lIns="0" tIns="0" rIns="0" bIns="0" rtlCol="0" anchor="ctr"/>
          <a:lstStyle/>
          <a:p>
            <a:pPr marL="0" indent="0">
              <a:buNone/>
            </a:pPr>
            <a:r>
              <a:rPr lang="en-US" sz="1100" i="1" dirty="0">
                <a:solidFill>
                  <a:schemeClr val="tx2"/>
                </a:solidFill>
              </a:rPr>
              <a:t>Lattice Boltzmann notebook</a:t>
            </a:r>
            <a:endParaRPr lang="en-US" sz="1100" dirty="0"/>
          </a:p>
        </p:txBody>
      </p:sp>
      <p:sp>
        <p:nvSpPr>
          <p:cNvPr id="25" name="Slide Number Placeholder 0"/>
          <p:cNvSpPr>
            <a:spLocks noGrp="1"/>
          </p:cNvSpPr>
          <p:nvPr>
            <p:ph type="sldNum" sz="quarter" idx="4294967295"/>
          </p:nvPr>
        </p:nvSpPr>
        <p:spPr>
          <a:xfrm>
            <a:off x="11094415" y="6327648"/>
            <a:ext cx="548640" cy="274320"/>
          </a:xfrm>
          <a:prstGeom prst="rect">
            <a:avLst/>
          </a:prstGeom>
          <a:extLst>
            <a:ext uri="{C572A759-6A51-4108-AA02-DFA0A04FC94B}">
              <ma14:wrappingTextBoxFlag xmlns:ma14="http://schemas.microsoft.com/office/mac/drawingml/2011/main" xmlns="" val="0"/>
            </a:ext>
          </a:extLst>
        </p:spPr>
        <p:txBody>
          <a:bodyPr lIns="0" tIns="0" rIns="0" bIns="0" anchor="ctr"/>
          <a:lstStyle>
            <a:lvl1pPr>
              <a:defRPr sz="1000">
                <a:solidFill>
                  <a:srgbClr val="9AA3BD"/>
                </a:solidFill>
              </a:defRPr>
            </a:lvl1pPr>
          </a:lstStyle>
          <a:p>
            <a:pPr algn="r"/>
            <a:fld id="{F7021451-1387-4CA6-816F-3879F97B5CBC}" type="slidenum">
              <a:rPr lang="en-US" b="0"/>
              <a:t>35</a:t>
            </a:fld>
            <a:endParaRPr lang="en-US"/>
          </a:p>
        </p:txBody>
      </p:sp>
      <p:pic>
        <p:nvPicPr>
          <p:cNvPr id="15" name="Image 14">
            <a:extLst>
              <a:ext uri="{FF2B5EF4-FFF2-40B4-BE49-F238E27FC236}">
                <a16:creationId xmlns:a16="http://schemas.microsoft.com/office/drawing/2014/main" id="{AFDF8C78-D97F-F79A-F5C4-95F2524DC13C}"/>
              </a:ext>
            </a:extLst>
          </p:cNvPr>
          <p:cNvPicPr>
            <a:picLocks noChangeAspect="1"/>
          </p:cNvPicPr>
          <p:nvPr/>
        </p:nvPicPr>
        <p:blipFill>
          <a:blip r:embed="rId4"/>
          <a:stretch>
            <a:fillRect/>
          </a:stretch>
        </p:blipFill>
        <p:spPr>
          <a:xfrm>
            <a:off x="9724644" y="-443705"/>
            <a:ext cx="2437453" cy="1723866"/>
          </a:xfrm>
          <a:prstGeom prst="rect">
            <a:avLst/>
          </a:prstGeom>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10"/>
          <p:cNvSpPr>
            <a:spLocks noGrp="1"/>
          </p:cNvSpPr>
          <p:nvPr>
            <p:ph type="title" idx="110" hasCustomPrompt="1"/>
          </p:nvPr>
        </p:nvSpPr>
        <p:spPr>
          <a:xfrm>
            <a:off x="548640" y="457200"/>
            <a:ext cx="11094415" cy="777240"/>
          </a:xfrm>
          <a:prstGeom prst="rect">
            <a:avLst/>
          </a:prstGeom>
          <a:noFill/>
          <a:ln/>
        </p:spPr>
        <p:txBody>
          <a:bodyPr wrap="square" lIns="0" tIns="0" rIns="0" bIns="0" rtlCol="0" anchor="t"/>
          <a:lstStyle/>
          <a:p>
            <a:pPr marL="0" indent="0" algn="l">
              <a:buNone/>
            </a:pPr>
            <a:r>
              <a:rPr lang="en-US" sz="3200" dirty="0">
                <a:solidFill>
                  <a:schemeClr val="tx1"/>
                </a:solidFill>
              </a:rPr>
              <a:t>Viscosity still matters</a:t>
            </a:r>
            <a:endParaRPr lang="en-US" sz="3200" dirty="0"/>
          </a:p>
        </p:txBody>
      </p:sp>
      <p:sp>
        <p:nvSpPr>
          <p:cNvPr id="3" name="Shape 1"/>
          <p:cNvSpPr/>
          <p:nvPr/>
        </p:nvSpPr>
        <p:spPr>
          <a:xfrm>
            <a:off x="548640" y="1188720"/>
            <a:ext cx="91440" cy="91440"/>
          </a:xfrm>
          <a:prstGeom prst="rect">
            <a:avLst/>
          </a:prstGeom>
          <a:solidFill>
            <a:schemeClr val="accent2"/>
          </a:solidFill>
          <a:ln/>
        </p:spPr>
        <p:txBody>
          <a:bodyPr/>
          <a:lstStyle/>
          <a:p>
            <a:endParaRPr lang="fr-FR"/>
          </a:p>
        </p:txBody>
      </p:sp>
      <p:sp>
        <p:nvSpPr>
          <p:cNvPr id="4" name="Text 2"/>
          <p:cNvSpPr txBox="1"/>
          <p:nvPr/>
        </p:nvSpPr>
        <p:spPr>
          <a:xfrm>
            <a:off x="731520" y="1097280"/>
            <a:ext cx="9144000" cy="274320"/>
          </a:xfrm>
          <a:prstGeom prst="rect">
            <a:avLst/>
          </a:prstGeom>
          <a:noFill/>
          <a:ln/>
        </p:spPr>
        <p:txBody>
          <a:bodyPr wrap="square" lIns="0" tIns="0" rIns="0" bIns="0" rtlCol="0" anchor="ctr"/>
          <a:lstStyle/>
          <a:p>
            <a:pPr marL="0" indent="0">
              <a:buNone/>
            </a:pPr>
            <a:r>
              <a:rPr lang="en-US" sz="1200" b="1" kern="0" spc="200" dirty="0">
                <a:solidFill>
                  <a:schemeClr val="tx2"/>
                </a:solidFill>
              </a:rPr>
              <a:t>LATTICE BOLTZMANN  ·  RESULTS</a:t>
            </a:r>
            <a:endParaRPr lang="en-US" sz="1200" dirty="0"/>
          </a:p>
        </p:txBody>
      </p:sp>
      <p:graphicFrame>
        <p:nvGraphicFramePr>
          <p:cNvPr id="10" name="Viscosity sweep"/>
          <p:cNvGraphicFramePr>
            <a:graphicFrameLocks noGrp="1"/>
          </p:cNvGraphicFramePr>
          <p:nvPr/>
        </p:nvGraphicFramePr>
        <p:xfrm>
          <a:off x="548640" y="1691640"/>
          <a:ext cx="11094415" cy="2286000"/>
        </p:xfrm>
        <a:graphic>
          <a:graphicData uri="http://schemas.openxmlformats.org/drawingml/2006/table">
            <a:tbl>
              <a:tblPr/>
              <a:tblGrid>
                <a:gridCol w="1280160">
                  <a:extLst>
                    <a:ext uri="{9D8B030D-6E8A-4147-A177-3AD203B41FA5}">
                      <a16:colId xmlns:a16="http://schemas.microsoft.com/office/drawing/2014/main" val="20000"/>
                    </a:ext>
                  </a:extLst>
                </a:gridCol>
                <a:gridCol w="1463040">
                  <a:extLst>
                    <a:ext uri="{9D8B030D-6E8A-4147-A177-3AD203B41FA5}">
                      <a16:colId xmlns:a16="http://schemas.microsoft.com/office/drawing/2014/main" val="20001"/>
                    </a:ext>
                  </a:extLst>
                </a:gridCol>
                <a:gridCol w="1463040">
                  <a:extLst>
                    <a:ext uri="{9D8B030D-6E8A-4147-A177-3AD203B41FA5}">
                      <a16:colId xmlns:a16="http://schemas.microsoft.com/office/drawing/2014/main" val="20002"/>
                    </a:ext>
                  </a:extLst>
                </a:gridCol>
                <a:gridCol w="2286000">
                  <a:extLst>
                    <a:ext uri="{9D8B030D-6E8A-4147-A177-3AD203B41FA5}">
                      <a16:colId xmlns:a16="http://schemas.microsoft.com/office/drawing/2014/main" val="20003"/>
                    </a:ext>
                  </a:extLst>
                </a:gridCol>
                <a:gridCol w="2286000">
                  <a:extLst>
                    <a:ext uri="{9D8B030D-6E8A-4147-A177-3AD203B41FA5}">
                      <a16:colId xmlns:a16="http://schemas.microsoft.com/office/drawing/2014/main" val="20004"/>
                    </a:ext>
                  </a:extLst>
                </a:gridCol>
                <a:gridCol w="2316175">
                  <a:extLst>
                    <a:ext uri="{9D8B030D-6E8A-4147-A177-3AD203B41FA5}">
                      <a16:colId xmlns:a16="http://schemas.microsoft.com/office/drawing/2014/main" val="20005"/>
                    </a:ext>
                  </a:extLst>
                </a:gridCol>
              </a:tblGrid>
              <a:tr h="457200">
                <a:tc>
                  <a:txBody>
                    <a:bodyPr/>
                    <a:lstStyle/>
                    <a:p>
                      <a:pPr marL="0" indent="0" algn="l">
                        <a:buNone/>
                      </a:pPr>
                      <a:r>
                        <a:rPr lang="en-US" sz="1100" b="1" dirty="0">
                          <a:solidFill>
                            <a:srgbClr val="9AA3BD"/>
                          </a:solidFill>
                          <a:latin typeface="Aptos" pitchFamily="34" charset="0"/>
                          <a:ea typeface="Aptos" pitchFamily="34" charset="-122"/>
                          <a:cs typeface="Aptos" pitchFamily="34" charset="-120"/>
                        </a:rPr>
                        <a:t>ω</a:t>
                      </a:r>
                      <a:endParaRPr lang="en-US" sz="1100" dirty="0">
                        <a:latin typeface="Aptos" charset="0"/>
                        <a:ea typeface="Aptos" charset="0"/>
                        <a:cs typeface="Aptos" charset="0"/>
                      </a:endParaRPr>
                    </a:p>
                  </a:txBody>
                  <a:tcPr marL="109728" marR="109728" marT="0" marB="0" anchor="ctr">
                    <a:lnL w="9525" cap="flat" cmpd="sng" algn="ctr">
                      <a:solidFill>
                        <a:srgbClr val="3C3F4C"/>
                      </a:solidFill>
                      <a:prstDash val="solid"/>
                      <a:round/>
                      <a:headEnd type="none" w="med" len="med"/>
                      <a:tailEnd type="none" w="med" len="med"/>
                    </a:lnL>
                    <a:lnR w="9525" cap="flat" cmpd="sng" algn="ctr">
                      <a:solidFill>
                        <a:srgbClr val="3C3F4C"/>
                      </a:solidFill>
                      <a:prstDash val="solid"/>
                      <a:round/>
                      <a:headEnd type="none" w="med" len="med"/>
                      <a:tailEnd type="none" w="med" len="med"/>
                    </a:lnR>
                    <a:lnT w="9525" cap="flat" cmpd="sng" algn="ctr">
                      <a:solidFill>
                        <a:srgbClr val="3C3F4C"/>
                      </a:solidFill>
                      <a:prstDash val="solid"/>
                      <a:round/>
                      <a:headEnd type="none" w="med" len="med"/>
                      <a:tailEnd type="none" w="med" len="med"/>
                    </a:lnT>
                    <a:lnB w="9525" cap="flat" cmpd="sng" algn="ctr">
                      <a:solidFill>
                        <a:srgbClr val="3C3F4C"/>
                      </a:solidFill>
                      <a:prstDash val="solid"/>
                      <a:round/>
                      <a:headEnd type="none" w="med" len="med"/>
                      <a:tailEnd type="none" w="med" len="med"/>
                    </a:lnB>
                    <a:solidFill>
                      <a:srgbClr val="161B30"/>
                    </a:solidFill>
                  </a:tcPr>
                </a:tc>
                <a:tc>
                  <a:txBody>
                    <a:bodyPr/>
                    <a:lstStyle/>
                    <a:p>
                      <a:pPr marL="0" indent="0" algn="r">
                        <a:buNone/>
                      </a:pPr>
                      <a:r>
                        <a:rPr lang="en-US" sz="1100" b="1" dirty="0">
                          <a:solidFill>
                            <a:srgbClr val="9AA3BD"/>
                          </a:solidFill>
                          <a:latin typeface="Aptos" pitchFamily="34" charset="0"/>
                          <a:ea typeface="Aptos" pitchFamily="34" charset="-122"/>
                          <a:cs typeface="Aptos" pitchFamily="34" charset="-120"/>
                        </a:rPr>
                        <a:t>ν</a:t>
                      </a:r>
                      <a:endParaRPr lang="en-US" sz="1100" dirty="0">
                        <a:latin typeface="Aptos" charset="0"/>
                        <a:ea typeface="Aptos" charset="0"/>
                        <a:cs typeface="Aptos" charset="0"/>
                      </a:endParaRPr>
                    </a:p>
                  </a:txBody>
                  <a:tcPr marL="109728" marR="109728" marT="0" marB="0" anchor="ctr">
                    <a:lnL w="9525" cap="flat" cmpd="sng" algn="ctr">
                      <a:solidFill>
                        <a:srgbClr val="3C3F4C"/>
                      </a:solidFill>
                      <a:prstDash val="solid"/>
                      <a:round/>
                      <a:headEnd type="none" w="med" len="med"/>
                      <a:tailEnd type="none" w="med" len="med"/>
                    </a:lnL>
                    <a:lnR w="9525" cap="flat" cmpd="sng" algn="ctr">
                      <a:solidFill>
                        <a:srgbClr val="3C3F4C"/>
                      </a:solidFill>
                      <a:prstDash val="solid"/>
                      <a:round/>
                      <a:headEnd type="none" w="med" len="med"/>
                      <a:tailEnd type="none" w="med" len="med"/>
                    </a:lnR>
                    <a:lnT w="9525" cap="flat" cmpd="sng" algn="ctr">
                      <a:solidFill>
                        <a:srgbClr val="3C3F4C"/>
                      </a:solidFill>
                      <a:prstDash val="solid"/>
                      <a:round/>
                      <a:headEnd type="none" w="med" len="med"/>
                      <a:tailEnd type="none" w="med" len="med"/>
                    </a:lnT>
                    <a:lnB w="9525" cap="flat" cmpd="sng" algn="ctr">
                      <a:solidFill>
                        <a:srgbClr val="3C3F4C"/>
                      </a:solidFill>
                      <a:prstDash val="solid"/>
                      <a:round/>
                      <a:headEnd type="none" w="med" len="med"/>
                      <a:tailEnd type="none" w="med" len="med"/>
                    </a:lnB>
                    <a:solidFill>
                      <a:srgbClr val="161B30"/>
                    </a:solidFill>
                  </a:tcPr>
                </a:tc>
                <a:tc>
                  <a:txBody>
                    <a:bodyPr/>
                    <a:lstStyle/>
                    <a:p>
                      <a:pPr marL="0" indent="0" algn="r">
                        <a:buNone/>
                      </a:pPr>
                      <a:r>
                        <a:rPr lang="en-US" sz="1100" b="1" dirty="0">
                          <a:solidFill>
                            <a:srgbClr val="9AA3BD"/>
                          </a:solidFill>
                          <a:latin typeface="Aptos" pitchFamily="34" charset="0"/>
                          <a:ea typeface="Aptos" pitchFamily="34" charset="-122"/>
                          <a:cs typeface="Aptos" pitchFamily="34" charset="-120"/>
                        </a:rPr>
                        <a:t>Re</a:t>
                      </a:r>
                      <a:endParaRPr lang="en-US" sz="1100" dirty="0">
                        <a:latin typeface="Aptos" charset="0"/>
                        <a:ea typeface="Aptos" charset="0"/>
                        <a:cs typeface="Aptos" charset="0"/>
                      </a:endParaRPr>
                    </a:p>
                  </a:txBody>
                  <a:tcPr marL="109728" marR="109728" marT="0" marB="0" anchor="ctr">
                    <a:lnL w="9525" cap="flat" cmpd="sng" algn="ctr">
                      <a:solidFill>
                        <a:srgbClr val="3C3F4C"/>
                      </a:solidFill>
                      <a:prstDash val="solid"/>
                      <a:round/>
                      <a:headEnd type="none" w="med" len="med"/>
                      <a:tailEnd type="none" w="med" len="med"/>
                    </a:lnL>
                    <a:lnR w="9525" cap="flat" cmpd="sng" algn="ctr">
                      <a:solidFill>
                        <a:srgbClr val="3C3F4C"/>
                      </a:solidFill>
                      <a:prstDash val="solid"/>
                      <a:round/>
                      <a:headEnd type="none" w="med" len="med"/>
                      <a:tailEnd type="none" w="med" len="med"/>
                    </a:lnR>
                    <a:lnT w="9525" cap="flat" cmpd="sng" algn="ctr">
                      <a:solidFill>
                        <a:srgbClr val="3C3F4C"/>
                      </a:solidFill>
                      <a:prstDash val="solid"/>
                      <a:round/>
                      <a:headEnd type="none" w="med" len="med"/>
                      <a:tailEnd type="none" w="med" len="med"/>
                    </a:lnT>
                    <a:lnB w="9525" cap="flat" cmpd="sng" algn="ctr">
                      <a:solidFill>
                        <a:srgbClr val="3C3F4C"/>
                      </a:solidFill>
                      <a:prstDash val="solid"/>
                      <a:round/>
                      <a:headEnd type="none" w="med" len="med"/>
                      <a:tailEnd type="none" w="med" len="med"/>
                    </a:lnB>
                    <a:solidFill>
                      <a:srgbClr val="161B30"/>
                    </a:solidFill>
                  </a:tcPr>
                </a:tc>
                <a:tc>
                  <a:txBody>
                    <a:bodyPr/>
                    <a:lstStyle/>
                    <a:p>
                      <a:pPr marL="0" indent="0" algn="r">
                        <a:buNone/>
                      </a:pPr>
                      <a:r>
                        <a:rPr lang="en-US" sz="1100" b="1" dirty="0">
                          <a:solidFill>
                            <a:srgbClr val="9AA3BD"/>
                          </a:solidFill>
                          <a:latin typeface="Aptos" pitchFamily="34" charset="0"/>
                          <a:ea typeface="Aptos" pitchFamily="34" charset="-122"/>
                          <a:cs typeface="Aptos" pitchFamily="34" charset="-120"/>
                        </a:rPr>
                        <a:t>N = 1</a:t>
                      </a:r>
                      <a:endParaRPr lang="en-US" sz="1100" dirty="0">
                        <a:latin typeface="Aptos" charset="0"/>
                        <a:ea typeface="Aptos" charset="0"/>
                        <a:cs typeface="Aptos" charset="0"/>
                      </a:endParaRPr>
                    </a:p>
                  </a:txBody>
                  <a:tcPr marL="109728" marR="109728" marT="0" marB="0" anchor="ctr">
                    <a:lnL w="9525" cap="flat" cmpd="sng" algn="ctr">
                      <a:solidFill>
                        <a:srgbClr val="3C3F4C"/>
                      </a:solidFill>
                      <a:prstDash val="solid"/>
                      <a:round/>
                      <a:headEnd type="none" w="med" len="med"/>
                      <a:tailEnd type="none" w="med" len="med"/>
                    </a:lnL>
                    <a:lnR w="9525" cap="flat" cmpd="sng" algn="ctr">
                      <a:solidFill>
                        <a:srgbClr val="3C3F4C"/>
                      </a:solidFill>
                      <a:prstDash val="solid"/>
                      <a:round/>
                      <a:headEnd type="none" w="med" len="med"/>
                      <a:tailEnd type="none" w="med" len="med"/>
                    </a:lnR>
                    <a:lnT w="9525" cap="flat" cmpd="sng" algn="ctr">
                      <a:solidFill>
                        <a:srgbClr val="3C3F4C"/>
                      </a:solidFill>
                      <a:prstDash val="solid"/>
                      <a:round/>
                      <a:headEnd type="none" w="med" len="med"/>
                      <a:tailEnd type="none" w="med" len="med"/>
                    </a:lnT>
                    <a:lnB w="9525" cap="flat" cmpd="sng" algn="ctr">
                      <a:solidFill>
                        <a:srgbClr val="3C3F4C"/>
                      </a:solidFill>
                      <a:prstDash val="solid"/>
                      <a:round/>
                      <a:headEnd type="none" w="med" len="med"/>
                      <a:tailEnd type="none" w="med" len="med"/>
                    </a:lnB>
                    <a:solidFill>
                      <a:srgbClr val="161B30"/>
                    </a:solidFill>
                  </a:tcPr>
                </a:tc>
                <a:tc>
                  <a:txBody>
                    <a:bodyPr/>
                    <a:lstStyle/>
                    <a:p>
                      <a:pPr marL="0" indent="0" algn="r">
                        <a:buNone/>
                      </a:pPr>
                      <a:r>
                        <a:rPr lang="en-US" sz="1100" b="1" dirty="0">
                          <a:solidFill>
                            <a:srgbClr val="9AA3BD"/>
                          </a:solidFill>
                          <a:latin typeface="Aptos" pitchFamily="34" charset="0"/>
                          <a:ea typeface="Aptos" pitchFamily="34" charset="-122"/>
                          <a:cs typeface="Aptos" pitchFamily="34" charset="-120"/>
                        </a:rPr>
                        <a:t>N = 2</a:t>
                      </a:r>
                      <a:endParaRPr lang="en-US" sz="1100" dirty="0">
                        <a:latin typeface="Aptos" charset="0"/>
                        <a:ea typeface="Aptos" charset="0"/>
                        <a:cs typeface="Aptos" charset="0"/>
                      </a:endParaRPr>
                    </a:p>
                  </a:txBody>
                  <a:tcPr marL="109728" marR="109728" marT="0" marB="0" anchor="ctr">
                    <a:lnL w="9525" cap="flat" cmpd="sng" algn="ctr">
                      <a:solidFill>
                        <a:srgbClr val="3C3F4C"/>
                      </a:solidFill>
                      <a:prstDash val="solid"/>
                      <a:round/>
                      <a:headEnd type="none" w="med" len="med"/>
                      <a:tailEnd type="none" w="med" len="med"/>
                    </a:lnL>
                    <a:lnR w="9525" cap="flat" cmpd="sng" algn="ctr">
                      <a:solidFill>
                        <a:srgbClr val="3C3F4C"/>
                      </a:solidFill>
                      <a:prstDash val="solid"/>
                      <a:round/>
                      <a:headEnd type="none" w="med" len="med"/>
                      <a:tailEnd type="none" w="med" len="med"/>
                    </a:lnR>
                    <a:lnT w="9525" cap="flat" cmpd="sng" algn="ctr">
                      <a:solidFill>
                        <a:srgbClr val="3C3F4C"/>
                      </a:solidFill>
                      <a:prstDash val="solid"/>
                      <a:round/>
                      <a:headEnd type="none" w="med" len="med"/>
                      <a:tailEnd type="none" w="med" len="med"/>
                    </a:lnT>
                    <a:lnB w="9525" cap="flat" cmpd="sng" algn="ctr">
                      <a:solidFill>
                        <a:srgbClr val="3C3F4C"/>
                      </a:solidFill>
                      <a:prstDash val="solid"/>
                      <a:round/>
                      <a:headEnd type="none" w="med" len="med"/>
                      <a:tailEnd type="none" w="med" len="med"/>
                    </a:lnB>
                    <a:solidFill>
                      <a:srgbClr val="161B30"/>
                    </a:solidFill>
                  </a:tcPr>
                </a:tc>
                <a:tc>
                  <a:txBody>
                    <a:bodyPr/>
                    <a:lstStyle/>
                    <a:p>
                      <a:pPr marL="0" indent="0" algn="r">
                        <a:buNone/>
                      </a:pPr>
                      <a:r>
                        <a:rPr lang="en-US" sz="1100" b="1" dirty="0">
                          <a:solidFill>
                            <a:srgbClr val="9AA3BD"/>
                          </a:solidFill>
                          <a:latin typeface="Aptos" pitchFamily="34" charset="0"/>
                          <a:ea typeface="Aptos" pitchFamily="34" charset="-122"/>
                          <a:cs typeface="Aptos" pitchFamily="34" charset="-120"/>
                        </a:rPr>
                        <a:t>N = 3</a:t>
                      </a:r>
                      <a:endParaRPr lang="en-US" sz="1100" dirty="0">
                        <a:latin typeface="Aptos" charset="0"/>
                        <a:ea typeface="Aptos" charset="0"/>
                        <a:cs typeface="Aptos" charset="0"/>
                      </a:endParaRPr>
                    </a:p>
                  </a:txBody>
                  <a:tcPr marL="109728" marR="109728" marT="0" marB="0" anchor="ctr">
                    <a:lnL w="9525" cap="flat" cmpd="sng" algn="ctr">
                      <a:solidFill>
                        <a:srgbClr val="3C3F4C"/>
                      </a:solidFill>
                      <a:prstDash val="solid"/>
                      <a:round/>
                      <a:headEnd type="none" w="med" len="med"/>
                      <a:tailEnd type="none" w="med" len="med"/>
                    </a:lnL>
                    <a:lnR w="9525" cap="flat" cmpd="sng" algn="ctr">
                      <a:solidFill>
                        <a:srgbClr val="3C3F4C"/>
                      </a:solidFill>
                      <a:prstDash val="solid"/>
                      <a:round/>
                      <a:headEnd type="none" w="med" len="med"/>
                      <a:tailEnd type="none" w="med" len="med"/>
                    </a:lnR>
                    <a:lnT w="9525" cap="flat" cmpd="sng" algn="ctr">
                      <a:solidFill>
                        <a:srgbClr val="3C3F4C"/>
                      </a:solidFill>
                      <a:prstDash val="solid"/>
                      <a:round/>
                      <a:headEnd type="none" w="med" len="med"/>
                      <a:tailEnd type="none" w="med" len="med"/>
                    </a:lnT>
                    <a:lnB w="9525" cap="flat" cmpd="sng" algn="ctr">
                      <a:solidFill>
                        <a:srgbClr val="3C3F4C"/>
                      </a:solidFill>
                      <a:prstDash val="solid"/>
                      <a:round/>
                      <a:headEnd type="none" w="med" len="med"/>
                      <a:tailEnd type="none" w="med" len="med"/>
                    </a:lnB>
                    <a:solidFill>
                      <a:srgbClr val="161B30"/>
                    </a:solidFill>
                  </a:tcPr>
                </a:tc>
                <a:extLst>
                  <a:ext uri="{0D108BD9-81ED-4DB2-BD59-A6C34878D82A}">
                    <a16:rowId xmlns:a16="http://schemas.microsoft.com/office/drawing/2014/main" val="10000"/>
                  </a:ext>
                </a:extLst>
              </a:tr>
              <a:tr h="457200">
                <a:tc>
                  <a:txBody>
                    <a:bodyPr/>
                    <a:lstStyle/>
                    <a:p>
                      <a:pPr marL="0" indent="0" algn="l">
                        <a:buNone/>
                      </a:pPr>
                      <a:r>
                        <a:rPr lang="en-US" sz="1500" b="1" dirty="0">
                          <a:solidFill>
                            <a:srgbClr val="E9ECF3"/>
                          </a:solidFill>
                          <a:latin typeface="Aptos" pitchFamily="34" charset="0"/>
                          <a:ea typeface="Aptos" pitchFamily="34" charset="-122"/>
                          <a:cs typeface="Aptos" pitchFamily="34" charset="-120"/>
                        </a:rPr>
                        <a:t>0.5</a:t>
                      </a:r>
                      <a:endParaRPr lang="en-US" sz="1500" dirty="0">
                        <a:latin typeface="Aptos" charset="0"/>
                        <a:ea typeface="Aptos" charset="0"/>
                        <a:cs typeface="Aptos" charset="0"/>
                      </a:endParaRPr>
                    </a:p>
                  </a:txBody>
                  <a:tcPr marL="109728" marR="109728" marT="0" marB="0" anchor="ctr">
                    <a:lnL w="9525" cap="flat" cmpd="sng" algn="ctr">
                      <a:solidFill>
                        <a:srgbClr val="3C3F4C"/>
                      </a:solidFill>
                      <a:prstDash val="solid"/>
                      <a:round/>
                      <a:headEnd type="none" w="med" len="med"/>
                      <a:tailEnd type="none" w="med" len="med"/>
                    </a:lnL>
                    <a:lnR w="9525" cap="flat" cmpd="sng" algn="ctr">
                      <a:solidFill>
                        <a:srgbClr val="3C3F4C"/>
                      </a:solidFill>
                      <a:prstDash val="solid"/>
                      <a:round/>
                      <a:headEnd type="none" w="med" len="med"/>
                      <a:tailEnd type="none" w="med" len="med"/>
                    </a:lnR>
                    <a:lnT w="9525" cap="flat" cmpd="sng" algn="ctr">
                      <a:solidFill>
                        <a:srgbClr val="3C3F4C"/>
                      </a:solidFill>
                      <a:prstDash val="solid"/>
                      <a:round/>
                      <a:headEnd type="none" w="med" len="med"/>
                      <a:tailEnd type="none" w="med" len="med"/>
                    </a:lnT>
                    <a:lnB w="9525" cap="flat" cmpd="sng" algn="ctr">
                      <a:solidFill>
                        <a:srgbClr val="3C3F4C"/>
                      </a:solidFill>
                      <a:prstDash val="solid"/>
                      <a:round/>
                      <a:headEnd type="none" w="med" len="med"/>
                      <a:tailEnd type="none" w="med" len="med"/>
                    </a:lnB>
                    <a:solidFill>
                      <a:srgbClr val="161B30"/>
                    </a:solidFill>
                  </a:tcPr>
                </a:tc>
                <a:tc>
                  <a:txBody>
                    <a:bodyPr/>
                    <a:lstStyle/>
                    <a:p>
                      <a:pPr marL="0" indent="0" algn="r">
                        <a:buNone/>
                      </a:pPr>
                      <a:r>
                        <a:rPr lang="en-US" sz="1500" dirty="0">
                          <a:solidFill>
                            <a:srgbClr val="9AA3BD"/>
                          </a:solidFill>
                          <a:latin typeface="Aptos" pitchFamily="34" charset="0"/>
                          <a:ea typeface="Aptos" pitchFamily="34" charset="-122"/>
                          <a:cs typeface="Aptos" pitchFamily="34" charset="-120"/>
                        </a:rPr>
                        <a:t>0.500</a:t>
                      </a:r>
                      <a:endParaRPr lang="en-US" sz="1500" dirty="0">
                        <a:latin typeface="Aptos" charset="0"/>
                        <a:ea typeface="Aptos" charset="0"/>
                        <a:cs typeface="Aptos" charset="0"/>
                      </a:endParaRPr>
                    </a:p>
                  </a:txBody>
                  <a:tcPr marL="109728" marR="109728" marT="0" marB="0" anchor="ctr">
                    <a:lnL w="9525" cap="flat" cmpd="sng" algn="ctr">
                      <a:solidFill>
                        <a:srgbClr val="3C3F4C"/>
                      </a:solidFill>
                      <a:prstDash val="solid"/>
                      <a:round/>
                      <a:headEnd type="none" w="med" len="med"/>
                      <a:tailEnd type="none" w="med" len="med"/>
                    </a:lnL>
                    <a:lnR w="9525" cap="flat" cmpd="sng" algn="ctr">
                      <a:solidFill>
                        <a:srgbClr val="3C3F4C"/>
                      </a:solidFill>
                      <a:prstDash val="solid"/>
                      <a:round/>
                      <a:headEnd type="none" w="med" len="med"/>
                      <a:tailEnd type="none" w="med" len="med"/>
                    </a:lnR>
                    <a:lnT w="9525" cap="flat" cmpd="sng" algn="ctr">
                      <a:solidFill>
                        <a:srgbClr val="3C3F4C"/>
                      </a:solidFill>
                      <a:prstDash val="solid"/>
                      <a:round/>
                      <a:headEnd type="none" w="med" len="med"/>
                      <a:tailEnd type="none" w="med" len="med"/>
                    </a:lnT>
                    <a:lnB w="9525" cap="flat" cmpd="sng" algn="ctr">
                      <a:solidFill>
                        <a:srgbClr val="3C3F4C"/>
                      </a:solidFill>
                      <a:prstDash val="solid"/>
                      <a:round/>
                      <a:headEnd type="none" w="med" len="med"/>
                      <a:tailEnd type="none" w="med" len="med"/>
                    </a:lnB>
                    <a:solidFill>
                      <a:srgbClr val="161B30"/>
                    </a:solidFill>
                  </a:tcPr>
                </a:tc>
                <a:tc>
                  <a:txBody>
                    <a:bodyPr/>
                    <a:lstStyle/>
                    <a:p>
                      <a:pPr marL="0" indent="0" algn="r">
                        <a:buNone/>
                      </a:pPr>
                      <a:r>
                        <a:rPr lang="en-US" sz="1500" dirty="0">
                          <a:solidFill>
                            <a:srgbClr val="9AA3BD"/>
                          </a:solidFill>
                          <a:latin typeface="Aptos" pitchFamily="34" charset="0"/>
                          <a:ea typeface="Aptos" pitchFamily="34" charset="-122"/>
                          <a:cs typeface="Aptos" pitchFamily="34" charset="-120"/>
                        </a:rPr>
                        <a:t>1.6</a:t>
                      </a:r>
                      <a:endParaRPr lang="en-US" sz="1500" dirty="0">
                        <a:latin typeface="Aptos" charset="0"/>
                        <a:ea typeface="Aptos" charset="0"/>
                        <a:cs typeface="Aptos" charset="0"/>
                      </a:endParaRPr>
                    </a:p>
                  </a:txBody>
                  <a:tcPr marL="109728" marR="109728" marT="0" marB="0" anchor="ctr">
                    <a:lnL w="9525" cap="flat" cmpd="sng" algn="ctr">
                      <a:solidFill>
                        <a:srgbClr val="3C3F4C"/>
                      </a:solidFill>
                      <a:prstDash val="solid"/>
                      <a:round/>
                      <a:headEnd type="none" w="med" len="med"/>
                      <a:tailEnd type="none" w="med" len="med"/>
                    </a:lnL>
                    <a:lnR w="9525" cap="flat" cmpd="sng" algn="ctr">
                      <a:solidFill>
                        <a:srgbClr val="3C3F4C"/>
                      </a:solidFill>
                      <a:prstDash val="solid"/>
                      <a:round/>
                      <a:headEnd type="none" w="med" len="med"/>
                      <a:tailEnd type="none" w="med" len="med"/>
                    </a:lnR>
                    <a:lnT w="9525" cap="flat" cmpd="sng" algn="ctr">
                      <a:solidFill>
                        <a:srgbClr val="3C3F4C"/>
                      </a:solidFill>
                      <a:prstDash val="solid"/>
                      <a:round/>
                      <a:headEnd type="none" w="med" len="med"/>
                      <a:tailEnd type="none" w="med" len="med"/>
                    </a:lnT>
                    <a:lnB w="9525" cap="flat" cmpd="sng" algn="ctr">
                      <a:solidFill>
                        <a:srgbClr val="3C3F4C"/>
                      </a:solidFill>
                      <a:prstDash val="solid"/>
                      <a:round/>
                      <a:headEnd type="none" w="med" len="med"/>
                      <a:tailEnd type="none" w="med" len="med"/>
                    </a:lnB>
                    <a:solidFill>
                      <a:srgbClr val="161B30"/>
                    </a:solidFill>
                  </a:tcPr>
                </a:tc>
                <a:tc>
                  <a:txBody>
                    <a:bodyPr/>
                    <a:lstStyle/>
                    <a:p>
                      <a:pPr marL="0" indent="0" algn="r">
                        <a:buNone/>
                      </a:pPr>
                      <a:r>
                        <a:rPr lang="en-US" sz="1500" dirty="0">
                          <a:solidFill>
                            <a:srgbClr val="9AA3BD"/>
                          </a:solidFill>
                          <a:latin typeface="Aptos" pitchFamily="34" charset="0"/>
                          <a:ea typeface="Aptos" pitchFamily="34" charset="-122"/>
                          <a:cs typeface="Aptos" pitchFamily="34" charset="-120"/>
                        </a:rPr>
                        <a:t>1.0 × 10⁻¹</a:t>
                      </a:r>
                      <a:endParaRPr lang="en-US" sz="1500" dirty="0">
                        <a:latin typeface="Aptos" charset="0"/>
                        <a:ea typeface="Aptos" charset="0"/>
                        <a:cs typeface="Aptos" charset="0"/>
                      </a:endParaRPr>
                    </a:p>
                  </a:txBody>
                  <a:tcPr marL="109728" marR="109728" marT="0" marB="0" anchor="ctr">
                    <a:lnL w="9525" cap="flat" cmpd="sng" algn="ctr">
                      <a:solidFill>
                        <a:srgbClr val="3C3F4C"/>
                      </a:solidFill>
                      <a:prstDash val="solid"/>
                      <a:round/>
                      <a:headEnd type="none" w="med" len="med"/>
                      <a:tailEnd type="none" w="med" len="med"/>
                    </a:lnL>
                    <a:lnR w="9525" cap="flat" cmpd="sng" algn="ctr">
                      <a:solidFill>
                        <a:srgbClr val="3C3F4C"/>
                      </a:solidFill>
                      <a:prstDash val="solid"/>
                      <a:round/>
                      <a:headEnd type="none" w="med" len="med"/>
                      <a:tailEnd type="none" w="med" len="med"/>
                    </a:lnR>
                    <a:lnT w="9525" cap="flat" cmpd="sng" algn="ctr">
                      <a:solidFill>
                        <a:srgbClr val="3C3F4C"/>
                      </a:solidFill>
                      <a:prstDash val="solid"/>
                      <a:round/>
                      <a:headEnd type="none" w="med" len="med"/>
                      <a:tailEnd type="none" w="med" len="med"/>
                    </a:lnT>
                    <a:lnB w="9525" cap="flat" cmpd="sng" algn="ctr">
                      <a:solidFill>
                        <a:srgbClr val="3C3F4C"/>
                      </a:solidFill>
                      <a:prstDash val="solid"/>
                      <a:round/>
                      <a:headEnd type="none" w="med" len="med"/>
                      <a:tailEnd type="none" w="med" len="med"/>
                    </a:lnB>
                    <a:solidFill>
                      <a:srgbClr val="161B30"/>
                    </a:solidFill>
                  </a:tcPr>
                </a:tc>
                <a:tc>
                  <a:txBody>
                    <a:bodyPr/>
                    <a:lstStyle/>
                    <a:p>
                      <a:pPr marL="0" indent="0" algn="r">
                        <a:buNone/>
                      </a:pPr>
                      <a:r>
                        <a:rPr lang="en-US" sz="1500" dirty="0">
                          <a:solidFill>
                            <a:srgbClr val="9AA3BD"/>
                          </a:solidFill>
                          <a:latin typeface="Aptos" pitchFamily="34" charset="0"/>
                          <a:ea typeface="Aptos" pitchFamily="34" charset="-122"/>
                          <a:cs typeface="Aptos" pitchFamily="34" charset="-120"/>
                        </a:rPr>
                        <a:t>5.1 × 10⁻³</a:t>
                      </a:r>
                      <a:endParaRPr lang="en-US" sz="1500" dirty="0">
                        <a:latin typeface="Aptos" charset="0"/>
                        <a:ea typeface="Aptos" charset="0"/>
                        <a:cs typeface="Aptos" charset="0"/>
                      </a:endParaRPr>
                    </a:p>
                  </a:txBody>
                  <a:tcPr marL="109728" marR="109728" marT="0" marB="0" anchor="ctr">
                    <a:lnL w="9525" cap="flat" cmpd="sng" algn="ctr">
                      <a:solidFill>
                        <a:srgbClr val="3C3F4C"/>
                      </a:solidFill>
                      <a:prstDash val="solid"/>
                      <a:round/>
                      <a:headEnd type="none" w="med" len="med"/>
                      <a:tailEnd type="none" w="med" len="med"/>
                    </a:lnL>
                    <a:lnR w="9525" cap="flat" cmpd="sng" algn="ctr">
                      <a:solidFill>
                        <a:srgbClr val="3C3F4C"/>
                      </a:solidFill>
                      <a:prstDash val="solid"/>
                      <a:round/>
                      <a:headEnd type="none" w="med" len="med"/>
                      <a:tailEnd type="none" w="med" len="med"/>
                    </a:lnR>
                    <a:lnT w="9525" cap="flat" cmpd="sng" algn="ctr">
                      <a:solidFill>
                        <a:srgbClr val="3C3F4C"/>
                      </a:solidFill>
                      <a:prstDash val="solid"/>
                      <a:round/>
                      <a:headEnd type="none" w="med" len="med"/>
                      <a:tailEnd type="none" w="med" len="med"/>
                    </a:lnT>
                    <a:lnB w="9525" cap="flat" cmpd="sng" algn="ctr">
                      <a:solidFill>
                        <a:srgbClr val="3C3F4C"/>
                      </a:solidFill>
                      <a:prstDash val="solid"/>
                      <a:round/>
                      <a:headEnd type="none" w="med" len="med"/>
                      <a:tailEnd type="none" w="med" len="med"/>
                    </a:lnB>
                    <a:solidFill>
                      <a:srgbClr val="161B30"/>
                    </a:solidFill>
                  </a:tcPr>
                </a:tc>
                <a:tc>
                  <a:txBody>
                    <a:bodyPr/>
                    <a:lstStyle/>
                    <a:p>
                      <a:pPr marL="0" indent="0" algn="r">
                        <a:buNone/>
                      </a:pPr>
                      <a:r>
                        <a:rPr lang="en-US" sz="1500" dirty="0">
                          <a:solidFill>
                            <a:srgbClr val="9AA3BD"/>
                          </a:solidFill>
                          <a:latin typeface="Aptos" pitchFamily="34" charset="0"/>
                          <a:ea typeface="Aptos" pitchFamily="34" charset="-122"/>
                          <a:cs typeface="Aptos" pitchFamily="34" charset="-120"/>
                        </a:rPr>
                        <a:t>2.3 × 10⁻⁴</a:t>
                      </a:r>
                      <a:endParaRPr lang="en-US" sz="1500" dirty="0">
                        <a:latin typeface="Aptos" charset="0"/>
                        <a:ea typeface="Aptos" charset="0"/>
                        <a:cs typeface="Aptos" charset="0"/>
                      </a:endParaRPr>
                    </a:p>
                  </a:txBody>
                  <a:tcPr marL="109728" marR="109728" marT="0" marB="0" anchor="ctr">
                    <a:lnL w="9525" cap="flat" cmpd="sng" algn="ctr">
                      <a:solidFill>
                        <a:srgbClr val="3C3F4C"/>
                      </a:solidFill>
                      <a:prstDash val="solid"/>
                      <a:round/>
                      <a:headEnd type="none" w="med" len="med"/>
                      <a:tailEnd type="none" w="med" len="med"/>
                    </a:lnL>
                    <a:lnR w="9525" cap="flat" cmpd="sng" algn="ctr">
                      <a:solidFill>
                        <a:srgbClr val="3C3F4C"/>
                      </a:solidFill>
                      <a:prstDash val="solid"/>
                      <a:round/>
                      <a:headEnd type="none" w="med" len="med"/>
                      <a:tailEnd type="none" w="med" len="med"/>
                    </a:lnR>
                    <a:lnT w="9525" cap="flat" cmpd="sng" algn="ctr">
                      <a:solidFill>
                        <a:srgbClr val="3C3F4C"/>
                      </a:solidFill>
                      <a:prstDash val="solid"/>
                      <a:round/>
                      <a:headEnd type="none" w="med" len="med"/>
                      <a:tailEnd type="none" w="med" len="med"/>
                    </a:lnT>
                    <a:lnB w="9525" cap="flat" cmpd="sng" algn="ctr">
                      <a:solidFill>
                        <a:srgbClr val="3C3F4C"/>
                      </a:solidFill>
                      <a:prstDash val="solid"/>
                      <a:round/>
                      <a:headEnd type="none" w="med" len="med"/>
                      <a:tailEnd type="none" w="med" len="med"/>
                    </a:lnB>
                    <a:solidFill>
                      <a:srgbClr val="161B30"/>
                    </a:solidFill>
                  </a:tcPr>
                </a:tc>
                <a:extLst>
                  <a:ext uri="{0D108BD9-81ED-4DB2-BD59-A6C34878D82A}">
                    <a16:rowId xmlns:a16="http://schemas.microsoft.com/office/drawing/2014/main" val="10001"/>
                  </a:ext>
                </a:extLst>
              </a:tr>
              <a:tr h="457200">
                <a:tc>
                  <a:txBody>
                    <a:bodyPr/>
                    <a:lstStyle/>
                    <a:p>
                      <a:pPr marL="0" indent="0" algn="l">
                        <a:buNone/>
                      </a:pPr>
                      <a:r>
                        <a:rPr lang="en-US" sz="1500" b="1" dirty="0">
                          <a:solidFill>
                            <a:srgbClr val="E9ECF3"/>
                          </a:solidFill>
                          <a:latin typeface="Aptos" pitchFamily="34" charset="0"/>
                          <a:ea typeface="Aptos" pitchFamily="34" charset="-122"/>
                          <a:cs typeface="Aptos" pitchFamily="34" charset="-120"/>
                        </a:rPr>
                        <a:t>1.0</a:t>
                      </a:r>
                      <a:endParaRPr lang="en-US" sz="1500" dirty="0">
                        <a:latin typeface="Aptos" charset="0"/>
                        <a:ea typeface="Aptos" charset="0"/>
                        <a:cs typeface="Aptos" charset="0"/>
                      </a:endParaRPr>
                    </a:p>
                  </a:txBody>
                  <a:tcPr marL="109728" marR="109728" marT="0" marB="0" anchor="ctr">
                    <a:lnL w="9525" cap="flat" cmpd="sng" algn="ctr">
                      <a:solidFill>
                        <a:srgbClr val="3C3F4C"/>
                      </a:solidFill>
                      <a:prstDash val="solid"/>
                      <a:round/>
                      <a:headEnd type="none" w="med" len="med"/>
                      <a:tailEnd type="none" w="med" len="med"/>
                    </a:lnL>
                    <a:lnR w="9525" cap="flat" cmpd="sng" algn="ctr">
                      <a:solidFill>
                        <a:srgbClr val="3C3F4C"/>
                      </a:solidFill>
                      <a:prstDash val="solid"/>
                      <a:round/>
                      <a:headEnd type="none" w="med" len="med"/>
                      <a:tailEnd type="none" w="med" len="med"/>
                    </a:lnR>
                    <a:lnT w="9525" cap="flat" cmpd="sng" algn="ctr">
                      <a:solidFill>
                        <a:srgbClr val="3C3F4C"/>
                      </a:solidFill>
                      <a:prstDash val="solid"/>
                      <a:round/>
                      <a:headEnd type="none" w="med" len="med"/>
                      <a:tailEnd type="none" w="med" len="med"/>
                    </a:lnT>
                    <a:lnB w="9525" cap="flat" cmpd="sng" algn="ctr">
                      <a:solidFill>
                        <a:srgbClr val="3C3F4C"/>
                      </a:solidFill>
                      <a:prstDash val="solid"/>
                      <a:round/>
                      <a:headEnd type="none" w="med" len="med"/>
                      <a:tailEnd type="none" w="med" len="med"/>
                    </a:lnB>
                    <a:solidFill>
                      <a:srgbClr val="1B213B"/>
                    </a:solidFill>
                  </a:tcPr>
                </a:tc>
                <a:tc>
                  <a:txBody>
                    <a:bodyPr/>
                    <a:lstStyle/>
                    <a:p>
                      <a:pPr marL="0" indent="0" algn="r">
                        <a:buNone/>
                      </a:pPr>
                      <a:r>
                        <a:rPr lang="en-US" sz="1500" dirty="0">
                          <a:solidFill>
                            <a:srgbClr val="9AA3BD"/>
                          </a:solidFill>
                          <a:latin typeface="Aptos" pitchFamily="34" charset="0"/>
                          <a:ea typeface="Aptos" pitchFamily="34" charset="-122"/>
                          <a:cs typeface="Aptos" pitchFamily="34" charset="-120"/>
                        </a:rPr>
                        <a:t>0.167</a:t>
                      </a:r>
                      <a:endParaRPr lang="en-US" sz="1500" dirty="0">
                        <a:latin typeface="Aptos" charset="0"/>
                        <a:ea typeface="Aptos" charset="0"/>
                        <a:cs typeface="Aptos" charset="0"/>
                      </a:endParaRPr>
                    </a:p>
                  </a:txBody>
                  <a:tcPr marL="109728" marR="109728" marT="0" marB="0" anchor="ctr">
                    <a:lnL w="9525" cap="flat" cmpd="sng" algn="ctr">
                      <a:solidFill>
                        <a:srgbClr val="3C3F4C"/>
                      </a:solidFill>
                      <a:prstDash val="solid"/>
                      <a:round/>
                      <a:headEnd type="none" w="med" len="med"/>
                      <a:tailEnd type="none" w="med" len="med"/>
                    </a:lnL>
                    <a:lnR w="9525" cap="flat" cmpd="sng" algn="ctr">
                      <a:solidFill>
                        <a:srgbClr val="3C3F4C"/>
                      </a:solidFill>
                      <a:prstDash val="solid"/>
                      <a:round/>
                      <a:headEnd type="none" w="med" len="med"/>
                      <a:tailEnd type="none" w="med" len="med"/>
                    </a:lnR>
                    <a:lnT w="9525" cap="flat" cmpd="sng" algn="ctr">
                      <a:solidFill>
                        <a:srgbClr val="3C3F4C"/>
                      </a:solidFill>
                      <a:prstDash val="solid"/>
                      <a:round/>
                      <a:headEnd type="none" w="med" len="med"/>
                      <a:tailEnd type="none" w="med" len="med"/>
                    </a:lnT>
                    <a:lnB w="9525" cap="flat" cmpd="sng" algn="ctr">
                      <a:solidFill>
                        <a:srgbClr val="3C3F4C"/>
                      </a:solidFill>
                      <a:prstDash val="solid"/>
                      <a:round/>
                      <a:headEnd type="none" w="med" len="med"/>
                      <a:tailEnd type="none" w="med" len="med"/>
                    </a:lnB>
                    <a:solidFill>
                      <a:srgbClr val="1B213B"/>
                    </a:solidFill>
                  </a:tcPr>
                </a:tc>
                <a:tc>
                  <a:txBody>
                    <a:bodyPr/>
                    <a:lstStyle/>
                    <a:p>
                      <a:pPr marL="0" indent="0" algn="r">
                        <a:buNone/>
                      </a:pPr>
                      <a:r>
                        <a:rPr lang="en-US" sz="1500" dirty="0">
                          <a:solidFill>
                            <a:srgbClr val="9AA3BD"/>
                          </a:solidFill>
                          <a:latin typeface="Aptos" pitchFamily="34" charset="0"/>
                          <a:ea typeface="Aptos" pitchFamily="34" charset="-122"/>
                          <a:cs typeface="Aptos" pitchFamily="34" charset="-120"/>
                        </a:rPr>
                        <a:t>4.8</a:t>
                      </a:r>
                      <a:endParaRPr lang="en-US" sz="1500" dirty="0">
                        <a:latin typeface="Aptos" charset="0"/>
                        <a:ea typeface="Aptos" charset="0"/>
                        <a:cs typeface="Aptos" charset="0"/>
                      </a:endParaRPr>
                    </a:p>
                  </a:txBody>
                  <a:tcPr marL="109728" marR="109728" marT="0" marB="0" anchor="ctr">
                    <a:lnL w="9525" cap="flat" cmpd="sng" algn="ctr">
                      <a:solidFill>
                        <a:srgbClr val="3C3F4C"/>
                      </a:solidFill>
                      <a:prstDash val="solid"/>
                      <a:round/>
                      <a:headEnd type="none" w="med" len="med"/>
                      <a:tailEnd type="none" w="med" len="med"/>
                    </a:lnL>
                    <a:lnR w="9525" cap="flat" cmpd="sng" algn="ctr">
                      <a:solidFill>
                        <a:srgbClr val="3C3F4C"/>
                      </a:solidFill>
                      <a:prstDash val="solid"/>
                      <a:round/>
                      <a:headEnd type="none" w="med" len="med"/>
                      <a:tailEnd type="none" w="med" len="med"/>
                    </a:lnR>
                    <a:lnT w="9525" cap="flat" cmpd="sng" algn="ctr">
                      <a:solidFill>
                        <a:srgbClr val="3C3F4C"/>
                      </a:solidFill>
                      <a:prstDash val="solid"/>
                      <a:round/>
                      <a:headEnd type="none" w="med" len="med"/>
                      <a:tailEnd type="none" w="med" len="med"/>
                    </a:lnT>
                    <a:lnB w="9525" cap="flat" cmpd="sng" algn="ctr">
                      <a:solidFill>
                        <a:srgbClr val="3C3F4C"/>
                      </a:solidFill>
                      <a:prstDash val="solid"/>
                      <a:round/>
                      <a:headEnd type="none" w="med" len="med"/>
                      <a:tailEnd type="none" w="med" len="med"/>
                    </a:lnB>
                    <a:solidFill>
                      <a:srgbClr val="1B213B"/>
                    </a:solidFill>
                  </a:tcPr>
                </a:tc>
                <a:tc>
                  <a:txBody>
                    <a:bodyPr/>
                    <a:lstStyle/>
                    <a:p>
                      <a:pPr marL="0" indent="0" algn="r">
                        <a:buNone/>
                      </a:pPr>
                      <a:r>
                        <a:rPr lang="en-US" sz="1500" dirty="0">
                          <a:solidFill>
                            <a:srgbClr val="9AA3BD"/>
                          </a:solidFill>
                          <a:latin typeface="Aptos" pitchFamily="34" charset="0"/>
                          <a:ea typeface="Aptos" pitchFamily="34" charset="-122"/>
                          <a:cs typeface="Aptos" pitchFamily="34" charset="-120"/>
                        </a:rPr>
                        <a:t>9.1 × 10⁻³</a:t>
                      </a:r>
                      <a:endParaRPr lang="en-US" sz="1500" dirty="0">
                        <a:latin typeface="Aptos" charset="0"/>
                        <a:ea typeface="Aptos" charset="0"/>
                        <a:cs typeface="Aptos" charset="0"/>
                      </a:endParaRPr>
                    </a:p>
                  </a:txBody>
                  <a:tcPr marL="109728" marR="109728" marT="0" marB="0" anchor="ctr">
                    <a:lnL w="9525" cap="flat" cmpd="sng" algn="ctr">
                      <a:solidFill>
                        <a:srgbClr val="3C3F4C"/>
                      </a:solidFill>
                      <a:prstDash val="solid"/>
                      <a:round/>
                      <a:headEnd type="none" w="med" len="med"/>
                      <a:tailEnd type="none" w="med" len="med"/>
                    </a:lnL>
                    <a:lnR w="9525" cap="flat" cmpd="sng" algn="ctr">
                      <a:solidFill>
                        <a:srgbClr val="3C3F4C"/>
                      </a:solidFill>
                      <a:prstDash val="solid"/>
                      <a:round/>
                      <a:headEnd type="none" w="med" len="med"/>
                      <a:tailEnd type="none" w="med" len="med"/>
                    </a:lnR>
                    <a:lnT w="9525" cap="flat" cmpd="sng" algn="ctr">
                      <a:solidFill>
                        <a:srgbClr val="3C3F4C"/>
                      </a:solidFill>
                      <a:prstDash val="solid"/>
                      <a:round/>
                      <a:headEnd type="none" w="med" len="med"/>
                      <a:tailEnd type="none" w="med" len="med"/>
                    </a:lnT>
                    <a:lnB w="9525" cap="flat" cmpd="sng" algn="ctr">
                      <a:solidFill>
                        <a:srgbClr val="3C3F4C"/>
                      </a:solidFill>
                      <a:prstDash val="solid"/>
                      <a:round/>
                      <a:headEnd type="none" w="med" len="med"/>
                      <a:tailEnd type="none" w="med" len="med"/>
                    </a:lnB>
                    <a:solidFill>
                      <a:srgbClr val="1B213B"/>
                    </a:solidFill>
                  </a:tcPr>
                </a:tc>
                <a:tc>
                  <a:txBody>
                    <a:bodyPr/>
                    <a:lstStyle/>
                    <a:p>
                      <a:pPr marL="0" indent="0" algn="r">
                        <a:buNone/>
                      </a:pPr>
                      <a:r>
                        <a:rPr lang="en-US" sz="1500" dirty="0">
                          <a:solidFill>
                            <a:srgbClr val="9AA3BD"/>
                          </a:solidFill>
                          <a:latin typeface="Aptos" pitchFamily="34" charset="0"/>
                          <a:ea typeface="Aptos" pitchFamily="34" charset="-122"/>
                          <a:cs typeface="Aptos" pitchFamily="34" charset="-120"/>
                        </a:rPr>
                        <a:t>4.4 × 10⁻³</a:t>
                      </a:r>
                      <a:endParaRPr lang="en-US" sz="1500" dirty="0">
                        <a:latin typeface="Aptos" charset="0"/>
                        <a:ea typeface="Aptos" charset="0"/>
                        <a:cs typeface="Aptos" charset="0"/>
                      </a:endParaRPr>
                    </a:p>
                  </a:txBody>
                  <a:tcPr marL="109728" marR="109728" marT="0" marB="0" anchor="ctr">
                    <a:lnL w="9525" cap="flat" cmpd="sng" algn="ctr">
                      <a:solidFill>
                        <a:srgbClr val="3C3F4C"/>
                      </a:solidFill>
                      <a:prstDash val="solid"/>
                      <a:round/>
                      <a:headEnd type="none" w="med" len="med"/>
                      <a:tailEnd type="none" w="med" len="med"/>
                    </a:lnL>
                    <a:lnR w="9525" cap="flat" cmpd="sng" algn="ctr">
                      <a:solidFill>
                        <a:srgbClr val="3C3F4C"/>
                      </a:solidFill>
                      <a:prstDash val="solid"/>
                      <a:round/>
                      <a:headEnd type="none" w="med" len="med"/>
                      <a:tailEnd type="none" w="med" len="med"/>
                    </a:lnR>
                    <a:lnT w="9525" cap="flat" cmpd="sng" algn="ctr">
                      <a:solidFill>
                        <a:srgbClr val="3C3F4C"/>
                      </a:solidFill>
                      <a:prstDash val="solid"/>
                      <a:round/>
                      <a:headEnd type="none" w="med" len="med"/>
                      <a:tailEnd type="none" w="med" len="med"/>
                    </a:lnT>
                    <a:lnB w="9525" cap="flat" cmpd="sng" algn="ctr">
                      <a:solidFill>
                        <a:srgbClr val="3C3F4C"/>
                      </a:solidFill>
                      <a:prstDash val="solid"/>
                      <a:round/>
                      <a:headEnd type="none" w="med" len="med"/>
                      <a:tailEnd type="none" w="med" len="med"/>
                    </a:lnB>
                    <a:solidFill>
                      <a:srgbClr val="1B213B"/>
                    </a:solidFill>
                  </a:tcPr>
                </a:tc>
                <a:tc>
                  <a:txBody>
                    <a:bodyPr/>
                    <a:lstStyle/>
                    <a:p>
                      <a:pPr marL="0" indent="0" algn="r">
                        <a:buNone/>
                      </a:pPr>
                      <a:r>
                        <a:rPr lang="en-US" sz="1500" dirty="0">
                          <a:solidFill>
                            <a:srgbClr val="9AA3BD"/>
                          </a:solidFill>
                          <a:latin typeface="Aptos" pitchFamily="34" charset="0"/>
                          <a:ea typeface="Aptos" pitchFamily="34" charset="-122"/>
                          <a:cs typeface="Aptos" pitchFamily="34" charset="-120"/>
                        </a:rPr>
                        <a:t>6.7 × 10⁻⁵</a:t>
                      </a:r>
                      <a:endParaRPr lang="en-US" sz="1500" dirty="0">
                        <a:latin typeface="Aptos" charset="0"/>
                        <a:ea typeface="Aptos" charset="0"/>
                        <a:cs typeface="Aptos" charset="0"/>
                      </a:endParaRPr>
                    </a:p>
                  </a:txBody>
                  <a:tcPr marL="109728" marR="109728" marT="0" marB="0" anchor="ctr">
                    <a:lnL w="9525" cap="flat" cmpd="sng" algn="ctr">
                      <a:solidFill>
                        <a:srgbClr val="3C3F4C"/>
                      </a:solidFill>
                      <a:prstDash val="solid"/>
                      <a:round/>
                      <a:headEnd type="none" w="med" len="med"/>
                      <a:tailEnd type="none" w="med" len="med"/>
                    </a:lnL>
                    <a:lnR w="9525" cap="flat" cmpd="sng" algn="ctr">
                      <a:solidFill>
                        <a:srgbClr val="3C3F4C"/>
                      </a:solidFill>
                      <a:prstDash val="solid"/>
                      <a:round/>
                      <a:headEnd type="none" w="med" len="med"/>
                      <a:tailEnd type="none" w="med" len="med"/>
                    </a:lnR>
                    <a:lnT w="9525" cap="flat" cmpd="sng" algn="ctr">
                      <a:solidFill>
                        <a:srgbClr val="3C3F4C"/>
                      </a:solidFill>
                      <a:prstDash val="solid"/>
                      <a:round/>
                      <a:headEnd type="none" w="med" len="med"/>
                      <a:tailEnd type="none" w="med" len="med"/>
                    </a:lnT>
                    <a:lnB w="9525" cap="flat" cmpd="sng" algn="ctr">
                      <a:solidFill>
                        <a:srgbClr val="3C3F4C"/>
                      </a:solidFill>
                      <a:prstDash val="solid"/>
                      <a:round/>
                      <a:headEnd type="none" w="med" len="med"/>
                      <a:tailEnd type="none" w="med" len="med"/>
                    </a:lnB>
                    <a:solidFill>
                      <a:srgbClr val="1B213B"/>
                    </a:solidFill>
                  </a:tcPr>
                </a:tc>
                <a:extLst>
                  <a:ext uri="{0D108BD9-81ED-4DB2-BD59-A6C34878D82A}">
                    <a16:rowId xmlns:a16="http://schemas.microsoft.com/office/drawing/2014/main" val="10002"/>
                  </a:ext>
                </a:extLst>
              </a:tr>
              <a:tr h="457200">
                <a:tc>
                  <a:txBody>
                    <a:bodyPr/>
                    <a:lstStyle/>
                    <a:p>
                      <a:pPr marL="0" indent="0" algn="l">
                        <a:buNone/>
                      </a:pPr>
                      <a:r>
                        <a:rPr lang="en-US" sz="1500" b="1" dirty="0">
                          <a:solidFill>
                            <a:srgbClr val="E9ECF3"/>
                          </a:solidFill>
                          <a:latin typeface="Aptos" pitchFamily="34" charset="0"/>
                          <a:ea typeface="Aptos" pitchFamily="34" charset="-122"/>
                          <a:cs typeface="Aptos" pitchFamily="34" charset="-120"/>
                        </a:rPr>
                        <a:t>1.5</a:t>
                      </a:r>
                      <a:endParaRPr lang="en-US" sz="1500" dirty="0">
                        <a:latin typeface="Aptos" charset="0"/>
                        <a:ea typeface="Aptos" charset="0"/>
                        <a:cs typeface="Aptos" charset="0"/>
                      </a:endParaRPr>
                    </a:p>
                  </a:txBody>
                  <a:tcPr marL="109728" marR="109728" marT="0" marB="0" anchor="ctr">
                    <a:lnL w="9525" cap="flat" cmpd="sng" algn="ctr">
                      <a:solidFill>
                        <a:srgbClr val="3C3F4C"/>
                      </a:solidFill>
                      <a:prstDash val="solid"/>
                      <a:round/>
                      <a:headEnd type="none" w="med" len="med"/>
                      <a:tailEnd type="none" w="med" len="med"/>
                    </a:lnL>
                    <a:lnR w="9525" cap="flat" cmpd="sng" algn="ctr">
                      <a:solidFill>
                        <a:srgbClr val="3C3F4C"/>
                      </a:solidFill>
                      <a:prstDash val="solid"/>
                      <a:round/>
                      <a:headEnd type="none" w="med" len="med"/>
                      <a:tailEnd type="none" w="med" len="med"/>
                    </a:lnR>
                    <a:lnT w="9525" cap="flat" cmpd="sng" algn="ctr">
                      <a:solidFill>
                        <a:srgbClr val="3C3F4C"/>
                      </a:solidFill>
                      <a:prstDash val="solid"/>
                      <a:round/>
                      <a:headEnd type="none" w="med" len="med"/>
                      <a:tailEnd type="none" w="med" len="med"/>
                    </a:lnT>
                    <a:lnB w="9525" cap="flat" cmpd="sng" algn="ctr">
                      <a:solidFill>
                        <a:srgbClr val="3C3F4C"/>
                      </a:solidFill>
                      <a:prstDash val="solid"/>
                      <a:round/>
                      <a:headEnd type="none" w="med" len="med"/>
                      <a:tailEnd type="none" w="med" len="med"/>
                    </a:lnB>
                    <a:solidFill>
                      <a:srgbClr val="161B30"/>
                    </a:solidFill>
                  </a:tcPr>
                </a:tc>
                <a:tc>
                  <a:txBody>
                    <a:bodyPr/>
                    <a:lstStyle/>
                    <a:p>
                      <a:pPr marL="0" indent="0" algn="r">
                        <a:buNone/>
                      </a:pPr>
                      <a:r>
                        <a:rPr lang="en-US" sz="1500" dirty="0">
                          <a:solidFill>
                            <a:srgbClr val="9AA3BD"/>
                          </a:solidFill>
                          <a:latin typeface="Aptos" pitchFamily="34" charset="0"/>
                          <a:ea typeface="Aptos" pitchFamily="34" charset="-122"/>
                          <a:cs typeface="Aptos" pitchFamily="34" charset="-120"/>
                        </a:rPr>
                        <a:t>0.056</a:t>
                      </a:r>
                      <a:endParaRPr lang="en-US" sz="1500" dirty="0">
                        <a:latin typeface="Aptos" charset="0"/>
                        <a:ea typeface="Aptos" charset="0"/>
                        <a:cs typeface="Aptos" charset="0"/>
                      </a:endParaRPr>
                    </a:p>
                  </a:txBody>
                  <a:tcPr marL="109728" marR="109728" marT="0" marB="0" anchor="ctr">
                    <a:lnL w="9525" cap="flat" cmpd="sng" algn="ctr">
                      <a:solidFill>
                        <a:srgbClr val="3C3F4C"/>
                      </a:solidFill>
                      <a:prstDash val="solid"/>
                      <a:round/>
                      <a:headEnd type="none" w="med" len="med"/>
                      <a:tailEnd type="none" w="med" len="med"/>
                    </a:lnL>
                    <a:lnR w="9525" cap="flat" cmpd="sng" algn="ctr">
                      <a:solidFill>
                        <a:srgbClr val="3C3F4C"/>
                      </a:solidFill>
                      <a:prstDash val="solid"/>
                      <a:round/>
                      <a:headEnd type="none" w="med" len="med"/>
                      <a:tailEnd type="none" w="med" len="med"/>
                    </a:lnR>
                    <a:lnT w="9525" cap="flat" cmpd="sng" algn="ctr">
                      <a:solidFill>
                        <a:srgbClr val="3C3F4C"/>
                      </a:solidFill>
                      <a:prstDash val="solid"/>
                      <a:round/>
                      <a:headEnd type="none" w="med" len="med"/>
                      <a:tailEnd type="none" w="med" len="med"/>
                    </a:lnT>
                    <a:lnB w="9525" cap="flat" cmpd="sng" algn="ctr">
                      <a:solidFill>
                        <a:srgbClr val="3C3F4C"/>
                      </a:solidFill>
                      <a:prstDash val="solid"/>
                      <a:round/>
                      <a:headEnd type="none" w="med" len="med"/>
                      <a:tailEnd type="none" w="med" len="med"/>
                    </a:lnB>
                    <a:solidFill>
                      <a:srgbClr val="161B30"/>
                    </a:solidFill>
                  </a:tcPr>
                </a:tc>
                <a:tc>
                  <a:txBody>
                    <a:bodyPr/>
                    <a:lstStyle/>
                    <a:p>
                      <a:pPr marL="0" indent="0" algn="r">
                        <a:buNone/>
                      </a:pPr>
                      <a:r>
                        <a:rPr lang="en-US" sz="1500" dirty="0">
                          <a:solidFill>
                            <a:srgbClr val="9AA3BD"/>
                          </a:solidFill>
                          <a:latin typeface="Aptos" pitchFamily="34" charset="0"/>
                          <a:ea typeface="Aptos" pitchFamily="34" charset="-122"/>
                          <a:cs typeface="Aptos" pitchFamily="34" charset="-120"/>
                        </a:rPr>
                        <a:t>14.4</a:t>
                      </a:r>
                      <a:endParaRPr lang="en-US" sz="1500" dirty="0">
                        <a:latin typeface="Aptos" charset="0"/>
                        <a:ea typeface="Aptos" charset="0"/>
                        <a:cs typeface="Aptos" charset="0"/>
                      </a:endParaRPr>
                    </a:p>
                  </a:txBody>
                  <a:tcPr marL="109728" marR="109728" marT="0" marB="0" anchor="ctr">
                    <a:lnL w="9525" cap="flat" cmpd="sng" algn="ctr">
                      <a:solidFill>
                        <a:srgbClr val="3C3F4C"/>
                      </a:solidFill>
                      <a:prstDash val="solid"/>
                      <a:round/>
                      <a:headEnd type="none" w="med" len="med"/>
                      <a:tailEnd type="none" w="med" len="med"/>
                    </a:lnL>
                    <a:lnR w="9525" cap="flat" cmpd="sng" algn="ctr">
                      <a:solidFill>
                        <a:srgbClr val="3C3F4C"/>
                      </a:solidFill>
                      <a:prstDash val="solid"/>
                      <a:round/>
                      <a:headEnd type="none" w="med" len="med"/>
                      <a:tailEnd type="none" w="med" len="med"/>
                    </a:lnR>
                    <a:lnT w="9525" cap="flat" cmpd="sng" algn="ctr">
                      <a:solidFill>
                        <a:srgbClr val="3C3F4C"/>
                      </a:solidFill>
                      <a:prstDash val="solid"/>
                      <a:round/>
                      <a:headEnd type="none" w="med" len="med"/>
                      <a:tailEnd type="none" w="med" len="med"/>
                    </a:lnT>
                    <a:lnB w="9525" cap="flat" cmpd="sng" algn="ctr">
                      <a:solidFill>
                        <a:srgbClr val="3C3F4C"/>
                      </a:solidFill>
                      <a:prstDash val="solid"/>
                      <a:round/>
                      <a:headEnd type="none" w="med" len="med"/>
                      <a:tailEnd type="none" w="med" len="med"/>
                    </a:lnB>
                    <a:solidFill>
                      <a:srgbClr val="161B30"/>
                    </a:solidFill>
                  </a:tcPr>
                </a:tc>
                <a:tc>
                  <a:txBody>
                    <a:bodyPr/>
                    <a:lstStyle/>
                    <a:p>
                      <a:pPr marL="0" indent="0" algn="r">
                        <a:buNone/>
                      </a:pPr>
                      <a:r>
                        <a:rPr lang="en-US" sz="1500" dirty="0">
                          <a:solidFill>
                            <a:srgbClr val="9AA3BD"/>
                          </a:solidFill>
                          <a:latin typeface="Aptos" pitchFamily="34" charset="0"/>
                          <a:ea typeface="Aptos" pitchFamily="34" charset="-122"/>
                          <a:cs typeface="Aptos" pitchFamily="34" charset="-120"/>
                        </a:rPr>
                        <a:t>2.7 × 10⁻²</a:t>
                      </a:r>
                      <a:endParaRPr lang="en-US" sz="1500" dirty="0">
                        <a:latin typeface="Aptos" charset="0"/>
                        <a:ea typeface="Aptos" charset="0"/>
                        <a:cs typeface="Aptos" charset="0"/>
                      </a:endParaRPr>
                    </a:p>
                  </a:txBody>
                  <a:tcPr marL="109728" marR="109728" marT="0" marB="0" anchor="ctr">
                    <a:lnL w="9525" cap="flat" cmpd="sng" algn="ctr">
                      <a:solidFill>
                        <a:srgbClr val="3C3F4C"/>
                      </a:solidFill>
                      <a:prstDash val="solid"/>
                      <a:round/>
                      <a:headEnd type="none" w="med" len="med"/>
                      <a:tailEnd type="none" w="med" len="med"/>
                    </a:lnL>
                    <a:lnR w="9525" cap="flat" cmpd="sng" algn="ctr">
                      <a:solidFill>
                        <a:srgbClr val="3C3F4C"/>
                      </a:solidFill>
                      <a:prstDash val="solid"/>
                      <a:round/>
                      <a:headEnd type="none" w="med" len="med"/>
                      <a:tailEnd type="none" w="med" len="med"/>
                    </a:lnR>
                    <a:lnT w="9525" cap="flat" cmpd="sng" algn="ctr">
                      <a:solidFill>
                        <a:srgbClr val="3C3F4C"/>
                      </a:solidFill>
                      <a:prstDash val="solid"/>
                      <a:round/>
                      <a:headEnd type="none" w="med" len="med"/>
                      <a:tailEnd type="none" w="med" len="med"/>
                    </a:lnT>
                    <a:lnB w="9525" cap="flat" cmpd="sng" algn="ctr">
                      <a:solidFill>
                        <a:srgbClr val="3C3F4C"/>
                      </a:solidFill>
                      <a:prstDash val="solid"/>
                      <a:round/>
                      <a:headEnd type="none" w="med" len="med"/>
                      <a:tailEnd type="none" w="med" len="med"/>
                    </a:lnB>
                    <a:solidFill>
                      <a:srgbClr val="161B30"/>
                    </a:solidFill>
                  </a:tcPr>
                </a:tc>
                <a:tc>
                  <a:txBody>
                    <a:bodyPr/>
                    <a:lstStyle/>
                    <a:p>
                      <a:pPr marL="0" indent="0" algn="r">
                        <a:buNone/>
                      </a:pPr>
                      <a:r>
                        <a:rPr lang="en-US" sz="1500" dirty="0">
                          <a:solidFill>
                            <a:srgbClr val="9AA3BD"/>
                          </a:solidFill>
                          <a:latin typeface="Aptos" pitchFamily="34" charset="0"/>
                          <a:ea typeface="Aptos" pitchFamily="34" charset="-122"/>
                          <a:cs typeface="Aptos" pitchFamily="34" charset="-120"/>
                        </a:rPr>
                        <a:t>1.0 × 10⁻²</a:t>
                      </a:r>
                      <a:endParaRPr lang="en-US" sz="1500" dirty="0">
                        <a:latin typeface="Aptos" charset="0"/>
                        <a:ea typeface="Aptos" charset="0"/>
                        <a:cs typeface="Aptos" charset="0"/>
                      </a:endParaRPr>
                    </a:p>
                  </a:txBody>
                  <a:tcPr marL="109728" marR="109728" marT="0" marB="0" anchor="ctr">
                    <a:lnL w="9525" cap="flat" cmpd="sng" algn="ctr">
                      <a:solidFill>
                        <a:srgbClr val="3C3F4C"/>
                      </a:solidFill>
                      <a:prstDash val="solid"/>
                      <a:round/>
                      <a:headEnd type="none" w="med" len="med"/>
                      <a:tailEnd type="none" w="med" len="med"/>
                    </a:lnL>
                    <a:lnR w="9525" cap="flat" cmpd="sng" algn="ctr">
                      <a:solidFill>
                        <a:srgbClr val="3C3F4C"/>
                      </a:solidFill>
                      <a:prstDash val="solid"/>
                      <a:round/>
                      <a:headEnd type="none" w="med" len="med"/>
                      <a:tailEnd type="none" w="med" len="med"/>
                    </a:lnR>
                    <a:lnT w="9525" cap="flat" cmpd="sng" algn="ctr">
                      <a:solidFill>
                        <a:srgbClr val="3C3F4C"/>
                      </a:solidFill>
                      <a:prstDash val="solid"/>
                      <a:round/>
                      <a:headEnd type="none" w="med" len="med"/>
                      <a:tailEnd type="none" w="med" len="med"/>
                    </a:lnT>
                    <a:lnB w="9525" cap="flat" cmpd="sng" algn="ctr">
                      <a:solidFill>
                        <a:srgbClr val="3C3F4C"/>
                      </a:solidFill>
                      <a:prstDash val="solid"/>
                      <a:round/>
                      <a:headEnd type="none" w="med" len="med"/>
                      <a:tailEnd type="none" w="med" len="med"/>
                    </a:lnB>
                    <a:solidFill>
                      <a:srgbClr val="161B30"/>
                    </a:solidFill>
                  </a:tcPr>
                </a:tc>
                <a:tc>
                  <a:txBody>
                    <a:bodyPr/>
                    <a:lstStyle/>
                    <a:p>
                      <a:pPr marL="0" indent="0" algn="r">
                        <a:buNone/>
                      </a:pPr>
                      <a:r>
                        <a:rPr lang="en-US" sz="1500" dirty="0">
                          <a:solidFill>
                            <a:srgbClr val="9AA3BD"/>
                          </a:solidFill>
                          <a:latin typeface="Aptos" pitchFamily="34" charset="0"/>
                          <a:ea typeface="Aptos" pitchFamily="34" charset="-122"/>
                          <a:cs typeface="Aptos" pitchFamily="34" charset="-120"/>
                        </a:rPr>
                        <a:t>1.1 × 10⁻³</a:t>
                      </a:r>
                      <a:endParaRPr lang="en-US" sz="1500" dirty="0">
                        <a:latin typeface="Aptos" charset="0"/>
                        <a:ea typeface="Aptos" charset="0"/>
                        <a:cs typeface="Aptos" charset="0"/>
                      </a:endParaRPr>
                    </a:p>
                  </a:txBody>
                  <a:tcPr marL="109728" marR="109728" marT="0" marB="0" anchor="ctr">
                    <a:lnL w="9525" cap="flat" cmpd="sng" algn="ctr">
                      <a:solidFill>
                        <a:srgbClr val="3C3F4C"/>
                      </a:solidFill>
                      <a:prstDash val="solid"/>
                      <a:round/>
                      <a:headEnd type="none" w="med" len="med"/>
                      <a:tailEnd type="none" w="med" len="med"/>
                    </a:lnL>
                    <a:lnR w="9525" cap="flat" cmpd="sng" algn="ctr">
                      <a:solidFill>
                        <a:srgbClr val="3C3F4C"/>
                      </a:solidFill>
                      <a:prstDash val="solid"/>
                      <a:round/>
                      <a:headEnd type="none" w="med" len="med"/>
                      <a:tailEnd type="none" w="med" len="med"/>
                    </a:lnR>
                    <a:lnT w="9525" cap="flat" cmpd="sng" algn="ctr">
                      <a:solidFill>
                        <a:srgbClr val="3C3F4C"/>
                      </a:solidFill>
                      <a:prstDash val="solid"/>
                      <a:round/>
                      <a:headEnd type="none" w="med" len="med"/>
                      <a:tailEnd type="none" w="med" len="med"/>
                    </a:lnT>
                    <a:lnB w="9525" cap="flat" cmpd="sng" algn="ctr">
                      <a:solidFill>
                        <a:srgbClr val="3C3F4C"/>
                      </a:solidFill>
                      <a:prstDash val="solid"/>
                      <a:round/>
                      <a:headEnd type="none" w="med" len="med"/>
                      <a:tailEnd type="none" w="med" len="med"/>
                    </a:lnB>
                    <a:solidFill>
                      <a:srgbClr val="161B30"/>
                    </a:solidFill>
                  </a:tcPr>
                </a:tc>
                <a:extLst>
                  <a:ext uri="{0D108BD9-81ED-4DB2-BD59-A6C34878D82A}">
                    <a16:rowId xmlns:a16="http://schemas.microsoft.com/office/drawing/2014/main" val="10003"/>
                  </a:ext>
                </a:extLst>
              </a:tr>
              <a:tr h="457200">
                <a:tc>
                  <a:txBody>
                    <a:bodyPr/>
                    <a:lstStyle/>
                    <a:p>
                      <a:pPr marL="0" indent="0" algn="l">
                        <a:buNone/>
                      </a:pPr>
                      <a:r>
                        <a:rPr lang="en-US" sz="1500" b="1" dirty="0">
                          <a:solidFill>
                            <a:srgbClr val="E9ECF3"/>
                          </a:solidFill>
                          <a:latin typeface="Aptos" pitchFamily="34" charset="0"/>
                          <a:ea typeface="Aptos" pitchFamily="34" charset="-122"/>
                          <a:cs typeface="Aptos" pitchFamily="34" charset="-120"/>
                        </a:rPr>
                        <a:t>1.8</a:t>
                      </a:r>
                      <a:endParaRPr lang="en-US" sz="1500" dirty="0">
                        <a:latin typeface="Aptos" charset="0"/>
                        <a:ea typeface="Aptos" charset="0"/>
                        <a:cs typeface="Aptos" charset="0"/>
                      </a:endParaRPr>
                    </a:p>
                  </a:txBody>
                  <a:tcPr marL="109728" marR="109728" marT="0" marB="0" anchor="ctr">
                    <a:lnL w="9525" cap="flat" cmpd="sng" algn="ctr">
                      <a:solidFill>
                        <a:srgbClr val="3C3F4C"/>
                      </a:solidFill>
                      <a:prstDash val="solid"/>
                      <a:round/>
                      <a:headEnd type="none" w="med" len="med"/>
                      <a:tailEnd type="none" w="med" len="med"/>
                    </a:lnL>
                    <a:lnR w="9525" cap="flat" cmpd="sng" algn="ctr">
                      <a:solidFill>
                        <a:srgbClr val="3C3F4C"/>
                      </a:solidFill>
                      <a:prstDash val="solid"/>
                      <a:round/>
                      <a:headEnd type="none" w="med" len="med"/>
                      <a:tailEnd type="none" w="med" len="med"/>
                    </a:lnR>
                    <a:lnT w="9525" cap="flat" cmpd="sng" algn="ctr">
                      <a:solidFill>
                        <a:srgbClr val="3C3F4C"/>
                      </a:solidFill>
                      <a:prstDash val="solid"/>
                      <a:round/>
                      <a:headEnd type="none" w="med" len="med"/>
                      <a:tailEnd type="none" w="med" len="med"/>
                    </a:lnT>
                    <a:lnB w="9525" cap="flat" cmpd="sng" algn="ctr">
                      <a:solidFill>
                        <a:srgbClr val="3C3F4C"/>
                      </a:solidFill>
                      <a:prstDash val="solid"/>
                      <a:round/>
                      <a:headEnd type="none" w="med" len="med"/>
                      <a:tailEnd type="none" w="med" len="med"/>
                    </a:lnB>
                    <a:solidFill>
                      <a:srgbClr val="3B5287"/>
                    </a:solidFill>
                  </a:tcPr>
                </a:tc>
                <a:tc>
                  <a:txBody>
                    <a:bodyPr/>
                    <a:lstStyle/>
                    <a:p>
                      <a:pPr marL="0" indent="0" algn="r">
                        <a:buNone/>
                      </a:pPr>
                      <a:r>
                        <a:rPr lang="en-US" sz="1500" b="1" dirty="0">
                          <a:solidFill>
                            <a:srgbClr val="E9ECF3"/>
                          </a:solidFill>
                          <a:latin typeface="Aptos" pitchFamily="34" charset="0"/>
                          <a:ea typeface="Aptos" pitchFamily="34" charset="-122"/>
                          <a:cs typeface="Aptos" pitchFamily="34" charset="-120"/>
                        </a:rPr>
                        <a:t>0.019</a:t>
                      </a:r>
                      <a:endParaRPr lang="en-US" sz="1500" dirty="0">
                        <a:latin typeface="Aptos" charset="0"/>
                        <a:ea typeface="Aptos" charset="0"/>
                        <a:cs typeface="Aptos" charset="0"/>
                      </a:endParaRPr>
                    </a:p>
                  </a:txBody>
                  <a:tcPr marL="109728" marR="109728" marT="0" marB="0" anchor="ctr">
                    <a:lnL w="9525" cap="flat" cmpd="sng" algn="ctr">
                      <a:solidFill>
                        <a:srgbClr val="3C3F4C"/>
                      </a:solidFill>
                      <a:prstDash val="solid"/>
                      <a:round/>
                      <a:headEnd type="none" w="med" len="med"/>
                      <a:tailEnd type="none" w="med" len="med"/>
                    </a:lnL>
                    <a:lnR w="9525" cap="flat" cmpd="sng" algn="ctr">
                      <a:solidFill>
                        <a:srgbClr val="3C3F4C"/>
                      </a:solidFill>
                      <a:prstDash val="solid"/>
                      <a:round/>
                      <a:headEnd type="none" w="med" len="med"/>
                      <a:tailEnd type="none" w="med" len="med"/>
                    </a:lnR>
                    <a:lnT w="9525" cap="flat" cmpd="sng" algn="ctr">
                      <a:solidFill>
                        <a:srgbClr val="3C3F4C"/>
                      </a:solidFill>
                      <a:prstDash val="solid"/>
                      <a:round/>
                      <a:headEnd type="none" w="med" len="med"/>
                      <a:tailEnd type="none" w="med" len="med"/>
                    </a:lnT>
                    <a:lnB w="9525" cap="flat" cmpd="sng" algn="ctr">
                      <a:solidFill>
                        <a:srgbClr val="3C3F4C"/>
                      </a:solidFill>
                      <a:prstDash val="solid"/>
                      <a:round/>
                      <a:headEnd type="none" w="med" len="med"/>
                      <a:tailEnd type="none" w="med" len="med"/>
                    </a:lnB>
                    <a:solidFill>
                      <a:srgbClr val="3B5287"/>
                    </a:solidFill>
                  </a:tcPr>
                </a:tc>
                <a:tc>
                  <a:txBody>
                    <a:bodyPr/>
                    <a:lstStyle/>
                    <a:p>
                      <a:pPr marL="0" indent="0" algn="r">
                        <a:buNone/>
                      </a:pPr>
                      <a:r>
                        <a:rPr lang="en-US" sz="1500" b="1" dirty="0">
                          <a:solidFill>
                            <a:srgbClr val="E9ECF3"/>
                          </a:solidFill>
                          <a:latin typeface="Aptos" pitchFamily="34" charset="0"/>
                          <a:ea typeface="Aptos" pitchFamily="34" charset="-122"/>
                          <a:cs typeface="Aptos" pitchFamily="34" charset="-120"/>
                        </a:rPr>
                        <a:t>43.2</a:t>
                      </a:r>
                      <a:endParaRPr lang="en-US" sz="1500" dirty="0">
                        <a:latin typeface="Aptos" charset="0"/>
                        <a:ea typeface="Aptos" charset="0"/>
                        <a:cs typeface="Aptos" charset="0"/>
                      </a:endParaRPr>
                    </a:p>
                  </a:txBody>
                  <a:tcPr marL="109728" marR="109728" marT="0" marB="0" anchor="ctr">
                    <a:lnL w="9525" cap="flat" cmpd="sng" algn="ctr">
                      <a:solidFill>
                        <a:srgbClr val="3C3F4C"/>
                      </a:solidFill>
                      <a:prstDash val="solid"/>
                      <a:round/>
                      <a:headEnd type="none" w="med" len="med"/>
                      <a:tailEnd type="none" w="med" len="med"/>
                    </a:lnL>
                    <a:lnR w="9525" cap="flat" cmpd="sng" algn="ctr">
                      <a:solidFill>
                        <a:srgbClr val="3C3F4C"/>
                      </a:solidFill>
                      <a:prstDash val="solid"/>
                      <a:round/>
                      <a:headEnd type="none" w="med" len="med"/>
                      <a:tailEnd type="none" w="med" len="med"/>
                    </a:lnR>
                    <a:lnT w="9525" cap="flat" cmpd="sng" algn="ctr">
                      <a:solidFill>
                        <a:srgbClr val="3C3F4C"/>
                      </a:solidFill>
                      <a:prstDash val="solid"/>
                      <a:round/>
                      <a:headEnd type="none" w="med" len="med"/>
                      <a:tailEnd type="none" w="med" len="med"/>
                    </a:lnT>
                    <a:lnB w="9525" cap="flat" cmpd="sng" algn="ctr">
                      <a:solidFill>
                        <a:srgbClr val="3C3F4C"/>
                      </a:solidFill>
                      <a:prstDash val="solid"/>
                      <a:round/>
                      <a:headEnd type="none" w="med" len="med"/>
                      <a:tailEnd type="none" w="med" len="med"/>
                    </a:lnB>
                    <a:solidFill>
                      <a:srgbClr val="3B5287"/>
                    </a:solidFill>
                  </a:tcPr>
                </a:tc>
                <a:tc>
                  <a:txBody>
                    <a:bodyPr/>
                    <a:lstStyle/>
                    <a:p>
                      <a:pPr marL="0" indent="0" algn="r">
                        <a:buNone/>
                      </a:pPr>
                      <a:r>
                        <a:rPr lang="en-US" sz="1500" b="1" dirty="0">
                          <a:solidFill>
                            <a:srgbClr val="E9ECF3"/>
                          </a:solidFill>
                          <a:latin typeface="Aptos" pitchFamily="34" charset="0"/>
                          <a:ea typeface="Aptos" pitchFamily="34" charset="-122"/>
                          <a:cs typeface="Aptos" pitchFamily="34" charset="-120"/>
                        </a:rPr>
                        <a:t>2.0 × 10⁻²</a:t>
                      </a:r>
                      <a:endParaRPr lang="en-US" sz="1500" dirty="0">
                        <a:latin typeface="Aptos" charset="0"/>
                        <a:ea typeface="Aptos" charset="0"/>
                        <a:cs typeface="Aptos" charset="0"/>
                      </a:endParaRPr>
                    </a:p>
                  </a:txBody>
                  <a:tcPr marL="109728" marR="109728" marT="0" marB="0" anchor="ctr">
                    <a:lnL w="9525" cap="flat" cmpd="sng" algn="ctr">
                      <a:solidFill>
                        <a:srgbClr val="3C3F4C"/>
                      </a:solidFill>
                      <a:prstDash val="solid"/>
                      <a:round/>
                      <a:headEnd type="none" w="med" len="med"/>
                      <a:tailEnd type="none" w="med" len="med"/>
                    </a:lnL>
                    <a:lnR w="9525" cap="flat" cmpd="sng" algn="ctr">
                      <a:solidFill>
                        <a:srgbClr val="3C3F4C"/>
                      </a:solidFill>
                      <a:prstDash val="solid"/>
                      <a:round/>
                      <a:headEnd type="none" w="med" len="med"/>
                      <a:tailEnd type="none" w="med" len="med"/>
                    </a:lnR>
                    <a:lnT w="9525" cap="flat" cmpd="sng" algn="ctr">
                      <a:solidFill>
                        <a:srgbClr val="3C3F4C"/>
                      </a:solidFill>
                      <a:prstDash val="solid"/>
                      <a:round/>
                      <a:headEnd type="none" w="med" len="med"/>
                      <a:tailEnd type="none" w="med" len="med"/>
                    </a:lnT>
                    <a:lnB w="9525" cap="flat" cmpd="sng" algn="ctr">
                      <a:solidFill>
                        <a:srgbClr val="3C3F4C"/>
                      </a:solidFill>
                      <a:prstDash val="solid"/>
                      <a:round/>
                      <a:headEnd type="none" w="med" len="med"/>
                      <a:tailEnd type="none" w="med" len="med"/>
                    </a:lnB>
                    <a:solidFill>
                      <a:srgbClr val="3B5287"/>
                    </a:solidFill>
                  </a:tcPr>
                </a:tc>
                <a:tc>
                  <a:txBody>
                    <a:bodyPr/>
                    <a:lstStyle/>
                    <a:p>
                      <a:pPr marL="0" indent="0" algn="r">
                        <a:buNone/>
                      </a:pPr>
                      <a:r>
                        <a:rPr lang="en-US" sz="1500" b="1" dirty="0">
                          <a:solidFill>
                            <a:srgbClr val="E9ECF3"/>
                          </a:solidFill>
                          <a:latin typeface="Aptos" pitchFamily="34" charset="0"/>
                          <a:ea typeface="Aptos" pitchFamily="34" charset="-122"/>
                          <a:cs typeface="Aptos" pitchFamily="34" charset="-120"/>
                        </a:rPr>
                        <a:t>2.5 × 10⁻²</a:t>
                      </a:r>
                      <a:endParaRPr lang="en-US" sz="1500" dirty="0">
                        <a:latin typeface="Aptos" charset="0"/>
                        <a:ea typeface="Aptos" charset="0"/>
                        <a:cs typeface="Aptos" charset="0"/>
                      </a:endParaRPr>
                    </a:p>
                  </a:txBody>
                  <a:tcPr marL="109728" marR="109728" marT="0" marB="0" anchor="ctr">
                    <a:lnL w="9525" cap="flat" cmpd="sng" algn="ctr">
                      <a:solidFill>
                        <a:srgbClr val="3C3F4C"/>
                      </a:solidFill>
                      <a:prstDash val="solid"/>
                      <a:round/>
                      <a:headEnd type="none" w="med" len="med"/>
                      <a:tailEnd type="none" w="med" len="med"/>
                    </a:lnL>
                    <a:lnR w="9525" cap="flat" cmpd="sng" algn="ctr">
                      <a:solidFill>
                        <a:srgbClr val="3C3F4C"/>
                      </a:solidFill>
                      <a:prstDash val="solid"/>
                      <a:round/>
                      <a:headEnd type="none" w="med" len="med"/>
                      <a:tailEnd type="none" w="med" len="med"/>
                    </a:lnR>
                    <a:lnT w="9525" cap="flat" cmpd="sng" algn="ctr">
                      <a:solidFill>
                        <a:srgbClr val="3C3F4C"/>
                      </a:solidFill>
                      <a:prstDash val="solid"/>
                      <a:round/>
                      <a:headEnd type="none" w="med" len="med"/>
                      <a:tailEnd type="none" w="med" len="med"/>
                    </a:lnT>
                    <a:lnB w="9525" cap="flat" cmpd="sng" algn="ctr">
                      <a:solidFill>
                        <a:srgbClr val="3C3F4C"/>
                      </a:solidFill>
                      <a:prstDash val="solid"/>
                      <a:round/>
                      <a:headEnd type="none" w="med" len="med"/>
                      <a:tailEnd type="none" w="med" len="med"/>
                    </a:lnB>
                    <a:solidFill>
                      <a:srgbClr val="3B5287"/>
                    </a:solidFill>
                  </a:tcPr>
                </a:tc>
                <a:tc>
                  <a:txBody>
                    <a:bodyPr/>
                    <a:lstStyle/>
                    <a:p>
                      <a:pPr marL="0" indent="0" algn="r">
                        <a:buNone/>
                      </a:pPr>
                      <a:r>
                        <a:rPr lang="en-US" sz="1500" b="1" dirty="0">
                          <a:solidFill>
                            <a:srgbClr val="E9ECF3"/>
                          </a:solidFill>
                          <a:latin typeface="Aptos" pitchFamily="34" charset="0"/>
                          <a:ea typeface="Aptos" pitchFamily="34" charset="-122"/>
                          <a:cs typeface="Aptos" pitchFamily="34" charset="-120"/>
                        </a:rPr>
                        <a:t>7.9 × 10⁻³</a:t>
                      </a:r>
                      <a:endParaRPr lang="en-US" sz="1500" dirty="0">
                        <a:latin typeface="Aptos" charset="0"/>
                        <a:ea typeface="Aptos" charset="0"/>
                        <a:cs typeface="Aptos" charset="0"/>
                      </a:endParaRPr>
                    </a:p>
                  </a:txBody>
                  <a:tcPr marL="109728" marR="109728" marT="0" marB="0" anchor="ctr">
                    <a:lnL w="9525" cap="flat" cmpd="sng" algn="ctr">
                      <a:solidFill>
                        <a:srgbClr val="3C3F4C"/>
                      </a:solidFill>
                      <a:prstDash val="solid"/>
                      <a:round/>
                      <a:headEnd type="none" w="med" len="med"/>
                      <a:tailEnd type="none" w="med" len="med"/>
                    </a:lnL>
                    <a:lnR w="9525" cap="flat" cmpd="sng" algn="ctr">
                      <a:solidFill>
                        <a:srgbClr val="3C3F4C"/>
                      </a:solidFill>
                      <a:prstDash val="solid"/>
                      <a:round/>
                      <a:headEnd type="none" w="med" len="med"/>
                      <a:tailEnd type="none" w="med" len="med"/>
                    </a:lnR>
                    <a:lnT w="9525" cap="flat" cmpd="sng" algn="ctr">
                      <a:solidFill>
                        <a:srgbClr val="3C3F4C"/>
                      </a:solidFill>
                      <a:prstDash val="solid"/>
                      <a:round/>
                      <a:headEnd type="none" w="med" len="med"/>
                      <a:tailEnd type="none" w="med" len="med"/>
                    </a:lnT>
                    <a:lnB w="9525" cap="flat" cmpd="sng" algn="ctr">
                      <a:solidFill>
                        <a:srgbClr val="3C3F4C"/>
                      </a:solidFill>
                      <a:prstDash val="solid"/>
                      <a:round/>
                      <a:headEnd type="none" w="med" len="med"/>
                      <a:tailEnd type="none" w="med" len="med"/>
                    </a:lnB>
                    <a:solidFill>
                      <a:srgbClr val="3B5287"/>
                    </a:solidFill>
                  </a:tcPr>
                </a:tc>
                <a:extLst>
                  <a:ext uri="{0D108BD9-81ED-4DB2-BD59-A6C34878D82A}">
                    <a16:rowId xmlns:a16="http://schemas.microsoft.com/office/drawing/2014/main" val="10004"/>
                  </a:ext>
                </a:extLst>
              </a:tr>
            </a:tbl>
          </a:graphicData>
        </a:graphic>
      </p:graphicFrame>
      <p:sp>
        <p:nvSpPr>
          <p:cNvPr id="6" name="Callout"/>
          <p:cNvSpPr/>
          <p:nvPr/>
        </p:nvSpPr>
        <p:spPr>
          <a:xfrm>
            <a:off x="548640" y="4206240"/>
            <a:ext cx="11094415" cy="1097280"/>
          </a:xfrm>
          <a:prstGeom prst="roundRect">
            <a:avLst>
              <a:gd name="adj" fmla="val 8333"/>
            </a:avLst>
          </a:prstGeom>
          <a:solidFill>
            <a:schemeClr val="accent1"/>
          </a:solidFill>
          <a:ln/>
        </p:spPr>
        <p:txBody>
          <a:bodyPr/>
          <a:lstStyle/>
          <a:p>
            <a:endParaRPr lang="fr-FR"/>
          </a:p>
        </p:txBody>
      </p:sp>
      <p:sp>
        <p:nvSpPr>
          <p:cNvPr id="7" name="Shape 4"/>
          <p:cNvSpPr/>
          <p:nvPr/>
        </p:nvSpPr>
        <p:spPr>
          <a:xfrm>
            <a:off x="777240" y="4434840"/>
            <a:ext cx="91440" cy="91440"/>
          </a:xfrm>
          <a:prstGeom prst="rect">
            <a:avLst/>
          </a:prstGeom>
          <a:solidFill>
            <a:schemeClr val="accent2"/>
          </a:solidFill>
          <a:ln/>
        </p:spPr>
        <p:txBody>
          <a:bodyPr/>
          <a:lstStyle/>
          <a:p>
            <a:endParaRPr lang="fr-FR"/>
          </a:p>
        </p:txBody>
      </p:sp>
      <p:sp>
        <p:nvSpPr>
          <p:cNvPr id="8" name="Text 5"/>
          <p:cNvSpPr txBox="1"/>
          <p:nvPr/>
        </p:nvSpPr>
        <p:spPr>
          <a:xfrm>
            <a:off x="960120" y="4315968"/>
            <a:ext cx="10500055" cy="877824"/>
          </a:xfrm>
          <a:prstGeom prst="rect">
            <a:avLst/>
          </a:prstGeom>
          <a:noFill/>
          <a:ln/>
        </p:spPr>
        <p:txBody>
          <a:bodyPr wrap="square" lIns="0" tIns="0" rIns="0" bIns="0" rtlCol="0" anchor="t"/>
          <a:lstStyle/>
          <a:p>
            <a:pPr marL="0" indent="0">
              <a:buNone/>
            </a:pPr>
            <a:r>
              <a:rPr lang="en-US" sz="1600" dirty="0">
                <a:solidFill>
                  <a:schemeClr val="tx1"/>
                </a:solidFill>
              </a:rPr>
              <a:t>At </a:t>
            </a:r>
            <a:r>
              <a:rPr lang="en-US" sz="1600" b="1" dirty="0">
                <a:solidFill>
                  <a:schemeClr val="tx1"/>
                </a:solidFill>
              </a:rPr>
              <a:t>ω = 1.8 (Re ≈ 43)</a:t>
            </a:r>
            <a:r>
              <a:rPr lang="en-US" sz="1600" dirty="0">
                <a:solidFill>
                  <a:schemeClr val="tx1"/>
                </a:solidFill>
              </a:rPr>
              <a:t> the second order no longer improves on the first, and the third gains only a factor of 3. Over-relaxation amplifies truncation errors step by step: lattice Boltzmann helps, but high Reynolds numbers remain open.</a:t>
            </a:r>
            <a:endParaRPr lang="en-US" sz="1600" dirty="0"/>
          </a:p>
        </p:txBody>
      </p:sp>
      <p:sp>
        <p:nvSpPr>
          <p:cNvPr id="9" name="Text 6"/>
          <p:cNvSpPr txBox="1"/>
          <p:nvPr/>
        </p:nvSpPr>
        <p:spPr>
          <a:xfrm>
            <a:off x="548640" y="5897880"/>
            <a:ext cx="11094415" cy="274320"/>
          </a:xfrm>
          <a:prstGeom prst="rect">
            <a:avLst/>
          </a:prstGeom>
          <a:noFill/>
          <a:ln/>
        </p:spPr>
        <p:txBody>
          <a:bodyPr wrap="square" lIns="0" tIns="0" rIns="0" bIns="0" rtlCol="0" anchor="ctr"/>
          <a:lstStyle/>
          <a:p>
            <a:pPr marL="0" indent="0">
              <a:buNone/>
            </a:pPr>
            <a:r>
              <a:rPr lang="en-US" sz="1100" i="1" dirty="0">
                <a:solidFill>
                  <a:schemeClr val="tx2"/>
                </a:solidFill>
              </a:rPr>
              <a:t>Lattice Boltzmann notebook · Ma = 0.17, 8 sites, relative momentum error after 20 steps</a:t>
            </a:r>
            <a:endParaRPr lang="en-US" sz="1100" dirty="0"/>
          </a:p>
        </p:txBody>
      </p:sp>
      <p:sp>
        <p:nvSpPr>
          <p:cNvPr id="25" name="Slide Number Placeholder 0"/>
          <p:cNvSpPr>
            <a:spLocks noGrp="1"/>
          </p:cNvSpPr>
          <p:nvPr>
            <p:ph type="sldNum" sz="quarter" idx="4294967295"/>
          </p:nvPr>
        </p:nvSpPr>
        <p:spPr>
          <a:xfrm>
            <a:off x="11094415" y="6327648"/>
            <a:ext cx="548640" cy="274320"/>
          </a:xfrm>
          <a:prstGeom prst="rect">
            <a:avLst/>
          </a:prstGeom>
          <a:extLst>
            <a:ext uri="{C572A759-6A51-4108-AA02-DFA0A04FC94B}">
              <ma14:wrappingTextBoxFlag xmlns:ma14="http://schemas.microsoft.com/office/mac/drawingml/2011/main" xmlns="" val="0"/>
            </a:ext>
          </a:extLst>
        </p:spPr>
        <p:txBody>
          <a:bodyPr lIns="0" tIns="0" rIns="0" bIns="0" anchor="ctr"/>
          <a:lstStyle>
            <a:lvl1pPr>
              <a:defRPr sz="1000">
                <a:solidFill>
                  <a:srgbClr val="9AA3BD"/>
                </a:solidFill>
              </a:defRPr>
            </a:lvl1pPr>
          </a:lstStyle>
          <a:p>
            <a:pPr algn="r"/>
            <a:fld id="{F7021451-1387-4CA6-816F-3879F97B5CBC}" type="slidenum">
              <a:rPr lang="en-US" b="0"/>
              <a:t>36</a:t>
            </a:fld>
            <a:endParaRPr lang="en-US"/>
          </a:p>
        </p:txBody>
      </p:sp>
      <p:pic>
        <p:nvPicPr>
          <p:cNvPr id="11" name="Image 10">
            <a:extLst>
              <a:ext uri="{FF2B5EF4-FFF2-40B4-BE49-F238E27FC236}">
                <a16:creationId xmlns:a16="http://schemas.microsoft.com/office/drawing/2014/main" id="{6B75C282-CC55-ABD7-84B5-93B77E532AF8}"/>
              </a:ext>
            </a:extLst>
          </p:cNvPr>
          <p:cNvPicPr>
            <a:picLocks noChangeAspect="1"/>
          </p:cNvPicPr>
          <p:nvPr/>
        </p:nvPicPr>
        <p:blipFill>
          <a:blip r:embed="rId3"/>
          <a:stretch>
            <a:fillRect/>
          </a:stretch>
        </p:blipFill>
        <p:spPr>
          <a:xfrm>
            <a:off x="9724644" y="-443705"/>
            <a:ext cx="2437453" cy="1723866"/>
          </a:xfrm>
          <a:prstGeom prst="rect">
            <a:avLst/>
          </a:prstGeom>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10"/>
          <p:cNvSpPr>
            <a:spLocks noGrp="1"/>
          </p:cNvSpPr>
          <p:nvPr>
            <p:ph type="title" idx="110" hasCustomPrompt="1"/>
          </p:nvPr>
        </p:nvSpPr>
        <p:spPr>
          <a:xfrm>
            <a:off x="548640" y="457200"/>
            <a:ext cx="11094415" cy="777240"/>
          </a:xfrm>
          <a:prstGeom prst="rect">
            <a:avLst/>
          </a:prstGeom>
          <a:noFill/>
          <a:ln/>
        </p:spPr>
        <p:txBody>
          <a:bodyPr wrap="square" lIns="0" tIns="0" rIns="0" bIns="0" rtlCol="0" anchor="t"/>
          <a:lstStyle/>
          <a:p>
            <a:pPr marL="0" indent="0" algn="l">
              <a:buNone/>
            </a:pPr>
            <a:r>
              <a:rPr lang="en-US" sz="3200" dirty="0">
                <a:solidFill>
                  <a:schemeClr val="tx1"/>
                </a:solidFill>
              </a:rPr>
              <a:t>Every path ends in Hamiltonian simulation</a:t>
            </a:r>
            <a:endParaRPr lang="en-US" sz="3200" dirty="0"/>
          </a:p>
        </p:txBody>
      </p:sp>
      <p:sp>
        <p:nvSpPr>
          <p:cNvPr id="3" name="Shape 1"/>
          <p:cNvSpPr/>
          <p:nvPr/>
        </p:nvSpPr>
        <p:spPr>
          <a:xfrm>
            <a:off x="548640" y="1188720"/>
            <a:ext cx="91440" cy="91440"/>
          </a:xfrm>
          <a:prstGeom prst="rect">
            <a:avLst/>
          </a:prstGeom>
          <a:solidFill>
            <a:schemeClr val="accent2"/>
          </a:solidFill>
          <a:ln/>
        </p:spPr>
        <p:txBody>
          <a:bodyPr/>
          <a:lstStyle/>
          <a:p>
            <a:endParaRPr lang="fr-FR"/>
          </a:p>
        </p:txBody>
      </p:sp>
      <p:sp>
        <p:nvSpPr>
          <p:cNvPr id="4" name="Text 2"/>
          <p:cNvSpPr txBox="1"/>
          <p:nvPr/>
        </p:nvSpPr>
        <p:spPr>
          <a:xfrm>
            <a:off x="731520" y="1097280"/>
            <a:ext cx="9144000" cy="274320"/>
          </a:xfrm>
          <a:prstGeom prst="rect">
            <a:avLst/>
          </a:prstGeom>
          <a:noFill/>
          <a:ln/>
        </p:spPr>
        <p:txBody>
          <a:bodyPr wrap="square" lIns="0" tIns="0" rIns="0" bIns="0" rtlCol="0" anchor="ctr"/>
          <a:lstStyle/>
          <a:p>
            <a:pPr marL="0" indent="0">
              <a:buNone/>
            </a:pPr>
            <a:r>
              <a:rPr lang="en-US" sz="1200" b="1" kern="0" spc="200" dirty="0">
                <a:solidFill>
                  <a:schemeClr val="tx2"/>
                </a:solidFill>
              </a:rPr>
              <a:t>SUMMARY</a:t>
            </a:r>
            <a:endParaRPr lang="en-US" sz="1200" dirty="0"/>
          </a:p>
        </p:txBody>
      </p:sp>
      <p:sp>
        <p:nvSpPr>
          <p:cNvPr id="5" name="Step 1"/>
          <p:cNvSpPr/>
          <p:nvPr/>
        </p:nvSpPr>
        <p:spPr>
          <a:xfrm>
            <a:off x="548640" y="1645920"/>
            <a:ext cx="2499284" cy="3429000"/>
          </a:xfrm>
          <a:prstGeom prst="roundRect">
            <a:avLst>
              <a:gd name="adj" fmla="val 5488"/>
            </a:avLst>
          </a:prstGeom>
          <a:solidFill>
            <a:schemeClr val="bg2"/>
          </a:solidFill>
          <a:ln w="9525">
            <a:solidFill>
              <a:schemeClr val="accent5"/>
            </a:solidFill>
            <a:prstDash val="solid"/>
          </a:ln>
        </p:spPr>
        <p:txBody>
          <a:bodyPr/>
          <a:lstStyle/>
          <a:p>
            <a:endParaRPr lang="fr-FR"/>
          </a:p>
        </p:txBody>
      </p:sp>
      <p:sp>
        <p:nvSpPr>
          <p:cNvPr id="6" name="Text 4"/>
          <p:cNvSpPr txBox="1"/>
          <p:nvPr/>
        </p:nvSpPr>
        <p:spPr>
          <a:xfrm>
            <a:off x="777240" y="1828800"/>
            <a:ext cx="548640" cy="320040"/>
          </a:xfrm>
          <a:prstGeom prst="rect">
            <a:avLst/>
          </a:prstGeom>
          <a:noFill/>
          <a:ln/>
        </p:spPr>
        <p:txBody>
          <a:bodyPr wrap="square" lIns="0" tIns="0" rIns="0" bIns="0" rtlCol="0" anchor="ctr"/>
          <a:lstStyle/>
          <a:p>
            <a:pPr marL="0" indent="0">
              <a:buNone/>
            </a:pPr>
            <a:r>
              <a:rPr lang="en-US" sz="1400" b="1" dirty="0">
                <a:solidFill>
                  <a:schemeClr val="accent2"/>
                </a:solidFill>
              </a:rPr>
              <a:t>01</a:t>
            </a:r>
            <a:endParaRPr lang="en-US" sz="1400" dirty="0"/>
          </a:p>
        </p:txBody>
      </p:sp>
      <p:sp>
        <p:nvSpPr>
          <p:cNvPr id="7" name="Text 5"/>
          <p:cNvSpPr txBox="1"/>
          <p:nvPr/>
        </p:nvSpPr>
        <p:spPr>
          <a:xfrm>
            <a:off x="777240" y="2194560"/>
            <a:ext cx="2133524" cy="365760"/>
          </a:xfrm>
          <a:prstGeom prst="rect">
            <a:avLst/>
          </a:prstGeom>
          <a:noFill/>
          <a:ln/>
        </p:spPr>
        <p:txBody>
          <a:bodyPr wrap="square" lIns="0" tIns="0" rIns="0" bIns="0" rtlCol="0" anchor="ctr"/>
          <a:lstStyle/>
          <a:p>
            <a:pPr marL="0" indent="0">
              <a:buNone/>
            </a:pPr>
            <a:r>
              <a:rPr lang="en-US" sz="1400" b="1" dirty="0">
                <a:solidFill>
                  <a:schemeClr val="tx1"/>
                </a:solidFill>
              </a:rPr>
              <a:t>Nonlinear → linear</a:t>
            </a:r>
            <a:endParaRPr lang="en-US" sz="1400" dirty="0"/>
          </a:p>
        </p:txBody>
      </p:sp>
      <p:sp>
        <p:nvSpPr>
          <p:cNvPr id="8" name="Shape 6"/>
          <p:cNvSpPr/>
          <p:nvPr/>
        </p:nvSpPr>
        <p:spPr>
          <a:xfrm>
            <a:off x="777240" y="2651760"/>
            <a:ext cx="2042084" cy="685800"/>
          </a:xfrm>
          <a:prstGeom prst="roundRect">
            <a:avLst>
              <a:gd name="adj" fmla="val 10667"/>
            </a:avLst>
          </a:prstGeom>
          <a:solidFill>
            <a:schemeClr val="accent1"/>
          </a:solidFill>
          <a:ln/>
        </p:spPr>
        <p:txBody>
          <a:bodyPr/>
          <a:lstStyle/>
          <a:p>
            <a:endParaRPr lang="fr-FR"/>
          </a:p>
        </p:txBody>
      </p:sp>
      <p:sp>
        <p:nvSpPr>
          <p:cNvPr id="9" name="Text 7"/>
          <p:cNvSpPr txBox="1"/>
          <p:nvPr/>
        </p:nvSpPr>
        <p:spPr>
          <a:xfrm>
            <a:off x="896112" y="2651760"/>
            <a:ext cx="1804340" cy="685800"/>
          </a:xfrm>
          <a:prstGeom prst="rect">
            <a:avLst/>
          </a:prstGeom>
          <a:noFill/>
          <a:ln/>
        </p:spPr>
        <p:txBody>
          <a:bodyPr wrap="square" lIns="0" tIns="0" rIns="0" bIns="0" rtlCol="0" anchor="ctr"/>
          <a:lstStyle/>
          <a:p>
            <a:pPr marL="0" indent="0">
              <a:buNone/>
            </a:pPr>
            <a:r>
              <a:rPr lang="en-US" sz="1300" b="1" dirty="0">
                <a:solidFill>
                  <a:schemeClr val="tx1"/>
                </a:solidFill>
              </a:rPr>
              <a:t>Carleman, on the PDE or lattice Boltzmann form</a:t>
            </a:r>
            <a:endParaRPr lang="en-US" sz="1300" dirty="0"/>
          </a:p>
        </p:txBody>
      </p:sp>
      <p:sp>
        <p:nvSpPr>
          <p:cNvPr id="10" name="Text 8"/>
          <p:cNvSpPr txBox="1"/>
          <p:nvPr/>
        </p:nvSpPr>
        <p:spPr>
          <a:xfrm>
            <a:off x="777240" y="3474720"/>
            <a:ext cx="2042084" cy="228600"/>
          </a:xfrm>
          <a:prstGeom prst="rect">
            <a:avLst/>
          </a:prstGeom>
          <a:noFill/>
          <a:ln/>
        </p:spPr>
        <p:txBody>
          <a:bodyPr wrap="square" lIns="0" tIns="0" rIns="0" bIns="0" rtlCol="0" anchor="ctr"/>
          <a:lstStyle/>
          <a:p>
            <a:pPr marL="0" indent="0">
              <a:buNone/>
            </a:pPr>
            <a:r>
              <a:rPr lang="en-US" sz="1000" b="1" kern="0" spc="200" dirty="0">
                <a:solidFill>
                  <a:schemeClr val="tx2"/>
                </a:solidFill>
              </a:rPr>
              <a:t>WHAT IT BUYS</a:t>
            </a:r>
            <a:endParaRPr lang="en-US" sz="1000" dirty="0"/>
          </a:p>
        </p:txBody>
      </p:sp>
      <p:sp>
        <p:nvSpPr>
          <p:cNvPr id="11" name="Text 9"/>
          <p:cNvSpPr txBox="1"/>
          <p:nvPr/>
        </p:nvSpPr>
        <p:spPr>
          <a:xfrm>
            <a:off x="777240" y="3703320"/>
            <a:ext cx="2042084" cy="502920"/>
          </a:xfrm>
          <a:prstGeom prst="rect">
            <a:avLst/>
          </a:prstGeom>
          <a:noFill/>
          <a:ln/>
        </p:spPr>
        <p:txBody>
          <a:bodyPr wrap="square" lIns="0" tIns="0" rIns="0" bIns="0" rtlCol="0" anchor="t"/>
          <a:lstStyle/>
          <a:p>
            <a:pPr marL="0" indent="0">
              <a:buNone/>
            </a:pPr>
            <a:r>
              <a:rPr lang="en-US" sz="1300" dirty="0">
                <a:solidFill>
                  <a:schemeClr val="tx1"/>
                </a:solidFill>
              </a:rPr>
              <a:t>A linear ODE or map</a:t>
            </a:r>
            <a:endParaRPr lang="en-US" sz="1300" dirty="0"/>
          </a:p>
        </p:txBody>
      </p:sp>
      <p:sp>
        <p:nvSpPr>
          <p:cNvPr id="12" name="Text 10"/>
          <p:cNvSpPr txBox="1"/>
          <p:nvPr/>
        </p:nvSpPr>
        <p:spPr>
          <a:xfrm>
            <a:off x="777240" y="4251960"/>
            <a:ext cx="2042084" cy="228600"/>
          </a:xfrm>
          <a:prstGeom prst="rect">
            <a:avLst/>
          </a:prstGeom>
          <a:noFill/>
          <a:ln/>
        </p:spPr>
        <p:txBody>
          <a:bodyPr wrap="square" lIns="0" tIns="0" rIns="0" bIns="0" rtlCol="0" anchor="ctr"/>
          <a:lstStyle/>
          <a:p>
            <a:pPr marL="0" indent="0">
              <a:buNone/>
            </a:pPr>
            <a:r>
              <a:rPr lang="en-US" sz="1000" b="1" kern="0" spc="200" dirty="0">
                <a:solidFill>
                  <a:schemeClr val="tx2"/>
                </a:solidFill>
              </a:rPr>
              <a:t>MAIN COST DRIVER</a:t>
            </a:r>
            <a:endParaRPr lang="en-US" sz="1000" dirty="0"/>
          </a:p>
        </p:txBody>
      </p:sp>
      <p:sp>
        <p:nvSpPr>
          <p:cNvPr id="13" name="Text 11"/>
          <p:cNvSpPr txBox="1"/>
          <p:nvPr/>
        </p:nvSpPr>
        <p:spPr>
          <a:xfrm>
            <a:off x="777240" y="4480560"/>
            <a:ext cx="2042084" cy="502920"/>
          </a:xfrm>
          <a:prstGeom prst="rect">
            <a:avLst/>
          </a:prstGeom>
          <a:noFill/>
          <a:ln/>
        </p:spPr>
        <p:txBody>
          <a:bodyPr wrap="square" lIns="0" tIns="0" rIns="0" bIns="0" rtlCol="0" anchor="t"/>
          <a:lstStyle/>
          <a:p>
            <a:pPr marL="0" indent="0">
              <a:buNone/>
            </a:pPr>
            <a:r>
              <a:rPr lang="en-US" sz="1300" dirty="0">
                <a:solidFill>
                  <a:schemeClr val="tx1"/>
                </a:solidFill>
              </a:rPr>
              <a:t>Order N; Mach and Reynolds numbers</a:t>
            </a:r>
            <a:endParaRPr lang="en-US" sz="1300" dirty="0"/>
          </a:p>
        </p:txBody>
      </p:sp>
      <p:sp>
        <p:nvSpPr>
          <p:cNvPr id="14" name="Shape 12"/>
          <p:cNvSpPr/>
          <p:nvPr/>
        </p:nvSpPr>
        <p:spPr>
          <a:xfrm>
            <a:off x="3121076" y="3241548"/>
            <a:ext cx="219456" cy="237744"/>
          </a:xfrm>
          <a:prstGeom prst="rightArrow">
            <a:avLst/>
          </a:prstGeom>
          <a:solidFill>
            <a:schemeClr val="accent1"/>
          </a:solidFill>
          <a:ln/>
        </p:spPr>
        <p:txBody>
          <a:bodyPr/>
          <a:lstStyle/>
          <a:p>
            <a:endParaRPr lang="fr-FR"/>
          </a:p>
        </p:txBody>
      </p:sp>
      <p:sp>
        <p:nvSpPr>
          <p:cNvPr id="15" name="Step 2"/>
          <p:cNvSpPr/>
          <p:nvPr/>
        </p:nvSpPr>
        <p:spPr>
          <a:xfrm>
            <a:off x="3413684" y="1645920"/>
            <a:ext cx="2499284" cy="3429000"/>
          </a:xfrm>
          <a:prstGeom prst="roundRect">
            <a:avLst>
              <a:gd name="adj" fmla="val 5488"/>
            </a:avLst>
          </a:prstGeom>
          <a:solidFill>
            <a:schemeClr val="bg2"/>
          </a:solidFill>
          <a:ln w="9525">
            <a:solidFill>
              <a:schemeClr val="accent5"/>
            </a:solidFill>
            <a:prstDash val="solid"/>
          </a:ln>
        </p:spPr>
        <p:txBody>
          <a:bodyPr/>
          <a:lstStyle/>
          <a:p>
            <a:endParaRPr lang="fr-FR"/>
          </a:p>
        </p:txBody>
      </p:sp>
      <p:sp>
        <p:nvSpPr>
          <p:cNvPr id="16" name="Text 14"/>
          <p:cNvSpPr txBox="1"/>
          <p:nvPr/>
        </p:nvSpPr>
        <p:spPr>
          <a:xfrm>
            <a:off x="3642284" y="1828800"/>
            <a:ext cx="548640" cy="320040"/>
          </a:xfrm>
          <a:prstGeom prst="rect">
            <a:avLst/>
          </a:prstGeom>
          <a:noFill/>
          <a:ln/>
        </p:spPr>
        <p:txBody>
          <a:bodyPr wrap="square" lIns="0" tIns="0" rIns="0" bIns="0" rtlCol="0" anchor="ctr"/>
          <a:lstStyle/>
          <a:p>
            <a:pPr marL="0" indent="0">
              <a:buNone/>
            </a:pPr>
            <a:r>
              <a:rPr lang="en-US" sz="1400" b="1" dirty="0">
                <a:solidFill>
                  <a:schemeClr val="accent2"/>
                </a:solidFill>
              </a:rPr>
              <a:t>02</a:t>
            </a:r>
            <a:endParaRPr lang="en-US" sz="1400" dirty="0"/>
          </a:p>
        </p:txBody>
      </p:sp>
      <p:sp>
        <p:nvSpPr>
          <p:cNvPr id="17" name="Text 15"/>
          <p:cNvSpPr txBox="1"/>
          <p:nvPr/>
        </p:nvSpPr>
        <p:spPr>
          <a:xfrm>
            <a:off x="3642284" y="2194560"/>
            <a:ext cx="2133524" cy="365760"/>
          </a:xfrm>
          <a:prstGeom prst="rect">
            <a:avLst/>
          </a:prstGeom>
          <a:noFill/>
          <a:ln/>
        </p:spPr>
        <p:txBody>
          <a:bodyPr wrap="square" lIns="0" tIns="0" rIns="0" bIns="0" rtlCol="0" anchor="ctr"/>
          <a:lstStyle/>
          <a:p>
            <a:pPr marL="0" indent="0">
              <a:buNone/>
            </a:pPr>
            <a:r>
              <a:rPr lang="en-US" sz="1400" b="1" dirty="0">
                <a:solidFill>
                  <a:schemeClr val="tx1"/>
                </a:solidFill>
              </a:rPr>
              <a:t>Non-unitary → unitary</a:t>
            </a:r>
            <a:endParaRPr lang="en-US" sz="1400" dirty="0"/>
          </a:p>
        </p:txBody>
      </p:sp>
      <p:sp>
        <p:nvSpPr>
          <p:cNvPr id="18" name="Shape 16"/>
          <p:cNvSpPr/>
          <p:nvPr/>
        </p:nvSpPr>
        <p:spPr>
          <a:xfrm>
            <a:off x="3642284" y="2651760"/>
            <a:ext cx="2042084" cy="685800"/>
          </a:xfrm>
          <a:prstGeom prst="roundRect">
            <a:avLst>
              <a:gd name="adj" fmla="val 10667"/>
            </a:avLst>
          </a:prstGeom>
          <a:solidFill>
            <a:schemeClr val="accent1"/>
          </a:solidFill>
          <a:ln/>
        </p:spPr>
        <p:txBody>
          <a:bodyPr/>
          <a:lstStyle/>
          <a:p>
            <a:endParaRPr lang="fr-FR"/>
          </a:p>
        </p:txBody>
      </p:sp>
      <p:sp>
        <p:nvSpPr>
          <p:cNvPr id="19" name="Text 17"/>
          <p:cNvSpPr txBox="1"/>
          <p:nvPr/>
        </p:nvSpPr>
        <p:spPr>
          <a:xfrm>
            <a:off x="3761156" y="2651760"/>
            <a:ext cx="1804340" cy="685800"/>
          </a:xfrm>
          <a:prstGeom prst="rect">
            <a:avLst/>
          </a:prstGeom>
          <a:noFill/>
          <a:ln/>
        </p:spPr>
        <p:txBody>
          <a:bodyPr wrap="square" lIns="0" tIns="0" rIns="0" bIns="0" rtlCol="0" anchor="ctr"/>
          <a:lstStyle/>
          <a:p>
            <a:pPr marL="0" indent="0">
              <a:buNone/>
            </a:pPr>
            <a:r>
              <a:rPr lang="en-US" sz="1300" b="1" dirty="0">
                <a:solidFill>
                  <a:schemeClr val="tx1"/>
                </a:solidFill>
              </a:rPr>
              <a:t>LCHS</a:t>
            </a:r>
            <a:endParaRPr lang="en-US" sz="1300" dirty="0"/>
          </a:p>
        </p:txBody>
      </p:sp>
      <p:sp>
        <p:nvSpPr>
          <p:cNvPr id="20" name="Text 18"/>
          <p:cNvSpPr txBox="1"/>
          <p:nvPr/>
        </p:nvSpPr>
        <p:spPr>
          <a:xfrm>
            <a:off x="3642284" y="3474720"/>
            <a:ext cx="2042084" cy="228600"/>
          </a:xfrm>
          <a:prstGeom prst="rect">
            <a:avLst/>
          </a:prstGeom>
          <a:noFill/>
          <a:ln/>
        </p:spPr>
        <p:txBody>
          <a:bodyPr wrap="square" lIns="0" tIns="0" rIns="0" bIns="0" rtlCol="0" anchor="ctr"/>
          <a:lstStyle/>
          <a:p>
            <a:pPr marL="0" indent="0">
              <a:buNone/>
            </a:pPr>
            <a:r>
              <a:rPr lang="en-US" sz="1000" b="1" kern="0" spc="200" dirty="0">
                <a:solidFill>
                  <a:schemeClr val="tx2"/>
                </a:solidFill>
              </a:rPr>
              <a:t>WHAT IT BUYS</a:t>
            </a:r>
            <a:endParaRPr lang="en-US" sz="1000" dirty="0"/>
          </a:p>
        </p:txBody>
      </p:sp>
      <p:sp>
        <p:nvSpPr>
          <p:cNvPr id="21" name="Text 19"/>
          <p:cNvSpPr txBox="1"/>
          <p:nvPr/>
        </p:nvSpPr>
        <p:spPr>
          <a:xfrm>
            <a:off x="3642284" y="3703320"/>
            <a:ext cx="2042084" cy="502920"/>
          </a:xfrm>
          <a:prstGeom prst="rect">
            <a:avLst/>
          </a:prstGeom>
          <a:noFill/>
          <a:ln/>
        </p:spPr>
        <p:txBody>
          <a:bodyPr wrap="square" lIns="0" tIns="0" rIns="0" bIns="0" rtlCol="0" anchor="t"/>
          <a:lstStyle/>
          <a:p>
            <a:pPr marL="0" indent="0">
              <a:buNone/>
            </a:pPr>
            <a:r>
              <a:rPr lang="en-US" sz="1300" dirty="0">
                <a:solidFill>
                  <a:schemeClr val="tx1"/>
                </a:solidFill>
              </a:rPr>
              <a:t>A weighted sum of Hamiltonian simulations</a:t>
            </a:r>
            <a:endParaRPr lang="en-US" sz="1300" dirty="0"/>
          </a:p>
        </p:txBody>
      </p:sp>
      <p:sp>
        <p:nvSpPr>
          <p:cNvPr id="22" name="Text 20"/>
          <p:cNvSpPr txBox="1"/>
          <p:nvPr/>
        </p:nvSpPr>
        <p:spPr>
          <a:xfrm>
            <a:off x="3642284" y="4251960"/>
            <a:ext cx="2042084" cy="228600"/>
          </a:xfrm>
          <a:prstGeom prst="rect">
            <a:avLst/>
          </a:prstGeom>
          <a:noFill/>
          <a:ln/>
        </p:spPr>
        <p:txBody>
          <a:bodyPr wrap="square" lIns="0" tIns="0" rIns="0" bIns="0" rtlCol="0" anchor="ctr"/>
          <a:lstStyle/>
          <a:p>
            <a:pPr marL="0" indent="0">
              <a:buNone/>
            </a:pPr>
            <a:r>
              <a:rPr lang="en-US" sz="1000" b="1" kern="0" spc="200" dirty="0">
                <a:solidFill>
                  <a:schemeClr val="tx2"/>
                </a:solidFill>
              </a:rPr>
              <a:t>MAIN COST DRIVER</a:t>
            </a:r>
            <a:endParaRPr lang="en-US" sz="1000" dirty="0"/>
          </a:p>
        </p:txBody>
      </p:sp>
      <p:sp>
        <p:nvSpPr>
          <p:cNvPr id="23" name="Text 21"/>
          <p:cNvSpPr txBox="1"/>
          <p:nvPr/>
        </p:nvSpPr>
        <p:spPr>
          <a:xfrm>
            <a:off x="3642284" y="4480560"/>
            <a:ext cx="2042084" cy="502920"/>
          </a:xfrm>
          <a:prstGeom prst="rect">
            <a:avLst/>
          </a:prstGeom>
          <a:noFill/>
          <a:ln/>
        </p:spPr>
        <p:txBody>
          <a:bodyPr wrap="square" lIns="0" tIns="0" rIns="0" bIns="0" rtlCol="0" anchor="t"/>
          <a:lstStyle/>
          <a:p>
            <a:pPr marL="0" indent="0">
              <a:buNone/>
            </a:pPr>
            <a:r>
              <a:rPr lang="en-US" sz="1300" dirty="0">
                <a:solidFill>
                  <a:schemeClr val="tx1"/>
                </a:solidFill>
              </a:rPr>
              <a:t>Kernel tails, number of nodes</a:t>
            </a:r>
            <a:endParaRPr lang="en-US" sz="1300" dirty="0"/>
          </a:p>
        </p:txBody>
      </p:sp>
      <p:sp>
        <p:nvSpPr>
          <p:cNvPr id="24" name="Shape 22"/>
          <p:cNvSpPr/>
          <p:nvPr/>
        </p:nvSpPr>
        <p:spPr>
          <a:xfrm>
            <a:off x="5986120" y="3241548"/>
            <a:ext cx="219456" cy="237744"/>
          </a:xfrm>
          <a:prstGeom prst="rightArrow">
            <a:avLst/>
          </a:prstGeom>
          <a:solidFill>
            <a:schemeClr val="accent1"/>
          </a:solidFill>
          <a:ln/>
        </p:spPr>
        <p:txBody>
          <a:bodyPr/>
          <a:lstStyle/>
          <a:p>
            <a:endParaRPr lang="fr-FR"/>
          </a:p>
        </p:txBody>
      </p:sp>
      <p:sp>
        <p:nvSpPr>
          <p:cNvPr id="25" name="Step 3"/>
          <p:cNvSpPr/>
          <p:nvPr/>
        </p:nvSpPr>
        <p:spPr>
          <a:xfrm>
            <a:off x="6278728" y="1645920"/>
            <a:ext cx="2499284" cy="3429000"/>
          </a:xfrm>
          <a:prstGeom prst="roundRect">
            <a:avLst>
              <a:gd name="adj" fmla="val 5488"/>
            </a:avLst>
          </a:prstGeom>
          <a:solidFill>
            <a:schemeClr val="bg2"/>
          </a:solidFill>
          <a:ln w="9525">
            <a:solidFill>
              <a:schemeClr val="accent5"/>
            </a:solidFill>
            <a:prstDash val="solid"/>
          </a:ln>
        </p:spPr>
        <p:txBody>
          <a:bodyPr/>
          <a:lstStyle/>
          <a:p>
            <a:endParaRPr lang="fr-FR"/>
          </a:p>
        </p:txBody>
      </p:sp>
      <p:sp>
        <p:nvSpPr>
          <p:cNvPr id="26" name="Text 24"/>
          <p:cNvSpPr txBox="1"/>
          <p:nvPr/>
        </p:nvSpPr>
        <p:spPr>
          <a:xfrm>
            <a:off x="6507328" y="1828800"/>
            <a:ext cx="548640" cy="320040"/>
          </a:xfrm>
          <a:prstGeom prst="rect">
            <a:avLst/>
          </a:prstGeom>
          <a:noFill/>
          <a:ln/>
        </p:spPr>
        <p:txBody>
          <a:bodyPr wrap="square" lIns="0" tIns="0" rIns="0" bIns="0" rtlCol="0" anchor="ctr"/>
          <a:lstStyle/>
          <a:p>
            <a:pPr marL="0" indent="0">
              <a:buNone/>
            </a:pPr>
            <a:r>
              <a:rPr lang="en-US" sz="1400" b="1" dirty="0">
                <a:solidFill>
                  <a:schemeClr val="accent2"/>
                </a:solidFill>
              </a:rPr>
              <a:t>03</a:t>
            </a:r>
            <a:endParaRPr lang="en-US" sz="1400" dirty="0"/>
          </a:p>
        </p:txBody>
      </p:sp>
      <p:sp>
        <p:nvSpPr>
          <p:cNvPr id="27" name="Text 25"/>
          <p:cNvSpPr txBox="1"/>
          <p:nvPr/>
        </p:nvSpPr>
        <p:spPr>
          <a:xfrm>
            <a:off x="6507328" y="2194560"/>
            <a:ext cx="2133524" cy="365760"/>
          </a:xfrm>
          <a:prstGeom prst="rect">
            <a:avLst/>
          </a:prstGeom>
          <a:noFill/>
          <a:ln/>
        </p:spPr>
        <p:txBody>
          <a:bodyPr wrap="square" lIns="0" tIns="0" rIns="0" bIns="0" rtlCol="0" anchor="ctr"/>
          <a:lstStyle/>
          <a:p>
            <a:pPr marL="0" indent="0">
              <a:buNone/>
            </a:pPr>
            <a:r>
              <a:rPr lang="en-US" sz="1400" b="1" dirty="0">
                <a:solidFill>
                  <a:schemeClr val="tx1"/>
                </a:solidFill>
              </a:rPr>
              <a:t>Matrix → circuit</a:t>
            </a:r>
            <a:endParaRPr lang="en-US" sz="1400" dirty="0"/>
          </a:p>
        </p:txBody>
      </p:sp>
      <p:sp>
        <p:nvSpPr>
          <p:cNvPr id="28" name="Shape 26"/>
          <p:cNvSpPr/>
          <p:nvPr/>
        </p:nvSpPr>
        <p:spPr>
          <a:xfrm>
            <a:off x="6507328" y="2651760"/>
            <a:ext cx="2042084" cy="685800"/>
          </a:xfrm>
          <a:prstGeom prst="roundRect">
            <a:avLst>
              <a:gd name="adj" fmla="val 10667"/>
            </a:avLst>
          </a:prstGeom>
          <a:solidFill>
            <a:schemeClr val="accent1"/>
          </a:solidFill>
          <a:ln/>
        </p:spPr>
        <p:txBody>
          <a:bodyPr/>
          <a:lstStyle/>
          <a:p>
            <a:endParaRPr lang="fr-FR"/>
          </a:p>
        </p:txBody>
      </p:sp>
      <p:sp>
        <p:nvSpPr>
          <p:cNvPr id="29" name="Text 27"/>
          <p:cNvSpPr txBox="1"/>
          <p:nvPr/>
        </p:nvSpPr>
        <p:spPr>
          <a:xfrm>
            <a:off x="6626200" y="2651760"/>
            <a:ext cx="1804340" cy="685800"/>
          </a:xfrm>
          <a:prstGeom prst="rect">
            <a:avLst/>
          </a:prstGeom>
          <a:noFill/>
          <a:ln/>
        </p:spPr>
        <p:txBody>
          <a:bodyPr wrap="square" lIns="0" tIns="0" rIns="0" bIns="0" rtlCol="0" anchor="ctr"/>
          <a:lstStyle/>
          <a:p>
            <a:pPr marL="0" indent="0">
              <a:buNone/>
            </a:pPr>
            <a:r>
              <a:rPr lang="en-US" sz="1300" b="1" dirty="0">
                <a:solidFill>
                  <a:schemeClr val="tx1"/>
                </a:solidFill>
              </a:rPr>
              <a:t>LCU block encoding</a:t>
            </a:r>
            <a:endParaRPr lang="en-US" sz="1300" dirty="0"/>
          </a:p>
        </p:txBody>
      </p:sp>
      <p:sp>
        <p:nvSpPr>
          <p:cNvPr id="30" name="Text 28"/>
          <p:cNvSpPr txBox="1"/>
          <p:nvPr/>
        </p:nvSpPr>
        <p:spPr>
          <a:xfrm>
            <a:off x="6507328" y="3474720"/>
            <a:ext cx="2042084" cy="228600"/>
          </a:xfrm>
          <a:prstGeom prst="rect">
            <a:avLst/>
          </a:prstGeom>
          <a:noFill/>
          <a:ln/>
        </p:spPr>
        <p:txBody>
          <a:bodyPr wrap="square" lIns="0" tIns="0" rIns="0" bIns="0" rtlCol="0" anchor="ctr"/>
          <a:lstStyle/>
          <a:p>
            <a:pPr marL="0" indent="0">
              <a:buNone/>
            </a:pPr>
            <a:r>
              <a:rPr lang="en-US" sz="1000" b="1" kern="0" spc="200" dirty="0">
                <a:solidFill>
                  <a:schemeClr val="tx2"/>
                </a:solidFill>
              </a:rPr>
              <a:t>WHAT IT BUYS</a:t>
            </a:r>
            <a:endParaRPr lang="en-US" sz="1000" dirty="0"/>
          </a:p>
        </p:txBody>
      </p:sp>
      <p:sp>
        <p:nvSpPr>
          <p:cNvPr id="31" name="Text 29"/>
          <p:cNvSpPr txBox="1"/>
          <p:nvPr/>
        </p:nvSpPr>
        <p:spPr>
          <a:xfrm>
            <a:off x="6507328" y="3703320"/>
            <a:ext cx="2042084" cy="502920"/>
          </a:xfrm>
          <a:prstGeom prst="rect">
            <a:avLst/>
          </a:prstGeom>
          <a:noFill/>
          <a:ln/>
        </p:spPr>
        <p:txBody>
          <a:bodyPr wrap="square" lIns="0" tIns="0" rIns="0" bIns="0" rtlCol="0" anchor="t"/>
          <a:lstStyle/>
          <a:p>
            <a:pPr marL="0" indent="0">
              <a:buNone/>
            </a:pPr>
            <a:r>
              <a:rPr lang="en-US" sz="1300" dirty="0">
                <a:solidFill>
                  <a:schemeClr val="tx1"/>
                </a:solidFill>
              </a:rPr>
              <a:t>Access to A inside a unitary</a:t>
            </a:r>
            <a:endParaRPr lang="en-US" sz="1300" dirty="0"/>
          </a:p>
        </p:txBody>
      </p:sp>
      <p:sp>
        <p:nvSpPr>
          <p:cNvPr id="32" name="Text 30"/>
          <p:cNvSpPr txBox="1"/>
          <p:nvPr/>
        </p:nvSpPr>
        <p:spPr>
          <a:xfrm>
            <a:off x="6507328" y="4251960"/>
            <a:ext cx="2042084" cy="228600"/>
          </a:xfrm>
          <a:prstGeom prst="rect">
            <a:avLst/>
          </a:prstGeom>
          <a:noFill/>
          <a:ln/>
        </p:spPr>
        <p:txBody>
          <a:bodyPr wrap="square" lIns="0" tIns="0" rIns="0" bIns="0" rtlCol="0" anchor="ctr"/>
          <a:lstStyle/>
          <a:p>
            <a:pPr marL="0" indent="0">
              <a:buNone/>
            </a:pPr>
            <a:r>
              <a:rPr lang="en-US" sz="1000" b="1" kern="0" spc="200" dirty="0">
                <a:solidFill>
                  <a:schemeClr val="tx2"/>
                </a:solidFill>
              </a:rPr>
              <a:t>MAIN COST DRIVER</a:t>
            </a:r>
            <a:endParaRPr lang="en-US" sz="1000" dirty="0"/>
          </a:p>
        </p:txBody>
      </p:sp>
      <p:sp>
        <p:nvSpPr>
          <p:cNvPr id="33" name="Text 31"/>
          <p:cNvSpPr txBox="1"/>
          <p:nvPr/>
        </p:nvSpPr>
        <p:spPr>
          <a:xfrm>
            <a:off x="6507328" y="4480560"/>
            <a:ext cx="2042084" cy="502920"/>
          </a:xfrm>
          <a:prstGeom prst="rect">
            <a:avLst/>
          </a:prstGeom>
          <a:noFill/>
          <a:ln/>
        </p:spPr>
        <p:txBody>
          <a:bodyPr wrap="square" lIns="0" tIns="0" rIns="0" bIns="0" rtlCol="0" anchor="t"/>
          <a:lstStyle/>
          <a:p>
            <a:pPr marL="0" indent="0">
              <a:buNone/>
            </a:pPr>
            <a:r>
              <a:rPr lang="en-US" sz="1300" dirty="0">
                <a:solidFill>
                  <a:schemeClr val="tx1"/>
                </a:solidFill>
              </a:rPr>
              <a:t>Normalization α</a:t>
            </a:r>
            <a:endParaRPr lang="en-US" sz="1300" dirty="0"/>
          </a:p>
        </p:txBody>
      </p:sp>
      <p:sp>
        <p:nvSpPr>
          <p:cNvPr id="34" name="Shape 32"/>
          <p:cNvSpPr/>
          <p:nvPr/>
        </p:nvSpPr>
        <p:spPr>
          <a:xfrm>
            <a:off x="8851163" y="3241548"/>
            <a:ext cx="219456" cy="237744"/>
          </a:xfrm>
          <a:prstGeom prst="rightArrow">
            <a:avLst/>
          </a:prstGeom>
          <a:solidFill>
            <a:schemeClr val="accent1"/>
          </a:solidFill>
          <a:ln/>
        </p:spPr>
        <p:txBody>
          <a:bodyPr/>
          <a:lstStyle/>
          <a:p>
            <a:endParaRPr lang="fr-FR"/>
          </a:p>
        </p:txBody>
      </p:sp>
      <p:sp>
        <p:nvSpPr>
          <p:cNvPr id="35" name="Step 4"/>
          <p:cNvSpPr/>
          <p:nvPr/>
        </p:nvSpPr>
        <p:spPr>
          <a:xfrm>
            <a:off x="9143771" y="1645920"/>
            <a:ext cx="2499284" cy="3429000"/>
          </a:xfrm>
          <a:prstGeom prst="roundRect">
            <a:avLst>
              <a:gd name="adj" fmla="val 5488"/>
            </a:avLst>
          </a:prstGeom>
          <a:solidFill>
            <a:schemeClr val="bg2"/>
          </a:solidFill>
          <a:ln w="12700">
            <a:solidFill>
              <a:schemeClr val="accent1"/>
            </a:solidFill>
            <a:prstDash val="solid"/>
          </a:ln>
        </p:spPr>
        <p:txBody>
          <a:bodyPr/>
          <a:lstStyle/>
          <a:p>
            <a:endParaRPr lang="fr-FR"/>
          </a:p>
        </p:txBody>
      </p:sp>
      <p:sp>
        <p:nvSpPr>
          <p:cNvPr id="36" name="Text 34"/>
          <p:cNvSpPr txBox="1"/>
          <p:nvPr/>
        </p:nvSpPr>
        <p:spPr>
          <a:xfrm>
            <a:off x="9372371" y="1828800"/>
            <a:ext cx="548640" cy="320040"/>
          </a:xfrm>
          <a:prstGeom prst="rect">
            <a:avLst/>
          </a:prstGeom>
          <a:noFill/>
          <a:ln/>
        </p:spPr>
        <p:txBody>
          <a:bodyPr wrap="square" lIns="0" tIns="0" rIns="0" bIns="0" rtlCol="0" anchor="ctr"/>
          <a:lstStyle/>
          <a:p>
            <a:pPr marL="0" indent="0">
              <a:buNone/>
            </a:pPr>
            <a:r>
              <a:rPr lang="en-US" sz="1400" b="1" dirty="0">
                <a:solidFill>
                  <a:schemeClr val="accent2"/>
                </a:solidFill>
              </a:rPr>
              <a:t>04</a:t>
            </a:r>
            <a:endParaRPr lang="en-US" sz="1400" dirty="0"/>
          </a:p>
        </p:txBody>
      </p:sp>
      <p:sp>
        <p:nvSpPr>
          <p:cNvPr id="37" name="Text 35"/>
          <p:cNvSpPr txBox="1"/>
          <p:nvPr/>
        </p:nvSpPr>
        <p:spPr>
          <a:xfrm>
            <a:off x="9372371" y="2194560"/>
            <a:ext cx="2133524" cy="365760"/>
          </a:xfrm>
          <a:prstGeom prst="rect">
            <a:avLst/>
          </a:prstGeom>
          <a:noFill/>
          <a:ln/>
        </p:spPr>
        <p:txBody>
          <a:bodyPr wrap="square" lIns="0" tIns="0" rIns="0" bIns="0" rtlCol="0" anchor="ctr"/>
          <a:lstStyle/>
          <a:p>
            <a:pPr marL="0" indent="0">
              <a:buNone/>
            </a:pPr>
            <a:r>
              <a:rPr lang="en-US" sz="1400" b="1" dirty="0">
                <a:solidFill>
                  <a:schemeClr val="tx1"/>
                </a:solidFill>
              </a:rPr>
              <a:t>Evolution → gates</a:t>
            </a:r>
            <a:endParaRPr lang="en-US" sz="1400" dirty="0"/>
          </a:p>
        </p:txBody>
      </p:sp>
      <p:sp>
        <p:nvSpPr>
          <p:cNvPr id="38" name="Shape 36"/>
          <p:cNvSpPr/>
          <p:nvPr/>
        </p:nvSpPr>
        <p:spPr>
          <a:xfrm>
            <a:off x="9372371" y="2651760"/>
            <a:ext cx="2042084" cy="685800"/>
          </a:xfrm>
          <a:prstGeom prst="roundRect">
            <a:avLst>
              <a:gd name="adj" fmla="val 10667"/>
            </a:avLst>
          </a:prstGeom>
          <a:solidFill>
            <a:schemeClr val="accent1"/>
          </a:solidFill>
          <a:ln/>
        </p:spPr>
        <p:txBody>
          <a:bodyPr/>
          <a:lstStyle/>
          <a:p>
            <a:endParaRPr lang="fr-FR"/>
          </a:p>
        </p:txBody>
      </p:sp>
      <p:sp>
        <p:nvSpPr>
          <p:cNvPr id="39" name="Text 37"/>
          <p:cNvSpPr txBox="1"/>
          <p:nvPr/>
        </p:nvSpPr>
        <p:spPr>
          <a:xfrm>
            <a:off x="9491243" y="2651760"/>
            <a:ext cx="1804340" cy="685800"/>
          </a:xfrm>
          <a:prstGeom prst="rect">
            <a:avLst/>
          </a:prstGeom>
          <a:noFill/>
          <a:ln/>
        </p:spPr>
        <p:txBody>
          <a:bodyPr wrap="square" lIns="0" tIns="0" rIns="0" bIns="0" rtlCol="0" anchor="ctr"/>
          <a:lstStyle/>
          <a:p>
            <a:pPr marL="0" indent="0">
              <a:buNone/>
            </a:pPr>
            <a:r>
              <a:rPr lang="en-US" sz="1300" b="1" dirty="0">
                <a:solidFill>
                  <a:schemeClr val="tx1"/>
                </a:solidFill>
              </a:rPr>
              <a:t>Hamiltonian simulation</a:t>
            </a:r>
            <a:endParaRPr lang="en-US" sz="1300" dirty="0"/>
          </a:p>
        </p:txBody>
      </p:sp>
      <p:sp>
        <p:nvSpPr>
          <p:cNvPr id="40" name="Text 38"/>
          <p:cNvSpPr txBox="1"/>
          <p:nvPr/>
        </p:nvSpPr>
        <p:spPr>
          <a:xfrm>
            <a:off x="9372371" y="3474720"/>
            <a:ext cx="2042084" cy="228600"/>
          </a:xfrm>
          <a:prstGeom prst="rect">
            <a:avLst/>
          </a:prstGeom>
          <a:noFill/>
          <a:ln/>
        </p:spPr>
        <p:txBody>
          <a:bodyPr wrap="square" lIns="0" tIns="0" rIns="0" bIns="0" rtlCol="0" anchor="ctr"/>
          <a:lstStyle/>
          <a:p>
            <a:pPr marL="0" indent="0">
              <a:buNone/>
            </a:pPr>
            <a:r>
              <a:rPr lang="en-US" sz="1000" b="1" kern="0" spc="200" dirty="0">
                <a:solidFill>
                  <a:schemeClr val="tx2"/>
                </a:solidFill>
              </a:rPr>
              <a:t>WHAT IT BUYS</a:t>
            </a:r>
            <a:endParaRPr lang="en-US" sz="1000" dirty="0"/>
          </a:p>
        </p:txBody>
      </p:sp>
      <p:sp>
        <p:nvSpPr>
          <p:cNvPr id="41" name="Text 39"/>
          <p:cNvSpPr txBox="1"/>
          <p:nvPr/>
        </p:nvSpPr>
        <p:spPr>
          <a:xfrm>
            <a:off x="9372371" y="3703320"/>
            <a:ext cx="2042084" cy="502920"/>
          </a:xfrm>
          <a:prstGeom prst="rect">
            <a:avLst/>
          </a:prstGeom>
          <a:noFill/>
          <a:ln/>
        </p:spPr>
        <p:txBody>
          <a:bodyPr wrap="square" lIns="0" tIns="0" rIns="0" bIns="0" rtlCol="0" anchor="t"/>
          <a:lstStyle/>
          <a:p>
            <a:pPr marL="0" indent="0">
              <a:buNone/>
            </a:pPr>
            <a:r>
              <a:rPr lang="en-US" sz="1300" dirty="0">
                <a:solidFill>
                  <a:schemeClr val="tx1"/>
                </a:solidFill>
              </a:rPr>
              <a:t>e^(−iHt) on hardware</a:t>
            </a:r>
            <a:endParaRPr lang="en-US" sz="1300" dirty="0"/>
          </a:p>
        </p:txBody>
      </p:sp>
      <p:sp>
        <p:nvSpPr>
          <p:cNvPr id="42" name="Text 40"/>
          <p:cNvSpPr txBox="1"/>
          <p:nvPr/>
        </p:nvSpPr>
        <p:spPr>
          <a:xfrm>
            <a:off x="9372371" y="4251960"/>
            <a:ext cx="2042084" cy="228600"/>
          </a:xfrm>
          <a:prstGeom prst="rect">
            <a:avLst/>
          </a:prstGeom>
          <a:noFill/>
          <a:ln/>
        </p:spPr>
        <p:txBody>
          <a:bodyPr wrap="square" lIns="0" tIns="0" rIns="0" bIns="0" rtlCol="0" anchor="ctr"/>
          <a:lstStyle/>
          <a:p>
            <a:pPr marL="0" indent="0">
              <a:buNone/>
            </a:pPr>
            <a:r>
              <a:rPr lang="en-US" sz="1000" b="1" kern="0" spc="200" dirty="0">
                <a:solidFill>
                  <a:schemeClr val="tx2"/>
                </a:solidFill>
              </a:rPr>
              <a:t>MAIN COST DRIVER</a:t>
            </a:r>
            <a:endParaRPr lang="en-US" sz="1000" dirty="0"/>
          </a:p>
        </p:txBody>
      </p:sp>
      <p:sp>
        <p:nvSpPr>
          <p:cNvPr id="43" name="Text 41"/>
          <p:cNvSpPr txBox="1"/>
          <p:nvPr/>
        </p:nvSpPr>
        <p:spPr>
          <a:xfrm>
            <a:off x="9372371" y="4480560"/>
            <a:ext cx="2042084" cy="502920"/>
          </a:xfrm>
          <a:prstGeom prst="rect">
            <a:avLst/>
          </a:prstGeom>
          <a:noFill/>
          <a:ln/>
        </p:spPr>
        <p:txBody>
          <a:bodyPr wrap="square" lIns="0" tIns="0" rIns="0" bIns="0" rtlCol="0" anchor="t"/>
          <a:lstStyle/>
          <a:p>
            <a:pPr marL="0" indent="0">
              <a:buNone/>
            </a:pPr>
            <a:r>
              <a:rPr lang="en-US" sz="1300" dirty="0">
                <a:solidFill>
                  <a:schemeClr val="tx1"/>
                </a:solidFill>
              </a:rPr>
              <a:t>Steps, native gates</a:t>
            </a:r>
            <a:endParaRPr lang="en-US" sz="1300" dirty="0"/>
          </a:p>
        </p:txBody>
      </p:sp>
      <p:sp>
        <p:nvSpPr>
          <p:cNvPr id="44" name="Next"/>
          <p:cNvSpPr/>
          <p:nvPr/>
        </p:nvSpPr>
        <p:spPr>
          <a:xfrm>
            <a:off x="548640" y="5257800"/>
            <a:ext cx="11094415" cy="548640"/>
          </a:xfrm>
          <a:prstGeom prst="roundRect">
            <a:avLst>
              <a:gd name="adj" fmla="val 16667"/>
            </a:avLst>
          </a:prstGeom>
          <a:solidFill>
            <a:schemeClr val="accent1"/>
          </a:solidFill>
          <a:ln/>
        </p:spPr>
        <p:txBody>
          <a:bodyPr/>
          <a:lstStyle/>
          <a:p>
            <a:endParaRPr lang="fr-FR"/>
          </a:p>
        </p:txBody>
      </p:sp>
      <p:sp>
        <p:nvSpPr>
          <p:cNvPr id="45" name="Shape 43"/>
          <p:cNvSpPr/>
          <p:nvPr/>
        </p:nvSpPr>
        <p:spPr>
          <a:xfrm>
            <a:off x="822960" y="5486400"/>
            <a:ext cx="91440" cy="91440"/>
          </a:xfrm>
          <a:prstGeom prst="rect">
            <a:avLst/>
          </a:prstGeom>
          <a:solidFill>
            <a:schemeClr val="accent2"/>
          </a:solidFill>
          <a:ln/>
        </p:spPr>
        <p:txBody>
          <a:bodyPr/>
          <a:lstStyle/>
          <a:p>
            <a:endParaRPr lang="fr-FR"/>
          </a:p>
        </p:txBody>
      </p:sp>
      <p:sp>
        <p:nvSpPr>
          <p:cNvPr id="46" name="Text 44"/>
          <p:cNvSpPr txBox="1"/>
          <p:nvPr/>
        </p:nvSpPr>
        <p:spPr>
          <a:xfrm>
            <a:off x="1051560" y="5257800"/>
            <a:ext cx="10362895" cy="548640"/>
          </a:xfrm>
          <a:prstGeom prst="rect">
            <a:avLst/>
          </a:prstGeom>
          <a:noFill/>
          <a:ln/>
        </p:spPr>
        <p:txBody>
          <a:bodyPr wrap="square" lIns="0" tIns="0" rIns="0" bIns="0" rtlCol="0" anchor="ctr"/>
          <a:lstStyle/>
          <a:p>
            <a:pPr marL="0" indent="0">
              <a:buNone/>
            </a:pPr>
            <a:r>
              <a:rPr lang="en-US" sz="1600" b="1" dirty="0">
                <a:solidFill>
                  <a:schemeClr val="tx1"/>
                </a:solidFill>
              </a:rPr>
              <a:t>Next: </a:t>
            </a:r>
            <a:r>
              <a:rPr lang="en-US" sz="1600" dirty="0">
                <a:solidFill>
                  <a:schemeClr val="tx1"/>
                </a:solidFill>
              </a:rPr>
              <a:t>running e^(−iHt) on a model of our spin qubit hardware with the SDK</a:t>
            </a:r>
            <a:endParaRPr lang="en-US" sz="1600" dirty="0"/>
          </a:p>
        </p:txBody>
      </p:sp>
      <p:sp>
        <p:nvSpPr>
          <p:cNvPr id="47" name="Text 45"/>
          <p:cNvSpPr txBox="1"/>
          <p:nvPr/>
        </p:nvSpPr>
        <p:spPr>
          <a:xfrm>
            <a:off x="548640" y="5897880"/>
            <a:ext cx="11094415" cy="274320"/>
          </a:xfrm>
          <a:prstGeom prst="rect">
            <a:avLst/>
          </a:prstGeom>
          <a:noFill/>
          <a:ln/>
        </p:spPr>
        <p:txBody>
          <a:bodyPr wrap="square" lIns="0" tIns="0" rIns="0" bIns="0" rtlCol="0" anchor="ctr"/>
          <a:lstStyle/>
          <a:p>
            <a:pPr marL="0" indent="0">
              <a:buNone/>
            </a:pPr>
            <a:r>
              <a:rPr lang="en-US" sz="1100" i="1" dirty="0">
                <a:solidFill>
                  <a:schemeClr val="tx2"/>
                </a:solidFill>
              </a:rPr>
              <a:t>Optional homework: assignment notebook with solutions</a:t>
            </a:r>
            <a:endParaRPr lang="en-US" sz="1100" dirty="0"/>
          </a:p>
        </p:txBody>
      </p:sp>
      <p:sp>
        <p:nvSpPr>
          <p:cNvPr id="48" name="Slide Number Placeholder 0"/>
          <p:cNvSpPr>
            <a:spLocks noGrp="1"/>
          </p:cNvSpPr>
          <p:nvPr>
            <p:ph type="sldNum" sz="quarter" idx="4294967295"/>
          </p:nvPr>
        </p:nvSpPr>
        <p:spPr>
          <a:xfrm>
            <a:off x="11094415" y="6327648"/>
            <a:ext cx="548640" cy="274320"/>
          </a:xfrm>
          <a:prstGeom prst="rect">
            <a:avLst/>
          </a:prstGeom>
          <a:extLst>
            <a:ext uri="{C572A759-6A51-4108-AA02-DFA0A04FC94B}">
              <ma14:wrappingTextBoxFlag xmlns:ma14="http://schemas.microsoft.com/office/mac/drawingml/2011/main" xmlns="" val="0"/>
            </a:ext>
          </a:extLst>
        </p:spPr>
        <p:txBody>
          <a:bodyPr lIns="0" tIns="0" rIns="0" bIns="0" anchor="ctr"/>
          <a:lstStyle>
            <a:lvl1pPr>
              <a:defRPr sz="1000">
                <a:solidFill>
                  <a:srgbClr val="9AA3BD"/>
                </a:solidFill>
              </a:defRPr>
            </a:lvl1pPr>
          </a:lstStyle>
          <a:p>
            <a:pPr algn="r"/>
            <a:fld id="{F7021451-1387-4CA6-816F-3879F97B5CBC}" type="slidenum">
              <a:rPr lang="en-US" b="0"/>
              <a:t>37</a:t>
            </a:fld>
            <a:endParaRPr lang="en-US"/>
          </a:p>
        </p:txBody>
      </p:sp>
      <p:pic>
        <p:nvPicPr>
          <p:cNvPr id="50" name="Image 49">
            <a:extLst>
              <a:ext uri="{FF2B5EF4-FFF2-40B4-BE49-F238E27FC236}">
                <a16:creationId xmlns:a16="http://schemas.microsoft.com/office/drawing/2014/main" id="{D1BE9FE6-C380-987A-7CE0-1120444174FC}"/>
              </a:ext>
            </a:extLst>
          </p:cNvPr>
          <p:cNvPicPr>
            <a:picLocks noChangeAspect="1"/>
          </p:cNvPicPr>
          <p:nvPr/>
        </p:nvPicPr>
        <p:blipFill>
          <a:blip r:embed="rId3"/>
          <a:stretch>
            <a:fillRect/>
          </a:stretch>
        </p:blipFill>
        <p:spPr>
          <a:xfrm>
            <a:off x="9724644" y="-443705"/>
            <a:ext cx="2437453" cy="1723866"/>
          </a:xfrm>
          <a:prstGeom prst="rect">
            <a:avLst/>
          </a:prstGeom>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10"/>
          <p:cNvSpPr>
            <a:spLocks noGrp="1"/>
          </p:cNvSpPr>
          <p:nvPr>
            <p:ph type="title" idx="110" hasCustomPrompt="1"/>
          </p:nvPr>
        </p:nvSpPr>
        <p:spPr>
          <a:xfrm>
            <a:off x="548640" y="457200"/>
            <a:ext cx="11094415" cy="777240"/>
          </a:xfrm>
          <a:prstGeom prst="rect">
            <a:avLst/>
          </a:prstGeom>
          <a:noFill/>
          <a:ln/>
        </p:spPr>
        <p:txBody>
          <a:bodyPr wrap="square" lIns="0" tIns="0" rIns="0" bIns="0" rtlCol="0" anchor="t"/>
          <a:lstStyle/>
          <a:p>
            <a:pPr marL="0" indent="0" algn="l">
              <a:buNone/>
            </a:pPr>
            <a:r>
              <a:rPr lang="en-US" sz="3200" dirty="0">
                <a:solidFill>
                  <a:schemeClr val="tx1"/>
                </a:solidFill>
              </a:rPr>
              <a:t>Running e^(−iHt) on a spin qubit model</a:t>
            </a:r>
            <a:endParaRPr lang="en-US" sz="3200" dirty="0"/>
          </a:p>
        </p:txBody>
      </p:sp>
      <p:sp>
        <p:nvSpPr>
          <p:cNvPr id="3" name="Shape 1"/>
          <p:cNvSpPr/>
          <p:nvPr/>
        </p:nvSpPr>
        <p:spPr>
          <a:xfrm>
            <a:off x="548640" y="1188720"/>
            <a:ext cx="91440" cy="91440"/>
          </a:xfrm>
          <a:prstGeom prst="rect">
            <a:avLst/>
          </a:prstGeom>
          <a:solidFill>
            <a:schemeClr val="accent2"/>
          </a:solidFill>
          <a:ln/>
        </p:spPr>
        <p:txBody>
          <a:bodyPr/>
          <a:lstStyle/>
          <a:p>
            <a:endParaRPr lang="fr-FR"/>
          </a:p>
        </p:txBody>
      </p:sp>
      <p:sp>
        <p:nvSpPr>
          <p:cNvPr id="4" name="Text 2"/>
          <p:cNvSpPr txBox="1"/>
          <p:nvPr/>
        </p:nvSpPr>
        <p:spPr>
          <a:xfrm>
            <a:off x="731520" y="1097280"/>
            <a:ext cx="9144000" cy="274320"/>
          </a:xfrm>
          <a:prstGeom prst="rect">
            <a:avLst/>
          </a:prstGeom>
          <a:noFill/>
          <a:ln/>
        </p:spPr>
        <p:txBody>
          <a:bodyPr wrap="square" lIns="0" tIns="0" rIns="0" bIns="0" rtlCol="0" anchor="ctr"/>
          <a:lstStyle/>
          <a:p>
            <a:pPr marL="0" indent="0">
              <a:buNone/>
            </a:pPr>
            <a:r>
              <a:rPr lang="en-US" sz="1200" b="1" kern="0" spc="200" dirty="0">
                <a:solidFill>
                  <a:schemeClr val="tx2"/>
                </a:solidFill>
              </a:rPr>
              <a:t>SPINPULSE  ·  FROM CIRCUIT TO PULSES</a:t>
            </a:r>
            <a:endParaRPr lang="en-US" sz="1200" dirty="0"/>
          </a:p>
        </p:txBody>
      </p:sp>
      <p:sp>
        <p:nvSpPr>
          <p:cNvPr id="5" name="Shape 3"/>
          <p:cNvSpPr/>
          <p:nvPr/>
        </p:nvSpPr>
        <p:spPr>
          <a:xfrm>
            <a:off x="548640" y="1673352"/>
            <a:ext cx="310896" cy="310896"/>
          </a:xfrm>
          <a:prstGeom prst="ellipse">
            <a:avLst/>
          </a:prstGeom>
          <a:solidFill>
            <a:schemeClr val="accent1"/>
          </a:solidFill>
          <a:ln/>
        </p:spPr>
        <p:txBody>
          <a:bodyPr/>
          <a:lstStyle/>
          <a:p>
            <a:endParaRPr lang="fr-FR"/>
          </a:p>
        </p:txBody>
      </p:sp>
      <p:sp>
        <p:nvSpPr>
          <p:cNvPr id="6" name="Text 4"/>
          <p:cNvSpPr txBox="1"/>
          <p:nvPr/>
        </p:nvSpPr>
        <p:spPr>
          <a:xfrm>
            <a:off x="548640" y="1673352"/>
            <a:ext cx="310896" cy="310896"/>
          </a:xfrm>
          <a:prstGeom prst="rect">
            <a:avLst/>
          </a:prstGeom>
          <a:noFill/>
          <a:ln/>
        </p:spPr>
        <p:txBody>
          <a:bodyPr wrap="square" lIns="0" tIns="0" rIns="0" bIns="0" rtlCol="0" anchor="ctr"/>
          <a:lstStyle/>
          <a:p>
            <a:pPr marL="0" indent="0" algn="ctr">
              <a:buNone/>
            </a:pPr>
            <a:r>
              <a:rPr lang="en-US" sz="1200" b="1" dirty="0">
                <a:solidFill>
                  <a:schemeClr val="tx1"/>
                </a:solidFill>
              </a:rPr>
              <a:t>1</a:t>
            </a:r>
            <a:endParaRPr lang="en-US" sz="1200" dirty="0"/>
          </a:p>
        </p:txBody>
      </p:sp>
      <p:sp>
        <p:nvSpPr>
          <p:cNvPr id="7" name="Text 5"/>
          <p:cNvSpPr txBox="1"/>
          <p:nvPr/>
        </p:nvSpPr>
        <p:spPr>
          <a:xfrm>
            <a:off x="1005840" y="1645920"/>
            <a:ext cx="4709160" cy="365760"/>
          </a:xfrm>
          <a:prstGeom prst="rect">
            <a:avLst/>
          </a:prstGeom>
          <a:noFill/>
          <a:ln/>
        </p:spPr>
        <p:txBody>
          <a:bodyPr wrap="square" lIns="0" tIns="0" rIns="0" bIns="0" rtlCol="0" anchor="ctr"/>
          <a:lstStyle/>
          <a:p>
            <a:pPr marL="0" indent="0">
              <a:buNone/>
            </a:pPr>
            <a:r>
              <a:rPr lang="en-US" sz="1300" dirty="0">
                <a:solidFill>
                  <a:schemeClr val="tx1"/>
                </a:solidFill>
              </a:rPr>
              <a:t>Trotter circuit for H = J Σ(XX + YY + ZZ) + h Σ X on 3 spins</a:t>
            </a:r>
            <a:endParaRPr lang="en-US" sz="1300" dirty="0"/>
          </a:p>
        </p:txBody>
      </p:sp>
      <p:sp>
        <p:nvSpPr>
          <p:cNvPr id="8" name="Shape 6"/>
          <p:cNvSpPr/>
          <p:nvPr/>
        </p:nvSpPr>
        <p:spPr>
          <a:xfrm>
            <a:off x="548640" y="2103120"/>
            <a:ext cx="310896" cy="310896"/>
          </a:xfrm>
          <a:prstGeom prst="ellipse">
            <a:avLst/>
          </a:prstGeom>
          <a:solidFill>
            <a:schemeClr val="accent1"/>
          </a:solidFill>
          <a:ln/>
        </p:spPr>
        <p:txBody>
          <a:bodyPr/>
          <a:lstStyle/>
          <a:p>
            <a:endParaRPr lang="fr-FR"/>
          </a:p>
        </p:txBody>
      </p:sp>
      <p:sp>
        <p:nvSpPr>
          <p:cNvPr id="9" name="Text 7"/>
          <p:cNvSpPr txBox="1"/>
          <p:nvPr/>
        </p:nvSpPr>
        <p:spPr>
          <a:xfrm>
            <a:off x="548640" y="2103120"/>
            <a:ext cx="310896" cy="310896"/>
          </a:xfrm>
          <a:prstGeom prst="rect">
            <a:avLst/>
          </a:prstGeom>
          <a:noFill/>
          <a:ln/>
        </p:spPr>
        <p:txBody>
          <a:bodyPr wrap="square" lIns="0" tIns="0" rIns="0" bIns="0" rtlCol="0" anchor="ctr"/>
          <a:lstStyle/>
          <a:p>
            <a:pPr marL="0" indent="0" algn="ctr">
              <a:buNone/>
            </a:pPr>
            <a:r>
              <a:rPr lang="en-US" sz="1200" b="1" dirty="0">
                <a:solidFill>
                  <a:schemeClr val="tx1"/>
                </a:solidFill>
              </a:rPr>
              <a:t>2</a:t>
            </a:r>
            <a:endParaRPr lang="en-US" sz="1200" dirty="0"/>
          </a:p>
        </p:txBody>
      </p:sp>
      <p:sp>
        <p:nvSpPr>
          <p:cNvPr id="10" name="Text 8"/>
          <p:cNvSpPr txBox="1"/>
          <p:nvPr/>
        </p:nvSpPr>
        <p:spPr>
          <a:xfrm>
            <a:off x="1005840" y="2075688"/>
            <a:ext cx="4709160" cy="365760"/>
          </a:xfrm>
          <a:prstGeom prst="rect">
            <a:avLst/>
          </a:prstGeom>
          <a:noFill/>
          <a:ln/>
        </p:spPr>
        <p:txBody>
          <a:bodyPr wrap="square" lIns="0" tIns="0" rIns="0" bIns="0" rtlCol="0" anchor="ctr"/>
          <a:lstStyle/>
          <a:p>
            <a:pPr marL="0" indent="0">
              <a:buNone/>
            </a:pPr>
            <a:r>
              <a:rPr lang="en-US" sz="1300" dirty="0">
                <a:solidFill>
                  <a:schemeClr val="tx1"/>
                </a:solidFill>
              </a:rPr>
              <a:t>Transpile to native Rx, Ry, Rz, Rzz on a linear chain</a:t>
            </a:r>
            <a:endParaRPr lang="en-US" sz="1300" dirty="0"/>
          </a:p>
        </p:txBody>
      </p:sp>
      <p:sp>
        <p:nvSpPr>
          <p:cNvPr id="11" name="Shape 9"/>
          <p:cNvSpPr/>
          <p:nvPr/>
        </p:nvSpPr>
        <p:spPr>
          <a:xfrm>
            <a:off x="548640" y="2532888"/>
            <a:ext cx="310896" cy="310896"/>
          </a:xfrm>
          <a:prstGeom prst="ellipse">
            <a:avLst/>
          </a:prstGeom>
          <a:solidFill>
            <a:schemeClr val="accent1"/>
          </a:solidFill>
          <a:ln/>
        </p:spPr>
        <p:txBody>
          <a:bodyPr/>
          <a:lstStyle/>
          <a:p>
            <a:endParaRPr lang="fr-FR"/>
          </a:p>
        </p:txBody>
      </p:sp>
      <p:sp>
        <p:nvSpPr>
          <p:cNvPr id="12" name="Text 10"/>
          <p:cNvSpPr txBox="1"/>
          <p:nvPr/>
        </p:nvSpPr>
        <p:spPr>
          <a:xfrm>
            <a:off x="548640" y="2532888"/>
            <a:ext cx="310896" cy="310896"/>
          </a:xfrm>
          <a:prstGeom prst="rect">
            <a:avLst/>
          </a:prstGeom>
          <a:noFill/>
          <a:ln/>
        </p:spPr>
        <p:txBody>
          <a:bodyPr wrap="square" lIns="0" tIns="0" rIns="0" bIns="0" rtlCol="0" anchor="ctr"/>
          <a:lstStyle/>
          <a:p>
            <a:pPr marL="0" indent="0" algn="ctr">
              <a:buNone/>
            </a:pPr>
            <a:r>
              <a:rPr lang="en-US" sz="1200" b="1" dirty="0">
                <a:solidFill>
                  <a:schemeClr val="tx1"/>
                </a:solidFill>
              </a:rPr>
              <a:t>3</a:t>
            </a:r>
            <a:endParaRPr lang="en-US" sz="1200" dirty="0"/>
          </a:p>
        </p:txBody>
      </p:sp>
      <p:sp>
        <p:nvSpPr>
          <p:cNvPr id="13" name="Text 11"/>
          <p:cNvSpPr txBox="1"/>
          <p:nvPr/>
        </p:nvSpPr>
        <p:spPr>
          <a:xfrm>
            <a:off x="1005840" y="2505456"/>
            <a:ext cx="4709160" cy="365760"/>
          </a:xfrm>
          <a:prstGeom prst="rect">
            <a:avLst/>
          </a:prstGeom>
          <a:noFill/>
          <a:ln/>
        </p:spPr>
        <p:txBody>
          <a:bodyPr wrap="square" lIns="0" tIns="0" rIns="0" bIns="0" rtlCol="0" anchor="ctr"/>
          <a:lstStyle/>
          <a:p>
            <a:pPr marL="0" indent="0">
              <a:buNone/>
            </a:pPr>
            <a:r>
              <a:rPr lang="en-US" sz="1300" dirty="0">
                <a:solidFill>
                  <a:schemeClr val="tx1"/>
                </a:solidFill>
              </a:rPr>
              <a:t>Pulses: drive on qubits, exchange on couplers</a:t>
            </a:r>
            <a:endParaRPr lang="en-US" sz="1300" dirty="0"/>
          </a:p>
        </p:txBody>
      </p:sp>
      <p:sp>
        <p:nvSpPr>
          <p:cNvPr id="14" name="Shape 12"/>
          <p:cNvSpPr/>
          <p:nvPr/>
        </p:nvSpPr>
        <p:spPr>
          <a:xfrm>
            <a:off x="548640" y="2962656"/>
            <a:ext cx="310896" cy="310896"/>
          </a:xfrm>
          <a:prstGeom prst="ellipse">
            <a:avLst/>
          </a:prstGeom>
          <a:solidFill>
            <a:schemeClr val="accent1"/>
          </a:solidFill>
          <a:ln/>
        </p:spPr>
        <p:txBody>
          <a:bodyPr/>
          <a:lstStyle/>
          <a:p>
            <a:endParaRPr lang="fr-FR"/>
          </a:p>
        </p:txBody>
      </p:sp>
      <p:sp>
        <p:nvSpPr>
          <p:cNvPr id="15" name="Text 13"/>
          <p:cNvSpPr txBox="1"/>
          <p:nvPr/>
        </p:nvSpPr>
        <p:spPr>
          <a:xfrm>
            <a:off x="548640" y="2962656"/>
            <a:ext cx="310896" cy="310896"/>
          </a:xfrm>
          <a:prstGeom prst="rect">
            <a:avLst/>
          </a:prstGeom>
          <a:noFill/>
          <a:ln/>
        </p:spPr>
        <p:txBody>
          <a:bodyPr wrap="square" lIns="0" tIns="0" rIns="0" bIns="0" rtlCol="0" anchor="ctr"/>
          <a:lstStyle/>
          <a:p>
            <a:pPr marL="0" indent="0" algn="ctr">
              <a:buNone/>
            </a:pPr>
            <a:r>
              <a:rPr lang="en-US" sz="1200" b="1" dirty="0">
                <a:solidFill>
                  <a:schemeClr val="tx1"/>
                </a:solidFill>
              </a:rPr>
              <a:t>4</a:t>
            </a:r>
            <a:endParaRPr lang="en-US" sz="1200" dirty="0"/>
          </a:p>
        </p:txBody>
      </p:sp>
      <p:sp>
        <p:nvSpPr>
          <p:cNvPr id="16" name="Text 14"/>
          <p:cNvSpPr txBox="1"/>
          <p:nvPr/>
        </p:nvSpPr>
        <p:spPr>
          <a:xfrm>
            <a:off x="1005840" y="2935224"/>
            <a:ext cx="4709160" cy="365760"/>
          </a:xfrm>
          <a:prstGeom prst="rect">
            <a:avLst/>
          </a:prstGeom>
          <a:noFill/>
          <a:ln/>
        </p:spPr>
        <p:txBody>
          <a:bodyPr wrap="square" lIns="0" tIns="0" rIns="0" bIns="0" rtlCol="0" anchor="ctr"/>
          <a:lstStyle/>
          <a:p>
            <a:pPr marL="0" indent="0">
              <a:buNone/>
            </a:pPr>
            <a:r>
              <a:rPr lang="en-US" sz="1300" dirty="0">
                <a:solidFill>
                  <a:schemeClr val="tx1"/>
                </a:solidFill>
              </a:rPr>
              <a:t>Simulate under 1/f noise, T2* = 5000</a:t>
            </a:r>
            <a:endParaRPr lang="en-US" sz="1300" dirty="0"/>
          </a:p>
        </p:txBody>
      </p:sp>
      <p:graphicFrame>
        <p:nvGraphicFramePr>
          <p:cNvPr id="17" name="Gate counts"/>
          <p:cNvGraphicFramePr>
            <a:graphicFrameLocks noGrp="1"/>
          </p:cNvGraphicFramePr>
          <p:nvPr/>
        </p:nvGraphicFramePr>
        <p:xfrm>
          <a:off x="548640" y="3474720"/>
          <a:ext cx="5166360" cy="1645920"/>
        </p:xfrm>
        <a:graphic>
          <a:graphicData uri="http://schemas.openxmlformats.org/drawingml/2006/table">
            <a:tbl>
              <a:tblPr/>
              <a:tblGrid>
                <a:gridCol w="822960">
                  <a:extLst>
                    <a:ext uri="{9D8B030D-6E8A-4147-A177-3AD203B41FA5}">
                      <a16:colId xmlns:a16="http://schemas.microsoft.com/office/drawing/2014/main" val="20000"/>
                    </a:ext>
                  </a:extLst>
                </a:gridCol>
                <a:gridCol w="1188720">
                  <a:extLst>
                    <a:ext uri="{9D8B030D-6E8A-4147-A177-3AD203B41FA5}">
                      <a16:colId xmlns:a16="http://schemas.microsoft.com/office/drawing/2014/main" val="20001"/>
                    </a:ext>
                  </a:extLst>
                </a:gridCol>
                <a:gridCol w="1371600">
                  <a:extLst>
                    <a:ext uri="{9D8B030D-6E8A-4147-A177-3AD203B41FA5}">
                      <a16:colId xmlns:a16="http://schemas.microsoft.com/office/drawing/2014/main" val="20002"/>
                    </a:ext>
                  </a:extLst>
                </a:gridCol>
                <a:gridCol w="1783080">
                  <a:extLst>
                    <a:ext uri="{9D8B030D-6E8A-4147-A177-3AD203B41FA5}">
                      <a16:colId xmlns:a16="http://schemas.microsoft.com/office/drawing/2014/main" val="20003"/>
                    </a:ext>
                  </a:extLst>
                </a:gridCol>
              </a:tblGrid>
              <a:tr h="329184">
                <a:tc>
                  <a:txBody>
                    <a:bodyPr/>
                    <a:lstStyle/>
                    <a:p>
                      <a:pPr marL="0" indent="0" algn="l">
                        <a:buNone/>
                      </a:pPr>
                      <a:r>
                        <a:rPr lang="en-US" sz="1100" b="1" dirty="0">
                          <a:solidFill>
                            <a:srgbClr val="9AA3BD"/>
                          </a:solidFill>
                          <a:latin typeface="Aptos" pitchFamily="34" charset="0"/>
                          <a:ea typeface="Aptos" pitchFamily="34" charset="-122"/>
                          <a:cs typeface="Aptos" pitchFamily="34" charset="-120"/>
                        </a:rPr>
                        <a:t>r</a:t>
                      </a:r>
                      <a:endParaRPr lang="en-US" sz="1100" dirty="0">
                        <a:latin typeface="Aptos" charset="0"/>
                        <a:ea typeface="Aptos" charset="0"/>
                        <a:cs typeface="Aptos" charset="0"/>
                      </a:endParaRPr>
                    </a:p>
                  </a:txBody>
                  <a:tcPr marL="109728" marR="109728" marT="0" marB="0" anchor="ctr">
                    <a:lnL w="9525" cap="flat" cmpd="sng" algn="ctr">
                      <a:solidFill>
                        <a:srgbClr val="3C3F4C"/>
                      </a:solidFill>
                      <a:prstDash val="solid"/>
                      <a:round/>
                      <a:headEnd type="none" w="med" len="med"/>
                      <a:tailEnd type="none" w="med" len="med"/>
                    </a:lnL>
                    <a:lnR w="9525" cap="flat" cmpd="sng" algn="ctr">
                      <a:solidFill>
                        <a:srgbClr val="3C3F4C"/>
                      </a:solidFill>
                      <a:prstDash val="solid"/>
                      <a:round/>
                      <a:headEnd type="none" w="med" len="med"/>
                      <a:tailEnd type="none" w="med" len="med"/>
                    </a:lnR>
                    <a:lnT w="9525" cap="flat" cmpd="sng" algn="ctr">
                      <a:solidFill>
                        <a:srgbClr val="3C3F4C"/>
                      </a:solidFill>
                      <a:prstDash val="solid"/>
                      <a:round/>
                      <a:headEnd type="none" w="med" len="med"/>
                      <a:tailEnd type="none" w="med" len="med"/>
                    </a:lnT>
                    <a:lnB w="9525" cap="flat" cmpd="sng" algn="ctr">
                      <a:solidFill>
                        <a:srgbClr val="3C3F4C"/>
                      </a:solidFill>
                      <a:prstDash val="solid"/>
                      <a:round/>
                      <a:headEnd type="none" w="med" len="med"/>
                      <a:tailEnd type="none" w="med" len="med"/>
                    </a:lnB>
                    <a:solidFill>
                      <a:srgbClr val="161B30"/>
                    </a:solidFill>
                  </a:tcPr>
                </a:tc>
                <a:tc>
                  <a:txBody>
                    <a:bodyPr/>
                    <a:lstStyle/>
                    <a:p>
                      <a:pPr marL="0" indent="0" algn="r">
                        <a:buNone/>
                      </a:pPr>
                      <a:r>
                        <a:rPr lang="en-US" sz="1100" b="1" dirty="0">
                          <a:solidFill>
                            <a:srgbClr val="9AA3BD"/>
                          </a:solidFill>
                          <a:latin typeface="Aptos" pitchFamily="34" charset="0"/>
                          <a:ea typeface="Aptos" pitchFamily="34" charset="-122"/>
                          <a:cs typeface="Aptos" pitchFamily="34" charset="-120"/>
                        </a:rPr>
                        <a:t>Rzz</a:t>
                      </a:r>
                      <a:endParaRPr lang="en-US" sz="1100" dirty="0">
                        <a:latin typeface="Aptos" charset="0"/>
                        <a:ea typeface="Aptos" charset="0"/>
                        <a:cs typeface="Aptos" charset="0"/>
                      </a:endParaRPr>
                    </a:p>
                  </a:txBody>
                  <a:tcPr marL="109728" marR="109728" marT="0" marB="0" anchor="ctr">
                    <a:lnL w="9525" cap="flat" cmpd="sng" algn="ctr">
                      <a:solidFill>
                        <a:srgbClr val="3C3F4C"/>
                      </a:solidFill>
                      <a:prstDash val="solid"/>
                      <a:round/>
                      <a:headEnd type="none" w="med" len="med"/>
                      <a:tailEnd type="none" w="med" len="med"/>
                    </a:lnL>
                    <a:lnR w="9525" cap="flat" cmpd="sng" algn="ctr">
                      <a:solidFill>
                        <a:srgbClr val="3C3F4C"/>
                      </a:solidFill>
                      <a:prstDash val="solid"/>
                      <a:round/>
                      <a:headEnd type="none" w="med" len="med"/>
                      <a:tailEnd type="none" w="med" len="med"/>
                    </a:lnR>
                    <a:lnT w="9525" cap="flat" cmpd="sng" algn="ctr">
                      <a:solidFill>
                        <a:srgbClr val="3C3F4C"/>
                      </a:solidFill>
                      <a:prstDash val="solid"/>
                      <a:round/>
                      <a:headEnd type="none" w="med" len="med"/>
                      <a:tailEnd type="none" w="med" len="med"/>
                    </a:lnT>
                    <a:lnB w="9525" cap="flat" cmpd="sng" algn="ctr">
                      <a:solidFill>
                        <a:srgbClr val="3C3F4C"/>
                      </a:solidFill>
                      <a:prstDash val="solid"/>
                      <a:round/>
                      <a:headEnd type="none" w="med" len="med"/>
                      <a:tailEnd type="none" w="med" len="med"/>
                    </a:lnB>
                    <a:solidFill>
                      <a:srgbClr val="161B30"/>
                    </a:solidFill>
                  </a:tcPr>
                </a:tc>
                <a:tc>
                  <a:txBody>
                    <a:bodyPr/>
                    <a:lstStyle/>
                    <a:p>
                      <a:pPr marL="0" indent="0" algn="r">
                        <a:buNone/>
                      </a:pPr>
                      <a:r>
                        <a:rPr lang="en-US" sz="1100" b="1" dirty="0">
                          <a:solidFill>
                            <a:srgbClr val="9AA3BD"/>
                          </a:solidFill>
                          <a:latin typeface="Aptos" pitchFamily="34" charset="0"/>
                          <a:ea typeface="Aptos" pitchFamily="34" charset="-122"/>
                          <a:cs typeface="Aptos" pitchFamily="34" charset="-120"/>
                        </a:rPr>
                        <a:t>1-qubit</a:t>
                      </a:r>
                      <a:endParaRPr lang="en-US" sz="1100" dirty="0">
                        <a:latin typeface="Aptos" charset="0"/>
                        <a:ea typeface="Aptos" charset="0"/>
                        <a:cs typeface="Aptos" charset="0"/>
                      </a:endParaRPr>
                    </a:p>
                  </a:txBody>
                  <a:tcPr marL="109728" marR="109728" marT="0" marB="0" anchor="ctr">
                    <a:lnL w="9525" cap="flat" cmpd="sng" algn="ctr">
                      <a:solidFill>
                        <a:srgbClr val="3C3F4C"/>
                      </a:solidFill>
                      <a:prstDash val="solid"/>
                      <a:round/>
                      <a:headEnd type="none" w="med" len="med"/>
                      <a:tailEnd type="none" w="med" len="med"/>
                    </a:lnL>
                    <a:lnR w="9525" cap="flat" cmpd="sng" algn="ctr">
                      <a:solidFill>
                        <a:srgbClr val="3C3F4C"/>
                      </a:solidFill>
                      <a:prstDash val="solid"/>
                      <a:round/>
                      <a:headEnd type="none" w="med" len="med"/>
                      <a:tailEnd type="none" w="med" len="med"/>
                    </a:lnR>
                    <a:lnT w="9525" cap="flat" cmpd="sng" algn="ctr">
                      <a:solidFill>
                        <a:srgbClr val="3C3F4C"/>
                      </a:solidFill>
                      <a:prstDash val="solid"/>
                      <a:round/>
                      <a:headEnd type="none" w="med" len="med"/>
                      <a:tailEnd type="none" w="med" len="med"/>
                    </a:lnT>
                    <a:lnB w="9525" cap="flat" cmpd="sng" algn="ctr">
                      <a:solidFill>
                        <a:srgbClr val="3C3F4C"/>
                      </a:solidFill>
                      <a:prstDash val="solid"/>
                      <a:round/>
                      <a:headEnd type="none" w="med" len="med"/>
                      <a:tailEnd type="none" w="med" len="med"/>
                    </a:lnB>
                    <a:solidFill>
                      <a:srgbClr val="161B30"/>
                    </a:solidFill>
                  </a:tcPr>
                </a:tc>
                <a:tc>
                  <a:txBody>
                    <a:bodyPr/>
                    <a:lstStyle/>
                    <a:p>
                      <a:pPr marL="0" indent="0" algn="r">
                        <a:buNone/>
                      </a:pPr>
                      <a:r>
                        <a:rPr lang="en-US" sz="1100" b="1" dirty="0">
                          <a:solidFill>
                            <a:srgbClr val="9AA3BD"/>
                          </a:solidFill>
                          <a:latin typeface="Aptos" pitchFamily="34" charset="0"/>
                          <a:ea typeface="Aptos" pitchFamily="34" charset="-122"/>
                          <a:cs typeface="Aptos" pitchFamily="34" charset="-120"/>
                        </a:rPr>
                        <a:t>Duration</a:t>
                      </a:r>
                      <a:endParaRPr lang="en-US" sz="1100" dirty="0">
                        <a:latin typeface="Aptos" charset="0"/>
                        <a:ea typeface="Aptos" charset="0"/>
                        <a:cs typeface="Aptos" charset="0"/>
                      </a:endParaRPr>
                    </a:p>
                  </a:txBody>
                  <a:tcPr marL="109728" marR="109728" marT="0" marB="0" anchor="ctr">
                    <a:lnL w="9525" cap="flat" cmpd="sng" algn="ctr">
                      <a:solidFill>
                        <a:srgbClr val="3C3F4C"/>
                      </a:solidFill>
                      <a:prstDash val="solid"/>
                      <a:round/>
                      <a:headEnd type="none" w="med" len="med"/>
                      <a:tailEnd type="none" w="med" len="med"/>
                    </a:lnL>
                    <a:lnR w="9525" cap="flat" cmpd="sng" algn="ctr">
                      <a:solidFill>
                        <a:srgbClr val="3C3F4C"/>
                      </a:solidFill>
                      <a:prstDash val="solid"/>
                      <a:round/>
                      <a:headEnd type="none" w="med" len="med"/>
                      <a:tailEnd type="none" w="med" len="med"/>
                    </a:lnR>
                    <a:lnT w="9525" cap="flat" cmpd="sng" algn="ctr">
                      <a:solidFill>
                        <a:srgbClr val="3C3F4C"/>
                      </a:solidFill>
                      <a:prstDash val="solid"/>
                      <a:round/>
                      <a:headEnd type="none" w="med" len="med"/>
                      <a:tailEnd type="none" w="med" len="med"/>
                    </a:lnT>
                    <a:lnB w="9525" cap="flat" cmpd="sng" algn="ctr">
                      <a:solidFill>
                        <a:srgbClr val="3C3F4C"/>
                      </a:solidFill>
                      <a:prstDash val="solid"/>
                      <a:round/>
                      <a:headEnd type="none" w="med" len="med"/>
                      <a:tailEnd type="none" w="med" len="med"/>
                    </a:lnB>
                    <a:solidFill>
                      <a:srgbClr val="161B30"/>
                    </a:solidFill>
                  </a:tcPr>
                </a:tc>
                <a:extLst>
                  <a:ext uri="{0D108BD9-81ED-4DB2-BD59-A6C34878D82A}">
                    <a16:rowId xmlns:a16="http://schemas.microsoft.com/office/drawing/2014/main" val="10000"/>
                  </a:ext>
                </a:extLst>
              </a:tr>
              <a:tr h="329184">
                <a:tc>
                  <a:txBody>
                    <a:bodyPr/>
                    <a:lstStyle/>
                    <a:p>
                      <a:pPr marL="0" indent="0" algn="l">
                        <a:buNone/>
                      </a:pPr>
                      <a:r>
                        <a:rPr lang="en-US" sz="1300" b="1" dirty="0">
                          <a:solidFill>
                            <a:srgbClr val="E9ECF3"/>
                          </a:solidFill>
                          <a:latin typeface="Aptos" pitchFamily="34" charset="0"/>
                          <a:ea typeface="Aptos" pitchFamily="34" charset="-122"/>
                          <a:cs typeface="Aptos" pitchFamily="34" charset="-120"/>
                        </a:rPr>
                        <a:t>1</a:t>
                      </a:r>
                      <a:endParaRPr lang="en-US" sz="1300" dirty="0">
                        <a:latin typeface="Aptos" charset="0"/>
                        <a:ea typeface="Aptos" charset="0"/>
                        <a:cs typeface="Aptos" charset="0"/>
                      </a:endParaRPr>
                    </a:p>
                  </a:txBody>
                  <a:tcPr marL="109728" marR="109728" marT="0" marB="0" anchor="ctr">
                    <a:lnL w="9525" cap="flat" cmpd="sng" algn="ctr">
                      <a:solidFill>
                        <a:srgbClr val="3C3F4C"/>
                      </a:solidFill>
                      <a:prstDash val="solid"/>
                      <a:round/>
                      <a:headEnd type="none" w="med" len="med"/>
                      <a:tailEnd type="none" w="med" len="med"/>
                    </a:lnL>
                    <a:lnR w="9525" cap="flat" cmpd="sng" algn="ctr">
                      <a:solidFill>
                        <a:srgbClr val="3C3F4C"/>
                      </a:solidFill>
                      <a:prstDash val="solid"/>
                      <a:round/>
                      <a:headEnd type="none" w="med" len="med"/>
                      <a:tailEnd type="none" w="med" len="med"/>
                    </a:lnR>
                    <a:lnT w="9525" cap="flat" cmpd="sng" algn="ctr">
                      <a:solidFill>
                        <a:srgbClr val="3C3F4C"/>
                      </a:solidFill>
                      <a:prstDash val="solid"/>
                      <a:round/>
                      <a:headEnd type="none" w="med" len="med"/>
                      <a:tailEnd type="none" w="med" len="med"/>
                    </a:lnT>
                    <a:lnB w="9525" cap="flat" cmpd="sng" algn="ctr">
                      <a:solidFill>
                        <a:srgbClr val="3C3F4C"/>
                      </a:solidFill>
                      <a:prstDash val="solid"/>
                      <a:round/>
                      <a:headEnd type="none" w="med" len="med"/>
                      <a:tailEnd type="none" w="med" len="med"/>
                    </a:lnB>
                    <a:solidFill>
                      <a:srgbClr val="161B30"/>
                    </a:solidFill>
                  </a:tcPr>
                </a:tc>
                <a:tc>
                  <a:txBody>
                    <a:bodyPr/>
                    <a:lstStyle/>
                    <a:p>
                      <a:pPr marL="0" indent="0" algn="r">
                        <a:buNone/>
                      </a:pPr>
                      <a:r>
                        <a:rPr lang="en-US" sz="1300" dirty="0">
                          <a:solidFill>
                            <a:srgbClr val="9AA3BD"/>
                          </a:solidFill>
                          <a:latin typeface="Aptos" pitchFamily="34" charset="0"/>
                          <a:ea typeface="Aptos" pitchFamily="34" charset="-122"/>
                          <a:cs typeface="Aptos" pitchFamily="34" charset="-120"/>
                        </a:rPr>
                        <a:t>12</a:t>
                      </a:r>
                      <a:endParaRPr lang="en-US" sz="1300" dirty="0">
                        <a:latin typeface="Aptos" charset="0"/>
                        <a:ea typeface="Aptos" charset="0"/>
                        <a:cs typeface="Aptos" charset="0"/>
                      </a:endParaRPr>
                    </a:p>
                  </a:txBody>
                  <a:tcPr marL="109728" marR="109728" marT="0" marB="0" anchor="ctr">
                    <a:lnL w="9525" cap="flat" cmpd="sng" algn="ctr">
                      <a:solidFill>
                        <a:srgbClr val="3C3F4C"/>
                      </a:solidFill>
                      <a:prstDash val="solid"/>
                      <a:round/>
                      <a:headEnd type="none" w="med" len="med"/>
                      <a:tailEnd type="none" w="med" len="med"/>
                    </a:lnL>
                    <a:lnR w="9525" cap="flat" cmpd="sng" algn="ctr">
                      <a:solidFill>
                        <a:srgbClr val="3C3F4C"/>
                      </a:solidFill>
                      <a:prstDash val="solid"/>
                      <a:round/>
                      <a:headEnd type="none" w="med" len="med"/>
                      <a:tailEnd type="none" w="med" len="med"/>
                    </a:lnR>
                    <a:lnT w="9525" cap="flat" cmpd="sng" algn="ctr">
                      <a:solidFill>
                        <a:srgbClr val="3C3F4C"/>
                      </a:solidFill>
                      <a:prstDash val="solid"/>
                      <a:round/>
                      <a:headEnd type="none" w="med" len="med"/>
                      <a:tailEnd type="none" w="med" len="med"/>
                    </a:lnT>
                    <a:lnB w="9525" cap="flat" cmpd="sng" algn="ctr">
                      <a:solidFill>
                        <a:srgbClr val="3C3F4C"/>
                      </a:solidFill>
                      <a:prstDash val="solid"/>
                      <a:round/>
                      <a:headEnd type="none" w="med" len="med"/>
                      <a:tailEnd type="none" w="med" len="med"/>
                    </a:lnB>
                    <a:solidFill>
                      <a:srgbClr val="161B30"/>
                    </a:solidFill>
                  </a:tcPr>
                </a:tc>
                <a:tc>
                  <a:txBody>
                    <a:bodyPr/>
                    <a:lstStyle/>
                    <a:p>
                      <a:pPr marL="0" indent="0" algn="r">
                        <a:buNone/>
                      </a:pPr>
                      <a:r>
                        <a:rPr lang="en-US" sz="1300" dirty="0">
                          <a:solidFill>
                            <a:srgbClr val="9AA3BD"/>
                          </a:solidFill>
                          <a:latin typeface="Aptos" pitchFamily="34" charset="0"/>
                          <a:ea typeface="Aptos" pitchFamily="34" charset="-122"/>
                          <a:cs typeface="Aptos" pitchFamily="34" charset="-120"/>
                        </a:rPr>
                        <a:t>55</a:t>
                      </a:r>
                      <a:endParaRPr lang="en-US" sz="1300" dirty="0">
                        <a:latin typeface="Aptos" charset="0"/>
                        <a:ea typeface="Aptos" charset="0"/>
                        <a:cs typeface="Aptos" charset="0"/>
                      </a:endParaRPr>
                    </a:p>
                  </a:txBody>
                  <a:tcPr marL="109728" marR="109728" marT="0" marB="0" anchor="ctr">
                    <a:lnL w="9525" cap="flat" cmpd="sng" algn="ctr">
                      <a:solidFill>
                        <a:srgbClr val="3C3F4C"/>
                      </a:solidFill>
                      <a:prstDash val="solid"/>
                      <a:round/>
                      <a:headEnd type="none" w="med" len="med"/>
                      <a:tailEnd type="none" w="med" len="med"/>
                    </a:lnL>
                    <a:lnR w="9525" cap="flat" cmpd="sng" algn="ctr">
                      <a:solidFill>
                        <a:srgbClr val="3C3F4C"/>
                      </a:solidFill>
                      <a:prstDash val="solid"/>
                      <a:round/>
                      <a:headEnd type="none" w="med" len="med"/>
                      <a:tailEnd type="none" w="med" len="med"/>
                    </a:lnR>
                    <a:lnT w="9525" cap="flat" cmpd="sng" algn="ctr">
                      <a:solidFill>
                        <a:srgbClr val="3C3F4C"/>
                      </a:solidFill>
                      <a:prstDash val="solid"/>
                      <a:round/>
                      <a:headEnd type="none" w="med" len="med"/>
                      <a:tailEnd type="none" w="med" len="med"/>
                    </a:lnT>
                    <a:lnB w="9525" cap="flat" cmpd="sng" algn="ctr">
                      <a:solidFill>
                        <a:srgbClr val="3C3F4C"/>
                      </a:solidFill>
                      <a:prstDash val="solid"/>
                      <a:round/>
                      <a:headEnd type="none" w="med" len="med"/>
                      <a:tailEnd type="none" w="med" len="med"/>
                    </a:lnB>
                    <a:solidFill>
                      <a:srgbClr val="161B30"/>
                    </a:solidFill>
                  </a:tcPr>
                </a:tc>
                <a:tc>
                  <a:txBody>
                    <a:bodyPr/>
                    <a:lstStyle/>
                    <a:p>
                      <a:pPr marL="0" indent="0" algn="r">
                        <a:buNone/>
                      </a:pPr>
                      <a:r>
                        <a:rPr lang="en-US" sz="1300" dirty="0">
                          <a:solidFill>
                            <a:srgbClr val="9AA3BD"/>
                          </a:solidFill>
                          <a:latin typeface="Aptos" pitchFamily="34" charset="0"/>
                          <a:ea typeface="Aptos" pitchFamily="34" charset="-122"/>
                          <a:cs typeface="Aptos" pitchFamily="34" charset="-120"/>
                        </a:rPr>
                        <a:t>3,382</a:t>
                      </a:r>
                      <a:endParaRPr lang="en-US" sz="1300" dirty="0">
                        <a:latin typeface="Aptos" charset="0"/>
                        <a:ea typeface="Aptos" charset="0"/>
                        <a:cs typeface="Aptos" charset="0"/>
                      </a:endParaRPr>
                    </a:p>
                  </a:txBody>
                  <a:tcPr marL="109728" marR="109728" marT="0" marB="0" anchor="ctr">
                    <a:lnL w="9525" cap="flat" cmpd="sng" algn="ctr">
                      <a:solidFill>
                        <a:srgbClr val="3C3F4C"/>
                      </a:solidFill>
                      <a:prstDash val="solid"/>
                      <a:round/>
                      <a:headEnd type="none" w="med" len="med"/>
                      <a:tailEnd type="none" w="med" len="med"/>
                    </a:lnL>
                    <a:lnR w="9525" cap="flat" cmpd="sng" algn="ctr">
                      <a:solidFill>
                        <a:srgbClr val="3C3F4C"/>
                      </a:solidFill>
                      <a:prstDash val="solid"/>
                      <a:round/>
                      <a:headEnd type="none" w="med" len="med"/>
                      <a:tailEnd type="none" w="med" len="med"/>
                    </a:lnR>
                    <a:lnT w="9525" cap="flat" cmpd="sng" algn="ctr">
                      <a:solidFill>
                        <a:srgbClr val="3C3F4C"/>
                      </a:solidFill>
                      <a:prstDash val="solid"/>
                      <a:round/>
                      <a:headEnd type="none" w="med" len="med"/>
                      <a:tailEnd type="none" w="med" len="med"/>
                    </a:lnT>
                    <a:lnB w="9525" cap="flat" cmpd="sng" algn="ctr">
                      <a:solidFill>
                        <a:srgbClr val="3C3F4C"/>
                      </a:solidFill>
                      <a:prstDash val="solid"/>
                      <a:round/>
                      <a:headEnd type="none" w="med" len="med"/>
                      <a:tailEnd type="none" w="med" len="med"/>
                    </a:lnB>
                    <a:solidFill>
                      <a:srgbClr val="161B30"/>
                    </a:solidFill>
                  </a:tcPr>
                </a:tc>
                <a:extLst>
                  <a:ext uri="{0D108BD9-81ED-4DB2-BD59-A6C34878D82A}">
                    <a16:rowId xmlns:a16="http://schemas.microsoft.com/office/drawing/2014/main" val="10001"/>
                  </a:ext>
                </a:extLst>
              </a:tr>
              <a:tr h="329184">
                <a:tc>
                  <a:txBody>
                    <a:bodyPr/>
                    <a:lstStyle/>
                    <a:p>
                      <a:pPr marL="0" indent="0" algn="l">
                        <a:buNone/>
                      </a:pPr>
                      <a:r>
                        <a:rPr lang="en-US" sz="1300" b="1" dirty="0">
                          <a:solidFill>
                            <a:srgbClr val="E9ECF3"/>
                          </a:solidFill>
                          <a:latin typeface="Aptos" pitchFamily="34" charset="0"/>
                          <a:ea typeface="Aptos" pitchFamily="34" charset="-122"/>
                          <a:cs typeface="Aptos" pitchFamily="34" charset="-120"/>
                        </a:rPr>
                        <a:t>4</a:t>
                      </a:r>
                      <a:endParaRPr lang="en-US" sz="1300" dirty="0">
                        <a:latin typeface="Aptos" charset="0"/>
                        <a:ea typeface="Aptos" charset="0"/>
                        <a:cs typeface="Aptos" charset="0"/>
                      </a:endParaRPr>
                    </a:p>
                  </a:txBody>
                  <a:tcPr marL="109728" marR="109728" marT="0" marB="0" anchor="ctr">
                    <a:lnL w="9525" cap="flat" cmpd="sng" algn="ctr">
                      <a:solidFill>
                        <a:srgbClr val="3C3F4C"/>
                      </a:solidFill>
                      <a:prstDash val="solid"/>
                      <a:round/>
                      <a:headEnd type="none" w="med" len="med"/>
                      <a:tailEnd type="none" w="med" len="med"/>
                    </a:lnL>
                    <a:lnR w="9525" cap="flat" cmpd="sng" algn="ctr">
                      <a:solidFill>
                        <a:srgbClr val="3C3F4C"/>
                      </a:solidFill>
                      <a:prstDash val="solid"/>
                      <a:round/>
                      <a:headEnd type="none" w="med" len="med"/>
                      <a:tailEnd type="none" w="med" len="med"/>
                    </a:lnR>
                    <a:lnT w="9525" cap="flat" cmpd="sng" algn="ctr">
                      <a:solidFill>
                        <a:srgbClr val="3C3F4C"/>
                      </a:solidFill>
                      <a:prstDash val="solid"/>
                      <a:round/>
                      <a:headEnd type="none" w="med" len="med"/>
                      <a:tailEnd type="none" w="med" len="med"/>
                    </a:lnT>
                    <a:lnB w="9525" cap="flat" cmpd="sng" algn="ctr">
                      <a:solidFill>
                        <a:srgbClr val="3C3F4C"/>
                      </a:solidFill>
                      <a:prstDash val="solid"/>
                      <a:round/>
                      <a:headEnd type="none" w="med" len="med"/>
                      <a:tailEnd type="none" w="med" len="med"/>
                    </a:lnB>
                    <a:solidFill>
                      <a:srgbClr val="1B213B"/>
                    </a:solidFill>
                  </a:tcPr>
                </a:tc>
                <a:tc>
                  <a:txBody>
                    <a:bodyPr/>
                    <a:lstStyle/>
                    <a:p>
                      <a:pPr marL="0" indent="0" algn="r">
                        <a:buNone/>
                      </a:pPr>
                      <a:r>
                        <a:rPr lang="en-US" sz="1300" dirty="0">
                          <a:solidFill>
                            <a:srgbClr val="9AA3BD"/>
                          </a:solidFill>
                          <a:latin typeface="Aptos" pitchFamily="34" charset="0"/>
                          <a:ea typeface="Aptos" pitchFamily="34" charset="-122"/>
                          <a:cs typeface="Aptos" pitchFamily="34" charset="-120"/>
                        </a:rPr>
                        <a:t>48</a:t>
                      </a:r>
                      <a:endParaRPr lang="en-US" sz="1300" dirty="0">
                        <a:latin typeface="Aptos" charset="0"/>
                        <a:ea typeface="Aptos" charset="0"/>
                        <a:cs typeface="Aptos" charset="0"/>
                      </a:endParaRPr>
                    </a:p>
                  </a:txBody>
                  <a:tcPr marL="109728" marR="109728" marT="0" marB="0" anchor="ctr">
                    <a:lnL w="9525" cap="flat" cmpd="sng" algn="ctr">
                      <a:solidFill>
                        <a:srgbClr val="3C3F4C"/>
                      </a:solidFill>
                      <a:prstDash val="solid"/>
                      <a:round/>
                      <a:headEnd type="none" w="med" len="med"/>
                      <a:tailEnd type="none" w="med" len="med"/>
                    </a:lnL>
                    <a:lnR w="9525" cap="flat" cmpd="sng" algn="ctr">
                      <a:solidFill>
                        <a:srgbClr val="3C3F4C"/>
                      </a:solidFill>
                      <a:prstDash val="solid"/>
                      <a:round/>
                      <a:headEnd type="none" w="med" len="med"/>
                      <a:tailEnd type="none" w="med" len="med"/>
                    </a:lnR>
                    <a:lnT w="9525" cap="flat" cmpd="sng" algn="ctr">
                      <a:solidFill>
                        <a:srgbClr val="3C3F4C"/>
                      </a:solidFill>
                      <a:prstDash val="solid"/>
                      <a:round/>
                      <a:headEnd type="none" w="med" len="med"/>
                      <a:tailEnd type="none" w="med" len="med"/>
                    </a:lnT>
                    <a:lnB w="9525" cap="flat" cmpd="sng" algn="ctr">
                      <a:solidFill>
                        <a:srgbClr val="3C3F4C"/>
                      </a:solidFill>
                      <a:prstDash val="solid"/>
                      <a:round/>
                      <a:headEnd type="none" w="med" len="med"/>
                      <a:tailEnd type="none" w="med" len="med"/>
                    </a:lnB>
                    <a:solidFill>
                      <a:srgbClr val="1B213B"/>
                    </a:solidFill>
                  </a:tcPr>
                </a:tc>
                <a:tc>
                  <a:txBody>
                    <a:bodyPr/>
                    <a:lstStyle/>
                    <a:p>
                      <a:pPr marL="0" indent="0" algn="r">
                        <a:buNone/>
                      </a:pPr>
                      <a:r>
                        <a:rPr lang="en-US" sz="1300" dirty="0">
                          <a:solidFill>
                            <a:srgbClr val="9AA3BD"/>
                          </a:solidFill>
                          <a:latin typeface="Aptos" pitchFamily="34" charset="0"/>
                          <a:ea typeface="Aptos" pitchFamily="34" charset="-122"/>
                          <a:cs typeface="Aptos" pitchFamily="34" charset="-120"/>
                        </a:rPr>
                        <a:t>200</a:t>
                      </a:r>
                      <a:endParaRPr lang="en-US" sz="1300" dirty="0">
                        <a:latin typeface="Aptos" charset="0"/>
                        <a:ea typeface="Aptos" charset="0"/>
                        <a:cs typeface="Aptos" charset="0"/>
                      </a:endParaRPr>
                    </a:p>
                  </a:txBody>
                  <a:tcPr marL="109728" marR="109728" marT="0" marB="0" anchor="ctr">
                    <a:lnL w="9525" cap="flat" cmpd="sng" algn="ctr">
                      <a:solidFill>
                        <a:srgbClr val="3C3F4C"/>
                      </a:solidFill>
                      <a:prstDash val="solid"/>
                      <a:round/>
                      <a:headEnd type="none" w="med" len="med"/>
                      <a:tailEnd type="none" w="med" len="med"/>
                    </a:lnL>
                    <a:lnR w="9525" cap="flat" cmpd="sng" algn="ctr">
                      <a:solidFill>
                        <a:srgbClr val="3C3F4C"/>
                      </a:solidFill>
                      <a:prstDash val="solid"/>
                      <a:round/>
                      <a:headEnd type="none" w="med" len="med"/>
                      <a:tailEnd type="none" w="med" len="med"/>
                    </a:lnR>
                    <a:lnT w="9525" cap="flat" cmpd="sng" algn="ctr">
                      <a:solidFill>
                        <a:srgbClr val="3C3F4C"/>
                      </a:solidFill>
                      <a:prstDash val="solid"/>
                      <a:round/>
                      <a:headEnd type="none" w="med" len="med"/>
                      <a:tailEnd type="none" w="med" len="med"/>
                    </a:lnT>
                    <a:lnB w="9525" cap="flat" cmpd="sng" algn="ctr">
                      <a:solidFill>
                        <a:srgbClr val="3C3F4C"/>
                      </a:solidFill>
                      <a:prstDash val="solid"/>
                      <a:round/>
                      <a:headEnd type="none" w="med" len="med"/>
                      <a:tailEnd type="none" w="med" len="med"/>
                    </a:lnB>
                    <a:solidFill>
                      <a:srgbClr val="1B213B"/>
                    </a:solidFill>
                  </a:tcPr>
                </a:tc>
                <a:tc>
                  <a:txBody>
                    <a:bodyPr/>
                    <a:lstStyle/>
                    <a:p>
                      <a:pPr marL="0" indent="0" algn="r">
                        <a:buNone/>
                      </a:pPr>
                      <a:r>
                        <a:rPr lang="en-US" sz="1300" dirty="0">
                          <a:solidFill>
                            <a:srgbClr val="9AA3BD"/>
                          </a:solidFill>
                          <a:latin typeface="Aptos" pitchFamily="34" charset="0"/>
                          <a:ea typeface="Aptos" pitchFamily="34" charset="-122"/>
                          <a:cs typeface="Aptos" pitchFamily="34" charset="-120"/>
                        </a:rPr>
                        <a:t>7,302</a:t>
                      </a:r>
                      <a:endParaRPr lang="en-US" sz="1300" dirty="0">
                        <a:latin typeface="Aptos" charset="0"/>
                        <a:ea typeface="Aptos" charset="0"/>
                        <a:cs typeface="Aptos" charset="0"/>
                      </a:endParaRPr>
                    </a:p>
                  </a:txBody>
                  <a:tcPr marL="109728" marR="109728" marT="0" marB="0" anchor="ctr">
                    <a:lnL w="9525" cap="flat" cmpd="sng" algn="ctr">
                      <a:solidFill>
                        <a:srgbClr val="3C3F4C"/>
                      </a:solidFill>
                      <a:prstDash val="solid"/>
                      <a:round/>
                      <a:headEnd type="none" w="med" len="med"/>
                      <a:tailEnd type="none" w="med" len="med"/>
                    </a:lnL>
                    <a:lnR w="9525" cap="flat" cmpd="sng" algn="ctr">
                      <a:solidFill>
                        <a:srgbClr val="3C3F4C"/>
                      </a:solidFill>
                      <a:prstDash val="solid"/>
                      <a:round/>
                      <a:headEnd type="none" w="med" len="med"/>
                      <a:tailEnd type="none" w="med" len="med"/>
                    </a:lnR>
                    <a:lnT w="9525" cap="flat" cmpd="sng" algn="ctr">
                      <a:solidFill>
                        <a:srgbClr val="3C3F4C"/>
                      </a:solidFill>
                      <a:prstDash val="solid"/>
                      <a:round/>
                      <a:headEnd type="none" w="med" len="med"/>
                      <a:tailEnd type="none" w="med" len="med"/>
                    </a:lnT>
                    <a:lnB w="9525" cap="flat" cmpd="sng" algn="ctr">
                      <a:solidFill>
                        <a:srgbClr val="3C3F4C"/>
                      </a:solidFill>
                      <a:prstDash val="solid"/>
                      <a:round/>
                      <a:headEnd type="none" w="med" len="med"/>
                      <a:tailEnd type="none" w="med" len="med"/>
                    </a:lnB>
                    <a:solidFill>
                      <a:srgbClr val="1B213B"/>
                    </a:solidFill>
                  </a:tcPr>
                </a:tc>
                <a:extLst>
                  <a:ext uri="{0D108BD9-81ED-4DB2-BD59-A6C34878D82A}">
                    <a16:rowId xmlns:a16="http://schemas.microsoft.com/office/drawing/2014/main" val="10002"/>
                  </a:ext>
                </a:extLst>
              </a:tr>
              <a:tr h="329184">
                <a:tc>
                  <a:txBody>
                    <a:bodyPr/>
                    <a:lstStyle/>
                    <a:p>
                      <a:pPr marL="0" indent="0" algn="l">
                        <a:buNone/>
                      </a:pPr>
                      <a:r>
                        <a:rPr lang="en-US" sz="1300" b="1" dirty="0">
                          <a:solidFill>
                            <a:srgbClr val="E9ECF3"/>
                          </a:solidFill>
                          <a:latin typeface="Aptos" pitchFamily="34" charset="0"/>
                          <a:ea typeface="Aptos" pitchFamily="34" charset="-122"/>
                          <a:cs typeface="Aptos" pitchFamily="34" charset="-120"/>
                        </a:rPr>
                        <a:t>8</a:t>
                      </a:r>
                      <a:endParaRPr lang="en-US" sz="1300" dirty="0">
                        <a:latin typeface="Aptos" charset="0"/>
                        <a:ea typeface="Aptos" charset="0"/>
                        <a:cs typeface="Aptos" charset="0"/>
                      </a:endParaRPr>
                    </a:p>
                  </a:txBody>
                  <a:tcPr marL="109728" marR="109728" marT="0" marB="0" anchor="ctr">
                    <a:lnL w="9525" cap="flat" cmpd="sng" algn="ctr">
                      <a:solidFill>
                        <a:srgbClr val="3C3F4C"/>
                      </a:solidFill>
                      <a:prstDash val="solid"/>
                      <a:round/>
                      <a:headEnd type="none" w="med" len="med"/>
                      <a:tailEnd type="none" w="med" len="med"/>
                    </a:lnL>
                    <a:lnR w="9525" cap="flat" cmpd="sng" algn="ctr">
                      <a:solidFill>
                        <a:srgbClr val="3C3F4C"/>
                      </a:solidFill>
                      <a:prstDash val="solid"/>
                      <a:round/>
                      <a:headEnd type="none" w="med" len="med"/>
                      <a:tailEnd type="none" w="med" len="med"/>
                    </a:lnR>
                    <a:lnT w="9525" cap="flat" cmpd="sng" algn="ctr">
                      <a:solidFill>
                        <a:srgbClr val="3C3F4C"/>
                      </a:solidFill>
                      <a:prstDash val="solid"/>
                      <a:round/>
                      <a:headEnd type="none" w="med" len="med"/>
                      <a:tailEnd type="none" w="med" len="med"/>
                    </a:lnT>
                    <a:lnB w="9525" cap="flat" cmpd="sng" algn="ctr">
                      <a:solidFill>
                        <a:srgbClr val="3C3F4C"/>
                      </a:solidFill>
                      <a:prstDash val="solid"/>
                      <a:round/>
                      <a:headEnd type="none" w="med" len="med"/>
                      <a:tailEnd type="none" w="med" len="med"/>
                    </a:lnB>
                    <a:solidFill>
                      <a:srgbClr val="161B30"/>
                    </a:solidFill>
                  </a:tcPr>
                </a:tc>
                <a:tc>
                  <a:txBody>
                    <a:bodyPr/>
                    <a:lstStyle/>
                    <a:p>
                      <a:pPr marL="0" indent="0" algn="r">
                        <a:buNone/>
                      </a:pPr>
                      <a:r>
                        <a:rPr lang="en-US" sz="1300" dirty="0">
                          <a:solidFill>
                            <a:srgbClr val="9AA3BD"/>
                          </a:solidFill>
                          <a:latin typeface="Aptos" pitchFamily="34" charset="0"/>
                          <a:ea typeface="Aptos" pitchFamily="34" charset="-122"/>
                          <a:cs typeface="Aptos" pitchFamily="34" charset="-120"/>
                        </a:rPr>
                        <a:t>96</a:t>
                      </a:r>
                      <a:endParaRPr lang="en-US" sz="1300" dirty="0">
                        <a:latin typeface="Aptos" charset="0"/>
                        <a:ea typeface="Aptos" charset="0"/>
                        <a:cs typeface="Aptos" charset="0"/>
                      </a:endParaRPr>
                    </a:p>
                  </a:txBody>
                  <a:tcPr marL="109728" marR="109728" marT="0" marB="0" anchor="ctr">
                    <a:lnL w="9525" cap="flat" cmpd="sng" algn="ctr">
                      <a:solidFill>
                        <a:srgbClr val="3C3F4C"/>
                      </a:solidFill>
                      <a:prstDash val="solid"/>
                      <a:round/>
                      <a:headEnd type="none" w="med" len="med"/>
                      <a:tailEnd type="none" w="med" len="med"/>
                    </a:lnL>
                    <a:lnR w="9525" cap="flat" cmpd="sng" algn="ctr">
                      <a:solidFill>
                        <a:srgbClr val="3C3F4C"/>
                      </a:solidFill>
                      <a:prstDash val="solid"/>
                      <a:round/>
                      <a:headEnd type="none" w="med" len="med"/>
                      <a:tailEnd type="none" w="med" len="med"/>
                    </a:lnR>
                    <a:lnT w="9525" cap="flat" cmpd="sng" algn="ctr">
                      <a:solidFill>
                        <a:srgbClr val="3C3F4C"/>
                      </a:solidFill>
                      <a:prstDash val="solid"/>
                      <a:round/>
                      <a:headEnd type="none" w="med" len="med"/>
                      <a:tailEnd type="none" w="med" len="med"/>
                    </a:lnT>
                    <a:lnB w="9525" cap="flat" cmpd="sng" algn="ctr">
                      <a:solidFill>
                        <a:srgbClr val="3C3F4C"/>
                      </a:solidFill>
                      <a:prstDash val="solid"/>
                      <a:round/>
                      <a:headEnd type="none" w="med" len="med"/>
                      <a:tailEnd type="none" w="med" len="med"/>
                    </a:lnB>
                    <a:solidFill>
                      <a:srgbClr val="161B30"/>
                    </a:solidFill>
                  </a:tcPr>
                </a:tc>
                <a:tc>
                  <a:txBody>
                    <a:bodyPr/>
                    <a:lstStyle/>
                    <a:p>
                      <a:pPr marL="0" indent="0" algn="r">
                        <a:buNone/>
                      </a:pPr>
                      <a:r>
                        <a:rPr lang="en-US" sz="1300" dirty="0">
                          <a:solidFill>
                            <a:srgbClr val="9AA3BD"/>
                          </a:solidFill>
                          <a:latin typeface="Aptos" pitchFamily="34" charset="0"/>
                          <a:ea typeface="Aptos" pitchFamily="34" charset="-122"/>
                          <a:cs typeface="Aptos" pitchFamily="34" charset="-120"/>
                        </a:rPr>
                        <a:t>392</a:t>
                      </a:r>
                      <a:endParaRPr lang="en-US" sz="1300" dirty="0">
                        <a:latin typeface="Aptos" charset="0"/>
                        <a:ea typeface="Aptos" charset="0"/>
                        <a:cs typeface="Aptos" charset="0"/>
                      </a:endParaRPr>
                    </a:p>
                  </a:txBody>
                  <a:tcPr marL="109728" marR="109728" marT="0" marB="0" anchor="ctr">
                    <a:lnL w="9525" cap="flat" cmpd="sng" algn="ctr">
                      <a:solidFill>
                        <a:srgbClr val="3C3F4C"/>
                      </a:solidFill>
                      <a:prstDash val="solid"/>
                      <a:round/>
                      <a:headEnd type="none" w="med" len="med"/>
                      <a:tailEnd type="none" w="med" len="med"/>
                    </a:lnL>
                    <a:lnR w="9525" cap="flat" cmpd="sng" algn="ctr">
                      <a:solidFill>
                        <a:srgbClr val="3C3F4C"/>
                      </a:solidFill>
                      <a:prstDash val="solid"/>
                      <a:round/>
                      <a:headEnd type="none" w="med" len="med"/>
                      <a:tailEnd type="none" w="med" len="med"/>
                    </a:lnR>
                    <a:lnT w="9525" cap="flat" cmpd="sng" algn="ctr">
                      <a:solidFill>
                        <a:srgbClr val="3C3F4C"/>
                      </a:solidFill>
                      <a:prstDash val="solid"/>
                      <a:round/>
                      <a:headEnd type="none" w="med" len="med"/>
                      <a:tailEnd type="none" w="med" len="med"/>
                    </a:lnT>
                    <a:lnB w="9525" cap="flat" cmpd="sng" algn="ctr">
                      <a:solidFill>
                        <a:srgbClr val="3C3F4C"/>
                      </a:solidFill>
                      <a:prstDash val="solid"/>
                      <a:round/>
                      <a:headEnd type="none" w="med" len="med"/>
                      <a:tailEnd type="none" w="med" len="med"/>
                    </a:lnB>
                    <a:solidFill>
                      <a:srgbClr val="161B30"/>
                    </a:solidFill>
                  </a:tcPr>
                </a:tc>
                <a:tc>
                  <a:txBody>
                    <a:bodyPr/>
                    <a:lstStyle/>
                    <a:p>
                      <a:pPr marL="0" indent="0" algn="r">
                        <a:buNone/>
                      </a:pPr>
                      <a:r>
                        <a:rPr lang="en-US" sz="1300" dirty="0">
                          <a:solidFill>
                            <a:srgbClr val="9AA3BD"/>
                          </a:solidFill>
                          <a:latin typeface="Aptos" pitchFamily="34" charset="0"/>
                          <a:ea typeface="Aptos" pitchFamily="34" charset="-122"/>
                          <a:cs typeface="Aptos" pitchFamily="34" charset="-120"/>
                        </a:rPr>
                        <a:t>9,662</a:t>
                      </a:r>
                      <a:endParaRPr lang="en-US" sz="1300" dirty="0">
                        <a:latin typeface="Aptos" charset="0"/>
                        <a:ea typeface="Aptos" charset="0"/>
                        <a:cs typeface="Aptos" charset="0"/>
                      </a:endParaRPr>
                    </a:p>
                  </a:txBody>
                  <a:tcPr marL="109728" marR="109728" marT="0" marB="0" anchor="ctr">
                    <a:lnL w="9525" cap="flat" cmpd="sng" algn="ctr">
                      <a:solidFill>
                        <a:srgbClr val="3C3F4C"/>
                      </a:solidFill>
                      <a:prstDash val="solid"/>
                      <a:round/>
                      <a:headEnd type="none" w="med" len="med"/>
                      <a:tailEnd type="none" w="med" len="med"/>
                    </a:lnL>
                    <a:lnR w="9525" cap="flat" cmpd="sng" algn="ctr">
                      <a:solidFill>
                        <a:srgbClr val="3C3F4C"/>
                      </a:solidFill>
                      <a:prstDash val="solid"/>
                      <a:round/>
                      <a:headEnd type="none" w="med" len="med"/>
                      <a:tailEnd type="none" w="med" len="med"/>
                    </a:lnR>
                    <a:lnT w="9525" cap="flat" cmpd="sng" algn="ctr">
                      <a:solidFill>
                        <a:srgbClr val="3C3F4C"/>
                      </a:solidFill>
                      <a:prstDash val="solid"/>
                      <a:round/>
                      <a:headEnd type="none" w="med" len="med"/>
                      <a:tailEnd type="none" w="med" len="med"/>
                    </a:lnT>
                    <a:lnB w="9525" cap="flat" cmpd="sng" algn="ctr">
                      <a:solidFill>
                        <a:srgbClr val="3C3F4C"/>
                      </a:solidFill>
                      <a:prstDash val="solid"/>
                      <a:round/>
                      <a:headEnd type="none" w="med" len="med"/>
                      <a:tailEnd type="none" w="med" len="med"/>
                    </a:lnB>
                    <a:solidFill>
                      <a:srgbClr val="161B30"/>
                    </a:solidFill>
                  </a:tcPr>
                </a:tc>
                <a:extLst>
                  <a:ext uri="{0D108BD9-81ED-4DB2-BD59-A6C34878D82A}">
                    <a16:rowId xmlns:a16="http://schemas.microsoft.com/office/drawing/2014/main" val="10003"/>
                  </a:ext>
                </a:extLst>
              </a:tr>
              <a:tr h="329184">
                <a:tc>
                  <a:txBody>
                    <a:bodyPr/>
                    <a:lstStyle/>
                    <a:p>
                      <a:pPr marL="0" indent="0" algn="l">
                        <a:buNone/>
                      </a:pPr>
                      <a:r>
                        <a:rPr lang="en-US" sz="1300" b="1" dirty="0">
                          <a:solidFill>
                            <a:srgbClr val="E9ECF3"/>
                          </a:solidFill>
                          <a:latin typeface="Aptos" pitchFamily="34" charset="0"/>
                          <a:ea typeface="Aptos" pitchFamily="34" charset="-122"/>
                          <a:cs typeface="Aptos" pitchFamily="34" charset="-120"/>
                        </a:rPr>
                        <a:t>12</a:t>
                      </a:r>
                      <a:endParaRPr lang="en-US" sz="1300" dirty="0">
                        <a:latin typeface="Aptos" charset="0"/>
                        <a:ea typeface="Aptos" charset="0"/>
                        <a:cs typeface="Aptos" charset="0"/>
                      </a:endParaRPr>
                    </a:p>
                  </a:txBody>
                  <a:tcPr marL="109728" marR="109728" marT="0" marB="0" anchor="ctr">
                    <a:lnL w="9525" cap="flat" cmpd="sng" algn="ctr">
                      <a:solidFill>
                        <a:srgbClr val="3C3F4C"/>
                      </a:solidFill>
                      <a:prstDash val="solid"/>
                      <a:round/>
                      <a:headEnd type="none" w="med" len="med"/>
                      <a:tailEnd type="none" w="med" len="med"/>
                    </a:lnL>
                    <a:lnR w="9525" cap="flat" cmpd="sng" algn="ctr">
                      <a:solidFill>
                        <a:srgbClr val="3C3F4C"/>
                      </a:solidFill>
                      <a:prstDash val="solid"/>
                      <a:round/>
                      <a:headEnd type="none" w="med" len="med"/>
                      <a:tailEnd type="none" w="med" len="med"/>
                    </a:lnR>
                    <a:lnT w="9525" cap="flat" cmpd="sng" algn="ctr">
                      <a:solidFill>
                        <a:srgbClr val="3C3F4C"/>
                      </a:solidFill>
                      <a:prstDash val="solid"/>
                      <a:round/>
                      <a:headEnd type="none" w="med" len="med"/>
                      <a:tailEnd type="none" w="med" len="med"/>
                    </a:lnT>
                    <a:lnB w="9525" cap="flat" cmpd="sng" algn="ctr">
                      <a:solidFill>
                        <a:srgbClr val="3C3F4C"/>
                      </a:solidFill>
                      <a:prstDash val="solid"/>
                      <a:round/>
                      <a:headEnd type="none" w="med" len="med"/>
                      <a:tailEnd type="none" w="med" len="med"/>
                    </a:lnB>
                    <a:solidFill>
                      <a:srgbClr val="1B213B"/>
                    </a:solidFill>
                  </a:tcPr>
                </a:tc>
                <a:tc>
                  <a:txBody>
                    <a:bodyPr/>
                    <a:lstStyle/>
                    <a:p>
                      <a:pPr marL="0" indent="0" algn="r">
                        <a:buNone/>
                      </a:pPr>
                      <a:r>
                        <a:rPr lang="en-US" sz="1300" dirty="0">
                          <a:solidFill>
                            <a:srgbClr val="9AA3BD"/>
                          </a:solidFill>
                          <a:latin typeface="Aptos" pitchFamily="34" charset="0"/>
                          <a:ea typeface="Aptos" pitchFamily="34" charset="-122"/>
                          <a:cs typeface="Aptos" pitchFamily="34" charset="-120"/>
                        </a:rPr>
                        <a:t>144</a:t>
                      </a:r>
                      <a:endParaRPr lang="en-US" sz="1300" dirty="0">
                        <a:latin typeface="Aptos" charset="0"/>
                        <a:ea typeface="Aptos" charset="0"/>
                        <a:cs typeface="Aptos" charset="0"/>
                      </a:endParaRPr>
                    </a:p>
                  </a:txBody>
                  <a:tcPr marL="109728" marR="109728" marT="0" marB="0" anchor="ctr">
                    <a:lnL w="9525" cap="flat" cmpd="sng" algn="ctr">
                      <a:solidFill>
                        <a:srgbClr val="3C3F4C"/>
                      </a:solidFill>
                      <a:prstDash val="solid"/>
                      <a:round/>
                      <a:headEnd type="none" w="med" len="med"/>
                      <a:tailEnd type="none" w="med" len="med"/>
                    </a:lnL>
                    <a:lnR w="9525" cap="flat" cmpd="sng" algn="ctr">
                      <a:solidFill>
                        <a:srgbClr val="3C3F4C"/>
                      </a:solidFill>
                      <a:prstDash val="solid"/>
                      <a:round/>
                      <a:headEnd type="none" w="med" len="med"/>
                      <a:tailEnd type="none" w="med" len="med"/>
                    </a:lnR>
                    <a:lnT w="9525" cap="flat" cmpd="sng" algn="ctr">
                      <a:solidFill>
                        <a:srgbClr val="3C3F4C"/>
                      </a:solidFill>
                      <a:prstDash val="solid"/>
                      <a:round/>
                      <a:headEnd type="none" w="med" len="med"/>
                      <a:tailEnd type="none" w="med" len="med"/>
                    </a:lnT>
                    <a:lnB w="9525" cap="flat" cmpd="sng" algn="ctr">
                      <a:solidFill>
                        <a:srgbClr val="3C3F4C"/>
                      </a:solidFill>
                      <a:prstDash val="solid"/>
                      <a:round/>
                      <a:headEnd type="none" w="med" len="med"/>
                      <a:tailEnd type="none" w="med" len="med"/>
                    </a:lnB>
                    <a:solidFill>
                      <a:srgbClr val="1B213B"/>
                    </a:solidFill>
                  </a:tcPr>
                </a:tc>
                <a:tc>
                  <a:txBody>
                    <a:bodyPr/>
                    <a:lstStyle/>
                    <a:p>
                      <a:pPr marL="0" indent="0" algn="r">
                        <a:buNone/>
                      </a:pPr>
                      <a:r>
                        <a:rPr lang="en-US" sz="1300" dirty="0">
                          <a:solidFill>
                            <a:srgbClr val="9AA3BD"/>
                          </a:solidFill>
                          <a:latin typeface="Aptos" pitchFamily="34" charset="0"/>
                          <a:ea typeface="Aptos" pitchFamily="34" charset="-122"/>
                          <a:cs typeface="Aptos" pitchFamily="34" charset="-120"/>
                        </a:rPr>
                        <a:t>584</a:t>
                      </a:r>
                      <a:endParaRPr lang="en-US" sz="1300" dirty="0">
                        <a:latin typeface="Aptos" charset="0"/>
                        <a:ea typeface="Aptos" charset="0"/>
                        <a:cs typeface="Aptos" charset="0"/>
                      </a:endParaRPr>
                    </a:p>
                  </a:txBody>
                  <a:tcPr marL="109728" marR="109728" marT="0" marB="0" anchor="ctr">
                    <a:lnL w="9525" cap="flat" cmpd="sng" algn="ctr">
                      <a:solidFill>
                        <a:srgbClr val="3C3F4C"/>
                      </a:solidFill>
                      <a:prstDash val="solid"/>
                      <a:round/>
                      <a:headEnd type="none" w="med" len="med"/>
                      <a:tailEnd type="none" w="med" len="med"/>
                    </a:lnL>
                    <a:lnR w="9525" cap="flat" cmpd="sng" algn="ctr">
                      <a:solidFill>
                        <a:srgbClr val="3C3F4C"/>
                      </a:solidFill>
                      <a:prstDash val="solid"/>
                      <a:round/>
                      <a:headEnd type="none" w="med" len="med"/>
                      <a:tailEnd type="none" w="med" len="med"/>
                    </a:lnR>
                    <a:lnT w="9525" cap="flat" cmpd="sng" algn="ctr">
                      <a:solidFill>
                        <a:srgbClr val="3C3F4C"/>
                      </a:solidFill>
                      <a:prstDash val="solid"/>
                      <a:round/>
                      <a:headEnd type="none" w="med" len="med"/>
                      <a:tailEnd type="none" w="med" len="med"/>
                    </a:lnT>
                    <a:lnB w="9525" cap="flat" cmpd="sng" algn="ctr">
                      <a:solidFill>
                        <a:srgbClr val="3C3F4C"/>
                      </a:solidFill>
                      <a:prstDash val="solid"/>
                      <a:round/>
                      <a:headEnd type="none" w="med" len="med"/>
                      <a:tailEnd type="none" w="med" len="med"/>
                    </a:lnB>
                    <a:solidFill>
                      <a:srgbClr val="1B213B"/>
                    </a:solidFill>
                  </a:tcPr>
                </a:tc>
                <a:tc>
                  <a:txBody>
                    <a:bodyPr/>
                    <a:lstStyle/>
                    <a:p>
                      <a:pPr marL="0" indent="0" algn="r">
                        <a:buNone/>
                      </a:pPr>
                      <a:r>
                        <a:rPr lang="en-US" sz="1300" dirty="0">
                          <a:solidFill>
                            <a:srgbClr val="9AA3BD"/>
                          </a:solidFill>
                          <a:latin typeface="Aptos" pitchFamily="34" charset="0"/>
                          <a:ea typeface="Aptos" pitchFamily="34" charset="-122"/>
                          <a:cs typeface="Aptos" pitchFamily="34" charset="-120"/>
                        </a:rPr>
                        <a:t>12,158</a:t>
                      </a:r>
                      <a:endParaRPr lang="en-US" sz="1300" dirty="0">
                        <a:latin typeface="Aptos" charset="0"/>
                        <a:ea typeface="Aptos" charset="0"/>
                        <a:cs typeface="Aptos" charset="0"/>
                      </a:endParaRPr>
                    </a:p>
                  </a:txBody>
                  <a:tcPr marL="109728" marR="109728" marT="0" marB="0" anchor="ctr">
                    <a:lnL w="9525" cap="flat" cmpd="sng" algn="ctr">
                      <a:solidFill>
                        <a:srgbClr val="3C3F4C"/>
                      </a:solidFill>
                      <a:prstDash val="solid"/>
                      <a:round/>
                      <a:headEnd type="none" w="med" len="med"/>
                      <a:tailEnd type="none" w="med" len="med"/>
                    </a:lnL>
                    <a:lnR w="9525" cap="flat" cmpd="sng" algn="ctr">
                      <a:solidFill>
                        <a:srgbClr val="3C3F4C"/>
                      </a:solidFill>
                      <a:prstDash val="solid"/>
                      <a:round/>
                      <a:headEnd type="none" w="med" len="med"/>
                      <a:tailEnd type="none" w="med" len="med"/>
                    </a:lnR>
                    <a:lnT w="9525" cap="flat" cmpd="sng" algn="ctr">
                      <a:solidFill>
                        <a:srgbClr val="3C3F4C"/>
                      </a:solidFill>
                      <a:prstDash val="solid"/>
                      <a:round/>
                      <a:headEnd type="none" w="med" len="med"/>
                      <a:tailEnd type="none" w="med" len="med"/>
                    </a:lnT>
                    <a:lnB w="9525" cap="flat" cmpd="sng" algn="ctr">
                      <a:solidFill>
                        <a:srgbClr val="3C3F4C"/>
                      </a:solidFill>
                      <a:prstDash val="solid"/>
                      <a:round/>
                      <a:headEnd type="none" w="med" len="med"/>
                      <a:tailEnd type="none" w="med" len="med"/>
                    </a:lnB>
                    <a:solidFill>
                      <a:srgbClr val="1B213B"/>
                    </a:solidFill>
                  </a:tcPr>
                </a:tc>
                <a:extLst>
                  <a:ext uri="{0D108BD9-81ED-4DB2-BD59-A6C34878D82A}">
                    <a16:rowId xmlns:a16="http://schemas.microsoft.com/office/drawing/2014/main" val="10004"/>
                  </a:ext>
                </a:extLst>
              </a:tr>
            </a:tbl>
          </a:graphicData>
        </a:graphic>
      </p:graphicFrame>
      <p:sp>
        <p:nvSpPr>
          <p:cNvPr id="18" name="Pulse schedule tile"/>
          <p:cNvSpPr/>
          <p:nvPr/>
        </p:nvSpPr>
        <p:spPr>
          <a:xfrm>
            <a:off x="6035040" y="1600200"/>
            <a:ext cx="5608015" cy="3291840"/>
          </a:xfrm>
          <a:prstGeom prst="roundRect">
            <a:avLst>
              <a:gd name="adj" fmla="val 3333"/>
            </a:avLst>
          </a:prstGeom>
          <a:solidFill>
            <a:schemeClr val="tx1"/>
          </a:solidFill>
          <a:ln/>
        </p:spPr>
        <p:txBody>
          <a:bodyPr/>
          <a:lstStyle/>
          <a:p>
            <a:endParaRPr lang="fr-FR"/>
          </a:p>
        </p:txBody>
      </p:sp>
      <p:pic>
        <p:nvPicPr>
          <p:cNvPr id="19" name="Image 0" descr="SpinPulse pulse schedule for one Trotter step: pulses on three qubit lines and exchange pulses on the two couplers"/>
          <p:cNvPicPr>
            <a:picLocks noChangeAspect="1"/>
          </p:cNvPicPr>
          <p:nvPr/>
        </p:nvPicPr>
        <p:blipFill>
          <a:blip r:embed="rId3"/>
          <a:stretch>
            <a:fillRect/>
          </a:stretch>
        </p:blipFill>
        <p:spPr>
          <a:xfrm>
            <a:off x="6152998" y="1709928"/>
            <a:ext cx="5372100" cy="3063240"/>
          </a:xfrm>
          <a:prstGeom prst="rect">
            <a:avLst/>
          </a:prstGeom>
        </p:spPr>
      </p:pic>
      <p:sp>
        <p:nvSpPr>
          <p:cNvPr id="20" name="Text 16"/>
          <p:cNvSpPr txBox="1"/>
          <p:nvPr/>
        </p:nvSpPr>
        <p:spPr>
          <a:xfrm>
            <a:off x="6035040" y="4937760"/>
            <a:ext cx="5608015" cy="256032"/>
          </a:xfrm>
          <a:prstGeom prst="rect">
            <a:avLst/>
          </a:prstGeom>
          <a:noFill/>
          <a:ln/>
        </p:spPr>
        <p:txBody>
          <a:bodyPr wrap="square" lIns="0" tIns="0" rIns="0" bIns="0" rtlCol="0" anchor="ctr"/>
          <a:lstStyle/>
          <a:p>
            <a:pPr marL="0" indent="0">
              <a:buNone/>
            </a:pPr>
            <a:r>
              <a:rPr lang="en-US" sz="1100" dirty="0">
                <a:solidFill>
                  <a:schemeClr val="tx2"/>
                </a:solidFill>
              </a:rPr>
              <a:t>One Trotter step: qubit lines and the two couplers</a:t>
            </a:r>
            <a:endParaRPr lang="en-US" sz="1100" dirty="0"/>
          </a:p>
        </p:txBody>
      </p:sp>
      <p:sp>
        <p:nvSpPr>
          <p:cNvPr id="21" name="Takeaway"/>
          <p:cNvSpPr/>
          <p:nvPr/>
        </p:nvSpPr>
        <p:spPr>
          <a:xfrm>
            <a:off x="548640" y="5285232"/>
            <a:ext cx="11094415" cy="530352"/>
          </a:xfrm>
          <a:prstGeom prst="roundRect">
            <a:avLst>
              <a:gd name="adj" fmla="val 17241"/>
            </a:avLst>
          </a:prstGeom>
          <a:solidFill>
            <a:schemeClr val="accent1"/>
          </a:solidFill>
          <a:ln/>
        </p:spPr>
        <p:txBody>
          <a:bodyPr/>
          <a:lstStyle/>
          <a:p>
            <a:endParaRPr lang="fr-FR"/>
          </a:p>
        </p:txBody>
      </p:sp>
      <p:sp>
        <p:nvSpPr>
          <p:cNvPr id="22" name="Shape 18"/>
          <p:cNvSpPr/>
          <p:nvPr/>
        </p:nvSpPr>
        <p:spPr>
          <a:xfrm>
            <a:off x="822960" y="5504688"/>
            <a:ext cx="91440" cy="91440"/>
          </a:xfrm>
          <a:prstGeom prst="rect">
            <a:avLst/>
          </a:prstGeom>
          <a:solidFill>
            <a:schemeClr val="accent2"/>
          </a:solidFill>
          <a:ln/>
        </p:spPr>
        <p:txBody>
          <a:bodyPr/>
          <a:lstStyle/>
          <a:p>
            <a:endParaRPr lang="fr-FR"/>
          </a:p>
        </p:txBody>
      </p:sp>
      <p:sp>
        <p:nvSpPr>
          <p:cNvPr id="23" name="Text 19"/>
          <p:cNvSpPr txBox="1"/>
          <p:nvPr/>
        </p:nvSpPr>
        <p:spPr>
          <a:xfrm>
            <a:off x="1051560" y="5285232"/>
            <a:ext cx="10362895" cy="530352"/>
          </a:xfrm>
          <a:prstGeom prst="rect">
            <a:avLst/>
          </a:prstGeom>
          <a:noFill/>
          <a:ln/>
        </p:spPr>
        <p:txBody>
          <a:bodyPr wrap="square" lIns="0" tIns="0" rIns="0" bIns="0" rtlCol="0" anchor="ctr"/>
          <a:lstStyle/>
          <a:p>
            <a:pPr marL="0" indent="0">
              <a:buNone/>
            </a:pPr>
            <a:r>
              <a:rPr lang="en-US" sz="1500" dirty="0">
                <a:solidFill>
                  <a:schemeClr val="tx1"/>
                </a:solidFill>
              </a:rPr>
              <a:t>Gates grow linearly with r, duration does not: </a:t>
            </a:r>
            <a:r>
              <a:rPr lang="en-US" sz="1500" b="1" dirty="0">
                <a:solidFill>
                  <a:schemeClr val="tx1"/>
                </a:solidFill>
              </a:rPr>
              <a:t>exchange time scales with the rotation angle</a:t>
            </a:r>
            <a:endParaRPr lang="en-US" sz="1500" dirty="0"/>
          </a:p>
        </p:txBody>
      </p:sp>
      <p:sp>
        <p:nvSpPr>
          <p:cNvPr id="24" name="Text 20"/>
          <p:cNvSpPr txBox="1"/>
          <p:nvPr/>
        </p:nvSpPr>
        <p:spPr>
          <a:xfrm>
            <a:off x="548640" y="5897880"/>
            <a:ext cx="11094415" cy="274320"/>
          </a:xfrm>
          <a:prstGeom prst="rect">
            <a:avLst/>
          </a:prstGeom>
          <a:noFill/>
          <a:ln/>
        </p:spPr>
        <p:txBody>
          <a:bodyPr wrap="square" lIns="0" tIns="0" rIns="0" bIns="0" rtlCol="0" anchor="ctr"/>
          <a:lstStyle/>
          <a:p>
            <a:pPr marL="0" indent="0">
              <a:buNone/>
            </a:pPr>
            <a:r>
              <a:rPr lang="en-US" sz="1100" i="1" dirty="0">
                <a:solidFill>
                  <a:schemeClr val="tx2"/>
                </a:solidFill>
              </a:rPr>
              <a:t>Masterclass notebook, Part 5 · SpinPulse (Quobly), arXiv:2601.10435 · durations in model time units</a:t>
            </a:r>
            <a:endParaRPr lang="en-US" sz="1100" dirty="0"/>
          </a:p>
        </p:txBody>
      </p:sp>
      <p:sp>
        <p:nvSpPr>
          <p:cNvPr id="25" name="Slide Number Placeholder 0"/>
          <p:cNvSpPr>
            <a:spLocks noGrp="1"/>
          </p:cNvSpPr>
          <p:nvPr>
            <p:ph type="sldNum" sz="quarter" idx="4294967295"/>
          </p:nvPr>
        </p:nvSpPr>
        <p:spPr>
          <a:xfrm>
            <a:off x="11094415" y="6327648"/>
            <a:ext cx="548640" cy="274320"/>
          </a:xfrm>
          <a:prstGeom prst="rect">
            <a:avLst/>
          </a:prstGeom>
          <a:extLst>
            <a:ext uri="{C572A759-6A51-4108-AA02-DFA0A04FC94B}">
              <ma14:wrappingTextBoxFlag xmlns:ma14="http://schemas.microsoft.com/office/mac/drawingml/2011/main" xmlns="" val="0"/>
            </a:ext>
          </a:extLst>
        </p:spPr>
        <p:txBody>
          <a:bodyPr lIns="0" tIns="0" rIns="0" bIns="0" anchor="ctr"/>
          <a:lstStyle>
            <a:lvl1pPr>
              <a:defRPr sz="1000">
                <a:solidFill>
                  <a:srgbClr val="9AA3BD"/>
                </a:solidFill>
              </a:defRPr>
            </a:lvl1pPr>
          </a:lstStyle>
          <a:p>
            <a:pPr algn="r"/>
            <a:fld id="{F7021451-1387-4CA6-816F-3879F97B5CBC}" type="slidenum">
              <a:rPr lang="en-US" b="0"/>
              <a:t>38</a:t>
            </a:fld>
            <a:endParaRPr lang="en-US"/>
          </a:p>
        </p:txBody>
      </p:sp>
      <p:pic>
        <p:nvPicPr>
          <p:cNvPr id="27" name="Image 26">
            <a:extLst>
              <a:ext uri="{FF2B5EF4-FFF2-40B4-BE49-F238E27FC236}">
                <a16:creationId xmlns:a16="http://schemas.microsoft.com/office/drawing/2014/main" id="{063F3609-6308-A822-BFC5-28C31A1400B8}"/>
              </a:ext>
            </a:extLst>
          </p:cNvPr>
          <p:cNvPicPr>
            <a:picLocks noChangeAspect="1"/>
          </p:cNvPicPr>
          <p:nvPr/>
        </p:nvPicPr>
        <p:blipFill>
          <a:blip r:embed="rId4"/>
          <a:stretch>
            <a:fillRect/>
          </a:stretch>
        </p:blipFill>
        <p:spPr>
          <a:xfrm>
            <a:off x="9724644" y="-443705"/>
            <a:ext cx="2437453" cy="1723866"/>
          </a:xfrm>
          <a:prstGeom prst="rect">
            <a:avLst/>
          </a:prstGeom>
        </p:spPr>
      </p:pic>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10"/>
          <p:cNvSpPr>
            <a:spLocks noGrp="1"/>
          </p:cNvSpPr>
          <p:nvPr>
            <p:ph type="title" idx="110" hasCustomPrompt="1"/>
          </p:nvPr>
        </p:nvSpPr>
        <p:spPr>
          <a:xfrm>
            <a:off x="548640" y="457200"/>
            <a:ext cx="11094415" cy="777240"/>
          </a:xfrm>
          <a:prstGeom prst="rect">
            <a:avLst/>
          </a:prstGeom>
          <a:noFill/>
          <a:ln/>
        </p:spPr>
        <p:txBody>
          <a:bodyPr wrap="square" lIns="0" tIns="0" rIns="0" bIns="0" rtlCol="0" anchor="t"/>
          <a:lstStyle/>
          <a:p>
            <a:pPr marL="0" indent="0" algn="l">
              <a:buNone/>
            </a:pPr>
            <a:r>
              <a:rPr lang="en-US" sz="3200" dirty="0">
                <a:solidFill>
                  <a:schemeClr val="tx1"/>
                </a:solidFill>
              </a:rPr>
              <a:t>Noise sets the best number of Trotter steps</a:t>
            </a:r>
            <a:endParaRPr lang="en-US" sz="3200" dirty="0"/>
          </a:p>
        </p:txBody>
      </p:sp>
      <p:sp>
        <p:nvSpPr>
          <p:cNvPr id="3" name="Shape 1"/>
          <p:cNvSpPr/>
          <p:nvPr/>
        </p:nvSpPr>
        <p:spPr>
          <a:xfrm>
            <a:off x="548640" y="1188720"/>
            <a:ext cx="91440" cy="91440"/>
          </a:xfrm>
          <a:prstGeom prst="rect">
            <a:avLst/>
          </a:prstGeom>
          <a:solidFill>
            <a:schemeClr val="accent2"/>
          </a:solidFill>
          <a:ln/>
        </p:spPr>
        <p:txBody>
          <a:bodyPr/>
          <a:lstStyle/>
          <a:p>
            <a:endParaRPr lang="fr-FR"/>
          </a:p>
        </p:txBody>
      </p:sp>
      <p:sp>
        <p:nvSpPr>
          <p:cNvPr id="4" name="Text 2"/>
          <p:cNvSpPr txBox="1"/>
          <p:nvPr/>
        </p:nvSpPr>
        <p:spPr>
          <a:xfrm>
            <a:off x="731520" y="1097280"/>
            <a:ext cx="9144000" cy="274320"/>
          </a:xfrm>
          <a:prstGeom prst="rect">
            <a:avLst/>
          </a:prstGeom>
          <a:noFill/>
          <a:ln/>
        </p:spPr>
        <p:txBody>
          <a:bodyPr wrap="square" lIns="0" tIns="0" rIns="0" bIns="0" rtlCol="0" anchor="ctr"/>
          <a:lstStyle/>
          <a:p>
            <a:pPr marL="0" indent="0">
              <a:buNone/>
            </a:pPr>
            <a:r>
              <a:rPr lang="en-US" sz="1200" b="1" kern="0" spc="200" dirty="0">
                <a:solidFill>
                  <a:schemeClr val="tx2"/>
                </a:solidFill>
              </a:rPr>
              <a:t>SPINPULSE  ·  RESULTS</a:t>
            </a:r>
            <a:endParaRPr lang="en-US" sz="1200" dirty="0"/>
          </a:p>
        </p:txBody>
      </p:sp>
      <p:sp>
        <p:nvSpPr>
          <p:cNvPr id="5" name="Fidelity chart tile"/>
          <p:cNvSpPr/>
          <p:nvPr/>
        </p:nvSpPr>
        <p:spPr>
          <a:xfrm>
            <a:off x="548640" y="1600200"/>
            <a:ext cx="6126480" cy="4023360"/>
          </a:xfrm>
          <a:prstGeom prst="roundRect">
            <a:avLst>
              <a:gd name="adj" fmla="val 2727"/>
            </a:avLst>
          </a:prstGeom>
          <a:solidFill>
            <a:schemeClr val="tx1"/>
          </a:solidFill>
          <a:ln/>
        </p:spPr>
        <p:txBody>
          <a:bodyPr/>
          <a:lstStyle/>
          <a:p>
            <a:endParaRPr lang="fr-FR"/>
          </a:p>
        </p:txBody>
      </p:sp>
      <p:pic>
        <p:nvPicPr>
          <p:cNvPr id="6" name="Image 0" descr="Fidelity with exact e^(-iHt) versus Trotter steps: the ideal circuit rises to 0.99, the noisy spin qubit model peaks at 0.917 for r = 8 and falls to 0.894 at r = 12"/>
          <p:cNvPicPr>
            <a:picLocks noChangeAspect="1"/>
          </p:cNvPicPr>
          <p:nvPr/>
        </p:nvPicPr>
        <p:blipFill>
          <a:blip r:embed="rId3"/>
          <a:stretch>
            <a:fillRect/>
          </a:stretch>
        </p:blipFill>
        <p:spPr>
          <a:xfrm>
            <a:off x="647224" y="1709928"/>
            <a:ext cx="5929313" cy="3794760"/>
          </a:xfrm>
          <a:prstGeom prst="rect">
            <a:avLst/>
          </a:prstGeom>
        </p:spPr>
      </p:pic>
      <p:sp>
        <p:nvSpPr>
          <p:cNvPr id="7" name="Text 4"/>
          <p:cNvSpPr txBox="1"/>
          <p:nvPr/>
        </p:nvSpPr>
        <p:spPr>
          <a:xfrm>
            <a:off x="548640" y="5650992"/>
            <a:ext cx="6126480" cy="237744"/>
          </a:xfrm>
          <a:prstGeom prst="rect">
            <a:avLst/>
          </a:prstGeom>
          <a:noFill/>
          <a:ln/>
        </p:spPr>
        <p:txBody>
          <a:bodyPr wrap="square" lIns="0" tIns="0" rIns="0" bIns="0" rtlCol="0" anchor="ctr"/>
          <a:lstStyle/>
          <a:p>
            <a:pPr marL="0" indent="0">
              <a:buNone/>
            </a:pPr>
            <a:r>
              <a:rPr lang="en-US" sz="1100" dirty="0">
                <a:solidFill>
                  <a:schemeClr val="tx2"/>
                </a:solidFill>
              </a:rPr>
              <a:t>3-spin Heisenberg chain, J = 1, h = 0.5, t = 1; 1/f noise, T2* = 5000</a:t>
            </a:r>
            <a:endParaRPr lang="en-US" sz="1100" dirty="0"/>
          </a:p>
        </p:txBody>
      </p:sp>
      <p:sp>
        <p:nvSpPr>
          <p:cNvPr id="8" name="Text 5"/>
          <p:cNvSpPr txBox="1"/>
          <p:nvPr/>
        </p:nvSpPr>
        <p:spPr>
          <a:xfrm>
            <a:off x="7086600" y="1554480"/>
            <a:ext cx="4556455" cy="914400"/>
          </a:xfrm>
          <a:prstGeom prst="rect">
            <a:avLst/>
          </a:prstGeom>
          <a:noFill/>
          <a:ln/>
        </p:spPr>
        <p:txBody>
          <a:bodyPr wrap="square" lIns="0" tIns="0" rIns="0" bIns="0" rtlCol="0" anchor="ctr"/>
          <a:lstStyle/>
          <a:p>
            <a:pPr marL="0" indent="0">
              <a:buNone/>
            </a:pPr>
            <a:r>
              <a:rPr lang="en-US" sz="5600" b="1" dirty="0">
                <a:solidFill>
                  <a:schemeClr val="tx1"/>
                </a:solidFill>
              </a:rPr>
              <a:t>r = 8</a:t>
            </a:r>
            <a:endParaRPr lang="en-US" sz="5600" dirty="0"/>
          </a:p>
        </p:txBody>
      </p:sp>
      <p:sp>
        <p:nvSpPr>
          <p:cNvPr id="9" name="Text 6"/>
          <p:cNvSpPr txBox="1"/>
          <p:nvPr/>
        </p:nvSpPr>
        <p:spPr>
          <a:xfrm>
            <a:off x="7086600" y="2468880"/>
            <a:ext cx="4556455" cy="594360"/>
          </a:xfrm>
          <a:prstGeom prst="rect">
            <a:avLst/>
          </a:prstGeom>
          <a:noFill/>
          <a:ln/>
        </p:spPr>
        <p:txBody>
          <a:bodyPr wrap="square" lIns="0" tIns="0" rIns="0" bIns="0" rtlCol="0" anchor="t"/>
          <a:lstStyle/>
          <a:p>
            <a:pPr marL="0" indent="0">
              <a:buNone/>
            </a:pPr>
            <a:r>
              <a:rPr lang="en-US" sz="1500" dirty="0">
                <a:solidFill>
                  <a:schemeClr val="tx2"/>
                </a:solidFill>
              </a:rPr>
              <a:t>fidelity </a:t>
            </a:r>
            <a:r>
              <a:rPr lang="en-US" sz="1500" b="1" dirty="0">
                <a:solidFill>
                  <a:schemeClr val="tx1"/>
                </a:solidFill>
              </a:rPr>
              <a:t>0.917</a:t>
            </a:r>
            <a:r>
              <a:rPr lang="en-US" sz="1500" dirty="0">
                <a:solidFill>
                  <a:schemeClr val="tx2"/>
                </a:solidFill>
              </a:rPr>
              <a:t> on the noisy model, against 0.983 for the ideal circuit</a:t>
            </a:r>
            <a:endParaRPr lang="en-US" sz="1500" dirty="0"/>
          </a:p>
        </p:txBody>
      </p:sp>
      <p:sp>
        <p:nvSpPr>
          <p:cNvPr id="10" name="Shape 7"/>
          <p:cNvSpPr/>
          <p:nvPr/>
        </p:nvSpPr>
        <p:spPr>
          <a:xfrm>
            <a:off x="7086600" y="3200400"/>
            <a:ext cx="4556455" cy="0"/>
          </a:xfrm>
          <a:prstGeom prst="line">
            <a:avLst/>
          </a:prstGeom>
          <a:noFill/>
          <a:ln w="9525">
            <a:solidFill>
              <a:srgbClr val="3C3F4C"/>
            </a:solidFill>
            <a:prstDash val="solid"/>
          </a:ln>
        </p:spPr>
        <p:txBody>
          <a:bodyPr/>
          <a:lstStyle/>
          <a:p>
            <a:endParaRPr lang="fr-FR"/>
          </a:p>
        </p:txBody>
      </p:sp>
      <p:sp>
        <p:nvSpPr>
          <p:cNvPr id="11" name="Shape 8"/>
          <p:cNvSpPr/>
          <p:nvPr/>
        </p:nvSpPr>
        <p:spPr>
          <a:xfrm>
            <a:off x="7086600" y="3493008"/>
            <a:ext cx="91440" cy="91440"/>
          </a:xfrm>
          <a:prstGeom prst="rect">
            <a:avLst/>
          </a:prstGeom>
          <a:solidFill>
            <a:schemeClr val="accent2"/>
          </a:solidFill>
          <a:ln/>
        </p:spPr>
        <p:txBody>
          <a:bodyPr/>
          <a:lstStyle/>
          <a:p>
            <a:endParaRPr lang="fr-FR"/>
          </a:p>
        </p:txBody>
      </p:sp>
      <p:sp>
        <p:nvSpPr>
          <p:cNvPr id="12" name="Text 9"/>
          <p:cNvSpPr txBox="1"/>
          <p:nvPr/>
        </p:nvSpPr>
        <p:spPr>
          <a:xfrm>
            <a:off x="7315200" y="3383280"/>
            <a:ext cx="4327855" cy="640080"/>
          </a:xfrm>
          <a:prstGeom prst="rect">
            <a:avLst/>
          </a:prstGeom>
          <a:noFill/>
          <a:ln/>
        </p:spPr>
        <p:txBody>
          <a:bodyPr wrap="square" lIns="0" tIns="0" rIns="0" bIns="0" rtlCol="0" anchor="t"/>
          <a:lstStyle/>
          <a:p>
            <a:pPr marL="0" indent="0">
              <a:buNone/>
            </a:pPr>
            <a:r>
              <a:rPr lang="en-US" sz="1400" b="1" dirty="0">
                <a:solidFill>
                  <a:schemeClr val="tx1"/>
                </a:solidFill>
              </a:rPr>
              <a:t>Without noise, </a:t>
            </a:r>
            <a:r>
              <a:rPr lang="en-US" sz="1400" dirty="0">
                <a:solidFill>
                  <a:schemeClr val="tx2"/>
                </a:solidFill>
              </a:rPr>
              <a:t>more steps always help</a:t>
            </a:r>
            <a:endParaRPr lang="en-US" sz="1400" dirty="0"/>
          </a:p>
        </p:txBody>
      </p:sp>
      <p:sp>
        <p:nvSpPr>
          <p:cNvPr id="13" name="Shape 10"/>
          <p:cNvSpPr/>
          <p:nvPr/>
        </p:nvSpPr>
        <p:spPr>
          <a:xfrm>
            <a:off x="7086600" y="4206240"/>
            <a:ext cx="91440" cy="91440"/>
          </a:xfrm>
          <a:prstGeom prst="rect">
            <a:avLst/>
          </a:prstGeom>
          <a:solidFill>
            <a:schemeClr val="accent2"/>
          </a:solidFill>
          <a:ln/>
        </p:spPr>
        <p:txBody>
          <a:bodyPr/>
          <a:lstStyle/>
          <a:p>
            <a:endParaRPr lang="fr-FR"/>
          </a:p>
        </p:txBody>
      </p:sp>
      <p:sp>
        <p:nvSpPr>
          <p:cNvPr id="14" name="Text 11"/>
          <p:cNvSpPr txBox="1"/>
          <p:nvPr/>
        </p:nvSpPr>
        <p:spPr>
          <a:xfrm>
            <a:off x="7315200" y="4096512"/>
            <a:ext cx="4327855" cy="640080"/>
          </a:xfrm>
          <a:prstGeom prst="rect">
            <a:avLst/>
          </a:prstGeom>
          <a:noFill/>
          <a:ln/>
        </p:spPr>
        <p:txBody>
          <a:bodyPr wrap="square" lIns="0" tIns="0" rIns="0" bIns="0" rtlCol="0" anchor="t"/>
          <a:lstStyle/>
          <a:p>
            <a:pPr marL="0" indent="0">
              <a:buNone/>
            </a:pPr>
            <a:r>
              <a:rPr lang="en-US" sz="1400" b="1" dirty="0">
                <a:solidFill>
                  <a:schemeClr val="tx1"/>
                </a:solidFill>
              </a:rPr>
              <a:t>With noise, </a:t>
            </a:r>
            <a:r>
              <a:rPr lang="en-US" sz="1400" dirty="0">
                <a:solidFill>
                  <a:schemeClr val="tx2"/>
                </a:solidFill>
              </a:rPr>
              <a:t>each step adds pulses and time: fidelity peaks, then falls</a:t>
            </a:r>
            <a:endParaRPr lang="en-US" sz="1400" dirty="0"/>
          </a:p>
        </p:txBody>
      </p:sp>
      <p:sp>
        <p:nvSpPr>
          <p:cNvPr id="15" name="Shape 12"/>
          <p:cNvSpPr/>
          <p:nvPr/>
        </p:nvSpPr>
        <p:spPr>
          <a:xfrm>
            <a:off x="7086600" y="4919472"/>
            <a:ext cx="91440" cy="91440"/>
          </a:xfrm>
          <a:prstGeom prst="rect">
            <a:avLst/>
          </a:prstGeom>
          <a:solidFill>
            <a:schemeClr val="accent2"/>
          </a:solidFill>
          <a:ln/>
        </p:spPr>
        <p:txBody>
          <a:bodyPr/>
          <a:lstStyle/>
          <a:p>
            <a:endParaRPr lang="fr-FR"/>
          </a:p>
        </p:txBody>
      </p:sp>
      <p:sp>
        <p:nvSpPr>
          <p:cNvPr id="16" name="Text 13"/>
          <p:cNvSpPr txBox="1"/>
          <p:nvPr/>
        </p:nvSpPr>
        <p:spPr>
          <a:xfrm>
            <a:off x="7315200" y="4809744"/>
            <a:ext cx="4327855" cy="640080"/>
          </a:xfrm>
          <a:prstGeom prst="rect">
            <a:avLst/>
          </a:prstGeom>
          <a:noFill/>
          <a:ln/>
        </p:spPr>
        <p:txBody>
          <a:bodyPr wrap="square" lIns="0" tIns="0" rIns="0" bIns="0" rtlCol="0" anchor="t"/>
          <a:lstStyle/>
          <a:p>
            <a:pPr marL="0" indent="0">
              <a:buNone/>
            </a:pPr>
            <a:r>
              <a:rPr lang="en-US" sz="1400" b="1" dirty="0">
                <a:solidFill>
                  <a:schemeClr val="tx1"/>
                </a:solidFill>
              </a:rPr>
              <a:t>The optimum moves with T2*; </a:t>
            </a:r>
            <a:r>
              <a:rPr lang="en-US" sz="1400" dirty="0">
                <a:solidFill>
                  <a:schemeClr val="tx2"/>
                </a:solidFill>
              </a:rPr>
              <a:t>dynamical decoupling is the next experiment</a:t>
            </a:r>
            <a:endParaRPr lang="en-US" sz="1400" dirty="0"/>
          </a:p>
        </p:txBody>
      </p:sp>
      <p:sp>
        <p:nvSpPr>
          <p:cNvPr id="17" name="Text 14"/>
          <p:cNvSpPr txBox="1"/>
          <p:nvPr/>
        </p:nvSpPr>
        <p:spPr>
          <a:xfrm>
            <a:off x="548640" y="5897880"/>
            <a:ext cx="11094415" cy="274320"/>
          </a:xfrm>
          <a:prstGeom prst="rect">
            <a:avLst/>
          </a:prstGeom>
          <a:noFill/>
          <a:ln/>
        </p:spPr>
        <p:txBody>
          <a:bodyPr wrap="square" lIns="0" tIns="0" rIns="0" bIns="0" rtlCol="0" anchor="ctr"/>
          <a:lstStyle/>
          <a:p>
            <a:pPr marL="0" indent="0">
              <a:buNone/>
            </a:pPr>
            <a:r>
              <a:rPr lang="en-US" sz="1100" i="1" dirty="0">
                <a:solidFill>
                  <a:schemeClr val="tx2"/>
                </a:solidFill>
              </a:rPr>
              <a:t>Masterclass notebook, Part 5 · mean fidelity over 10–40 noise realizations</a:t>
            </a:r>
            <a:endParaRPr lang="en-US" sz="1100" dirty="0"/>
          </a:p>
        </p:txBody>
      </p:sp>
      <p:sp>
        <p:nvSpPr>
          <p:cNvPr id="25" name="Slide Number Placeholder 0"/>
          <p:cNvSpPr>
            <a:spLocks noGrp="1"/>
          </p:cNvSpPr>
          <p:nvPr>
            <p:ph type="sldNum" sz="quarter" idx="4294967295"/>
          </p:nvPr>
        </p:nvSpPr>
        <p:spPr>
          <a:xfrm>
            <a:off x="11094415" y="6327648"/>
            <a:ext cx="548640" cy="274320"/>
          </a:xfrm>
          <a:prstGeom prst="rect">
            <a:avLst/>
          </a:prstGeom>
          <a:extLst>
            <a:ext uri="{C572A759-6A51-4108-AA02-DFA0A04FC94B}">
              <ma14:wrappingTextBoxFlag xmlns:ma14="http://schemas.microsoft.com/office/mac/drawingml/2011/main" xmlns="" val="0"/>
            </a:ext>
          </a:extLst>
        </p:spPr>
        <p:txBody>
          <a:bodyPr lIns="0" tIns="0" rIns="0" bIns="0" anchor="ctr"/>
          <a:lstStyle>
            <a:lvl1pPr>
              <a:defRPr sz="1000">
                <a:solidFill>
                  <a:srgbClr val="9AA3BD"/>
                </a:solidFill>
              </a:defRPr>
            </a:lvl1pPr>
          </a:lstStyle>
          <a:p>
            <a:pPr algn="r"/>
            <a:fld id="{F7021451-1387-4CA6-816F-3879F97B5CBC}" type="slidenum">
              <a:rPr lang="en-US" b="0"/>
              <a:t>39</a:t>
            </a:fld>
            <a:endParaRPr lang="en-US"/>
          </a:p>
        </p:txBody>
      </p:sp>
      <p:pic>
        <p:nvPicPr>
          <p:cNvPr id="19" name="Image 18">
            <a:extLst>
              <a:ext uri="{FF2B5EF4-FFF2-40B4-BE49-F238E27FC236}">
                <a16:creationId xmlns:a16="http://schemas.microsoft.com/office/drawing/2014/main" id="{41EF1552-B1EF-029B-480F-BDC47BB2D9D7}"/>
              </a:ext>
            </a:extLst>
          </p:cNvPr>
          <p:cNvPicPr>
            <a:picLocks noChangeAspect="1"/>
          </p:cNvPicPr>
          <p:nvPr/>
        </p:nvPicPr>
        <p:blipFill>
          <a:blip r:embed="rId4"/>
          <a:stretch>
            <a:fillRect/>
          </a:stretch>
        </p:blipFill>
        <p:spPr>
          <a:xfrm>
            <a:off x="9724644" y="-443705"/>
            <a:ext cx="2437453" cy="1723866"/>
          </a:xfrm>
          <a:prstGeom prst="rect">
            <a:avLst/>
          </a:prstGeom>
        </p:spPr>
      </p:pic>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10"/>
          <p:cNvSpPr>
            <a:spLocks noGrp="1"/>
          </p:cNvSpPr>
          <p:nvPr>
            <p:ph type="title" idx="110" hasCustomPrompt="1"/>
          </p:nvPr>
        </p:nvSpPr>
        <p:spPr>
          <a:xfrm>
            <a:off x="548640" y="457200"/>
            <a:ext cx="11094415" cy="777240"/>
          </a:xfrm>
          <a:prstGeom prst="rect">
            <a:avLst/>
          </a:prstGeom>
          <a:noFill/>
          <a:ln/>
        </p:spPr>
        <p:txBody>
          <a:bodyPr wrap="square" lIns="0" tIns="0" rIns="0" bIns="0" rtlCol="0" anchor="t"/>
          <a:lstStyle/>
          <a:p>
            <a:pPr marL="0" indent="0" algn="l">
              <a:buNone/>
            </a:pPr>
            <a:r>
              <a:rPr lang="en-US" sz="3200" dirty="0">
                <a:solidFill>
                  <a:schemeClr val="tx1"/>
                </a:solidFill>
              </a:rPr>
              <a:t>When does the Fock-space trick pay off?</a:t>
            </a:r>
            <a:endParaRPr lang="en-US" sz="3200" dirty="0"/>
          </a:p>
        </p:txBody>
      </p:sp>
      <p:sp>
        <p:nvSpPr>
          <p:cNvPr id="3" name="Shape 1"/>
          <p:cNvSpPr/>
          <p:nvPr/>
        </p:nvSpPr>
        <p:spPr>
          <a:xfrm>
            <a:off x="548640" y="1188720"/>
            <a:ext cx="91440" cy="91440"/>
          </a:xfrm>
          <a:prstGeom prst="rect">
            <a:avLst/>
          </a:prstGeom>
          <a:solidFill>
            <a:schemeClr val="accent2"/>
          </a:solidFill>
          <a:ln/>
        </p:spPr>
        <p:txBody>
          <a:bodyPr/>
          <a:lstStyle/>
          <a:p>
            <a:endParaRPr lang="fr-FR"/>
          </a:p>
        </p:txBody>
      </p:sp>
      <p:sp>
        <p:nvSpPr>
          <p:cNvPr id="4" name="Text 2"/>
          <p:cNvSpPr txBox="1"/>
          <p:nvPr/>
        </p:nvSpPr>
        <p:spPr>
          <a:xfrm>
            <a:off x="731520" y="1097280"/>
            <a:ext cx="10058400" cy="274320"/>
          </a:xfrm>
          <a:prstGeom prst="rect">
            <a:avLst/>
          </a:prstGeom>
          <a:noFill/>
          <a:ln/>
        </p:spPr>
        <p:txBody>
          <a:bodyPr wrap="square" lIns="0" tIns="0" rIns="0" bIns="0" rtlCol="0" anchor="ctr"/>
          <a:lstStyle/>
          <a:p>
            <a:pPr marL="0" indent="0">
              <a:buNone/>
            </a:pPr>
            <a:r>
              <a:rPr lang="en-US" sz="1200" b="1" kern="0" spc="200" dirty="0">
                <a:solidFill>
                  <a:schemeClr val="tx2"/>
                </a:solidFill>
              </a:rPr>
              <a:t>BOSONIC / FOCK-SPACE ENCODINGS ON REAL QUANTUM HARDWARE</a:t>
            </a:r>
            <a:endParaRPr lang="en-US" sz="1200" dirty="0"/>
          </a:p>
        </p:txBody>
      </p:sp>
      <p:sp>
        <p:nvSpPr>
          <p:cNvPr id="5" name="Kolmogorian solver"/>
          <p:cNvSpPr/>
          <p:nvPr/>
        </p:nvSpPr>
        <p:spPr>
          <a:xfrm>
            <a:off x="548640" y="1600200"/>
            <a:ext cx="3423818" cy="1234440"/>
          </a:xfrm>
          <a:prstGeom prst="roundRect">
            <a:avLst>
              <a:gd name="adj" fmla="val 11111"/>
            </a:avLst>
          </a:prstGeom>
          <a:solidFill>
            <a:schemeClr val="bg2"/>
          </a:solidFill>
          <a:ln w="9525">
            <a:solidFill>
              <a:schemeClr val="accent5"/>
            </a:solidFill>
            <a:prstDash val="solid"/>
          </a:ln>
        </p:spPr>
        <p:txBody>
          <a:bodyPr/>
          <a:lstStyle/>
          <a:p>
            <a:endParaRPr lang="fr-FR"/>
          </a:p>
        </p:txBody>
      </p:sp>
      <p:sp>
        <p:nvSpPr>
          <p:cNvPr id="6" name="Shape 4"/>
          <p:cNvSpPr/>
          <p:nvPr/>
        </p:nvSpPr>
        <p:spPr>
          <a:xfrm>
            <a:off x="822960" y="1892808"/>
            <a:ext cx="91440" cy="91440"/>
          </a:xfrm>
          <a:prstGeom prst="rect">
            <a:avLst/>
          </a:prstGeom>
          <a:solidFill>
            <a:schemeClr val="accent2"/>
          </a:solidFill>
          <a:ln/>
        </p:spPr>
        <p:txBody>
          <a:bodyPr/>
          <a:lstStyle/>
          <a:p>
            <a:endParaRPr lang="fr-FR"/>
          </a:p>
        </p:txBody>
      </p:sp>
      <p:sp>
        <p:nvSpPr>
          <p:cNvPr id="7" name="Text 5"/>
          <p:cNvSpPr txBox="1"/>
          <p:nvPr/>
        </p:nvSpPr>
        <p:spPr>
          <a:xfrm>
            <a:off x="1005840" y="1801368"/>
            <a:ext cx="2875178" cy="274320"/>
          </a:xfrm>
          <a:prstGeom prst="rect">
            <a:avLst/>
          </a:prstGeom>
          <a:noFill/>
          <a:ln/>
        </p:spPr>
        <p:txBody>
          <a:bodyPr wrap="square" lIns="0" tIns="0" rIns="0" bIns="0" rtlCol="0" anchor="ctr"/>
          <a:lstStyle/>
          <a:p>
            <a:pPr marL="0" indent="0">
              <a:buNone/>
            </a:pPr>
            <a:r>
              <a:rPr lang="en-US" sz="1100" b="1" kern="0" spc="200" dirty="0">
                <a:solidFill>
                  <a:schemeClr val="tx2"/>
                </a:solidFill>
              </a:rPr>
              <a:t>NONLINEAR, DISSIPATIVE CFD</a:t>
            </a:r>
            <a:endParaRPr lang="en-US" sz="1100" dirty="0"/>
          </a:p>
        </p:txBody>
      </p:sp>
      <p:sp>
        <p:nvSpPr>
          <p:cNvPr id="8" name="Text 6"/>
          <p:cNvSpPr txBox="1"/>
          <p:nvPr/>
        </p:nvSpPr>
        <p:spPr>
          <a:xfrm>
            <a:off x="822960" y="2130552"/>
            <a:ext cx="2966618" cy="365760"/>
          </a:xfrm>
          <a:prstGeom prst="rect">
            <a:avLst/>
          </a:prstGeom>
          <a:noFill/>
          <a:ln/>
        </p:spPr>
        <p:txBody>
          <a:bodyPr wrap="square" lIns="0" tIns="0" rIns="0" bIns="0" rtlCol="0" anchor="ctr"/>
          <a:lstStyle/>
          <a:p>
            <a:pPr marL="0" indent="0">
              <a:buNone/>
            </a:pPr>
            <a:r>
              <a:rPr lang="en-US" sz="1500" b="1" dirty="0">
                <a:solidFill>
                  <a:schemeClr val="tx1"/>
                </a:solidFill>
              </a:rPr>
              <a:t>Kolmogorian solver</a:t>
            </a:r>
            <a:endParaRPr lang="en-US" sz="1500" dirty="0"/>
          </a:p>
        </p:txBody>
      </p:sp>
      <p:sp>
        <p:nvSpPr>
          <p:cNvPr id="9" name="Text 7"/>
          <p:cNvSpPr txBox="1"/>
          <p:nvPr/>
        </p:nvSpPr>
        <p:spPr>
          <a:xfrm>
            <a:off x="822960" y="2496312"/>
            <a:ext cx="2966618" cy="411480"/>
          </a:xfrm>
          <a:prstGeom prst="rect">
            <a:avLst/>
          </a:prstGeom>
          <a:noFill/>
          <a:ln/>
        </p:spPr>
        <p:txBody>
          <a:bodyPr wrap="square" lIns="0" tIns="0" rIns="0" bIns="0" rtlCol="0" anchor="t"/>
          <a:lstStyle/>
          <a:p>
            <a:pPr marL="0" indent="0">
              <a:buNone/>
            </a:pPr>
            <a:r>
              <a:rPr lang="en-US" sz="1200" dirty="0">
                <a:solidFill>
                  <a:schemeClr val="tx2"/>
                </a:solidFill>
              </a:rPr>
              <a:t>Bravyi et al., arXiv:2606.08349</a:t>
            </a:r>
            <a:endParaRPr lang="en-US" sz="1200" dirty="0"/>
          </a:p>
        </p:txBody>
      </p:sp>
      <p:sp>
        <p:nvSpPr>
          <p:cNvPr id="10" name="QALB lattice Boltzmann"/>
          <p:cNvSpPr/>
          <p:nvPr/>
        </p:nvSpPr>
        <p:spPr>
          <a:xfrm>
            <a:off x="4383938" y="1600200"/>
            <a:ext cx="3423818" cy="1234440"/>
          </a:xfrm>
          <a:prstGeom prst="roundRect">
            <a:avLst>
              <a:gd name="adj" fmla="val 11111"/>
            </a:avLst>
          </a:prstGeom>
          <a:solidFill>
            <a:schemeClr val="bg2"/>
          </a:solidFill>
          <a:ln w="9525">
            <a:solidFill>
              <a:schemeClr val="accent5"/>
            </a:solidFill>
            <a:prstDash val="solid"/>
          </a:ln>
        </p:spPr>
        <p:txBody>
          <a:bodyPr/>
          <a:lstStyle/>
          <a:p>
            <a:endParaRPr lang="fr-FR"/>
          </a:p>
        </p:txBody>
      </p:sp>
      <p:sp>
        <p:nvSpPr>
          <p:cNvPr id="11" name="Shape 9"/>
          <p:cNvSpPr/>
          <p:nvPr/>
        </p:nvSpPr>
        <p:spPr>
          <a:xfrm>
            <a:off x="4658258" y="1892808"/>
            <a:ext cx="91440" cy="91440"/>
          </a:xfrm>
          <a:prstGeom prst="rect">
            <a:avLst/>
          </a:prstGeom>
          <a:solidFill>
            <a:schemeClr val="accent2"/>
          </a:solidFill>
          <a:ln/>
        </p:spPr>
        <p:txBody>
          <a:bodyPr/>
          <a:lstStyle/>
          <a:p>
            <a:endParaRPr lang="fr-FR"/>
          </a:p>
        </p:txBody>
      </p:sp>
      <p:sp>
        <p:nvSpPr>
          <p:cNvPr id="12" name="Text 10"/>
          <p:cNvSpPr txBox="1"/>
          <p:nvPr/>
        </p:nvSpPr>
        <p:spPr>
          <a:xfrm>
            <a:off x="4841138" y="1801368"/>
            <a:ext cx="2875178" cy="274320"/>
          </a:xfrm>
          <a:prstGeom prst="rect">
            <a:avLst/>
          </a:prstGeom>
          <a:noFill/>
          <a:ln/>
        </p:spPr>
        <p:txBody>
          <a:bodyPr wrap="square" lIns="0" tIns="0" rIns="0" bIns="0" rtlCol="0" anchor="ctr"/>
          <a:lstStyle/>
          <a:p>
            <a:pPr marL="0" indent="0">
              <a:buNone/>
            </a:pPr>
            <a:r>
              <a:rPr lang="en-US" sz="1100" b="1" kern="0" spc="200" dirty="0">
                <a:solidFill>
                  <a:schemeClr val="tx2"/>
                </a:solidFill>
              </a:rPr>
              <a:t>NONLINEAR, DISSIPATIVE CFD</a:t>
            </a:r>
            <a:endParaRPr lang="en-US" sz="1100" dirty="0"/>
          </a:p>
        </p:txBody>
      </p:sp>
      <p:sp>
        <p:nvSpPr>
          <p:cNvPr id="13" name="Text 11"/>
          <p:cNvSpPr txBox="1"/>
          <p:nvPr/>
        </p:nvSpPr>
        <p:spPr>
          <a:xfrm>
            <a:off x="4658258" y="2130552"/>
            <a:ext cx="2966618" cy="365760"/>
          </a:xfrm>
          <a:prstGeom prst="rect">
            <a:avLst/>
          </a:prstGeom>
          <a:noFill/>
          <a:ln/>
        </p:spPr>
        <p:txBody>
          <a:bodyPr wrap="square" lIns="0" tIns="0" rIns="0" bIns="0" rtlCol="0" anchor="ctr"/>
          <a:lstStyle/>
          <a:p>
            <a:pPr marL="0" indent="0">
              <a:buNone/>
            </a:pPr>
            <a:r>
              <a:rPr lang="en-US" sz="1500" b="1" dirty="0">
                <a:solidFill>
                  <a:schemeClr val="tx1"/>
                </a:solidFill>
              </a:rPr>
              <a:t>QALB lattice Boltzmann</a:t>
            </a:r>
            <a:endParaRPr lang="en-US" sz="1500" dirty="0"/>
          </a:p>
        </p:txBody>
      </p:sp>
      <p:sp>
        <p:nvSpPr>
          <p:cNvPr id="14" name="Text 12"/>
          <p:cNvSpPr txBox="1"/>
          <p:nvPr/>
        </p:nvSpPr>
        <p:spPr>
          <a:xfrm>
            <a:off x="4658258" y="2496312"/>
            <a:ext cx="2966618" cy="411480"/>
          </a:xfrm>
          <a:prstGeom prst="rect">
            <a:avLst/>
          </a:prstGeom>
          <a:noFill/>
          <a:ln/>
        </p:spPr>
        <p:txBody>
          <a:bodyPr wrap="square" lIns="0" tIns="0" rIns="0" bIns="0" rtlCol="0" anchor="t"/>
          <a:lstStyle/>
          <a:p>
            <a:pPr marL="0" indent="0">
              <a:buNone/>
            </a:pPr>
            <a:r>
              <a:rPr lang="en-US" sz="1200" dirty="0">
                <a:solidFill>
                  <a:schemeClr val="tx2"/>
                </a:solidFill>
              </a:rPr>
              <a:t>Itani et al., arXiv:2304.05915</a:t>
            </a:r>
            <a:endParaRPr lang="en-US" sz="1200" dirty="0"/>
          </a:p>
        </p:txBody>
      </p:sp>
      <p:sp>
        <p:nvSpPr>
          <p:cNvPr id="15" name="Spin qubits (SpinPulse)"/>
          <p:cNvSpPr/>
          <p:nvPr/>
        </p:nvSpPr>
        <p:spPr>
          <a:xfrm>
            <a:off x="8219237" y="1600200"/>
            <a:ext cx="3423818" cy="1234440"/>
          </a:xfrm>
          <a:prstGeom prst="roundRect">
            <a:avLst>
              <a:gd name="adj" fmla="val 11111"/>
            </a:avLst>
          </a:prstGeom>
          <a:solidFill>
            <a:schemeClr val="bg2"/>
          </a:solidFill>
          <a:ln w="12700">
            <a:solidFill>
              <a:schemeClr val="accent1"/>
            </a:solidFill>
            <a:prstDash val="solid"/>
          </a:ln>
        </p:spPr>
        <p:txBody>
          <a:bodyPr/>
          <a:lstStyle/>
          <a:p>
            <a:endParaRPr lang="fr-FR"/>
          </a:p>
        </p:txBody>
      </p:sp>
      <p:sp>
        <p:nvSpPr>
          <p:cNvPr id="16" name="Shape 14"/>
          <p:cNvSpPr/>
          <p:nvPr/>
        </p:nvSpPr>
        <p:spPr>
          <a:xfrm>
            <a:off x="8493557" y="1892808"/>
            <a:ext cx="91440" cy="91440"/>
          </a:xfrm>
          <a:prstGeom prst="rect">
            <a:avLst/>
          </a:prstGeom>
          <a:solidFill>
            <a:schemeClr val="accent2"/>
          </a:solidFill>
          <a:ln/>
        </p:spPr>
        <p:txBody>
          <a:bodyPr/>
          <a:lstStyle/>
          <a:p>
            <a:endParaRPr lang="fr-FR"/>
          </a:p>
        </p:txBody>
      </p:sp>
      <p:sp>
        <p:nvSpPr>
          <p:cNvPr id="17" name="Text 15"/>
          <p:cNvSpPr txBox="1"/>
          <p:nvPr/>
        </p:nvSpPr>
        <p:spPr>
          <a:xfrm>
            <a:off x="8676437" y="1801368"/>
            <a:ext cx="2875178" cy="274320"/>
          </a:xfrm>
          <a:prstGeom prst="rect">
            <a:avLst/>
          </a:prstGeom>
          <a:noFill/>
          <a:ln/>
        </p:spPr>
        <p:txBody>
          <a:bodyPr wrap="square" lIns="0" tIns="0" rIns="0" bIns="0" rtlCol="0" anchor="ctr"/>
          <a:lstStyle/>
          <a:p>
            <a:pPr marL="0" indent="0">
              <a:buNone/>
            </a:pPr>
            <a:r>
              <a:rPr lang="en-US" sz="1100" b="1" kern="0" spc="200" dirty="0">
                <a:solidFill>
                  <a:schemeClr val="tx2"/>
                </a:solidFill>
              </a:rPr>
              <a:t>HARDWARE MODEL</a:t>
            </a:r>
            <a:endParaRPr lang="en-US" sz="1100" dirty="0"/>
          </a:p>
        </p:txBody>
      </p:sp>
      <p:sp>
        <p:nvSpPr>
          <p:cNvPr id="18" name="Text 16"/>
          <p:cNvSpPr txBox="1"/>
          <p:nvPr/>
        </p:nvSpPr>
        <p:spPr>
          <a:xfrm>
            <a:off x="8493557" y="2130552"/>
            <a:ext cx="2966618" cy="365760"/>
          </a:xfrm>
          <a:prstGeom prst="rect">
            <a:avLst/>
          </a:prstGeom>
          <a:noFill/>
          <a:ln/>
        </p:spPr>
        <p:txBody>
          <a:bodyPr wrap="square" lIns="0" tIns="0" rIns="0" bIns="0" rtlCol="0" anchor="ctr"/>
          <a:lstStyle/>
          <a:p>
            <a:pPr marL="0" indent="0">
              <a:buNone/>
            </a:pPr>
            <a:r>
              <a:rPr lang="en-US" sz="1500" b="1" dirty="0">
                <a:solidFill>
                  <a:schemeClr val="tx1"/>
                </a:solidFill>
              </a:rPr>
              <a:t>Spin qubits (SpinPulse)</a:t>
            </a:r>
            <a:endParaRPr lang="en-US" sz="1500" dirty="0"/>
          </a:p>
        </p:txBody>
      </p:sp>
      <p:sp>
        <p:nvSpPr>
          <p:cNvPr id="19" name="Text 17"/>
          <p:cNvSpPr txBox="1"/>
          <p:nvPr/>
        </p:nvSpPr>
        <p:spPr>
          <a:xfrm>
            <a:off x="8493557" y="2496312"/>
            <a:ext cx="2966618" cy="411480"/>
          </a:xfrm>
          <a:prstGeom prst="rect">
            <a:avLst/>
          </a:prstGeom>
          <a:noFill/>
          <a:ln/>
        </p:spPr>
        <p:txBody>
          <a:bodyPr wrap="square" lIns="0" tIns="0" rIns="0" bIns="0" rtlCol="0" anchor="t"/>
          <a:lstStyle/>
          <a:p>
            <a:pPr marL="0" indent="0">
              <a:buNone/>
            </a:pPr>
            <a:r>
              <a:rPr lang="en-US" sz="1200" dirty="0">
                <a:solidFill>
                  <a:schemeClr val="tx2"/>
                </a:solidFill>
              </a:rPr>
              <a:t>Resource estimates for both approaches</a:t>
            </a:r>
            <a:endParaRPr lang="en-US" sz="1200" dirty="0"/>
          </a:p>
        </p:txBody>
      </p:sp>
      <p:sp>
        <p:nvSpPr>
          <p:cNvPr id="20" name="Text 18"/>
          <p:cNvSpPr txBox="1"/>
          <p:nvPr/>
        </p:nvSpPr>
        <p:spPr>
          <a:xfrm>
            <a:off x="3972458" y="2034540"/>
            <a:ext cx="411480" cy="365760"/>
          </a:xfrm>
          <a:prstGeom prst="rect">
            <a:avLst/>
          </a:prstGeom>
          <a:noFill/>
          <a:ln/>
        </p:spPr>
        <p:txBody>
          <a:bodyPr wrap="square" lIns="0" tIns="0" rIns="0" bIns="0" rtlCol="0" anchor="ctr"/>
          <a:lstStyle/>
          <a:p>
            <a:pPr marL="0" indent="0" algn="ctr">
              <a:buNone/>
            </a:pPr>
            <a:r>
              <a:rPr lang="en-US" sz="1400" b="1" dirty="0">
                <a:solidFill>
                  <a:schemeClr val="tx2"/>
                </a:solidFill>
              </a:rPr>
              <a:t>+</a:t>
            </a:r>
            <a:endParaRPr lang="en-US" sz="1400" dirty="0"/>
          </a:p>
        </p:txBody>
      </p:sp>
      <p:sp>
        <p:nvSpPr>
          <p:cNvPr id="21" name="Shape 19"/>
          <p:cNvSpPr/>
          <p:nvPr/>
        </p:nvSpPr>
        <p:spPr>
          <a:xfrm>
            <a:off x="7899197" y="2098548"/>
            <a:ext cx="228600" cy="237744"/>
          </a:xfrm>
          <a:prstGeom prst="rightArrow">
            <a:avLst/>
          </a:prstGeom>
          <a:solidFill>
            <a:schemeClr val="accent1"/>
          </a:solidFill>
          <a:ln/>
        </p:spPr>
        <p:txBody>
          <a:bodyPr/>
          <a:lstStyle/>
          <a:p>
            <a:endParaRPr lang="fr-FR"/>
          </a:p>
        </p:txBody>
      </p:sp>
      <p:sp>
        <p:nvSpPr>
          <p:cNvPr id="22" name="Bosonic trick"/>
          <p:cNvSpPr/>
          <p:nvPr/>
        </p:nvSpPr>
        <p:spPr>
          <a:xfrm>
            <a:off x="548640" y="3017520"/>
            <a:ext cx="6903720" cy="3063240"/>
          </a:xfrm>
          <a:prstGeom prst="roundRect">
            <a:avLst>
              <a:gd name="adj" fmla="val 4478"/>
            </a:avLst>
          </a:prstGeom>
          <a:solidFill>
            <a:schemeClr val="bg2"/>
          </a:solidFill>
          <a:ln w="9525">
            <a:solidFill>
              <a:schemeClr val="accent5"/>
            </a:solidFill>
            <a:prstDash val="solid"/>
          </a:ln>
        </p:spPr>
        <p:txBody>
          <a:bodyPr/>
          <a:lstStyle/>
          <a:p>
            <a:endParaRPr lang="fr-FR"/>
          </a:p>
        </p:txBody>
      </p:sp>
      <p:sp>
        <p:nvSpPr>
          <p:cNvPr id="23" name="Shape 21"/>
          <p:cNvSpPr/>
          <p:nvPr/>
        </p:nvSpPr>
        <p:spPr>
          <a:xfrm>
            <a:off x="868680" y="3310128"/>
            <a:ext cx="91440" cy="91440"/>
          </a:xfrm>
          <a:prstGeom prst="rect">
            <a:avLst/>
          </a:prstGeom>
          <a:solidFill>
            <a:schemeClr val="accent2"/>
          </a:solidFill>
          <a:ln/>
        </p:spPr>
        <p:txBody>
          <a:bodyPr/>
          <a:lstStyle/>
          <a:p>
            <a:endParaRPr lang="fr-FR"/>
          </a:p>
        </p:txBody>
      </p:sp>
      <p:sp>
        <p:nvSpPr>
          <p:cNvPr id="24" name="Text 22"/>
          <p:cNvSpPr txBox="1"/>
          <p:nvPr/>
        </p:nvSpPr>
        <p:spPr>
          <a:xfrm>
            <a:off x="1051560" y="3218688"/>
            <a:ext cx="6263640" cy="274320"/>
          </a:xfrm>
          <a:prstGeom prst="rect">
            <a:avLst/>
          </a:prstGeom>
          <a:noFill/>
          <a:ln/>
        </p:spPr>
        <p:txBody>
          <a:bodyPr wrap="square" lIns="0" tIns="0" rIns="0" bIns="0" rtlCol="0" anchor="ctr"/>
          <a:lstStyle/>
          <a:p>
            <a:pPr marL="0" indent="0">
              <a:buNone/>
            </a:pPr>
            <a:r>
              <a:rPr lang="en-US" sz="1100" b="1" kern="0" spc="200" dirty="0">
                <a:solidFill>
                  <a:schemeClr val="tx2"/>
                </a:solidFill>
              </a:rPr>
              <a:t>WHY THE BOSONIC TRICK WORKS IN BOTH</a:t>
            </a:r>
            <a:endParaRPr lang="en-US" sz="1100" dirty="0"/>
          </a:p>
        </p:txBody>
      </p:sp>
      <p:sp>
        <p:nvSpPr>
          <p:cNvPr id="25" name="Text 23"/>
          <p:cNvSpPr txBox="1"/>
          <p:nvPr/>
        </p:nvSpPr>
        <p:spPr>
          <a:xfrm>
            <a:off x="868680" y="3520440"/>
            <a:ext cx="6263640" cy="502920"/>
          </a:xfrm>
          <a:prstGeom prst="rect">
            <a:avLst/>
          </a:prstGeom>
          <a:noFill/>
          <a:ln/>
        </p:spPr>
        <p:txBody>
          <a:bodyPr wrap="square" lIns="0" tIns="0" rIns="0" bIns="0" rtlCol="0" anchor="t"/>
          <a:lstStyle/>
          <a:p>
            <a:pPr marL="0" indent="0">
              <a:buNone/>
            </a:pPr>
            <a:r>
              <a:rPr lang="en-US" sz="1500" b="1" dirty="0">
                <a:solidFill>
                  <a:schemeClr val="tx1"/>
                </a:solidFill>
              </a:rPr>
              <a:t>Map each classical variable to a bosonic mode: nonlinear dynamics become linear evolution in Fock space</a:t>
            </a:r>
            <a:endParaRPr lang="en-US" sz="1500" dirty="0"/>
          </a:p>
        </p:txBody>
      </p:sp>
      <p:sp>
        <p:nvSpPr>
          <p:cNvPr id="26" name="Kolmogorian solver"/>
          <p:cNvSpPr/>
          <p:nvPr/>
        </p:nvSpPr>
        <p:spPr>
          <a:xfrm>
            <a:off x="868680" y="4096512"/>
            <a:ext cx="2971800" cy="1005840"/>
          </a:xfrm>
          <a:prstGeom prst="roundRect">
            <a:avLst>
              <a:gd name="adj" fmla="val 7273"/>
            </a:avLst>
          </a:prstGeom>
          <a:solidFill>
            <a:schemeClr val="accent4"/>
          </a:solidFill>
          <a:ln/>
        </p:spPr>
        <p:txBody>
          <a:bodyPr/>
          <a:lstStyle/>
          <a:p>
            <a:endParaRPr lang="fr-FR"/>
          </a:p>
        </p:txBody>
      </p:sp>
      <p:sp>
        <p:nvSpPr>
          <p:cNvPr id="27" name="Text 25"/>
          <p:cNvSpPr txBox="1"/>
          <p:nvPr/>
        </p:nvSpPr>
        <p:spPr>
          <a:xfrm>
            <a:off x="1033272" y="4151376"/>
            <a:ext cx="2642616" cy="274320"/>
          </a:xfrm>
          <a:prstGeom prst="rect">
            <a:avLst/>
          </a:prstGeom>
          <a:noFill/>
          <a:ln/>
        </p:spPr>
        <p:txBody>
          <a:bodyPr wrap="square" lIns="0" tIns="0" rIns="0" bIns="0" rtlCol="0" anchor="ctr"/>
          <a:lstStyle/>
          <a:p>
            <a:pPr marL="0" indent="0">
              <a:buNone/>
            </a:pPr>
            <a:r>
              <a:rPr lang="en-US" sz="1300" b="1" dirty="0">
                <a:solidFill>
                  <a:schemeClr val="tx1"/>
                </a:solidFill>
              </a:rPr>
              <a:t>Kolmogorian solver</a:t>
            </a:r>
            <a:endParaRPr lang="en-US" sz="1300" dirty="0"/>
          </a:p>
        </p:txBody>
      </p:sp>
      <p:sp>
        <p:nvSpPr>
          <p:cNvPr id="28" name="Text 26"/>
          <p:cNvSpPr txBox="1"/>
          <p:nvPr/>
        </p:nvSpPr>
        <p:spPr>
          <a:xfrm>
            <a:off x="1033272" y="4434840"/>
            <a:ext cx="2743200" cy="640080"/>
          </a:xfrm>
          <a:prstGeom prst="rect">
            <a:avLst/>
          </a:prstGeom>
          <a:noFill/>
          <a:ln/>
        </p:spPr>
        <p:txBody>
          <a:bodyPr wrap="square" lIns="0" tIns="0" rIns="0" bIns="0" rtlCol="0" anchor="t"/>
          <a:lstStyle/>
          <a:p>
            <a:pPr marL="152400" indent="-152400">
              <a:spcAft>
                <a:spcPts val="300"/>
              </a:spcAft>
              <a:buSzPct val="100000"/>
              <a:buChar char="•"/>
            </a:pPr>
            <a:r>
              <a:rPr lang="en-US" sz="1100" dirty="0">
                <a:solidFill>
                  <a:schemeClr val="tx2"/>
                </a:solidFill>
              </a:rPr>
              <a:t>d|ψ⟩/dt = (−A+B+C)|ψ⟩: linear in Fock space</a:t>
            </a:r>
            <a:endParaRPr lang="en-US" sz="1100" dirty="0"/>
          </a:p>
          <a:p>
            <a:pPr marL="152400" indent="-152400">
              <a:spcAft>
                <a:spcPts val="300"/>
              </a:spcAft>
              <a:buSzPct val="100000"/>
              <a:buChar char="•"/>
            </a:pPr>
            <a:r>
              <a:rPr lang="en-US" sz="1100" dirty="0">
                <a:solidFill>
                  <a:schemeClr val="tx2"/>
                </a:solidFill>
              </a:rPr>
              <a:t>Dissipation sets the Fock-space cutoff</a:t>
            </a:r>
            <a:endParaRPr lang="en-US" sz="1100" dirty="0"/>
          </a:p>
        </p:txBody>
      </p:sp>
      <p:sp>
        <p:nvSpPr>
          <p:cNvPr id="29" name="QALB lattice Boltzmann"/>
          <p:cNvSpPr/>
          <p:nvPr/>
        </p:nvSpPr>
        <p:spPr>
          <a:xfrm>
            <a:off x="4160520" y="4096512"/>
            <a:ext cx="2971800" cy="1005840"/>
          </a:xfrm>
          <a:prstGeom prst="roundRect">
            <a:avLst>
              <a:gd name="adj" fmla="val 7273"/>
            </a:avLst>
          </a:prstGeom>
          <a:solidFill>
            <a:schemeClr val="accent4"/>
          </a:solidFill>
          <a:ln/>
        </p:spPr>
        <p:txBody>
          <a:bodyPr/>
          <a:lstStyle/>
          <a:p>
            <a:endParaRPr lang="fr-FR"/>
          </a:p>
        </p:txBody>
      </p:sp>
      <p:sp>
        <p:nvSpPr>
          <p:cNvPr id="30" name="Text 28"/>
          <p:cNvSpPr txBox="1"/>
          <p:nvPr/>
        </p:nvSpPr>
        <p:spPr>
          <a:xfrm>
            <a:off x="4325112" y="4151376"/>
            <a:ext cx="2642616" cy="274320"/>
          </a:xfrm>
          <a:prstGeom prst="rect">
            <a:avLst/>
          </a:prstGeom>
          <a:noFill/>
          <a:ln/>
        </p:spPr>
        <p:txBody>
          <a:bodyPr wrap="square" lIns="0" tIns="0" rIns="0" bIns="0" rtlCol="0" anchor="ctr"/>
          <a:lstStyle/>
          <a:p>
            <a:pPr marL="0" indent="0">
              <a:buNone/>
            </a:pPr>
            <a:r>
              <a:rPr lang="en-US" sz="1300" b="1" dirty="0">
                <a:solidFill>
                  <a:schemeClr val="tx1"/>
                </a:solidFill>
              </a:rPr>
              <a:t>QALB lattice Boltzmann</a:t>
            </a:r>
            <a:endParaRPr lang="en-US" sz="1300" dirty="0"/>
          </a:p>
        </p:txBody>
      </p:sp>
      <p:sp>
        <p:nvSpPr>
          <p:cNvPr id="31" name="Text 29"/>
          <p:cNvSpPr txBox="1"/>
          <p:nvPr/>
        </p:nvSpPr>
        <p:spPr>
          <a:xfrm>
            <a:off x="4325112" y="4434840"/>
            <a:ext cx="2743200" cy="640080"/>
          </a:xfrm>
          <a:prstGeom prst="rect">
            <a:avLst/>
          </a:prstGeom>
          <a:noFill/>
          <a:ln/>
        </p:spPr>
        <p:txBody>
          <a:bodyPr wrap="square" lIns="0" tIns="0" rIns="0" bIns="0" rtlCol="0" anchor="t"/>
          <a:lstStyle/>
          <a:p>
            <a:pPr marL="152400" indent="-152400">
              <a:spcAft>
                <a:spcPts val="300"/>
              </a:spcAft>
              <a:buSzPct val="100000"/>
              <a:buChar char="•"/>
            </a:pPr>
            <a:r>
              <a:rPr lang="en-US" sz="1100" dirty="0">
                <a:solidFill>
                  <a:schemeClr val="tx2"/>
                </a:solidFill>
              </a:rPr>
              <a:t>Kowalski mapping quantizes the BGK collision</a:t>
            </a:r>
            <a:endParaRPr lang="en-US" sz="1100" dirty="0"/>
          </a:p>
          <a:p>
            <a:pPr marL="152400" indent="-152400">
              <a:spcAft>
                <a:spcPts val="300"/>
              </a:spcAft>
              <a:buSzPct val="100000"/>
              <a:buChar char="•"/>
            </a:pPr>
            <a:r>
              <a:rPr lang="en-US" sz="1100" dirty="0">
                <a:solidFill>
                  <a:schemeClr val="tx2"/>
                </a:solidFill>
              </a:rPr>
              <a:t>Fock cutoff sets the Carleman order</a:t>
            </a:r>
            <a:endParaRPr lang="en-US" sz="1100" dirty="0"/>
          </a:p>
        </p:txBody>
      </p:sp>
      <p:sp>
        <p:nvSpPr>
          <p:cNvPr id="32" name="Why it matters"/>
          <p:cNvSpPr/>
          <p:nvPr/>
        </p:nvSpPr>
        <p:spPr>
          <a:xfrm>
            <a:off x="868680" y="5230368"/>
            <a:ext cx="6263640" cy="685800"/>
          </a:xfrm>
          <a:prstGeom prst="roundRect">
            <a:avLst>
              <a:gd name="adj" fmla="val 10667"/>
            </a:avLst>
          </a:prstGeom>
          <a:solidFill>
            <a:schemeClr val="accent1"/>
          </a:solidFill>
          <a:ln/>
        </p:spPr>
        <p:txBody>
          <a:bodyPr/>
          <a:lstStyle/>
          <a:p>
            <a:endParaRPr lang="fr-FR"/>
          </a:p>
        </p:txBody>
      </p:sp>
      <p:sp>
        <p:nvSpPr>
          <p:cNvPr id="33" name="Shape 31"/>
          <p:cNvSpPr/>
          <p:nvPr/>
        </p:nvSpPr>
        <p:spPr>
          <a:xfrm>
            <a:off x="1051560" y="5367528"/>
            <a:ext cx="91440" cy="91440"/>
          </a:xfrm>
          <a:prstGeom prst="rect">
            <a:avLst/>
          </a:prstGeom>
          <a:solidFill>
            <a:schemeClr val="accent2"/>
          </a:solidFill>
          <a:ln/>
        </p:spPr>
        <p:txBody>
          <a:bodyPr/>
          <a:lstStyle/>
          <a:p>
            <a:endParaRPr lang="fr-FR"/>
          </a:p>
        </p:txBody>
      </p:sp>
      <p:sp>
        <p:nvSpPr>
          <p:cNvPr id="34" name="Text 32"/>
          <p:cNvSpPr txBox="1"/>
          <p:nvPr/>
        </p:nvSpPr>
        <p:spPr>
          <a:xfrm>
            <a:off x="1234440" y="5257800"/>
            <a:ext cx="5806440" cy="640080"/>
          </a:xfrm>
          <a:prstGeom prst="rect">
            <a:avLst/>
          </a:prstGeom>
          <a:noFill/>
          <a:ln/>
        </p:spPr>
        <p:txBody>
          <a:bodyPr wrap="square" lIns="0" tIns="0" rIns="0" bIns="0" rtlCol="0" anchor="ctr"/>
          <a:lstStyle/>
          <a:p>
            <a:pPr marL="0" indent="0">
              <a:buNone/>
            </a:pPr>
            <a:r>
              <a:rPr lang="en-US" sz="1250" b="1" dirty="0">
                <a:solidFill>
                  <a:schemeClr val="tx1"/>
                </a:solidFill>
              </a:rPr>
              <a:t>Why it matters: </a:t>
            </a:r>
            <a:r>
              <a:rPr lang="en-US" sz="1250" dirty="0">
                <a:solidFill>
                  <a:schemeClr val="tx1"/>
                </a:solidFill>
              </a:rPr>
              <a:t>qubits grow only with the log of the Fock-space size, cost is poly(log N), and Bravyi et al. show the problem is BQP-complete, evidence for a quantum advantage</a:t>
            </a:r>
            <a:endParaRPr lang="en-US" sz="1250" dirty="0"/>
          </a:p>
        </p:txBody>
      </p:sp>
      <p:sp>
        <p:nvSpPr>
          <p:cNvPr id="35" name="Finding: advantage"/>
          <p:cNvSpPr/>
          <p:nvPr/>
        </p:nvSpPr>
        <p:spPr>
          <a:xfrm>
            <a:off x="7772400" y="3017520"/>
            <a:ext cx="3870655" cy="3063240"/>
          </a:xfrm>
          <a:prstGeom prst="roundRect">
            <a:avLst>
              <a:gd name="adj" fmla="val 4478"/>
            </a:avLst>
          </a:prstGeom>
          <a:solidFill>
            <a:schemeClr val="accent1"/>
          </a:solidFill>
          <a:ln/>
        </p:spPr>
        <p:txBody>
          <a:bodyPr/>
          <a:lstStyle/>
          <a:p>
            <a:endParaRPr lang="fr-FR"/>
          </a:p>
        </p:txBody>
      </p:sp>
      <p:sp>
        <p:nvSpPr>
          <p:cNvPr id="36" name="Shape 34"/>
          <p:cNvSpPr/>
          <p:nvPr/>
        </p:nvSpPr>
        <p:spPr>
          <a:xfrm>
            <a:off x="8092440" y="3337560"/>
            <a:ext cx="91440" cy="91440"/>
          </a:xfrm>
          <a:prstGeom prst="rect">
            <a:avLst/>
          </a:prstGeom>
          <a:solidFill>
            <a:schemeClr val="accent2"/>
          </a:solidFill>
          <a:ln/>
        </p:spPr>
        <p:txBody>
          <a:bodyPr/>
          <a:lstStyle/>
          <a:p>
            <a:endParaRPr lang="fr-FR"/>
          </a:p>
        </p:txBody>
      </p:sp>
      <p:sp>
        <p:nvSpPr>
          <p:cNvPr id="37" name="Text 35"/>
          <p:cNvSpPr txBox="1"/>
          <p:nvPr/>
        </p:nvSpPr>
        <p:spPr>
          <a:xfrm>
            <a:off x="8092440" y="3566160"/>
            <a:ext cx="3322015" cy="2331720"/>
          </a:xfrm>
          <a:prstGeom prst="rect">
            <a:avLst/>
          </a:prstGeom>
          <a:noFill/>
          <a:ln/>
        </p:spPr>
        <p:txBody>
          <a:bodyPr wrap="square" lIns="0" tIns="0" rIns="0" bIns="0" rtlCol="0" anchor="t"/>
          <a:lstStyle/>
          <a:p>
            <a:pPr marL="0" indent="0">
              <a:buNone/>
            </a:pPr>
            <a:r>
              <a:rPr lang="en-US" sz="1500" dirty="0">
                <a:solidFill>
                  <a:schemeClr val="tx1"/>
                </a:solidFill>
              </a:rPr>
              <a:t>“Quantum advantage” here is not a yes/no property of the algorithm. It is a </a:t>
            </a:r>
            <a:r>
              <a:rPr lang="en-US" sz="1500" b="1" dirty="0">
                <a:solidFill>
                  <a:schemeClr val="tx1"/>
                </a:solidFill>
              </a:rPr>
              <a:t>narrow, quantitatively locatable region</a:t>
            </a:r>
            <a:r>
              <a:rPr lang="en-US" sz="1500" dirty="0">
                <a:solidFill>
                  <a:schemeClr val="tx1"/>
                </a:solidFill>
              </a:rPr>
              <a:t> of (initial condition, noise rate, dissipation rate, encoding choice) space, and this project built the tools that find its boundary.</a:t>
            </a:r>
            <a:endParaRPr lang="en-US" sz="1500" dirty="0"/>
          </a:p>
        </p:txBody>
      </p:sp>
      <p:sp>
        <p:nvSpPr>
          <p:cNvPr id="38" name="Slide Number Placeholder 0"/>
          <p:cNvSpPr>
            <a:spLocks noGrp="1"/>
          </p:cNvSpPr>
          <p:nvPr>
            <p:ph type="sldNum" sz="quarter" idx="4294967295"/>
          </p:nvPr>
        </p:nvSpPr>
        <p:spPr>
          <a:xfrm>
            <a:off x="11094415" y="6327648"/>
            <a:ext cx="548640" cy="274320"/>
          </a:xfrm>
          <a:prstGeom prst="rect">
            <a:avLst/>
          </a:prstGeom>
          <a:extLst>
            <a:ext uri="{C572A759-6A51-4108-AA02-DFA0A04FC94B}">
              <ma14:wrappingTextBoxFlag xmlns:ma14="http://schemas.microsoft.com/office/mac/drawingml/2011/main" xmlns="" val="0"/>
            </a:ext>
          </a:extLst>
        </p:spPr>
        <p:txBody>
          <a:bodyPr lIns="0" tIns="0" rIns="0" bIns="0" anchor="ctr"/>
          <a:lstStyle>
            <a:lvl1pPr>
              <a:defRPr sz="1000">
                <a:solidFill>
                  <a:srgbClr val="9AA3BD"/>
                </a:solidFill>
              </a:defRPr>
            </a:lvl1pPr>
          </a:lstStyle>
          <a:p>
            <a:pPr algn="r"/>
            <a:fld id="{F7021451-1387-4CA6-816F-3879F97B5CBC}" type="slidenum">
              <a:rPr lang="en-US" b="0"/>
              <a:t>40</a:t>
            </a:fld>
            <a:endParaRPr lang="en-US"/>
          </a:p>
        </p:txBody>
      </p:sp>
      <p:pic>
        <p:nvPicPr>
          <p:cNvPr id="40" name="Image 39">
            <a:extLst>
              <a:ext uri="{FF2B5EF4-FFF2-40B4-BE49-F238E27FC236}">
                <a16:creationId xmlns:a16="http://schemas.microsoft.com/office/drawing/2014/main" id="{92F0395C-CD36-9705-A6C8-7B58CD0B8F06}"/>
              </a:ext>
            </a:extLst>
          </p:cNvPr>
          <p:cNvPicPr>
            <a:picLocks noChangeAspect="1"/>
          </p:cNvPicPr>
          <p:nvPr/>
        </p:nvPicPr>
        <p:blipFill>
          <a:blip r:embed="rId3"/>
          <a:stretch>
            <a:fillRect/>
          </a:stretch>
        </p:blipFill>
        <p:spPr>
          <a:xfrm>
            <a:off x="9724644" y="-443705"/>
            <a:ext cx="2437453" cy="1723866"/>
          </a:xfrm>
          <a:prstGeom prst="rect">
            <a:avLst/>
          </a:prstGeom>
        </p:spPr>
      </p:pic>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10"/>
          <p:cNvSpPr>
            <a:spLocks noGrp="1"/>
          </p:cNvSpPr>
          <p:nvPr>
            <p:ph type="title" idx="110" hasCustomPrompt="1"/>
          </p:nvPr>
        </p:nvSpPr>
        <p:spPr>
          <a:xfrm>
            <a:off x="548640" y="457200"/>
            <a:ext cx="11094415" cy="777240"/>
          </a:xfrm>
          <a:prstGeom prst="rect">
            <a:avLst/>
          </a:prstGeom>
          <a:noFill/>
          <a:ln/>
        </p:spPr>
        <p:txBody>
          <a:bodyPr wrap="square" lIns="0" tIns="0" rIns="0" bIns="0" rtlCol="0" anchor="t"/>
          <a:lstStyle/>
          <a:p>
            <a:pPr marL="0" indent="0" algn="l">
              <a:buNone/>
            </a:pPr>
            <a:r>
              <a:rPr lang="en-US" sz="3200" dirty="0">
                <a:solidFill>
                  <a:schemeClr val="tx1"/>
                </a:solidFill>
              </a:rPr>
              <a:t>Toy-model feasibility map: NISQ spin qubits</a:t>
            </a:r>
            <a:endParaRPr lang="en-US" sz="3200" dirty="0"/>
          </a:p>
        </p:txBody>
      </p:sp>
      <p:sp>
        <p:nvSpPr>
          <p:cNvPr id="3" name="Shape 1"/>
          <p:cNvSpPr/>
          <p:nvPr/>
        </p:nvSpPr>
        <p:spPr>
          <a:xfrm>
            <a:off x="548640" y="1188720"/>
            <a:ext cx="91440" cy="91440"/>
          </a:xfrm>
          <a:prstGeom prst="rect">
            <a:avLst/>
          </a:prstGeom>
          <a:solidFill>
            <a:schemeClr val="accent2"/>
          </a:solidFill>
          <a:ln/>
        </p:spPr>
        <p:txBody>
          <a:bodyPr/>
          <a:lstStyle/>
          <a:p>
            <a:endParaRPr lang="fr-FR"/>
          </a:p>
        </p:txBody>
      </p:sp>
      <p:sp>
        <p:nvSpPr>
          <p:cNvPr id="4" name="Text 2"/>
          <p:cNvSpPr txBox="1"/>
          <p:nvPr/>
        </p:nvSpPr>
        <p:spPr>
          <a:xfrm>
            <a:off x="731520" y="1097280"/>
            <a:ext cx="10058400" cy="274320"/>
          </a:xfrm>
          <a:prstGeom prst="rect">
            <a:avLst/>
          </a:prstGeom>
          <a:noFill/>
          <a:ln/>
        </p:spPr>
        <p:txBody>
          <a:bodyPr wrap="square" lIns="0" tIns="0" rIns="0" bIns="0" rtlCol="0" anchor="ctr"/>
          <a:lstStyle/>
          <a:p>
            <a:pPr marL="0" indent="0">
              <a:buNone/>
            </a:pPr>
            <a:r>
              <a:rPr lang="en-US" sz="1200" b="1" kern="0" spc="200" dirty="0">
                <a:solidFill>
                  <a:schemeClr val="tx2"/>
                </a:solidFill>
              </a:rPr>
              <a:t>KOLMOGORIAN SOLVER  ·  SINGLE-MODE TOY MODEL, λ = 1.0, J = 0.15, TARGET ε = 0.01</a:t>
            </a:r>
            <a:endParaRPr lang="en-US" sz="1200" dirty="0"/>
          </a:p>
        </p:txBody>
      </p:sp>
      <p:sp>
        <p:nvSpPr>
          <p:cNvPr id="5" name="Shape 3"/>
          <p:cNvSpPr/>
          <p:nvPr/>
        </p:nvSpPr>
        <p:spPr>
          <a:xfrm>
            <a:off x="1435608" y="1664208"/>
            <a:ext cx="749808" cy="512064"/>
          </a:xfrm>
          <a:prstGeom prst="roundRect">
            <a:avLst>
              <a:gd name="adj" fmla="val 8929"/>
            </a:avLst>
          </a:prstGeom>
          <a:solidFill>
            <a:schemeClr val="accent1"/>
          </a:solidFill>
          <a:ln/>
        </p:spPr>
        <p:txBody>
          <a:bodyPr/>
          <a:lstStyle/>
          <a:p>
            <a:endParaRPr lang="fr-FR"/>
          </a:p>
        </p:txBody>
      </p:sp>
      <p:sp>
        <p:nvSpPr>
          <p:cNvPr id="6" name="Text 4"/>
          <p:cNvSpPr txBox="1"/>
          <p:nvPr/>
        </p:nvSpPr>
        <p:spPr>
          <a:xfrm>
            <a:off x="1417320" y="1645920"/>
            <a:ext cx="786384" cy="548640"/>
          </a:xfrm>
          <a:prstGeom prst="rect">
            <a:avLst/>
          </a:prstGeom>
          <a:noFill/>
          <a:ln/>
        </p:spPr>
        <p:txBody>
          <a:bodyPr wrap="square" lIns="0" tIns="0" rIns="0" bIns="0" rtlCol="0" anchor="ctr"/>
          <a:lstStyle/>
          <a:p>
            <a:pPr marL="0" indent="0" algn="ctr">
              <a:buNone/>
            </a:pPr>
            <a:r>
              <a:rPr lang="en-US" sz="1200" b="1" dirty="0">
                <a:solidFill>
                  <a:schemeClr val="tx1"/>
                </a:solidFill>
              </a:rPr>
              <a:t>n=2</a:t>
            </a:r>
            <a:endParaRPr lang="en-US" sz="1200" dirty="0"/>
          </a:p>
        </p:txBody>
      </p:sp>
      <p:sp>
        <p:nvSpPr>
          <p:cNvPr id="7" name="Shape 5"/>
          <p:cNvSpPr/>
          <p:nvPr/>
        </p:nvSpPr>
        <p:spPr>
          <a:xfrm>
            <a:off x="2221992" y="1664208"/>
            <a:ext cx="749808" cy="512064"/>
          </a:xfrm>
          <a:prstGeom prst="roundRect">
            <a:avLst>
              <a:gd name="adj" fmla="val 8929"/>
            </a:avLst>
          </a:prstGeom>
          <a:solidFill>
            <a:schemeClr val="accent1"/>
          </a:solidFill>
          <a:ln/>
        </p:spPr>
        <p:txBody>
          <a:bodyPr/>
          <a:lstStyle/>
          <a:p>
            <a:endParaRPr lang="fr-FR"/>
          </a:p>
        </p:txBody>
      </p:sp>
      <p:sp>
        <p:nvSpPr>
          <p:cNvPr id="8" name="Text 6"/>
          <p:cNvSpPr txBox="1"/>
          <p:nvPr/>
        </p:nvSpPr>
        <p:spPr>
          <a:xfrm>
            <a:off x="2203704" y="1645920"/>
            <a:ext cx="786384" cy="548640"/>
          </a:xfrm>
          <a:prstGeom prst="rect">
            <a:avLst/>
          </a:prstGeom>
          <a:noFill/>
          <a:ln/>
        </p:spPr>
        <p:txBody>
          <a:bodyPr wrap="square" lIns="0" tIns="0" rIns="0" bIns="0" rtlCol="0" anchor="ctr"/>
          <a:lstStyle/>
          <a:p>
            <a:pPr marL="0" indent="0" algn="ctr">
              <a:buNone/>
            </a:pPr>
            <a:r>
              <a:rPr lang="en-US" sz="1200" b="1" dirty="0">
                <a:solidFill>
                  <a:schemeClr val="tx1"/>
                </a:solidFill>
              </a:rPr>
              <a:t>n=3</a:t>
            </a:r>
            <a:endParaRPr lang="en-US" sz="1200" dirty="0"/>
          </a:p>
        </p:txBody>
      </p:sp>
      <p:sp>
        <p:nvSpPr>
          <p:cNvPr id="9" name="Shape 7"/>
          <p:cNvSpPr/>
          <p:nvPr/>
        </p:nvSpPr>
        <p:spPr>
          <a:xfrm>
            <a:off x="3008376" y="1664208"/>
            <a:ext cx="749808" cy="512064"/>
          </a:xfrm>
          <a:prstGeom prst="roundRect">
            <a:avLst>
              <a:gd name="adj" fmla="val 8929"/>
            </a:avLst>
          </a:prstGeom>
          <a:solidFill>
            <a:schemeClr val="bg2"/>
          </a:solidFill>
          <a:ln w="19050">
            <a:solidFill>
              <a:schemeClr val="accent2"/>
            </a:solidFill>
            <a:prstDash val="solid"/>
          </a:ln>
        </p:spPr>
        <p:txBody>
          <a:bodyPr/>
          <a:lstStyle/>
          <a:p>
            <a:endParaRPr lang="fr-FR"/>
          </a:p>
        </p:txBody>
      </p:sp>
      <p:sp>
        <p:nvSpPr>
          <p:cNvPr id="10" name="Text 8"/>
          <p:cNvSpPr txBox="1"/>
          <p:nvPr/>
        </p:nvSpPr>
        <p:spPr>
          <a:xfrm>
            <a:off x="2990088" y="1645920"/>
            <a:ext cx="786384" cy="548640"/>
          </a:xfrm>
          <a:prstGeom prst="rect">
            <a:avLst/>
          </a:prstGeom>
          <a:noFill/>
          <a:ln/>
        </p:spPr>
        <p:txBody>
          <a:bodyPr wrap="square" lIns="0" tIns="0" rIns="0" bIns="0" rtlCol="0" anchor="ctr"/>
          <a:lstStyle/>
          <a:p>
            <a:pPr marL="0" indent="0" algn="ctr">
              <a:buNone/>
            </a:pPr>
            <a:r>
              <a:rPr lang="en-US" sz="1200" b="1" dirty="0">
                <a:solidFill>
                  <a:schemeClr val="tx1"/>
                </a:solidFill>
              </a:rPr>
              <a:t>n=4</a:t>
            </a:r>
            <a:endParaRPr lang="en-US" sz="1200" dirty="0"/>
          </a:p>
        </p:txBody>
      </p:sp>
      <p:sp>
        <p:nvSpPr>
          <p:cNvPr id="11" name="Shape 9"/>
          <p:cNvSpPr/>
          <p:nvPr/>
        </p:nvSpPr>
        <p:spPr>
          <a:xfrm>
            <a:off x="3794760" y="1664208"/>
            <a:ext cx="749808" cy="512064"/>
          </a:xfrm>
          <a:prstGeom prst="roundRect">
            <a:avLst>
              <a:gd name="adj" fmla="val 8929"/>
            </a:avLst>
          </a:prstGeom>
          <a:solidFill>
            <a:schemeClr val="accent4"/>
          </a:solidFill>
          <a:ln/>
        </p:spPr>
        <p:txBody>
          <a:bodyPr/>
          <a:lstStyle/>
          <a:p>
            <a:endParaRPr lang="fr-FR"/>
          </a:p>
        </p:txBody>
      </p:sp>
      <p:sp>
        <p:nvSpPr>
          <p:cNvPr id="12" name="Text 10"/>
          <p:cNvSpPr txBox="1"/>
          <p:nvPr/>
        </p:nvSpPr>
        <p:spPr>
          <a:xfrm>
            <a:off x="3776472" y="1645920"/>
            <a:ext cx="786384" cy="548640"/>
          </a:xfrm>
          <a:prstGeom prst="rect">
            <a:avLst/>
          </a:prstGeom>
          <a:noFill/>
          <a:ln/>
        </p:spPr>
        <p:txBody>
          <a:bodyPr wrap="square" lIns="0" tIns="0" rIns="0" bIns="0" rtlCol="0" anchor="ctr"/>
          <a:lstStyle/>
          <a:p>
            <a:pPr marL="0" indent="0" algn="ctr">
              <a:buNone/>
            </a:pPr>
            <a:r>
              <a:rPr lang="en-US" sz="1400" dirty="0">
                <a:solidFill>
                  <a:schemeClr val="tx2"/>
                </a:solidFill>
              </a:rPr>
              <a:t>∞</a:t>
            </a:r>
            <a:endParaRPr lang="en-US" sz="1400" dirty="0"/>
          </a:p>
        </p:txBody>
      </p:sp>
      <p:sp>
        <p:nvSpPr>
          <p:cNvPr id="13" name="Shape 11"/>
          <p:cNvSpPr/>
          <p:nvPr/>
        </p:nvSpPr>
        <p:spPr>
          <a:xfrm>
            <a:off x="4581144" y="1664208"/>
            <a:ext cx="749808" cy="512064"/>
          </a:xfrm>
          <a:prstGeom prst="roundRect">
            <a:avLst>
              <a:gd name="adj" fmla="val 8929"/>
            </a:avLst>
          </a:prstGeom>
          <a:solidFill>
            <a:schemeClr val="accent4"/>
          </a:solidFill>
          <a:ln/>
        </p:spPr>
        <p:txBody>
          <a:bodyPr/>
          <a:lstStyle/>
          <a:p>
            <a:endParaRPr lang="fr-FR"/>
          </a:p>
        </p:txBody>
      </p:sp>
      <p:sp>
        <p:nvSpPr>
          <p:cNvPr id="14" name="Text 12"/>
          <p:cNvSpPr txBox="1"/>
          <p:nvPr/>
        </p:nvSpPr>
        <p:spPr>
          <a:xfrm>
            <a:off x="4562856" y="1645920"/>
            <a:ext cx="786384" cy="548640"/>
          </a:xfrm>
          <a:prstGeom prst="rect">
            <a:avLst/>
          </a:prstGeom>
          <a:noFill/>
          <a:ln/>
        </p:spPr>
        <p:txBody>
          <a:bodyPr wrap="square" lIns="0" tIns="0" rIns="0" bIns="0" rtlCol="0" anchor="ctr"/>
          <a:lstStyle/>
          <a:p>
            <a:pPr marL="0" indent="0" algn="ctr">
              <a:buNone/>
            </a:pPr>
            <a:r>
              <a:rPr lang="en-US" sz="1400" dirty="0">
                <a:solidFill>
                  <a:schemeClr val="tx2"/>
                </a:solidFill>
              </a:rPr>
              <a:t>∞</a:t>
            </a:r>
            <a:endParaRPr lang="en-US" sz="1400" dirty="0"/>
          </a:p>
        </p:txBody>
      </p:sp>
      <p:sp>
        <p:nvSpPr>
          <p:cNvPr id="15" name="Shape 13"/>
          <p:cNvSpPr/>
          <p:nvPr/>
        </p:nvSpPr>
        <p:spPr>
          <a:xfrm>
            <a:off x="5367528" y="1664208"/>
            <a:ext cx="749808" cy="512064"/>
          </a:xfrm>
          <a:prstGeom prst="roundRect">
            <a:avLst>
              <a:gd name="adj" fmla="val 8929"/>
            </a:avLst>
          </a:prstGeom>
          <a:solidFill>
            <a:schemeClr val="accent4"/>
          </a:solidFill>
          <a:ln/>
        </p:spPr>
        <p:txBody>
          <a:bodyPr/>
          <a:lstStyle/>
          <a:p>
            <a:endParaRPr lang="fr-FR"/>
          </a:p>
        </p:txBody>
      </p:sp>
      <p:sp>
        <p:nvSpPr>
          <p:cNvPr id="16" name="Text 14"/>
          <p:cNvSpPr txBox="1"/>
          <p:nvPr/>
        </p:nvSpPr>
        <p:spPr>
          <a:xfrm>
            <a:off x="5349240" y="1645920"/>
            <a:ext cx="786384" cy="548640"/>
          </a:xfrm>
          <a:prstGeom prst="rect">
            <a:avLst/>
          </a:prstGeom>
          <a:noFill/>
          <a:ln/>
        </p:spPr>
        <p:txBody>
          <a:bodyPr wrap="square" lIns="0" tIns="0" rIns="0" bIns="0" rtlCol="0" anchor="ctr"/>
          <a:lstStyle/>
          <a:p>
            <a:pPr marL="0" indent="0" algn="ctr">
              <a:buNone/>
            </a:pPr>
            <a:r>
              <a:rPr lang="en-US" sz="1400" dirty="0">
                <a:solidFill>
                  <a:schemeClr val="tx2"/>
                </a:solidFill>
              </a:rPr>
              <a:t>∞</a:t>
            </a:r>
            <a:endParaRPr lang="en-US" sz="1400" dirty="0"/>
          </a:p>
        </p:txBody>
      </p:sp>
      <p:sp>
        <p:nvSpPr>
          <p:cNvPr id="17" name="Shape 15"/>
          <p:cNvSpPr/>
          <p:nvPr/>
        </p:nvSpPr>
        <p:spPr>
          <a:xfrm>
            <a:off x="1435608" y="2212848"/>
            <a:ext cx="749808" cy="512064"/>
          </a:xfrm>
          <a:prstGeom prst="roundRect">
            <a:avLst>
              <a:gd name="adj" fmla="val 8929"/>
            </a:avLst>
          </a:prstGeom>
          <a:solidFill>
            <a:schemeClr val="accent1"/>
          </a:solidFill>
          <a:ln/>
        </p:spPr>
        <p:txBody>
          <a:bodyPr/>
          <a:lstStyle/>
          <a:p>
            <a:endParaRPr lang="fr-FR"/>
          </a:p>
        </p:txBody>
      </p:sp>
      <p:sp>
        <p:nvSpPr>
          <p:cNvPr id="18" name="Text 16"/>
          <p:cNvSpPr txBox="1"/>
          <p:nvPr/>
        </p:nvSpPr>
        <p:spPr>
          <a:xfrm>
            <a:off x="1417320" y="2194560"/>
            <a:ext cx="786384" cy="548640"/>
          </a:xfrm>
          <a:prstGeom prst="rect">
            <a:avLst/>
          </a:prstGeom>
          <a:noFill/>
          <a:ln/>
        </p:spPr>
        <p:txBody>
          <a:bodyPr wrap="square" lIns="0" tIns="0" rIns="0" bIns="0" rtlCol="0" anchor="ctr"/>
          <a:lstStyle/>
          <a:p>
            <a:pPr marL="0" indent="0" algn="ctr">
              <a:buNone/>
            </a:pPr>
            <a:r>
              <a:rPr lang="en-US" sz="1200" b="1" dirty="0">
                <a:solidFill>
                  <a:schemeClr val="tx1"/>
                </a:solidFill>
              </a:rPr>
              <a:t>n=1</a:t>
            </a:r>
            <a:endParaRPr lang="en-US" sz="1200" dirty="0"/>
          </a:p>
        </p:txBody>
      </p:sp>
      <p:sp>
        <p:nvSpPr>
          <p:cNvPr id="19" name="Shape 17"/>
          <p:cNvSpPr/>
          <p:nvPr/>
        </p:nvSpPr>
        <p:spPr>
          <a:xfrm>
            <a:off x="2221992" y="2212848"/>
            <a:ext cx="749808" cy="512064"/>
          </a:xfrm>
          <a:prstGeom prst="roundRect">
            <a:avLst>
              <a:gd name="adj" fmla="val 8929"/>
            </a:avLst>
          </a:prstGeom>
          <a:solidFill>
            <a:schemeClr val="accent1"/>
          </a:solidFill>
          <a:ln/>
        </p:spPr>
        <p:txBody>
          <a:bodyPr/>
          <a:lstStyle/>
          <a:p>
            <a:endParaRPr lang="fr-FR"/>
          </a:p>
        </p:txBody>
      </p:sp>
      <p:sp>
        <p:nvSpPr>
          <p:cNvPr id="20" name="Text 18"/>
          <p:cNvSpPr txBox="1"/>
          <p:nvPr/>
        </p:nvSpPr>
        <p:spPr>
          <a:xfrm>
            <a:off x="2203704" y="2194560"/>
            <a:ext cx="786384" cy="548640"/>
          </a:xfrm>
          <a:prstGeom prst="rect">
            <a:avLst/>
          </a:prstGeom>
          <a:noFill/>
          <a:ln/>
        </p:spPr>
        <p:txBody>
          <a:bodyPr wrap="square" lIns="0" tIns="0" rIns="0" bIns="0" rtlCol="0" anchor="ctr"/>
          <a:lstStyle/>
          <a:p>
            <a:pPr marL="0" indent="0" algn="ctr">
              <a:buNone/>
            </a:pPr>
            <a:r>
              <a:rPr lang="en-US" sz="1200" b="1" dirty="0">
                <a:solidFill>
                  <a:schemeClr val="tx1"/>
                </a:solidFill>
              </a:rPr>
              <a:t>n=2</a:t>
            </a:r>
            <a:endParaRPr lang="en-US" sz="1200" dirty="0"/>
          </a:p>
        </p:txBody>
      </p:sp>
      <p:sp>
        <p:nvSpPr>
          <p:cNvPr id="21" name="Shape 19"/>
          <p:cNvSpPr/>
          <p:nvPr/>
        </p:nvSpPr>
        <p:spPr>
          <a:xfrm>
            <a:off x="3008376" y="2212848"/>
            <a:ext cx="749808" cy="512064"/>
          </a:xfrm>
          <a:prstGeom prst="roundRect">
            <a:avLst>
              <a:gd name="adj" fmla="val 8929"/>
            </a:avLst>
          </a:prstGeom>
          <a:solidFill>
            <a:schemeClr val="accent1"/>
          </a:solidFill>
          <a:ln/>
        </p:spPr>
        <p:txBody>
          <a:bodyPr/>
          <a:lstStyle/>
          <a:p>
            <a:endParaRPr lang="fr-FR"/>
          </a:p>
        </p:txBody>
      </p:sp>
      <p:sp>
        <p:nvSpPr>
          <p:cNvPr id="22" name="Text 20"/>
          <p:cNvSpPr txBox="1"/>
          <p:nvPr/>
        </p:nvSpPr>
        <p:spPr>
          <a:xfrm>
            <a:off x="2990088" y="2194560"/>
            <a:ext cx="786384" cy="548640"/>
          </a:xfrm>
          <a:prstGeom prst="rect">
            <a:avLst/>
          </a:prstGeom>
          <a:noFill/>
          <a:ln/>
        </p:spPr>
        <p:txBody>
          <a:bodyPr wrap="square" lIns="0" tIns="0" rIns="0" bIns="0" rtlCol="0" anchor="ctr"/>
          <a:lstStyle/>
          <a:p>
            <a:pPr marL="0" indent="0" algn="ctr">
              <a:buNone/>
            </a:pPr>
            <a:r>
              <a:rPr lang="en-US" sz="1200" b="1" dirty="0">
                <a:solidFill>
                  <a:schemeClr val="tx1"/>
                </a:solidFill>
              </a:rPr>
              <a:t>n=3</a:t>
            </a:r>
            <a:endParaRPr lang="en-US" sz="1200" dirty="0"/>
          </a:p>
        </p:txBody>
      </p:sp>
      <p:sp>
        <p:nvSpPr>
          <p:cNvPr id="23" name="Shape 21"/>
          <p:cNvSpPr/>
          <p:nvPr/>
        </p:nvSpPr>
        <p:spPr>
          <a:xfrm>
            <a:off x="3794760" y="2212848"/>
            <a:ext cx="749808" cy="512064"/>
          </a:xfrm>
          <a:prstGeom prst="roundRect">
            <a:avLst>
              <a:gd name="adj" fmla="val 8929"/>
            </a:avLst>
          </a:prstGeom>
          <a:solidFill>
            <a:schemeClr val="bg2"/>
          </a:solidFill>
          <a:ln w="19050">
            <a:solidFill>
              <a:schemeClr val="accent2"/>
            </a:solidFill>
            <a:prstDash val="solid"/>
          </a:ln>
        </p:spPr>
        <p:txBody>
          <a:bodyPr/>
          <a:lstStyle/>
          <a:p>
            <a:endParaRPr lang="fr-FR"/>
          </a:p>
        </p:txBody>
      </p:sp>
      <p:sp>
        <p:nvSpPr>
          <p:cNvPr id="24" name="Text 22"/>
          <p:cNvSpPr txBox="1"/>
          <p:nvPr/>
        </p:nvSpPr>
        <p:spPr>
          <a:xfrm>
            <a:off x="3776472" y="2194560"/>
            <a:ext cx="786384" cy="548640"/>
          </a:xfrm>
          <a:prstGeom prst="rect">
            <a:avLst/>
          </a:prstGeom>
          <a:noFill/>
          <a:ln/>
        </p:spPr>
        <p:txBody>
          <a:bodyPr wrap="square" lIns="0" tIns="0" rIns="0" bIns="0" rtlCol="0" anchor="ctr"/>
          <a:lstStyle/>
          <a:p>
            <a:pPr marL="0" indent="0" algn="ctr">
              <a:buNone/>
            </a:pPr>
            <a:r>
              <a:rPr lang="en-US" sz="1200" b="1" dirty="0">
                <a:solidFill>
                  <a:schemeClr val="tx1"/>
                </a:solidFill>
              </a:rPr>
              <a:t>n=4</a:t>
            </a:r>
            <a:endParaRPr lang="en-US" sz="1200" dirty="0"/>
          </a:p>
        </p:txBody>
      </p:sp>
      <p:sp>
        <p:nvSpPr>
          <p:cNvPr id="25" name="Shape 23"/>
          <p:cNvSpPr/>
          <p:nvPr/>
        </p:nvSpPr>
        <p:spPr>
          <a:xfrm>
            <a:off x="4581144" y="2212848"/>
            <a:ext cx="749808" cy="512064"/>
          </a:xfrm>
          <a:prstGeom prst="roundRect">
            <a:avLst>
              <a:gd name="adj" fmla="val 8929"/>
            </a:avLst>
          </a:prstGeom>
          <a:solidFill>
            <a:schemeClr val="accent4"/>
          </a:solidFill>
          <a:ln/>
        </p:spPr>
        <p:txBody>
          <a:bodyPr/>
          <a:lstStyle/>
          <a:p>
            <a:endParaRPr lang="fr-FR"/>
          </a:p>
        </p:txBody>
      </p:sp>
      <p:sp>
        <p:nvSpPr>
          <p:cNvPr id="26" name="Text 24"/>
          <p:cNvSpPr txBox="1"/>
          <p:nvPr/>
        </p:nvSpPr>
        <p:spPr>
          <a:xfrm>
            <a:off x="4562856" y="2194560"/>
            <a:ext cx="786384" cy="548640"/>
          </a:xfrm>
          <a:prstGeom prst="rect">
            <a:avLst/>
          </a:prstGeom>
          <a:noFill/>
          <a:ln/>
        </p:spPr>
        <p:txBody>
          <a:bodyPr wrap="square" lIns="0" tIns="0" rIns="0" bIns="0" rtlCol="0" anchor="ctr"/>
          <a:lstStyle/>
          <a:p>
            <a:pPr marL="0" indent="0" algn="ctr">
              <a:buNone/>
            </a:pPr>
            <a:r>
              <a:rPr lang="en-US" sz="1400" dirty="0">
                <a:solidFill>
                  <a:schemeClr val="tx2"/>
                </a:solidFill>
              </a:rPr>
              <a:t>∞</a:t>
            </a:r>
            <a:endParaRPr lang="en-US" sz="1400" dirty="0"/>
          </a:p>
        </p:txBody>
      </p:sp>
      <p:sp>
        <p:nvSpPr>
          <p:cNvPr id="27" name="Shape 25"/>
          <p:cNvSpPr/>
          <p:nvPr/>
        </p:nvSpPr>
        <p:spPr>
          <a:xfrm>
            <a:off x="5367528" y="2212848"/>
            <a:ext cx="749808" cy="512064"/>
          </a:xfrm>
          <a:prstGeom prst="roundRect">
            <a:avLst>
              <a:gd name="adj" fmla="val 8929"/>
            </a:avLst>
          </a:prstGeom>
          <a:solidFill>
            <a:schemeClr val="accent4"/>
          </a:solidFill>
          <a:ln/>
        </p:spPr>
        <p:txBody>
          <a:bodyPr/>
          <a:lstStyle/>
          <a:p>
            <a:endParaRPr lang="fr-FR"/>
          </a:p>
        </p:txBody>
      </p:sp>
      <p:sp>
        <p:nvSpPr>
          <p:cNvPr id="28" name="Text 26"/>
          <p:cNvSpPr txBox="1"/>
          <p:nvPr/>
        </p:nvSpPr>
        <p:spPr>
          <a:xfrm>
            <a:off x="5349240" y="2194560"/>
            <a:ext cx="786384" cy="548640"/>
          </a:xfrm>
          <a:prstGeom prst="rect">
            <a:avLst/>
          </a:prstGeom>
          <a:noFill/>
          <a:ln/>
        </p:spPr>
        <p:txBody>
          <a:bodyPr wrap="square" lIns="0" tIns="0" rIns="0" bIns="0" rtlCol="0" anchor="ctr"/>
          <a:lstStyle/>
          <a:p>
            <a:pPr marL="0" indent="0" algn="ctr">
              <a:buNone/>
            </a:pPr>
            <a:r>
              <a:rPr lang="en-US" sz="1400" dirty="0">
                <a:solidFill>
                  <a:schemeClr val="tx2"/>
                </a:solidFill>
              </a:rPr>
              <a:t>∞</a:t>
            </a:r>
            <a:endParaRPr lang="en-US" sz="1400" dirty="0"/>
          </a:p>
        </p:txBody>
      </p:sp>
      <p:sp>
        <p:nvSpPr>
          <p:cNvPr id="29" name="Shape 27"/>
          <p:cNvSpPr/>
          <p:nvPr/>
        </p:nvSpPr>
        <p:spPr>
          <a:xfrm>
            <a:off x="1435608" y="2761488"/>
            <a:ext cx="749808" cy="512064"/>
          </a:xfrm>
          <a:prstGeom prst="roundRect">
            <a:avLst>
              <a:gd name="adj" fmla="val 8929"/>
            </a:avLst>
          </a:prstGeom>
          <a:solidFill>
            <a:schemeClr val="accent1"/>
          </a:solidFill>
          <a:ln/>
        </p:spPr>
        <p:txBody>
          <a:bodyPr/>
          <a:lstStyle/>
          <a:p>
            <a:endParaRPr lang="fr-FR"/>
          </a:p>
        </p:txBody>
      </p:sp>
      <p:sp>
        <p:nvSpPr>
          <p:cNvPr id="30" name="Text 28"/>
          <p:cNvSpPr txBox="1"/>
          <p:nvPr/>
        </p:nvSpPr>
        <p:spPr>
          <a:xfrm>
            <a:off x="1417320" y="2743200"/>
            <a:ext cx="786384" cy="548640"/>
          </a:xfrm>
          <a:prstGeom prst="rect">
            <a:avLst/>
          </a:prstGeom>
          <a:noFill/>
          <a:ln/>
        </p:spPr>
        <p:txBody>
          <a:bodyPr wrap="square" lIns="0" tIns="0" rIns="0" bIns="0" rtlCol="0" anchor="ctr"/>
          <a:lstStyle/>
          <a:p>
            <a:pPr marL="0" indent="0" algn="ctr">
              <a:buNone/>
            </a:pPr>
            <a:r>
              <a:rPr lang="en-US" sz="1200" b="1" dirty="0">
                <a:solidFill>
                  <a:schemeClr val="tx1"/>
                </a:solidFill>
              </a:rPr>
              <a:t>n=1</a:t>
            </a:r>
            <a:endParaRPr lang="en-US" sz="1200" dirty="0"/>
          </a:p>
        </p:txBody>
      </p:sp>
      <p:sp>
        <p:nvSpPr>
          <p:cNvPr id="31" name="Shape 29"/>
          <p:cNvSpPr/>
          <p:nvPr/>
        </p:nvSpPr>
        <p:spPr>
          <a:xfrm>
            <a:off x="2221992" y="2761488"/>
            <a:ext cx="749808" cy="512064"/>
          </a:xfrm>
          <a:prstGeom prst="roundRect">
            <a:avLst>
              <a:gd name="adj" fmla="val 8929"/>
            </a:avLst>
          </a:prstGeom>
          <a:solidFill>
            <a:schemeClr val="accent1"/>
          </a:solidFill>
          <a:ln/>
        </p:spPr>
        <p:txBody>
          <a:bodyPr/>
          <a:lstStyle/>
          <a:p>
            <a:endParaRPr lang="fr-FR"/>
          </a:p>
        </p:txBody>
      </p:sp>
      <p:sp>
        <p:nvSpPr>
          <p:cNvPr id="32" name="Text 30"/>
          <p:cNvSpPr txBox="1"/>
          <p:nvPr/>
        </p:nvSpPr>
        <p:spPr>
          <a:xfrm>
            <a:off x="2203704" y="2743200"/>
            <a:ext cx="786384" cy="548640"/>
          </a:xfrm>
          <a:prstGeom prst="rect">
            <a:avLst/>
          </a:prstGeom>
          <a:noFill/>
          <a:ln/>
        </p:spPr>
        <p:txBody>
          <a:bodyPr wrap="square" lIns="0" tIns="0" rIns="0" bIns="0" rtlCol="0" anchor="ctr"/>
          <a:lstStyle/>
          <a:p>
            <a:pPr marL="0" indent="0" algn="ctr">
              <a:buNone/>
            </a:pPr>
            <a:r>
              <a:rPr lang="en-US" sz="1200" b="1" dirty="0">
                <a:solidFill>
                  <a:schemeClr val="tx1"/>
                </a:solidFill>
              </a:rPr>
              <a:t>n=2</a:t>
            </a:r>
            <a:endParaRPr lang="en-US" sz="1200" dirty="0"/>
          </a:p>
        </p:txBody>
      </p:sp>
      <p:sp>
        <p:nvSpPr>
          <p:cNvPr id="33" name="Shape 31"/>
          <p:cNvSpPr/>
          <p:nvPr/>
        </p:nvSpPr>
        <p:spPr>
          <a:xfrm>
            <a:off x="3008376" y="2761488"/>
            <a:ext cx="749808" cy="512064"/>
          </a:xfrm>
          <a:prstGeom prst="roundRect">
            <a:avLst>
              <a:gd name="adj" fmla="val 8929"/>
            </a:avLst>
          </a:prstGeom>
          <a:solidFill>
            <a:schemeClr val="accent1"/>
          </a:solidFill>
          <a:ln/>
        </p:spPr>
        <p:txBody>
          <a:bodyPr/>
          <a:lstStyle/>
          <a:p>
            <a:endParaRPr lang="fr-FR"/>
          </a:p>
        </p:txBody>
      </p:sp>
      <p:sp>
        <p:nvSpPr>
          <p:cNvPr id="34" name="Text 32"/>
          <p:cNvSpPr txBox="1"/>
          <p:nvPr/>
        </p:nvSpPr>
        <p:spPr>
          <a:xfrm>
            <a:off x="2990088" y="2743200"/>
            <a:ext cx="786384" cy="548640"/>
          </a:xfrm>
          <a:prstGeom prst="rect">
            <a:avLst/>
          </a:prstGeom>
          <a:noFill/>
          <a:ln/>
        </p:spPr>
        <p:txBody>
          <a:bodyPr wrap="square" lIns="0" tIns="0" rIns="0" bIns="0" rtlCol="0" anchor="ctr"/>
          <a:lstStyle/>
          <a:p>
            <a:pPr marL="0" indent="0" algn="ctr">
              <a:buNone/>
            </a:pPr>
            <a:r>
              <a:rPr lang="en-US" sz="1200" b="1" dirty="0">
                <a:solidFill>
                  <a:schemeClr val="tx1"/>
                </a:solidFill>
              </a:rPr>
              <a:t>n=2</a:t>
            </a:r>
            <a:endParaRPr lang="en-US" sz="1200" dirty="0"/>
          </a:p>
        </p:txBody>
      </p:sp>
      <p:sp>
        <p:nvSpPr>
          <p:cNvPr id="35" name="Shape 33"/>
          <p:cNvSpPr/>
          <p:nvPr/>
        </p:nvSpPr>
        <p:spPr>
          <a:xfrm>
            <a:off x="3794760" y="2761488"/>
            <a:ext cx="749808" cy="512064"/>
          </a:xfrm>
          <a:prstGeom prst="roundRect">
            <a:avLst>
              <a:gd name="adj" fmla="val 8929"/>
            </a:avLst>
          </a:prstGeom>
          <a:solidFill>
            <a:schemeClr val="accent1"/>
          </a:solidFill>
          <a:ln/>
        </p:spPr>
        <p:txBody>
          <a:bodyPr/>
          <a:lstStyle/>
          <a:p>
            <a:endParaRPr lang="fr-FR"/>
          </a:p>
        </p:txBody>
      </p:sp>
      <p:sp>
        <p:nvSpPr>
          <p:cNvPr id="36" name="Text 34"/>
          <p:cNvSpPr txBox="1"/>
          <p:nvPr/>
        </p:nvSpPr>
        <p:spPr>
          <a:xfrm>
            <a:off x="3776472" y="2743200"/>
            <a:ext cx="786384" cy="548640"/>
          </a:xfrm>
          <a:prstGeom prst="rect">
            <a:avLst/>
          </a:prstGeom>
          <a:noFill/>
          <a:ln/>
        </p:spPr>
        <p:txBody>
          <a:bodyPr wrap="square" lIns="0" tIns="0" rIns="0" bIns="0" rtlCol="0" anchor="ctr"/>
          <a:lstStyle/>
          <a:p>
            <a:pPr marL="0" indent="0" algn="ctr">
              <a:buNone/>
            </a:pPr>
            <a:r>
              <a:rPr lang="en-US" sz="1200" b="1" dirty="0">
                <a:solidFill>
                  <a:schemeClr val="tx1"/>
                </a:solidFill>
              </a:rPr>
              <a:t>n=3</a:t>
            </a:r>
            <a:endParaRPr lang="en-US" sz="1200" dirty="0"/>
          </a:p>
        </p:txBody>
      </p:sp>
      <p:sp>
        <p:nvSpPr>
          <p:cNvPr id="37" name="Shape 35"/>
          <p:cNvSpPr/>
          <p:nvPr/>
        </p:nvSpPr>
        <p:spPr>
          <a:xfrm>
            <a:off x="4581144" y="2761488"/>
            <a:ext cx="749808" cy="512064"/>
          </a:xfrm>
          <a:prstGeom prst="roundRect">
            <a:avLst>
              <a:gd name="adj" fmla="val 8929"/>
            </a:avLst>
          </a:prstGeom>
          <a:solidFill>
            <a:schemeClr val="bg2"/>
          </a:solidFill>
          <a:ln w="19050">
            <a:solidFill>
              <a:schemeClr val="accent2"/>
            </a:solidFill>
            <a:prstDash val="solid"/>
          </a:ln>
        </p:spPr>
        <p:txBody>
          <a:bodyPr/>
          <a:lstStyle/>
          <a:p>
            <a:endParaRPr lang="fr-FR"/>
          </a:p>
        </p:txBody>
      </p:sp>
      <p:sp>
        <p:nvSpPr>
          <p:cNvPr id="38" name="Text 36"/>
          <p:cNvSpPr txBox="1"/>
          <p:nvPr/>
        </p:nvSpPr>
        <p:spPr>
          <a:xfrm>
            <a:off x="4562856" y="2743200"/>
            <a:ext cx="786384" cy="548640"/>
          </a:xfrm>
          <a:prstGeom prst="rect">
            <a:avLst/>
          </a:prstGeom>
          <a:noFill/>
          <a:ln/>
        </p:spPr>
        <p:txBody>
          <a:bodyPr wrap="square" lIns="0" tIns="0" rIns="0" bIns="0" rtlCol="0" anchor="ctr"/>
          <a:lstStyle/>
          <a:p>
            <a:pPr marL="0" indent="0" algn="ctr">
              <a:buNone/>
            </a:pPr>
            <a:r>
              <a:rPr lang="en-US" sz="1200" b="1" dirty="0">
                <a:solidFill>
                  <a:schemeClr val="tx1"/>
                </a:solidFill>
              </a:rPr>
              <a:t>n=4</a:t>
            </a:r>
            <a:endParaRPr lang="en-US" sz="1200" dirty="0"/>
          </a:p>
        </p:txBody>
      </p:sp>
      <p:sp>
        <p:nvSpPr>
          <p:cNvPr id="39" name="Shape 37"/>
          <p:cNvSpPr/>
          <p:nvPr/>
        </p:nvSpPr>
        <p:spPr>
          <a:xfrm>
            <a:off x="5367528" y="2761488"/>
            <a:ext cx="749808" cy="512064"/>
          </a:xfrm>
          <a:prstGeom prst="roundRect">
            <a:avLst>
              <a:gd name="adj" fmla="val 8929"/>
            </a:avLst>
          </a:prstGeom>
          <a:solidFill>
            <a:schemeClr val="accent4"/>
          </a:solidFill>
          <a:ln/>
        </p:spPr>
        <p:txBody>
          <a:bodyPr/>
          <a:lstStyle/>
          <a:p>
            <a:endParaRPr lang="fr-FR"/>
          </a:p>
        </p:txBody>
      </p:sp>
      <p:sp>
        <p:nvSpPr>
          <p:cNvPr id="40" name="Text 38"/>
          <p:cNvSpPr txBox="1"/>
          <p:nvPr/>
        </p:nvSpPr>
        <p:spPr>
          <a:xfrm>
            <a:off x="5349240" y="2743200"/>
            <a:ext cx="786384" cy="548640"/>
          </a:xfrm>
          <a:prstGeom prst="rect">
            <a:avLst/>
          </a:prstGeom>
          <a:noFill/>
          <a:ln/>
        </p:spPr>
        <p:txBody>
          <a:bodyPr wrap="square" lIns="0" tIns="0" rIns="0" bIns="0" rtlCol="0" anchor="ctr"/>
          <a:lstStyle/>
          <a:p>
            <a:pPr marL="0" indent="0" algn="ctr">
              <a:buNone/>
            </a:pPr>
            <a:r>
              <a:rPr lang="en-US" sz="1400" dirty="0">
                <a:solidFill>
                  <a:schemeClr val="tx2"/>
                </a:solidFill>
              </a:rPr>
              <a:t>∞</a:t>
            </a:r>
            <a:endParaRPr lang="en-US" sz="1400" dirty="0"/>
          </a:p>
        </p:txBody>
      </p:sp>
      <p:sp>
        <p:nvSpPr>
          <p:cNvPr id="41" name="Shape 39"/>
          <p:cNvSpPr/>
          <p:nvPr/>
        </p:nvSpPr>
        <p:spPr>
          <a:xfrm>
            <a:off x="1435608" y="3310128"/>
            <a:ext cx="749808" cy="512064"/>
          </a:xfrm>
          <a:prstGeom prst="roundRect">
            <a:avLst>
              <a:gd name="adj" fmla="val 8929"/>
            </a:avLst>
          </a:prstGeom>
          <a:solidFill>
            <a:schemeClr val="accent1"/>
          </a:solidFill>
          <a:ln/>
        </p:spPr>
        <p:txBody>
          <a:bodyPr/>
          <a:lstStyle/>
          <a:p>
            <a:endParaRPr lang="fr-FR"/>
          </a:p>
        </p:txBody>
      </p:sp>
      <p:sp>
        <p:nvSpPr>
          <p:cNvPr id="42" name="Text 40"/>
          <p:cNvSpPr txBox="1"/>
          <p:nvPr/>
        </p:nvSpPr>
        <p:spPr>
          <a:xfrm>
            <a:off x="1417320" y="3291840"/>
            <a:ext cx="786384" cy="548640"/>
          </a:xfrm>
          <a:prstGeom prst="rect">
            <a:avLst/>
          </a:prstGeom>
          <a:noFill/>
          <a:ln/>
        </p:spPr>
        <p:txBody>
          <a:bodyPr wrap="square" lIns="0" tIns="0" rIns="0" bIns="0" rtlCol="0" anchor="ctr"/>
          <a:lstStyle/>
          <a:p>
            <a:pPr marL="0" indent="0" algn="ctr">
              <a:buNone/>
            </a:pPr>
            <a:r>
              <a:rPr lang="en-US" sz="1200" b="1" dirty="0">
                <a:solidFill>
                  <a:schemeClr val="tx1"/>
                </a:solidFill>
              </a:rPr>
              <a:t>n=2</a:t>
            </a:r>
            <a:endParaRPr lang="en-US" sz="1200" dirty="0"/>
          </a:p>
        </p:txBody>
      </p:sp>
      <p:sp>
        <p:nvSpPr>
          <p:cNvPr id="43" name="Shape 41"/>
          <p:cNvSpPr/>
          <p:nvPr/>
        </p:nvSpPr>
        <p:spPr>
          <a:xfrm>
            <a:off x="2221992" y="3310128"/>
            <a:ext cx="749808" cy="512064"/>
          </a:xfrm>
          <a:prstGeom prst="roundRect">
            <a:avLst>
              <a:gd name="adj" fmla="val 8929"/>
            </a:avLst>
          </a:prstGeom>
          <a:solidFill>
            <a:schemeClr val="accent1"/>
          </a:solidFill>
          <a:ln/>
        </p:spPr>
        <p:txBody>
          <a:bodyPr/>
          <a:lstStyle/>
          <a:p>
            <a:endParaRPr lang="fr-FR"/>
          </a:p>
        </p:txBody>
      </p:sp>
      <p:sp>
        <p:nvSpPr>
          <p:cNvPr id="44" name="Text 42"/>
          <p:cNvSpPr txBox="1"/>
          <p:nvPr/>
        </p:nvSpPr>
        <p:spPr>
          <a:xfrm>
            <a:off x="2203704" y="3291840"/>
            <a:ext cx="786384" cy="548640"/>
          </a:xfrm>
          <a:prstGeom prst="rect">
            <a:avLst/>
          </a:prstGeom>
          <a:noFill/>
          <a:ln/>
        </p:spPr>
        <p:txBody>
          <a:bodyPr wrap="square" lIns="0" tIns="0" rIns="0" bIns="0" rtlCol="0" anchor="ctr"/>
          <a:lstStyle/>
          <a:p>
            <a:pPr marL="0" indent="0" algn="ctr">
              <a:buNone/>
            </a:pPr>
            <a:r>
              <a:rPr lang="en-US" sz="1200" b="1" dirty="0">
                <a:solidFill>
                  <a:schemeClr val="tx1"/>
                </a:solidFill>
              </a:rPr>
              <a:t>n=1</a:t>
            </a:r>
            <a:endParaRPr lang="en-US" sz="1200" dirty="0"/>
          </a:p>
        </p:txBody>
      </p:sp>
      <p:sp>
        <p:nvSpPr>
          <p:cNvPr id="45" name="Shape 43"/>
          <p:cNvSpPr/>
          <p:nvPr/>
        </p:nvSpPr>
        <p:spPr>
          <a:xfrm>
            <a:off x="3008376" y="3310128"/>
            <a:ext cx="749808" cy="512064"/>
          </a:xfrm>
          <a:prstGeom prst="roundRect">
            <a:avLst>
              <a:gd name="adj" fmla="val 8929"/>
            </a:avLst>
          </a:prstGeom>
          <a:solidFill>
            <a:schemeClr val="accent1"/>
          </a:solidFill>
          <a:ln/>
        </p:spPr>
        <p:txBody>
          <a:bodyPr/>
          <a:lstStyle/>
          <a:p>
            <a:endParaRPr lang="fr-FR"/>
          </a:p>
        </p:txBody>
      </p:sp>
      <p:sp>
        <p:nvSpPr>
          <p:cNvPr id="46" name="Text 44"/>
          <p:cNvSpPr txBox="1"/>
          <p:nvPr/>
        </p:nvSpPr>
        <p:spPr>
          <a:xfrm>
            <a:off x="2990088" y="3291840"/>
            <a:ext cx="786384" cy="548640"/>
          </a:xfrm>
          <a:prstGeom prst="rect">
            <a:avLst/>
          </a:prstGeom>
          <a:noFill/>
          <a:ln/>
        </p:spPr>
        <p:txBody>
          <a:bodyPr wrap="square" lIns="0" tIns="0" rIns="0" bIns="0" rtlCol="0" anchor="ctr"/>
          <a:lstStyle/>
          <a:p>
            <a:pPr marL="0" indent="0" algn="ctr">
              <a:buNone/>
            </a:pPr>
            <a:r>
              <a:rPr lang="en-US" sz="1200" b="1" dirty="0">
                <a:solidFill>
                  <a:schemeClr val="tx1"/>
                </a:solidFill>
              </a:rPr>
              <a:t>n=2</a:t>
            </a:r>
            <a:endParaRPr lang="en-US" sz="1200" dirty="0"/>
          </a:p>
        </p:txBody>
      </p:sp>
      <p:sp>
        <p:nvSpPr>
          <p:cNvPr id="47" name="Shape 45"/>
          <p:cNvSpPr/>
          <p:nvPr/>
        </p:nvSpPr>
        <p:spPr>
          <a:xfrm>
            <a:off x="3794760" y="3310128"/>
            <a:ext cx="749808" cy="512064"/>
          </a:xfrm>
          <a:prstGeom prst="roundRect">
            <a:avLst>
              <a:gd name="adj" fmla="val 8929"/>
            </a:avLst>
          </a:prstGeom>
          <a:solidFill>
            <a:schemeClr val="accent1"/>
          </a:solidFill>
          <a:ln/>
        </p:spPr>
        <p:txBody>
          <a:bodyPr/>
          <a:lstStyle/>
          <a:p>
            <a:endParaRPr lang="fr-FR"/>
          </a:p>
        </p:txBody>
      </p:sp>
      <p:sp>
        <p:nvSpPr>
          <p:cNvPr id="48" name="Text 46"/>
          <p:cNvSpPr txBox="1"/>
          <p:nvPr/>
        </p:nvSpPr>
        <p:spPr>
          <a:xfrm>
            <a:off x="3776472" y="3291840"/>
            <a:ext cx="786384" cy="548640"/>
          </a:xfrm>
          <a:prstGeom prst="rect">
            <a:avLst/>
          </a:prstGeom>
          <a:noFill/>
          <a:ln/>
        </p:spPr>
        <p:txBody>
          <a:bodyPr wrap="square" lIns="0" tIns="0" rIns="0" bIns="0" rtlCol="0" anchor="ctr"/>
          <a:lstStyle/>
          <a:p>
            <a:pPr marL="0" indent="0" algn="ctr">
              <a:buNone/>
            </a:pPr>
            <a:r>
              <a:rPr lang="en-US" sz="1200" b="1" dirty="0">
                <a:solidFill>
                  <a:schemeClr val="tx1"/>
                </a:solidFill>
              </a:rPr>
              <a:t>n=2</a:t>
            </a:r>
            <a:endParaRPr lang="en-US" sz="1200" dirty="0"/>
          </a:p>
        </p:txBody>
      </p:sp>
      <p:sp>
        <p:nvSpPr>
          <p:cNvPr id="49" name="Shape 47"/>
          <p:cNvSpPr/>
          <p:nvPr/>
        </p:nvSpPr>
        <p:spPr>
          <a:xfrm>
            <a:off x="4581144" y="3310128"/>
            <a:ext cx="749808" cy="512064"/>
          </a:xfrm>
          <a:prstGeom prst="roundRect">
            <a:avLst>
              <a:gd name="adj" fmla="val 8929"/>
            </a:avLst>
          </a:prstGeom>
          <a:solidFill>
            <a:schemeClr val="accent1"/>
          </a:solidFill>
          <a:ln/>
        </p:spPr>
        <p:txBody>
          <a:bodyPr/>
          <a:lstStyle/>
          <a:p>
            <a:endParaRPr lang="fr-FR"/>
          </a:p>
        </p:txBody>
      </p:sp>
      <p:sp>
        <p:nvSpPr>
          <p:cNvPr id="50" name="Text 48"/>
          <p:cNvSpPr txBox="1"/>
          <p:nvPr/>
        </p:nvSpPr>
        <p:spPr>
          <a:xfrm>
            <a:off x="4562856" y="3291840"/>
            <a:ext cx="786384" cy="548640"/>
          </a:xfrm>
          <a:prstGeom prst="rect">
            <a:avLst/>
          </a:prstGeom>
          <a:noFill/>
          <a:ln/>
        </p:spPr>
        <p:txBody>
          <a:bodyPr wrap="square" lIns="0" tIns="0" rIns="0" bIns="0" rtlCol="0" anchor="ctr"/>
          <a:lstStyle/>
          <a:p>
            <a:pPr marL="0" indent="0" algn="ctr">
              <a:buNone/>
            </a:pPr>
            <a:r>
              <a:rPr lang="en-US" sz="1200" b="1" dirty="0">
                <a:solidFill>
                  <a:schemeClr val="tx1"/>
                </a:solidFill>
              </a:rPr>
              <a:t>n=3</a:t>
            </a:r>
            <a:endParaRPr lang="en-US" sz="1200" dirty="0"/>
          </a:p>
        </p:txBody>
      </p:sp>
      <p:sp>
        <p:nvSpPr>
          <p:cNvPr id="51" name="Shape 49"/>
          <p:cNvSpPr/>
          <p:nvPr/>
        </p:nvSpPr>
        <p:spPr>
          <a:xfrm>
            <a:off x="5367528" y="3310128"/>
            <a:ext cx="749808" cy="512064"/>
          </a:xfrm>
          <a:prstGeom prst="roundRect">
            <a:avLst>
              <a:gd name="adj" fmla="val 8929"/>
            </a:avLst>
          </a:prstGeom>
          <a:solidFill>
            <a:schemeClr val="bg2"/>
          </a:solidFill>
          <a:ln w="19050">
            <a:solidFill>
              <a:schemeClr val="accent2"/>
            </a:solidFill>
            <a:prstDash val="solid"/>
          </a:ln>
        </p:spPr>
        <p:txBody>
          <a:bodyPr/>
          <a:lstStyle/>
          <a:p>
            <a:endParaRPr lang="fr-FR"/>
          </a:p>
        </p:txBody>
      </p:sp>
      <p:sp>
        <p:nvSpPr>
          <p:cNvPr id="52" name="Text 50"/>
          <p:cNvSpPr txBox="1"/>
          <p:nvPr/>
        </p:nvSpPr>
        <p:spPr>
          <a:xfrm>
            <a:off x="5349240" y="3291840"/>
            <a:ext cx="786384" cy="548640"/>
          </a:xfrm>
          <a:prstGeom prst="rect">
            <a:avLst/>
          </a:prstGeom>
          <a:noFill/>
          <a:ln/>
        </p:spPr>
        <p:txBody>
          <a:bodyPr wrap="square" lIns="0" tIns="0" rIns="0" bIns="0" rtlCol="0" anchor="ctr"/>
          <a:lstStyle/>
          <a:p>
            <a:pPr marL="0" indent="0" algn="ctr">
              <a:buNone/>
            </a:pPr>
            <a:r>
              <a:rPr lang="en-US" sz="1200" b="1" dirty="0">
                <a:solidFill>
                  <a:schemeClr val="tx1"/>
                </a:solidFill>
              </a:rPr>
              <a:t>n=4</a:t>
            </a:r>
            <a:endParaRPr lang="en-US" sz="1200" dirty="0"/>
          </a:p>
        </p:txBody>
      </p:sp>
      <p:sp>
        <p:nvSpPr>
          <p:cNvPr id="53" name="Shape 51"/>
          <p:cNvSpPr/>
          <p:nvPr/>
        </p:nvSpPr>
        <p:spPr>
          <a:xfrm>
            <a:off x="1435608" y="3858768"/>
            <a:ext cx="749808" cy="512064"/>
          </a:xfrm>
          <a:prstGeom prst="roundRect">
            <a:avLst>
              <a:gd name="adj" fmla="val 8929"/>
            </a:avLst>
          </a:prstGeom>
          <a:solidFill>
            <a:schemeClr val="accent1"/>
          </a:solidFill>
          <a:ln/>
        </p:spPr>
        <p:txBody>
          <a:bodyPr/>
          <a:lstStyle/>
          <a:p>
            <a:endParaRPr lang="fr-FR"/>
          </a:p>
        </p:txBody>
      </p:sp>
      <p:sp>
        <p:nvSpPr>
          <p:cNvPr id="54" name="Text 52"/>
          <p:cNvSpPr txBox="1"/>
          <p:nvPr/>
        </p:nvSpPr>
        <p:spPr>
          <a:xfrm>
            <a:off x="1417320" y="3840480"/>
            <a:ext cx="786384" cy="548640"/>
          </a:xfrm>
          <a:prstGeom prst="rect">
            <a:avLst/>
          </a:prstGeom>
          <a:noFill/>
          <a:ln/>
        </p:spPr>
        <p:txBody>
          <a:bodyPr wrap="square" lIns="0" tIns="0" rIns="0" bIns="0" rtlCol="0" anchor="ctr"/>
          <a:lstStyle/>
          <a:p>
            <a:pPr marL="0" indent="0" algn="ctr">
              <a:buNone/>
            </a:pPr>
            <a:r>
              <a:rPr lang="en-US" sz="1200" b="1" dirty="0">
                <a:solidFill>
                  <a:schemeClr val="tx1"/>
                </a:solidFill>
              </a:rPr>
              <a:t>n=2</a:t>
            </a:r>
            <a:endParaRPr lang="en-US" sz="1200" dirty="0"/>
          </a:p>
        </p:txBody>
      </p:sp>
      <p:sp>
        <p:nvSpPr>
          <p:cNvPr id="55" name="Shape 53"/>
          <p:cNvSpPr/>
          <p:nvPr/>
        </p:nvSpPr>
        <p:spPr>
          <a:xfrm>
            <a:off x="2221992" y="3858768"/>
            <a:ext cx="749808" cy="512064"/>
          </a:xfrm>
          <a:prstGeom prst="roundRect">
            <a:avLst>
              <a:gd name="adj" fmla="val 8929"/>
            </a:avLst>
          </a:prstGeom>
          <a:solidFill>
            <a:schemeClr val="accent1"/>
          </a:solidFill>
          <a:ln/>
        </p:spPr>
        <p:txBody>
          <a:bodyPr/>
          <a:lstStyle/>
          <a:p>
            <a:endParaRPr lang="fr-FR"/>
          </a:p>
        </p:txBody>
      </p:sp>
      <p:sp>
        <p:nvSpPr>
          <p:cNvPr id="56" name="Text 54"/>
          <p:cNvSpPr txBox="1"/>
          <p:nvPr/>
        </p:nvSpPr>
        <p:spPr>
          <a:xfrm>
            <a:off x="2203704" y="3840480"/>
            <a:ext cx="786384" cy="548640"/>
          </a:xfrm>
          <a:prstGeom prst="rect">
            <a:avLst/>
          </a:prstGeom>
          <a:noFill/>
          <a:ln/>
        </p:spPr>
        <p:txBody>
          <a:bodyPr wrap="square" lIns="0" tIns="0" rIns="0" bIns="0" rtlCol="0" anchor="ctr"/>
          <a:lstStyle/>
          <a:p>
            <a:pPr marL="0" indent="0" algn="ctr">
              <a:buNone/>
            </a:pPr>
            <a:r>
              <a:rPr lang="en-US" sz="1200" b="1" dirty="0">
                <a:solidFill>
                  <a:schemeClr val="tx1"/>
                </a:solidFill>
              </a:rPr>
              <a:t>n=2</a:t>
            </a:r>
            <a:endParaRPr lang="en-US" sz="1200" dirty="0"/>
          </a:p>
        </p:txBody>
      </p:sp>
      <p:sp>
        <p:nvSpPr>
          <p:cNvPr id="57" name="Shape 55"/>
          <p:cNvSpPr/>
          <p:nvPr/>
        </p:nvSpPr>
        <p:spPr>
          <a:xfrm>
            <a:off x="3008376" y="3858768"/>
            <a:ext cx="749808" cy="512064"/>
          </a:xfrm>
          <a:prstGeom prst="roundRect">
            <a:avLst>
              <a:gd name="adj" fmla="val 8929"/>
            </a:avLst>
          </a:prstGeom>
          <a:solidFill>
            <a:schemeClr val="accent1"/>
          </a:solidFill>
          <a:ln/>
        </p:spPr>
        <p:txBody>
          <a:bodyPr/>
          <a:lstStyle/>
          <a:p>
            <a:endParaRPr lang="fr-FR"/>
          </a:p>
        </p:txBody>
      </p:sp>
      <p:sp>
        <p:nvSpPr>
          <p:cNvPr id="58" name="Text 56"/>
          <p:cNvSpPr txBox="1"/>
          <p:nvPr/>
        </p:nvSpPr>
        <p:spPr>
          <a:xfrm>
            <a:off x="2990088" y="3840480"/>
            <a:ext cx="786384" cy="548640"/>
          </a:xfrm>
          <a:prstGeom prst="rect">
            <a:avLst/>
          </a:prstGeom>
          <a:noFill/>
          <a:ln/>
        </p:spPr>
        <p:txBody>
          <a:bodyPr wrap="square" lIns="0" tIns="0" rIns="0" bIns="0" rtlCol="0" anchor="ctr"/>
          <a:lstStyle/>
          <a:p>
            <a:pPr marL="0" indent="0" algn="ctr">
              <a:buNone/>
            </a:pPr>
            <a:r>
              <a:rPr lang="en-US" sz="1200" b="1" dirty="0">
                <a:solidFill>
                  <a:schemeClr val="tx1"/>
                </a:solidFill>
              </a:rPr>
              <a:t>n=1</a:t>
            </a:r>
            <a:endParaRPr lang="en-US" sz="1200" dirty="0"/>
          </a:p>
        </p:txBody>
      </p:sp>
      <p:sp>
        <p:nvSpPr>
          <p:cNvPr id="59" name="Shape 57"/>
          <p:cNvSpPr/>
          <p:nvPr/>
        </p:nvSpPr>
        <p:spPr>
          <a:xfrm>
            <a:off x="3794760" y="3858768"/>
            <a:ext cx="749808" cy="512064"/>
          </a:xfrm>
          <a:prstGeom prst="roundRect">
            <a:avLst>
              <a:gd name="adj" fmla="val 8929"/>
            </a:avLst>
          </a:prstGeom>
          <a:solidFill>
            <a:schemeClr val="accent1"/>
          </a:solidFill>
          <a:ln/>
        </p:spPr>
        <p:txBody>
          <a:bodyPr/>
          <a:lstStyle/>
          <a:p>
            <a:endParaRPr lang="fr-FR"/>
          </a:p>
        </p:txBody>
      </p:sp>
      <p:sp>
        <p:nvSpPr>
          <p:cNvPr id="60" name="Text 58"/>
          <p:cNvSpPr txBox="1"/>
          <p:nvPr/>
        </p:nvSpPr>
        <p:spPr>
          <a:xfrm>
            <a:off x="3776472" y="3840480"/>
            <a:ext cx="786384" cy="548640"/>
          </a:xfrm>
          <a:prstGeom prst="rect">
            <a:avLst/>
          </a:prstGeom>
          <a:noFill/>
          <a:ln/>
        </p:spPr>
        <p:txBody>
          <a:bodyPr wrap="square" lIns="0" tIns="0" rIns="0" bIns="0" rtlCol="0" anchor="ctr"/>
          <a:lstStyle/>
          <a:p>
            <a:pPr marL="0" indent="0" algn="ctr">
              <a:buNone/>
            </a:pPr>
            <a:r>
              <a:rPr lang="en-US" sz="1200" b="1" dirty="0">
                <a:solidFill>
                  <a:schemeClr val="tx1"/>
                </a:solidFill>
              </a:rPr>
              <a:t>n=2</a:t>
            </a:r>
            <a:endParaRPr lang="en-US" sz="1200" dirty="0"/>
          </a:p>
        </p:txBody>
      </p:sp>
      <p:sp>
        <p:nvSpPr>
          <p:cNvPr id="61" name="Shape 59"/>
          <p:cNvSpPr/>
          <p:nvPr/>
        </p:nvSpPr>
        <p:spPr>
          <a:xfrm>
            <a:off x="4581144" y="3858768"/>
            <a:ext cx="749808" cy="512064"/>
          </a:xfrm>
          <a:prstGeom prst="roundRect">
            <a:avLst>
              <a:gd name="adj" fmla="val 8929"/>
            </a:avLst>
          </a:prstGeom>
          <a:solidFill>
            <a:schemeClr val="accent1"/>
          </a:solidFill>
          <a:ln/>
        </p:spPr>
        <p:txBody>
          <a:bodyPr/>
          <a:lstStyle/>
          <a:p>
            <a:endParaRPr lang="fr-FR"/>
          </a:p>
        </p:txBody>
      </p:sp>
      <p:sp>
        <p:nvSpPr>
          <p:cNvPr id="62" name="Text 60"/>
          <p:cNvSpPr txBox="1"/>
          <p:nvPr/>
        </p:nvSpPr>
        <p:spPr>
          <a:xfrm>
            <a:off x="4562856" y="3840480"/>
            <a:ext cx="786384" cy="548640"/>
          </a:xfrm>
          <a:prstGeom prst="rect">
            <a:avLst/>
          </a:prstGeom>
          <a:noFill/>
          <a:ln/>
        </p:spPr>
        <p:txBody>
          <a:bodyPr wrap="square" lIns="0" tIns="0" rIns="0" bIns="0" rtlCol="0" anchor="ctr"/>
          <a:lstStyle/>
          <a:p>
            <a:pPr marL="0" indent="0" algn="ctr">
              <a:buNone/>
            </a:pPr>
            <a:r>
              <a:rPr lang="en-US" sz="1200" b="1" dirty="0">
                <a:solidFill>
                  <a:schemeClr val="tx1"/>
                </a:solidFill>
              </a:rPr>
              <a:t>n=2</a:t>
            </a:r>
            <a:endParaRPr lang="en-US" sz="1200" dirty="0"/>
          </a:p>
        </p:txBody>
      </p:sp>
      <p:sp>
        <p:nvSpPr>
          <p:cNvPr id="63" name="Shape 61"/>
          <p:cNvSpPr/>
          <p:nvPr/>
        </p:nvSpPr>
        <p:spPr>
          <a:xfrm>
            <a:off x="5367528" y="3858768"/>
            <a:ext cx="749808" cy="512064"/>
          </a:xfrm>
          <a:prstGeom prst="roundRect">
            <a:avLst>
              <a:gd name="adj" fmla="val 8929"/>
            </a:avLst>
          </a:prstGeom>
          <a:solidFill>
            <a:schemeClr val="accent1"/>
          </a:solidFill>
          <a:ln/>
        </p:spPr>
        <p:txBody>
          <a:bodyPr/>
          <a:lstStyle/>
          <a:p>
            <a:endParaRPr lang="fr-FR"/>
          </a:p>
        </p:txBody>
      </p:sp>
      <p:sp>
        <p:nvSpPr>
          <p:cNvPr id="64" name="Text 62"/>
          <p:cNvSpPr txBox="1"/>
          <p:nvPr/>
        </p:nvSpPr>
        <p:spPr>
          <a:xfrm>
            <a:off x="5349240" y="3840480"/>
            <a:ext cx="786384" cy="548640"/>
          </a:xfrm>
          <a:prstGeom prst="rect">
            <a:avLst/>
          </a:prstGeom>
          <a:noFill/>
          <a:ln/>
        </p:spPr>
        <p:txBody>
          <a:bodyPr wrap="square" lIns="0" tIns="0" rIns="0" bIns="0" rtlCol="0" anchor="ctr"/>
          <a:lstStyle/>
          <a:p>
            <a:pPr marL="0" indent="0" algn="ctr">
              <a:buNone/>
            </a:pPr>
            <a:r>
              <a:rPr lang="en-US" sz="1200" b="1" dirty="0">
                <a:solidFill>
                  <a:schemeClr val="tx1"/>
                </a:solidFill>
              </a:rPr>
              <a:t>n=3</a:t>
            </a:r>
            <a:endParaRPr lang="en-US" sz="1200" dirty="0"/>
          </a:p>
        </p:txBody>
      </p:sp>
      <p:sp>
        <p:nvSpPr>
          <p:cNvPr id="65" name="Shape 63"/>
          <p:cNvSpPr/>
          <p:nvPr/>
        </p:nvSpPr>
        <p:spPr>
          <a:xfrm>
            <a:off x="1435608" y="4407408"/>
            <a:ext cx="749808" cy="512064"/>
          </a:xfrm>
          <a:prstGeom prst="roundRect">
            <a:avLst>
              <a:gd name="adj" fmla="val 8929"/>
            </a:avLst>
          </a:prstGeom>
          <a:solidFill>
            <a:schemeClr val="accent1"/>
          </a:solidFill>
          <a:ln/>
        </p:spPr>
        <p:txBody>
          <a:bodyPr/>
          <a:lstStyle/>
          <a:p>
            <a:endParaRPr lang="fr-FR"/>
          </a:p>
        </p:txBody>
      </p:sp>
      <p:sp>
        <p:nvSpPr>
          <p:cNvPr id="66" name="Text 64"/>
          <p:cNvSpPr txBox="1"/>
          <p:nvPr/>
        </p:nvSpPr>
        <p:spPr>
          <a:xfrm>
            <a:off x="1417320" y="4389120"/>
            <a:ext cx="786384" cy="548640"/>
          </a:xfrm>
          <a:prstGeom prst="rect">
            <a:avLst/>
          </a:prstGeom>
          <a:noFill/>
          <a:ln/>
        </p:spPr>
        <p:txBody>
          <a:bodyPr wrap="square" lIns="0" tIns="0" rIns="0" bIns="0" rtlCol="0" anchor="ctr"/>
          <a:lstStyle/>
          <a:p>
            <a:pPr marL="0" indent="0" algn="ctr">
              <a:buNone/>
            </a:pPr>
            <a:r>
              <a:rPr lang="en-US" sz="1200" b="1" dirty="0">
                <a:solidFill>
                  <a:schemeClr val="tx1"/>
                </a:solidFill>
              </a:rPr>
              <a:t>n=2</a:t>
            </a:r>
            <a:endParaRPr lang="en-US" sz="1200" dirty="0"/>
          </a:p>
        </p:txBody>
      </p:sp>
      <p:sp>
        <p:nvSpPr>
          <p:cNvPr id="67" name="Shape 65"/>
          <p:cNvSpPr/>
          <p:nvPr/>
        </p:nvSpPr>
        <p:spPr>
          <a:xfrm>
            <a:off x="2221992" y="4407408"/>
            <a:ext cx="749808" cy="512064"/>
          </a:xfrm>
          <a:prstGeom prst="roundRect">
            <a:avLst>
              <a:gd name="adj" fmla="val 8929"/>
            </a:avLst>
          </a:prstGeom>
          <a:solidFill>
            <a:schemeClr val="accent1"/>
          </a:solidFill>
          <a:ln/>
        </p:spPr>
        <p:txBody>
          <a:bodyPr/>
          <a:lstStyle/>
          <a:p>
            <a:endParaRPr lang="fr-FR"/>
          </a:p>
        </p:txBody>
      </p:sp>
      <p:sp>
        <p:nvSpPr>
          <p:cNvPr id="68" name="Text 66"/>
          <p:cNvSpPr txBox="1"/>
          <p:nvPr/>
        </p:nvSpPr>
        <p:spPr>
          <a:xfrm>
            <a:off x="2203704" y="4389120"/>
            <a:ext cx="786384" cy="548640"/>
          </a:xfrm>
          <a:prstGeom prst="rect">
            <a:avLst/>
          </a:prstGeom>
          <a:noFill/>
          <a:ln/>
        </p:spPr>
        <p:txBody>
          <a:bodyPr wrap="square" lIns="0" tIns="0" rIns="0" bIns="0" rtlCol="0" anchor="ctr"/>
          <a:lstStyle/>
          <a:p>
            <a:pPr marL="0" indent="0" algn="ctr">
              <a:buNone/>
            </a:pPr>
            <a:r>
              <a:rPr lang="en-US" sz="1200" b="1" dirty="0">
                <a:solidFill>
                  <a:schemeClr val="tx1"/>
                </a:solidFill>
              </a:rPr>
              <a:t>n=2</a:t>
            </a:r>
            <a:endParaRPr lang="en-US" sz="1200" dirty="0"/>
          </a:p>
        </p:txBody>
      </p:sp>
      <p:sp>
        <p:nvSpPr>
          <p:cNvPr id="69" name="Shape 67"/>
          <p:cNvSpPr/>
          <p:nvPr/>
        </p:nvSpPr>
        <p:spPr>
          <a:xfrm>
            <a:off x="3008376" y="4407408"/>
            <a:ext cx="749808" cy="512064"/>
          </a:xfrm>
          <a:prstGeom prst="roundRect">
            <a:avLst>
              <a:gd name="adj" fmla="val 8929"/>
            </a:avLst>
          </a:prstGeom>
          <a:solidFill>
            <a:schemeClr val="accent1"/>
          </a:solidFill>
          <a:ln/>
        </p:spPr>
        <p:txBody>
          <a:bodyPr/>
          <a:lstStyle/>
          <a:p>
            <a:endParaRPr lang="fr-FR"/>
          </a:p>
        </p:txBody>
      </p:sp>
      <p:sp>
        <p:nvSpPr>
          <p:cNvPr id="70" name="Text 68"/>
          <p:cNvSpPr txBox="1"/>
          <p:nvPr/>
        </p:nvSpPr>
        <p:spPr>
          <a:xfrm>
            <a:off x="2990088" y="4389120"/>
            <a:ext cx="786384" cy="548640"/>
          </a:xfrm>
          <a:prstGeom prst="rect">
            <a:avLst/>
          </a:prstGeom>
          <a:noFill/>
          <a:ln/>
        </p:spPr>
        <p:txBody>
          <a:bodyPr wrap="square" lIns="0" tIns="0" rIns="0" bIns="0" rtlCol="0" anchor="ctr"/>
          <a:lstStyle/>
          <a:p>
            <a:pPr marL="0" indent="0" algn="ctr">
              <a:buNone/>
            </a:pPr>
            <a:r>
              <a:rPr lang="en-US" sz="1200" b="1" dirty="0">
                <a:solidFill>
                  <a:schemeClr val="tx1"/>
                </a:solidFill>
              </a:rPr>
              <a:t>n=2</a:t>
            </a:r>
            <a:endParaRPr lang="en-US" sz="1200" dirty="0"/>
          </a:p>
        </p:txBody>
      </p:sp>
      <p:sp>
        <p:nvSpPr>
          <p:cNvPr id="71" name="Shape 69"/>
          <p:cNvSpPr/>
          <p:nvPr/>
        </p:nvSpPr>
        <p:spPr>
          <a:xfrm>
            <a:off x="3794760" y="4407408"/>
            <a:ext cx="749808" cy="512064"/>
          </a:xfrm>
          <a:prstGeom prst="roundRect">
            <a:avLst>
              <a:gd name="adj" fmla="val 8929"/>
            </a:avLst>
          </a:prstGeom>
          <a:solidFill>
            <a:schemeClr val="accent1"/>
          </a:solidFill>
          <a:ln/>
        </p:spPr>
        <p:txBody>
          <a:bodyPr/>
          <a:lstStyle/>
          <a:p>
            <a:endParaRPr lang="fr-FR"/>
          </a:p>
        </p:txBody>
      </p:sp>
      <p:sp>
        <p:nvSpPr>
          <p:cNvPr id="72" name="Text 70"/>
          <p:cNvSpPr txBox="1"/>
          <p:nvPr/>
        </p:nvSpPr>
        <p:spPr>
          <a:xfrm>
            <a:off x="3776472" y="4389120"/>
            <a:ext cx="786384" cy="548640"/>
          </a:xfrm>
          <a:prstGeom prst="rect">
            <a:avLst/>
          </a:prstGeom>
          <a:noFill/>
          <a:ln/>
        </p:spPr>
        <p:txBody>
          <a:bodyPr wrap="square" lIns="0" tIns="0" rIns="0" bIns="0" rtlCol="0" anchor="ctr"/>
          <a:lstStyle/>
          <a:p>
            <a:pPr marL="0" indent="0" algn="ctr">
              <a:buNone/>
            </a:pPr>
            <a:r>
              <a:rPr lang="en-US" sz="1200" b="1" dirty="0">
                <a:solidFill>
                  <a:schemeClr val="tx1"/>
                </a:solidFill>
              </a:rPr>
              <a:t>n=1</a:t>
            </a:r>
            <a:endParaRPr lang="en-US" sz="1200" dirty="0"/>
          </a:p>
        </p:txBody>
      </p:sp>
      <p:sp>
        <p:nvSpPr>
          <p:cNvPr id="73" name="Shape 71"/>
          <p:cNvSpPr/>
          <p:nvPr/>
        </p:nvSpPr>
        <p:spPr>
          <a:xfrm>
            <a:off x="4581144" y="4407408"/>
            <a:ext cx="749808" cy="512064"/>
          </a:xfrm>
          <a:prstGeom prst="roundRect">
            <a:avLst>
              <a:gd name="adj" fmla="val 8929"/>
            </a:avLst>
          </a:prstGeom>
          <a:solidFill>
            <a:schemeClr val="accent1"/>
          </a:solidFill>
          <a:ln/>
        </p:spPr>
        <p:txBody>
          <a:bodyPr/>
          <a:lstStyle/>
          <a:p>
            <a:endParaRPr lang="fr-FR"/>
          </a:p>
        </p:txBody>
      </p:sp>
      <p:sp>
        <p:nvSpPr>
          <p:cNvPr id="74" name="Text 72"/>
          <p:cNvSpPr txBox="1"/>
          <p:nvPr/>
        </p:nvSpPr>
        <p:spPr>
          <a:xfrm>
            <a:off x="4562856" y="4389120"/>
            <a:ext cx="786384" cy="548640"/>
          </a:xfrm>
          <a:prstGeom prst="rect">
            <a:avLst/>
          </a:prstGeom>
          <a:noFill/>
          <a:ln/>
        </p:spPr>
        <p:txBody>
          <a:bodyPr wrap="square" lIns="0" tIns="0" rIns="0" bIns="0" rtlCol="0" anchor="ctr"/>
          <a:lstStyle/>
          <a:p>
            <a:pPr marL="0" indent="0" algn="ctr">
              <a:buNone/>
            </a:pPr>
            <a:r>
              <a:rPr lang="en-US" sz="1200" b="1" dirty="0">
                <a:solidFill>
                  <a:schemeClr val="tx1"/>
                </a:solidFill>
              </a:rPr>
              <a:t>n=2</a:t>
            </a:r>
            <a:endParaRPr lang="en-US" sz="1200" dirty="0"/>
          </a:p>
        </p:txBody>
      </p:sp>
      <p:sp>
        <p:nvSpPr>
          <p:cNvPr id="75" name="Shape 73"/>
          <p:cNvSpPr/>
          <p:nvPr/>
        </p:nvSpPr>
        <p:spPr>
          <a:xfrm>
            <a:off x="5367528" y="4407408"/>
            <a:ext cx="749808" cy="512064"/>
          </a:xfrm>
          <a:prstGeom prst="roundRect">
            <a:avLst>
              <a:gd name="adj" fmla="val 8929"/>
            </a:avLst>
          </a:prstGeom>
          <a:solidFill>
            <a:schemeClr val="accent1"/>
          </a:solidFill>
          <a:ln/>
        </p:spPr>
        <p:txBody>
          <a:bodyPr/>
          <a:lstStyle/>
          <a:p>
            <a:endParaRPr lang="fr-FR"/>
          </a:p>
        </p:txBody>
      </p:sp>
      <p:sp>
        <p:nvSpPr>
          <p:cNvPr id="76" name="Text 74"/>
          <p:cNvSpPr txBox="1"/>
          <p:nvPr/>
        </p:nvSpPr>
        <p:spPr>
          <a:xfrm>
            <a:off x="5349240" y="4389120"/>
            <a:ext cx="786384" cy="548640"/>
          </a:xfrm>
          <a:prstGeom prst="rect">
            <a:avLst/>
          </a:prstGeom>
          <a:noFill/>
          <a:ln/>
        </p:spPr>
        <p:txBody>
          <a:bodyPr wrap="square" lIns="0" tIns="0" rIns="0" bIns="0" rtlCol="0" anchor="ctr"/>
          <a:lstStyle/>
          <a:p>
            <a:pPr marL="0" indent="0" algn="ctr">
              <a:buNone/>
            </a:pPr>
            <a:r>
              <a:rPr lang="en-US" sz="1200" b="1" dirty="0">
                <a:solidFill>
                  <a:schemeClr val="tx1"/>
                </a:solidFill>
              </a:rPr>
              <a:t>n=2</a:t>
            </a:r>
            <a:endParaRPr lang="en-US" sz="1200" dirty="0"/>
          </a:p>
        </p:txBody>
      </p:sp>
      <p:sp>
        <p:nvSpPr>
          <p:cNvPr id="77" name="Text 75"/>
          <p:cNvSpPr txBox="1"/>
          <p:nvPr/>
        </p:nvSpPr>
        <p:spPr>
          <a:xfrm>
            <a:off x="868680" y="1645920"/>
            <a:ext cx="475488" cy="548640"/>
          </a:xfrm>
          <a:prstGeom prst="rect">
            <a:avLst/>
          </a:prstGeom>
          <a:noFill/>
          <a:ln/>
        </p:spPr>
        <p:txBody>
          <a:bodyPr wrap="square" lIns="0" tIns="0" rIns="0" bIns="0" rtlCol="0" anchor="ctr"/>
          <a:lstStyle/>
          <a:p>
            <a:pPr marL="0" indent="0" algn="r">
              <a:buNone/>
            </a:pPr>
            <a:r>
              <a:rPr lang="en-US" sz="1100" dirty="0">
                <a:solidFill>
                  <a:schemeClr val="tx2"/>
                </a:solidFill>
              </a:rPr>
              <a:t>0.04</a:t>
            </a:r>
            <a:endParaRPr lang="en-US" sz="1100" dirty="0"/>
          </a:p>
        </p:txBody>
      </p:sp>
      <p:sp>
        <p:nvSpPr>
          <p:cNvPr id="78" name="Text 76"/>
          <p:cNvSpPr txBox="1"/>
          <p:nvPr/>
        </p:nvSpPr>
        <p:spPr>
          <a:xfrm>
            <a:off x="868680" y="2194560"/>
            <a:ext cx="475488" cy="548640"/>
          </a:xfrm>
          <a:prstGeom prst="rect">
            <a:avLst/>
          </a:prstGeom>
          <a:noFill/>
          <a:ln/>
        </p:spPr>
        <p:txBody>
          <a:bodyPr wrap="square" lIns="0" tIns="0" rIns="0" bIns="0" rtlCol="0" anchor="ctr"/>
          <a:lstStyle/>
          <a:p>
            <a:pPr marL="0" indent="0" algn="r">
              <a:buNone/>
            </a:pPr>
            <a:r>
              <a:rPr lang="en-US" sz="1100" dirty="0">
                <a:solidFill>
                  <a:schemeClr val="tx2"/>
                </a:solidFill>
              </a:rPr>
              <a:t>0.1</a:t>
            </a:r>
            <a:endParaRPr lang="en-US" sz="1100" dirty="0"/>
          </a:p>
        </p:txBody>
      </p:sp>
      <p:sp>
        <p:nvSpPr>
          <p:cNvPr id="79" name="Text 77"/>
          <p:cNvSpPr txBox="1"/>
          <p:nvPr/>
        </p:nvSpPr>
        <p:spPr>
          <a:xfrm>
            <a:off x="868680" y="2743200"/>
            <a:ext cx="475488" cy="548640"/>
          </a:xfrm>
          <a:prstGeom prst="rect">
            <a:avLst/>
          </a:prstGeom>
          <a:noFill/>
          <a:ln/>
        </p:spPr>
        <p:txBody>
          <a:bodyPr wrap="square" lIns="0" tIns="0" rIns="0" bIns="0" rtlCol="0" anchor="ctr"/>
          <a:lstStyle/>
          <a:p>
            <a:pPr marL="0" indent="0" algn="r">
              <a:buNone/>
            </a:pPr>
            <a:r>
              <a:rPr lang="en-US" sz="1100" dirty="0">
                <a:solidFill>
                  <a:schemeClr val="tx2"/>
                </a:solidFill>
              </a:rPr>
              <a:t>0.25</a:t>
            </a:r>
            <a:endParaRPr lang="en-US" sz="1100" dirty="0"/>
          </a:p>
        </p:txBody>
      </p:sp>
      <p:sp>
        <p:nvSpPr>
          <p:cNvPr id="80" name="Text 78"/>
          <p:cNvSpPr txBox="1"/>
          <p:nvPr/>
        </p:nvSpPr>
        <p:spPr>
          <a:xfrm>
            <a:off x="868680" y="3291840"/>
            <a:ext cx="475488" cy="548640"/>
          </a:xfrm>
          <a:prstGeom prst="rect">
            <a:avLst/>
          </a:prstGeom>
          <a:noFill/>
          <a:ln/>
        </p:spPr>
        <p:txBody>
          <a:bodyPr wrap="square" lIns="0" tIns="0" rIns="0" bIns="0" rtlCol="0" anchor="ctr"/>
          <a:lstStyle/>
          <a:p>
            <a:pPr marL="0" indent="0" algn="r">
              <a:buNone/>
            </a:pPr>
            <a:r>
              <a:rPr lang="en-US" sz="1100" dirty="0">
                <a:solidFill>
                  <a:schemeClr val="tx2"/>
                </a:solidFill>
              </a:rPr>
              <a:t>0.6</a:t>
            </a:r>
            <a:endParaRPr lang="en-US" sz="1100" dirty="0"/>
          </a:p>
        </p:txBody>
      </p:sp>
      <p:sp>
        <p:nvSpPr>
          <p:cNvPr id="81" name="Text 79"/>
          <p:cNvSpPr txBox="1"/>
          <p:nvPr/>
        </p:nvSpPr>
        <p:spPr>
          <a:xfrm>
            <a:off x="868680" y="3840480"/>
            <a:ext cx="475488" cy="548640"/>
          </a:xfrm>
          <a:prstGeom prst="rect">
            <a:avLst/>
          </a:prstGeom>
          <a:noFill/>
          <a:ln/>
        </p:spPr>
        <p:txBody>
          <a:bodyPr wrap="square" lIns="0" tIns="0" rIns="0" bIns="0" rtlCol="0" anchor="ctr"/>
          <a:lstStyle/>
          <a:p>
            <a:pPr marL="0" indent="0" algn="r">
              <a:buNone/>
            </a:pPr>
            <a:r>
              <a:rPr lang="en-US" sz="1100" dirty="0">
                <a:solidFill>
                  <a:schemeClr val="tx2"/>
                </a:solidFill>
              </a:rPr>
              <a:t>1.5</a:t>
            </a:r>
            <a:endParaRPr lang="en-US" sz="1100" dirty="0"/>
          </a:p>
        </p:txBody>
      </p:sp>
      <p:sp>
        <p:nvSpPr>
          <p:cNvPr id="82" name="Text 80"/>
          <p:cNvSpPr txBox="1"/>
          <p:nvPr/>
        </p:nvSpPr>
        <p:spPr>
          <a:xfrm>
            <a:off x="868680" y="4389120"/>
            <a:ext cx="475488" cy="548640"/>
          </a:xfrm>
          <a:prstGeom prst="rect">
            <a:avLst/>
          </a:prstGeom>
          <a:noFill/>
          <a:ln/>
        </p:spPr>
        <p:txBody>
          <a:bodyPr wrap="square" lIns="0" tIns="0" rIns="0" bIns="0" rtlCol="0" anchor="ctr"/>
          <a:lstStyle/>
          <a:p>
            <a:pPr marL="0" indent="0" algn="r">
              <a:buNone/>
            </a:pPr>
            <a:r>
              <a:rPr lang="en-US" sz="1100" dirty="0">
                <a:solidFill>
                  <a:schemeClr val="tx2"/>
                </a:solidFill>
              </a:rPr>
              <a:t>4</a:t>
            </a:r>
            <a:endParaRPr lang="en-US" sz="1100" dirty="0"/>
          </a:p>
        </p:txBody>
      </p:sp>
      <p:sp>
        <p:nvSpPr>
          <p:cNvPr id="83" name="Text 81"/>
          <p:cNvSpPr txBox="1"/>
          <p:nvPr/>
        </p:nvSpPr>
        <p:spPr>
          <a:xfrm>
            <a:off x="1417320" y="4956048"/>
            <a:ext cx="786384" cy="237744"/>
          </a:xfrm>
          <a:prstGeom prst="rect">
            <a:avLst/>
          </a:prstGeom>
          <a:noFill/>
          <a:ln/>
        </p:spPr>
        <p:txBody>
          <a:bodyPr wrap="square" lIns="0" tIns="0" rIns="0" bIns="0" rtlCol="0" anchor="ctr"/>
          <a:lstStyle/>
          <a:p>
            <a:pPr marL="0" indent="0" algn="ctr">
              <a:buNone/>
            </a:pPr>
            <a:r>
              <a:rPr lang="en-US" sz="1100" dirty="0">
                <a:solidFill>
                  <a:schemeClr val="tx2"/>
                </a:solidFill>
              </a:rPr>
              <a:t>0.3</a:t>
            </a:r>
            <a:endParaRPr lang="en-US" sz="1100" dirty="0"/>
          </a:p>
        </p:txBody>
      </p:sp>
      <p:sp>
        <p:nvSpPr>
          <p:cNvPr id="84" name="Text 82"/>
          <p:cNvSpPr txBox="1"/>
          <p:nvPr/>
        </p:nvSpPr>
        <p:spPr>
          <a:xfrm>
            <a:off x="2203704" y="4956048"/>
            <a:ext cx="786384" cy="237744"/>
          </a:xfrm>
          <a:prstGeom prst="rect">
            <a:avLst/>
          </a:prstGeom>
          <a:noFill/>
          <a:ln/>
        </p:spPr>
        <p:txBody>
          <a:bodyPr wrap="square" lIns="0" tIns="0" rIns="0" bIns="0" rtlCol="0" anchor="ctr"/>
          <a:lstStyle/>
          <a:p>
            <a:pPr marL="0" indent="0" algn="ctr">
              <a:buNone/>
            </a:pPr>
            <a:r>
              <a:rPr lang="en-US" sz="1100" dirty="0">
                <a:solidFill>
                  <a:schemeClr val="tx2"/>
                </a:solidFill>
              </a:rPr>
              <a:t>0.6</a:t>
            </a:r>
            <a:endParaRPr lang="en-US" sz="1100" dirty="0"/>
          </a:p>
        </p:txBody>
      </p:sp>
      <p:sp>
        <p:nvSpPr>
          <p:cNvPr id="85" name="Text 83"/>
          <p:cNvSpPr txBox="1"/>
          <p:nvPr/>
        </p:nvSpPr>
        <p:spPr>
          <a:xfrm>
            <a:off x="2990088" y="4956048"/>
            <a:ext cx="786384" cy="237744"/>
          </a:xfrm>
          <a:prstGeom prst="rect">
            <a:avLst/>
          </a:prstGeom>
          <a:noFill/>
          <a:ln/>
        </p:spPr>
        <p:txBody>
          <a:bodyPr wrap="square" lIns="0" tIns="0" rIns="0" bIns="0" rtlCol="0" anchor="ctr"/>
          <a:lstStyle/>
          <a:p>
            <a:pPr marL="0" indent="0" algn="ctr">
              <a:buNone/>
            </a:pPr>
            <a:r>
              <a:rPr lang="en-US" sz="1100" dirty="0">
                <a:solidFill>
                  <a:schemeClr val="tx2"/>
                </a:solidFill>
              </a:rPr>
              <a:t>1.0</a:t>
            </a:r>
            <a:endParaRPr lang="en-US" sz="1100" dirty="0"/>
          </a:p>
        </p:txBody>
      </p:sp>
      <p:sp>
        <p:nvSpPr>
          <p:cNvPr id="86" name="Text 84"/>
          <p:cNvSpPr txBox="1"/>
          <p:nvPr/>
        </p:nvSpPr>
        <p:spPr>
          <a:xfrm>
            <a:off x="3776472" y="4956048"/>
            <a:ext cx="786384" cy="237744"/>
          </a:xfrm>
          <a:prstGeom prst="rect">
            <a:avLst/>
          </a:prstGeom>
          <a:noFill/>
          <a:ln/>
        </p:spPr>
        <p:txBody>
          <a:bodyPr wrap="square" lIns="0" tIns="0" rIns="0" bIns="0" rtlCol="0" anchor="ctr"/>
          <a:lstStyle/>
          <a:p>
            <a:pPr marL="0" indent="0" algn="ctr">
              <a:buNone/>
            </a:pPr>
            <a:r>
              <a:rPr lang="en-US" sz="1100" dirty="0">
                <a:solidFill>
                  <a:schemeClr val="tx2"/>
                </a:solidFill>
              </a:rPr>
              <a:t>1.6</a:t>
            </a:r>
            <a:endParaRPr lang="en-US" sz="1100" dirty="0"/>
          </a:p>
        </p:txBody>
      </p:sp>
      <p:sp>
        <p:nvSpPr>
          <p:cNvPr id="87" name="Text 85"/>
          <p:cNvSpPr txBox="1"/>
          <p:nvPr/>
        </p:nvSpPr>
        <p:spPr>
          <a:xfrm>
            <a:off x="4562856" y="4956048"/>
            <a:ext cx="786384" cy="237744"/>
          </a:xfrm>
          <a:prstGeom prst="rect">
            <a:avLst/>
          </a:prstGeom>
          <a:noFill/>
          <a:ln/>
        </p:spPr>
        <p:txBody>
          <a:bodyPr wrap="square" lIns="0" tIns="0" rIns="0" bIns="0" rtlCol="0" anchor="ctr"/>
          <a:lstStyle/>
          <a:p>
            <a:pPr marL="0" indent="0" algn="ctr">
              <a:buNone/>
            </a:pPr>
            <a:r>
              <a:rPr lang="en-US" sz="1100" dirty="0">
                <a:solidFill>
                  <a:schemeClr val="tx2"/>
                </a:solidFill>
              </a:rPr>
              <a:t>2.5</a:t>
            </a:r>
            <a:endParaRPr lang="en-US" sz="1100" dirty="0"/>
          </a:p>
        </p:txBody>
      </p:sp>
      <p:sp>
        <p:nvSpPr>
          <p:cNvPr id="88" name="Text 86"/>
          <p:cNvSpPr txBox="1"/>
          <p:nvPr/>
        </p:nvSpPr>
        <p:spPr>
          <a:xfrm>
            <a:off x="5349240" y="4956048"/>
            <a:ext cx="786384" cy="237744"/>
          </a:xfrm>
          <a:prstGeom prst="rect">
            <a:avLst/>
          </a:prstGeom>
          <a:noFill/>
          <a:ln/>
        </p:spPr>
        <p:txBody>
          <a:bodyPr wrap="square" lIns="0" tIns="0" rIns="0" bIns="0" rtlCol="0" anchor="ctr"/>
          <a:lstStyle/>
          <a:p>
            <a:pPr marL="0" indent="0" algn="ctr">
              <a:buNone/>
            </a:pPr>
            <a:r>
              <a:rPr lang="en-US" sz="1100" dirty="0">
                <a:solidFill>
                  <a:schemeClr val="tx2"/>
                </a:solidFill>
              </a:rPr>
              <a:t>4.0</a:t>
            </a:r>
            <a:endParaRPr lang="en-US" sz="1100" dirty="0"/>
          </a:p>
        </p:txBody>
      </p:sp>
      <p:sp>
        <p:nvSpPr>
          <p:cNvPr id="89" name="Text 87"/>
          <p:cNvSpPr txBox="1"/>
          <p:nvPr/>
        </p:nvSpPr>
        <p:spPr>
          <a:xfrm>
            <a:off x="1417320" y="5440680"/>
            <a:ext cx="4718304" cy="256032"/>
          </a:xfrm>
          <a:prstGeom prst="rect">
            <a:avLst/>
          </a:prstGeom>
          <a:noFill/>
          <a:ln/>
        </p:spPr>
        <p:txBody>
          <a:bodyPr wrap="square" lIns="0" tIns="0" rIns="0" bIns="0" rtlCol="0" anchor="ctr"/>
          <a:lstStyle/>
          <a:p>
            <a:pPr marL="0" indent="0" algn="ctr">
              <a:buNone/>
            </a:pPr>
            <a:r>
              <a:rPr lang="en-US" sz="1200" dirty="0">
                <a:solidFill>
                  <a:schemeClr val="tx1"/>
                </a:solidFill>
              </a:rPr>
              <a:t>initial-condition norm </a:t>
            </a:r>
            <a:r>
              <a:rPr lang="en-US" sz="1200" i="1" dirty="0">
                <a:solidFill>
                  <a:schemeClr val="tx1"/>
                </a:solidFill>
              </a:rPr>
              <a:t>x₀</a:t>
            </a:r>
            <a:endParaRPr lang="en-US" sz="1200" dirty="0"/>
          </a:p>
        </p:txBody>
      </p:sp>
      <p:sp>
        <p:nvSpPr>
          <p:cNvPr id="90" name="Text 88"/>
          <p:cNvSpPr txBox="1"/>
          <p:nvPr/>
        </p:nvSpPr>
        <p:spPr>
          <a:xfrm rot="16200000">
            <a:off x="-228600" y="3154680"/>
            <a:ext cx="1828800" cy="274320"/>
          </a:xfrm>
          <a:prstGeom prst="rect">
            <a:avLst/>
          </a:prstGeom>
          <a:noFill/>
          <a:ln/>
        </p:spPr>
        <p:txBody>
          <a:bodyPr wrap="square" lIns="0" tIns="0" rIns="0" bIns="0" rtlCol="0" anchor="ctr"/>
          <a:lstStyle/>
          <a:p>
            <a:pPr marL="0" indent="0" algn="ctr">
              <a:buNone/>
            </a:pPr>
            <a:r>
              <a:rPr lang="en-US" sz="1200" dirty="0">
                <a:solidFill>
                  <a:schemeClr val="tx1"/>
                </a:solidFill>
              </a:rPr>
              <a:t>noise rate </a:t>
            </a:r>
            <a:r>
              <a:rPr lang="en-US" sz="1200" i="1" dirty="0">
                <a:solidFill>
                  <a:schemeClr val="tx1"/>
                </a:solidFill>
              </a:rPr>
              <a:t>q</a:t>
            </a:r>
            <a:endParaRPr lang="en-US" sz="1200" dirty="0"/>
          </a:p>
        </p:txBody>
      </p:sp>
      <p:sp>
        <p:nvSpPr>
          <p:cNvPr id="91" name="Shape 89"/>
          <p:cNvSpPr/>
          <p:nvPr/>
        </p:nvSpPr>
        <p:spPr>
          <a:xfrm>
            <a:off x="1810512" y="2820824"/>
            <a:ext cx="73467" cy="77548"/>
          </a:xfrm>
          <a:prstGeom prst="line">
            <a:avLst/>
          </a:prstGeom>
          <a:noFill/>
          <a:ln w="15875">
            <a:solidFill>
              <a:srgbClr val="E9ECF3"/>
            </a:solidFill>
            <a:prstDash val="dash"/>
          </a:ln>
        </p:spPr>
        <p:txBody>
          <a:bodyPr/>
          <a:lstStyle/>
          <a:p>
            <a:endParaRPr lang="fr-FR"/>
          </a:p>
        </p:txBody>
      </p:sp>
      <p:sp>
        <p:nvSpPr>
          <p:cNvPr id="92" name="Shape 90"/>
          <p:cNvSpPr/>
          <p:nvPr/>
        </p:nvSpPr>
        <p:spPr>
          <a:xfrm>
            <a:off x="1883979" y="2898372"/>
            <a:ext cx="73467" cy="77548"/>
          </a:xfrm>
          <a:prstGeom prst="line">
            <a:avLst/>
          </a:prstGeom>
          <a:noFill/>
          <a:ln w="15875">
            <a:solidFill>
              <a:srgbClr val="E9ECF3"/>
            </a:solidFill>
            <a:prstDash val="dash"/>
          </a:ln>
        </p:spPr>
        <p:txBody>
          <a:bodyPr/>
          <a:lstStyle/>
          <a:p>
            <a:endParaRPr lang="fr-FR"/>
          </a:p>
        </p:txBody>
      </p:sp>
      <p:sp>
        <p:nvSpPr>
          <p:cNvPr id="93" name="Shape 91"/>
          <p:cNvSpPr/>
          <p:nvPr/>
        </p:nvSpPr>
        <p:spPr>
          <a:xfrm>
            <a:off x="1957446" y="2975920"/>
            <a:ext cx="73467" cy="79224"/>
          </a:xfrm>
          <a:prstGeom prst="line">
            <a:avLst/>
          </a:prstGeom>
          <a:noFill/>
          <a:ln w="15875">
            <a:solidFill>
              <a:srgbClr val="E9ECF3"/>
            </a:solidFill>
            <a:prstDash val="dash"/>
          </a:ln>
        </p:spPr>
        <p:txBody>
          <a:bodyPr/>
          <a:lstStyle/>
          <a:p>
            <a:endParaRPr lang="fr-FR"/>
          </a:p>
        </p:txBody>
      </p:sp>
      <p:sp>
        <p:nvSpPr>
          <p:cNvPr id="94" name="Shape 92"/>
          <p:cNvSpPr/>
          <p:nvPr/>
        </p:nvSpPr>
        <p:spPr>
          <a:xfrm>
            <a:off x="2030914" y="3055143"/>
            <a:ext cx="73467" cy="81164"/>
          </a:xfrm>
          <a:prstGeom prst="line">
            <a:avLst/>
          </a:prstGeom>
          <a:noFill/>
          <a:ln w="15875">
            <a:solidFill>
              <a:srgbClr val="E9ECF3"/>
            </a:solidFill>
            <a:prstDash val="dash"/>
          </a:ln>
        </p:spPr>
        <p:txBody>
          <a:bodyPr/>
          <a:lstStyle/>
          <a:p>
            <a:endParaRPr lang="fr-FR"/>
          </a:p>
        </p:txBody>
      </p:sp>
      <p:sp>
        <p:nvSpPr>
          <p:cNvPr id="95" name="Shape 93"/>
          <p:cNvSpPr/>
          <p:nvPr/>
        </p:nvSpPr>
        <p:spPr>
          <a:xfrm>
            <a:off x="2104381" y="3136307"/>
            <a:ext cx="73467" cy="81164"/>
          </a:xfrm>
          <a:prstGeom prst="line">
            <a:avLst/>
          </a:prstGeom>
          <a:noFill/>
          <a:ln w="15875">
            <a:solidFill>
              <a:srgbClr val="E9ECF3"/>
            </a:solidFill>
            <a:prstDash val="dash"/>
          </a:ln>
        </p:spPr>
        <p:txBody>
          <a:bodyPr/>
          <a:lstStyle/>
          <a:p>
            <a:endParaRPr lang="fr-FR"/>
          </a:p>
        </p:txBody>
      </p:sp>
      <p:sp>
        <p:nvSpPr>
          <p:cNvPr id="96" name="Shape 94"/>
          <p:cNvSpPr/>
          <p:nvPr/>
        </p:nvSpPr>
        <p:spPr>
          <a:xfrm>
            <a:off x="2177848" y="3217471"/>
            <a:ext cx="73467" cy="81164"/>
          </a:xfrm>
          <a:prstGeom prst="line">
            <a:avLst/>
          </a:prstGeom>
          <a:noFill/>
          <a:ln w="15875">
            <a:solidFill>
              <a:srgbClr val="E9ECF3"/>
            </a:solidFill>
            <a:prstDash val="dash"/>
          </a:ln>
        </p:spPr>
        <p:txBody>
          <a:bodyPr/>
          <a:lstStyle/>
          <a:p>
            <a:endParaRPr lang="fr-FR"/>
          </a:p>
        </p:txBody>
      </p:sp>
      <p:sp>
        <p:nvSpPr>
          <p:cNvPr id="97" name="Shape 95"/>
          <p:cNvSpPr/>
          <p:nvPr/>
        </p:nvSpPr>
        <p:spPr>
          <a:xfrm>
            <a:off x="2251315" y="3298634"/>
            <a:ext cx="73467" cy="81164"/>
          </a:xfrm>
          <a:prstGeom prst="line">
            <a:avLst/>
          </a:prstGeom>
          <a:noFill/>
          <a:ln w="15875">
            <a:solidFill>
              <a:srgbClr val="E9ECF3"/>
            </a:solidFill>
            <a:prstDash val="dash"/>
          </a:ln>
        </p:spPr>
        <p:txBody>
          <a:bodyPr/>
          <a:lstStyle/>
          <a:p>
            <a:endParaRPr lang="fr-FR"/>
          </a:p>
        </p:txBody>
      </p:sp>
      <p:sp>
        <p:nvSpPr>
          <p:cNvPr id="98" name="Shape 96"/>
          <p:cNvSpPr/>
          <p:nvPr/>
        </p:nvSpPr>
        <p:spPr>
          <a:xfrm>
            <a:off x="2324783" y="3379798"/>
            <a:ext cx="73467" cy="81164"/>
          </a:xfrm>
          <a:prstGeom prst="line">
            <a:avLst/>
          </a:prstGeom>
          <a:noFill/>
          <a:ln w="15875">
            <a:solidFill>
              <a:srgbClr val="E9ECF3"/>
            </a:solidFill>
            <a:prstDash val="dash"/>
          </a:ln>
        </p:spPr>
        <p:txBody>
          <a:bodyPr/>
          <a:lstStyle/>
          <a:p>
            <a:endParaRPr lang="fr-FR"/>
          </a:p>
        </p:txBody>
      </p:sp>
      <p:sp>
        <p:nvSpPr>
          <p:cNvPr id="99" name="Shape 97"/>
          <p:cNvSpPr/>
          <p:nvPr/>
        </p:nvSpPr>
        <p:spPr>
          <a:xfrm>
            <a:off x="2398250" y="3460962"/>
            <a:ext cx="73467" cy="81164"/>
          </a:xfrm>
          <a:prstGeom prst="line">
            <a:avLst/>
          </a:prstGeom>
          <a:noFill/>
          <a:ln w="15875">
            <a:solidFill>
              <a:srgbClr val="E9ECF3"/>
            </a:solidFill>
            <a:prstDash val="dash"/>
          </a:ln>
        </p:spPr>
        <p:txBody>
          <a:bodyPr/>
          <a:lstStyle/>
          <a:p>
            <a:endParaRPr lang="fr-FR"/>
          </a:p>
        </p:txBody>
      </p:sp>
      <p:sp>
        <p:nvSpPr>
          <p:cNvPr id="100" name="Shape 98"/>
          <p:cNvSpPr/>
          <p:nvPr/>
        </p:nvSpPr>
        <p:spPr>
          <a:xfrm>
            <a:off x="2471717" y="3542125"/>
            <a:ext cx="73467" cy="78618"/>
          </a:xfrm>
          <a:prstGeom prst="line">
            <a:avLst/>
          </a:prstGeom>
          <a:noFill/>
          <a:ln w="15875">
            <a:solidFill>
              <a:srgbClr val="E9ECF3"/>
            </a:solidFill>
            <a:prstDash val="dash"/>
          </a:ln>
        </p:spPr>
        <p:txBody>
          <a:bodyPr/>
          <a:lstStyle/>
          <a:p>
            <a:endParaRPr lang="fr-FR"/>
          </a:p>
        </p:txBody>
      </p:sp>
      <p:sp>
        <p:nvSpPr>
          <p:cNvPr id="101" name="Shape 99"/>
          <p:cNvSpPr/>
          <p:nvPr/>
        </p:nvSpPr>
        <p:spPr>
          <a:xfrm>
            <a:off x="2545184" y="3620744"/>
            <a:ext cx="81232" cy="77548"/>
          </a:xfrm>
          <a:prstGeom prst="line">
            <a:avLst/>
          </a:prstGeom>
          <a:noFill/>
          <a:ln w="15875">
            <a:solidFill>
              <a:srgbClr val="E9ECF3"/>
            </a:solidFill>
            <a:prstDash val="dash"/>
          </a:ln>
        </p:spPr>
        <p:txBody>
          <a:bodyPr/>
          <a:lstStyle/>
          <a:p>
            <a:endParaRPr lang="fr-FR"/>
          </a:p>
        </p:txBody>
      </p:sp>
      <p:sp>
        <p:nvSpPr>
          <p:cNvPr id="102" name="Shape 100"/>
          <p:cNvSpPr/>
          <p:nvPr/>
        </p:nvSpPr>
        <p:spPr>
          <a:xfrm>
            <a:off x="2626417" y="3698291"/>
            <a:ext cx="99689" cy="77548"/>
          </a:xfrm>
          <a:prstGeom prst="line">
            <a:avLst/>
          </a:prstGeom>
          <a:noFill/>
          <a:ln w="15875">
            <a:solidFill>
              <a:srgbClr val="E9ECF3"/>
            </a:solidFill>
            <a:prstDash val="dash"/>
          </a:ln>
        </p:spPr>
        <p:txBody>
          <a:bodyPr/>
          <a:lstStyle/>
          <a:p>
            <a:endParaRPr lang="fr-FR"/>
          </a:p>
        </p:txBody>
      </p:sp>
      <p:sp>
        <p:nvSpPr>
          <p:cNvPr id="103" name="Shape 101"/>
          <p:cNvSpPr/>
          <p:nvPr/>
        </p:nvSpPr>
        <p:spPr>
          <a:xfrm>
            <a:off x="2726106" y="3775839"/>
            <a:ext cx="99689" cy="77548"/>
          </a:xfrm>
          <a:prstGeom prst="line">
            <a:avLst/>
          </a:prstGeom>
          <a:noFill/>
          <a:ln w="15875">
            <a:solidFill>
              <a:srgbClr val="E9ECF3"/>
            </a:solidFill>
            <a:prstDash val="dash"/>
          </a:ln>
        </p:spPr>
        <p:txBody>
          <a:bodyPr/>
          <a:lstStyle/>
          <a:p>
            <a:endParaRPr lang="fr-FR"/>
          </a:p>
        </p:txBody>
      </p:sp>
      <p:sp>
        <p:nvSpPr>
          <p:cNvPr id="104" name="Shape 102"/>
          <p:cNvSpPr/>
          <p:nvPr/>
        </p:nvSpPr>
        <p:spPr>
          <a:xfrm>
            <a:off x="2825794" y="3853387"/>
            <a:ext cx="99689" cy="77548"/>
          </a:xfrm>
          <a:prstGeom prst="line">
            <a:avLst/>
          </a:prstGeom>
          <a:noFill/>
          <a:ln w="15875">
            <a:solidFill>
              <a:srgbClr val="E9ECF3"/>
            </a:solidFill>
            <a:prstDash val="dash"/>
          </a:ln>
        </p:spPr>
        <p:txBody>
          <a:bodyPr/>
          <a:lstStyle/>
          <a:p>
            <a:endParaRPr lang="fr-FR"/>
          </a:p>
        </p:txBody>
      </p:sp>
      <p:sp>
        <p:nvSpPr>
          <p:cNvPr id="105" name="Shape 103"/>
          <p:cNvSpPr/>
          <p:nvPr/>
        </p:nvSpPr>
        <p:spPr>
          <a:xfrm>
            <a:off x="2925483" y="3930934"/>
            <a:ext cx="99689" cy="77548"/>
          </a:xfrm>
          <a:prstGeom prst="line">
            <a:avLst/>
          </a:prstGeom>
          <a:noFill/>
          <a:ln w="15875">
            <a:solidFill>
              <a:srgbClr val="E9ECF3"/>
            </a:solidFill>
            <a:prstDash val="dash"/>
          </a:ln>
        </p:spPr>
        <p:txBody>
          <a:bodyPr/>
          <a:lstStyle/>
          <a:p>
            <a:endParaRPr lang="fr-FR"/>
          </a:p>
        </p:txBody>
      </p:sp>
      <p:sp>
        <p:nvSpPr>
          <p:cNvPr id="106" name="Shape 104"/>
          <p:cNvSpPr/>
          <p:nvPr/>
        </p:nvSpPr>
        <p:spPr>
          <a:xfrm>
            <a:off x="3025172" y="4008482"/>
            <a:ext cx="99689" cy="77548"/>
          </a:xfrm>
          <a:prstGeom prst="line">
            <a:avLst/>
          </a:prstGeom>
          <a:noFill/>
          <a:ln w="15875">
            <a:solidFill>
              <a:srgbClr val="E9ECF3"/>
            </a:solidFill>
            <a:prstDash val="dash"/>
          </a:ln>
        </p:spPr>
        <p:txBody>
          <a:bodyPr/>
          <a:lstStyle/>
          <a:p>
            <a:endParaRPr lang="fr-FR"/>
          </a:p>
        </p:txBody>
      </p:sp>
      <p:sp>
        <p:nvSpPr>
          <p:cNvPr id="107" name="Shape 105"/>
          <p:cNvSpPr/>
          <p:nvPr/>
        </p:nvSpPr>
        <p:spPr>
          <a:xfrm>
            <a:off x="3124861" y="4086030"/>
            <a:ext cx="99689" cy="74338"/>
          </a:xfrm>
          <a:prstGeom prst="line">
            <a:avLst/>
          </a:prstGeom>
          <a:noFill/>
          <a:ln w="15875">
            <a:solidFill>
              <a:srgbClr val="E9ECF3"/>
            </a:solidFill>
            <a:prstDash val="dash"/>
          </a:ln>
        </p:spPr>
        <p:txBody>
          <a:bodyPr/>
          <a:lstStyle/>
          <a:p>
            <a:endParaRPr lang="fr-FR"/>
          </a:p>
        </p:txBody>
      </p:sp>
      <p:sp>
        <p:nvSpPr>
          <p:cNvPr id="108" name="Shape 106"/>
          <p:cNvSpPr/>
          <p:nvPr/>
        </p:nvSpPr>
        <p:spPr>
          <a:xfrm>
            <a:off x="3224550" y="4160368"/>
            <a:ext cx="99689" cy="72445"/>
          </a:xfrm>
          <a:prstGeom prst="line">
            <a:avLst/>
          </a:prstGeom>
          <a:noFill/>
          <a:ln w="15875">
            <a:solidFill>
              <a:srgbClr val="E9ECF3"/>
            </a:solidFill>
            <a:prstDash val="dash"/>
          </a:ln>
        </p:spPr>
        <p:txBody>
          <a:bodyPr/>
          <a:lstStyle/>
          <a:p>
            <a:endParaRPr lang="fr-FR"/>
          </a:p>
        </p:txBody>
      </p:sp>
      <p:sp>
        <p:nvSpPr>
          <p:cNvPr id="109" name="Shape 107"/>
          <p:cNvSpPr/>
          <p:nvPr/>
        </p:nvSpPr>
        <p:spPr>
          <a:xfrm>
            <a:off x="3324239" y="4232813"/>
            <a:ext cx="103219" cy="72445"/>
          </a:xfrm>
          <a:prstGeom prst="line">
            <a:avLst/>
          </a:prstGeom>
          <a:noFill/>
          <a:ln w="15875">
            <a:solidFill>
              <a:srgbClr val="E9ECF3"/>
            </a:solidFill>
            <a:prstDash val="dash"/>
          </a:ln>
        </p:spPr>
        <p:txBody>
          <a:bodyPr/>
          <a:lstStyle/>
          <a:p>
            <a:endParaRPr lang="fr-FR"/>
          </a:p>
        </p:txBody>
      </p:sp>
      <p:sp>
        <p:nvSpPr>
          <p:cNvPr id="110" name="Shape 108"/>
          <p:cNvSpPr/>
          <p:nvPr/>
        </p:nvSpPr>
        <p:spPr>
          <a:xfrm>
            <a:off x="3427458" y="4305258"/>
            <a:ext cx="108347" cy="72445"/>
          </a:xfrm>
          <a:prstGeom prst="line">
            <a:avLst/>
          </a:prstGeom>
          <a:noFill/>
          <a:ln w="15875">
            <a:solidFill>
              <a:srgbClr val="E9ECF3"/>
            </a:solidFill>
            <a:prstDash val="dash"/>
          </a:ln>
        </p:spPr>
        <p:txBody>
          <a:bodyPr/>
          <a:lstStyle/>
          <a:p>
            <a:endParaRPr lang="fr-FR"/>
          </a:p>
        </p:txBody>
      </p:sp>
      <p:sp>
        <p:nvSpPr>
          <p:cNvPr id="111" name="Shape 109"/>
          <p:cNvSpPr/>
          <p:nvPr/>
        </p:nvSpPr>
        <p:spPr>
          <a:xfrm>
            <a:off x="3535805" y="4377703"/>
            <a:ext cx="108347" cy="72445"/>
          </a:xfrm>
          <a:prstGeom prst="line">
            <a:avLst/>
          </a:prstGeom>
          <a:noFill/>
          <a:ln w="15875">
            <a:solidFill>
              <a:srgbClr val="E9ECF3"/>
            </a:solidFill>
            <a:prstDash val="dash"/>
          </a:ln>
        </p:spPr>
        <p:txBody>
          <a:bodyPr/>
          <a:lstStyle/>
          <a:p>
            <a:endParaRPr lang="fr-FR"/>
          </a:p>
        </p:txBody>
      </p:sp>
      <p:sp>
        <p:nvSpPr>
          <p:cNvPr id="112" name="Shape 110"/>
          <p:cNvSpPr/>
          <p:nvPr/>
        </p:nvSpPr>
        <p:spPr>
          <a:xfrm>
            <a:off x="3644152" y="4450148"/>
            <a:ext cx="108347" cy="72445"/>
          </a:xfrm>
          <a:prstGeom prst="line">
            <a:avLst/>
          </a:prstGeom>
          <a:noFill/>
          <a:ln w="15875">
            <a:solidFill>
              <a:srgbClr val="E9ECF3"/>
            </a:solidFill>
            <a:prstDash val="dash"/>
          </a:ln>
        </p:spPr>
        <p:txBody>
          <a:bodyPr/>
          <a:lstStyle/>
          <a:p>
            <a:endParaRPr lang="fr-FR"/>
          </a:p>
        </p:txBody>
      </p:sp>
      <p:sp>
        <p:nvSpPr>
          <p:cNvPr id="113" name="Shape 111"/>
          <p:cNvSpPr/>
          <p:nvPr/>
        </p:nvSpPr>
        <p:spPr>
          <a:xfrm>
            <a:off x="3752500" y="4522593"/>
            <a:ext cx="108347" cy="72445"/>
          </a:xfrm>
          <a:prstGeom prst="line">
            <a:avLst/>
          </a:prstGeom>
          <a:noFill/>
          <a:ln w="15875">
            <a:solidFill>
              <a:srgbClr val="E9ECF3"/>
            </a:solidFill>
            <a:prstDash val="dash"/>
          </a:ln>
        </p:spPr>
        <p:txBody>
          <a:bodyPr/>
          <a:lstStyle/>
          <a:p>
            <a:endParaRPr lang="fr-FR"/>
          </a:p>
        </p:txBody>
      </p:sp>
      <p:sp>
        <p:nvSpPr>
          <p:cNvPr id="114" name="Text 112"/>
          <p:cNvSpPr txBox="1"/>
          <p:nvPr/>
        </p:nvSpPr>
        <p:spPr>
          <a:xfrm>
            <a:off x="3586527" y="5184648"/>
            <a:ext cx="548640" cy="237744"/>
          </a:xfrm>
          <a:prstGeom prst="rect">
            <a:avLst/>
          </a:prstGeom>
          <a:noFill/>
          <a:ln/>
        </p:spPr>
        <p:txBody>
          <a:bodyPr wrap="square" lIns="0" tIns="0" rIns="0" bIns="0" rtlCol="0" anchor="ctr"/>
          <a:lstStyle/>
          <a:p>
            <a:pPr marL="0" indent="0" algn="ctr">
              <a:buNone/>
            </a:pPr>
            <a:r>
              <a:rPr lang="en-US" sz="1000" b="1" i="1" dirty="0">
                <a:solidFill>
                  <a:schemeClr val="tx1"/>
                </a:solidFill>
              </a:rPr>
              <a:t>y</a:t>
            </a:r>
            <a:r>
              <a:rPr lang="en-US" sz="1000" b="1" baseline="-40000" dirty="0">
                <a:solidFill>
                  <a:schemeClr val="tx1"/>
                </a:solidFill>
              </a:rPr>
              <a:t>0</a:t>
            </a:r>
            <a:r>
              <a:rPr lang="en-US" sz="1000" b="1" dirty="0">
                <a:solidFill>
                  <a:schemeClr val="tx1"/>
                </a:solidFill>
              </a:rPr>
              <a:t> = 1</a:t>
            </a:r>
            <a:endParaRPr lang="en-US" sz="1000" dirty="0"/>
          </a:p>
        </p:txBody>
      </p:sp>
      <p:sp>
        <p:nvSpPr>
          <p:cNvPr id="115" name="Shape 113"/>
          <p:cNvSpPr/>
          <p:nvPr/>
        </p:nvSpPr>
        <p:spPr>
          <a:xfrm>
            <a:off x="1810512" y="1990764"/>
            <a:ext cx="73467" cy="77548"/>
          </a:xfrm>
          <a:prstGeom prst="line">
            <a:avLst/>
          </a:prstGeom>
          <a:noFill/>
          <a:ln w="15875">
            <a:solidFill>
              <a:srgbClr val="E9ECF3"/>
            </a:solidFill>
            <a:prstDash val="dash"/>
          </a:ln>
        </p:spPr>
        <p:txBody>
          <a:bodyPr/>
          <a:lstStyle/>
          <a:p>
            <a:endParaRPr lang="fr-FR"/>
          </a:p>
        </p:txBody>
      </p:sp>
      <p:sp>
        <p:nvSpPr>
          <p:cNvPr id="116" name="Shape 114"/>
          <p:cNvSpPr/>
          <p:nvPr/>
        </p:nvSpPr>
        <p:spPr>
          <a:xfrm>
            <a:off x="1883979" y="2068312"/>
            <a:ext cx="73467" cy="77548"/>
          </a:xfrm>
          <a:prstGeom prst="line">
            <a:avLst/>
          </a:prstGeom>
          <a:noFill/>
          <a:ln w="15875">
            <a:solidFill>
              <a:srgbClr val="E9ECF3"/>
            </a:solidFill>
            <a:prstDash val="dash"/>
          </a:ln>
        </p:spPr>
        <p:txBody>
          <a:bodyPr/>
          <a:lstStyle/>
          <a:p>
            <a:endParaRPr lang="fr-FR"/>
          </a:p>
        </p:txBody>
      </p:sp>
      <p:sp>
        <p:nvSpPr>
          <p:cNvPr id="117" name="Shape 115"/>
          <p:cNvSpPr/>
          <p:nvPr/>
        </p:nvSpPr>
        <p:spPr>
          <a:xfrm>
            <a:off x="1957446" y="2145859"/>
            <a:ext cx="73467" cy="77548"/>
          </a:xfrm>
          <a:prstGeom prst="line">
            <a:avLst/>
          </a:prstGeom>
          <a:noFill/>
          <a:ln w="15875">
            <a:solidFill>
              <a:srgbClr val="E9ECF3"/>
            </a:solidFill>
            <a:prstDash val="dash"/>
          </a:ln>
        </p:spPr>
        <p:txBody>
          <a:bodyPr/>
          <a:lstStyle/>
          <a:p>
            <a:endParaRPr lang="fr-FR"/>
          </a:p>
        </p:txBody>
      </p:sp>
      <p:sp>
        <p:nvSpPr>
          <p:cNvPr id="118" name="Shape 116"/>
          <p:cNvSpPr/>
          <p:nvPr/>
        </p:nvSpPr>
        <p:spPr>
          <a:xfrm>
            <a:off x="2030914" y="2223407"/>
            <a:ext cx="73467" cy="77548"/>
          </a:xfrm>
          <a:prstGeom prst="line">
            <a:avLst/>
          </a:prstGeom>
          <a:noFill/>
          <a:ln w="15875">
            <a:solidFill>
              <a:srgbClr val="E9ECF3"/>
            </a:solidFill>
            <a:prstDash val="dash"/>
          </a:ln>
        </p:spPr>
        <p:txBody>
          <a:bodyPr/>
          <a:lstStyle/>
          <a:p>
            <a:endParaRPr lang="fr-FR"/>
          </a:p>
        </p:txBody>
      </p:sp>
      <p:sp>
        <p:nvSpPr>
          <p:cNvPr id="119" name="Shape 117"/>
          <p:cNvSpPr/>
          <p:nvPr/>
        </p:nvSpPr>
        <p:spPr>
          <a:xfrm>
            <a:off x="2104381" y="2300955"/>
            <a:ext cx="73467" cy="77548"/>
          </a:xfrm>
          <a:prstGeom prst="line">
            <a:avLst/>
          </a:prstGeom>
          <a:noFill/>
          <a:ln w="15875">
            <a:solidFill>
              <a:srgbClr val="E9ECF3"/>
            </a:solidFill>
            <a:prstDash val="dash"/>
          </a:ln>
        </p:spPr>
        <p:txBody>
          <a:bodyPr/>
          <a:lstStyle/>
          <a:p>
            <a:endParaRPr lang="fr-FR"/>
          </a:p>
        </p:txBody>
      </p:sp>
      <p:sp>
        <p:nvSpPr>
          <p:cNvPr id="120" name="Shape 118"/>
          <p:cNvSpPr/>
          <p:nvPr/>
        </p:nvSpPr>
        <p:spPr>
          <a:xfrm>
            <a:off x="2177848" y="2378502"/>
            <a:ext cx="73467" cy="77548"/>
          </a:xfrm>
          <a:prstGeom prst="line">
            <a:avLst/>
          </a:prstGeom>
          <a:noFill/>
          <a:ln w="15875">
            <a:solidFill>
              <a:srgbClr val="E9ECF3"/>
            </a:solidFill>
            <a:prstDash val="dash"/>
          </a:ln>
        </p:spPr>
        <p:txBody>
          <a:bodyPr/>
          <a:lstStyle/>
          <a:p>
            <a:endParaRPr lang="fr-FR"/>
          </a:p>
        </p:txBody>
      </p:sp>
      <p:sp>
        <p:nvSpPr>
          <p:cNvPr id="121" name="Shape 119"/>
          <p:cNvSpPr/>
          <p:nvPr/>
        </p:nvSpPr>
        <p:spPr>
          <a:xfrm>
            <a:off x="2251315" y="2456050"/>
            <a:ext cx="73467" cy="77548"/>
          </a:xfrm>
          <a:prstGeom prst="line">
            <a:avLst/>
          </a:prstGeom>
          <a:noFill/>
          <a:ln w="15875">
            <a:solidFill>
              <a:srgbClr val="E9ECF3"/>
            </a:solidFill>
            <a:prstDash val="dash"/>
          </a:ln>
        </p:spPr>
        <p:txBody>
          <a:bodyPr/>
          <a:lstStyle/>
          <a:p>
            <a:endParaRPr lang="fr-FR"/>
          </a:p>
        </p:txBody>
      </p:sp>
      <p:sp>
        <p:nvSpPr>
          <p:cNvPr id="122" name="Shape 120"/>
          <p:cNvSpPr/>
          <p:nvPr/>
        </p:nvSpPr>
        <p:spPr>
          <a:xfrm>
            <a:off x="2324783" y="2533598"/>
            <a:ext cx="73467" cy="77548"/>
          </a:xfrm>
          <a:prstGeom prst="line">
            <a:avLst/>
          </a:prstGeom>
          <a:noFill/>
          <a:ln w="15875">
            <a:solidFill>
              <a:srgbClr val="E9ECF3"/>
            </a:solidFill>
            <a:prstDash val="dash"/>
          </a:ln>
        </p:spPr>
        <p:txBody>
          <a:bodyPr/>
          <a:lstStyle/>
          <a:p>
            <a:endParaRPr lang="fr-FR"/>
          </a:p>
        </p:txBody>
      </p:sp>
      <p:sp>
        <p:nvSpPr>
          <p:cNvPr id="123" name="Shape 121"/>
          <p:cNvSpPr/>
          <p:nvPr/>
        </p:nvSpPr>
        <p:spPr>
          <a:xfrm>
            <a:off x="2398250" y="2611145"/>
            <a:ext cx="73467" cy="77548"/>
          </a:xfrm>
          <a:prstGeom prst="line">
            <a:avLst/>
          </a:prstGeom>
          <a:noFill/>
          <a:ln w="15875">
            <a:solidFill>
              <a:srgbClr val="E9ECF3"/>
            </a:solidFill>
            <a:prstDash val="dash"/>
          </a:ln>
        </p:spPr>
        <p:txBody>
          <a:bodyPr/>
          <a:lstStyle/>
          <a:p>
            <a:endParaRPr lang="fr-FR"/>
          </a:p>
        </p:txBody>
      </p:sp>
      <p:sp>
        <p:nvSpPr>
          <p:cNvPr id="124" name="Shape 122"/>
          <p:cNvSpPr/>
          <p:nvPr/>
        </p:nvSpPr>
        <p:spPr>
          <a:xfrm>
            <a:off x="2471717" y="2688693"/>
            <a:ext cx="73467" cy="77548"/>
          </a:xfrm>
          <a:prstGeom prst="line">
            <a:avLst/>
          </a:prstGeom>
          <a:noFill/>
          <a:ln w="15875">
            <a:solidFill>
              <a:srgbClr val="E9ECF3"/>
            </a:solidFill>
            <a:prstDash val="dash"/>
          </a:ln>
        </p:spPr>
        <p:txBody>
          <a:bodyPr/>
          <a:lstStyle/>
          <a:p>
            <a:endParaRPr lang="fr-FR"/>
          </a:p>
        </p:txBody>
      </p:sp>
      <p:sp>
        <p:nvSpPr>
          <p:cNvPr id="125" name="Shape 123"/>
          <p:cNvSpPr/>
          <p:nvPr/>
        </p:nvSpPr>
        <p:spPr>
          <a:xfrm>
            <a:off x="2545184" y="2766241"/>
            <a:ext cx="81232" cy="77548"/>
          </a:xfrm>
          <a:prstGeom prst="line">
            <a:avLst/>
          </a:prstGeom>
          <a:noFill/>
          <a:ln w="15875">
            <a:solidFill>
              <a:srgbClr val="E9ECF3"/>
            </a:solidFill>
            <a:prstDash val="dash"/>
          </a:ln>
        </p:spPr>
        <p:txBody>
          <a:bodyPr/>
          <a:lstStyle/>
          <a:p>
            <a:endParaRPr lang="fr-FR"/>
          </a:p>
        </p:txBody>
      </p:sp>
      <p:sp>
        <p:nvSpPr>
          <p:cNvPr id="126" name="Shape 124"/>
          <p:cNvSpPr/>
          <p:nvPr/>
        </p:nvSpPr>
        <p:spPr>
          <a:xfrm>
            <a:off x="2626417" y="2843788"/>
            <a:ext cx="99689" cy="77548"/>
          </a:xfrm>
          <a:prstGeom prst="line">
            <a:avLst/>
          </a:prstGeom>
          <a:noFill/>
          <a:ln w="15875">
            <a:solidFill>
              <a:srgbClr val="E9ECF3"/>
            </a:solidFill>
            <a:prstDash val="dash"/>
          </a:ln>
        </p:spPr>
        <p:txBody>
          <a:bodyPr/>
          <a:lstStyle/>
          <a:p>
            <a:endParaRPr lang="fr-FR"/>
          </a:p>
        </p:txBody>
      </p:sp>
      <p:sp>
        <p:nvSpPr>
          <p:cNvPr id="127" name="Shape 125"/>
          <p:cNvSpPr/>
          <p:nvPr/>
        </p:nvSpPr>
        <p:spPr>
          <a:xfrm>
            <a:off x="2726106" y="2921336"/>
            <a:ext cx="99689" cy="77548"/>
          </a:xfrm>
          <a:prstGeom prst="line">
            <a:avLst/>
          </a:prstGeom>
          <a:noFill/>
          <a:ln w="15875">
            <a:solidFill>
              <a:srgbClr val="E9ECF3"/>
            </a:solidFill>
            <a:prstDash val="dash"/>
          </a:ln>
        </p:spPr>
        <p:txBody>
          <a:bodyPr/>
          <a:lstStyle/>
          <a:p>
            <a:endParaRPr lang="fr-FR"/>
          </a:p>
        </p:txBody>
      </p:sp>
      <p:sp>
        <p:nvSpPr>
          <p:cNvPr id="128" name="Shape 126"/>
          <p:cNvSpPr/>
          <p:nvPr/>
        </p:nvSpPr>
        <p:spPr>
          <a:xfrm>
            <a:off x="2825794" y="2998884"/>
            <a:ext cx="99689" cy="80295"/>
          </a:xfrm>
          <a:prstGeom prst="line">
            <a:avLst/>
          </a:prstGeom>
          <a:noFill/>
          <a:ln w="15875">
            <a:solidFill>
              <a:srgbClr val="E9ECF3"/>
            </a:solidFill>
            <a:prstDash val="dash"/>
          </a:ln>
        </p:spPr>
        <p:txBody>
          <a:bodyPr/>
          <a:lstStyle/>
          <a:p>
            <a:endParaRPr lang="fr-FR"/>
          </a:p>
        </p:txBody>
      </p:sp>
      <p:sp>
        <p:nvSpPr>
          <p:cNvPr id="129" name="Shape 127"/>
          <p:cNvSpPr/>
          <p:nvPr/>
        </p:nvSpPr>
        <p:spPr>
          <a:xfrm>
            <a:off x="2925483" y="3079178"/>
            <a:ext cx="99689" cy="81164"/>
          </a:xfrm>
          <a:prstGeom prst="line">
            <a:avLst/>
          </a:prstGeom>
          <a:noFill/>
          <a:ln w="15875">
            <a:solidFill>
              <a:srgbClr val="E9ECF3"/>
            </a:solidFill>
            <a:prstDash val="dash"/>
          </a:ln>
        </p:spPr>
        <p:txBody>
          <a:bodyPr/>
          <a:lstStyle/>
          <a:p>
            <a:endParaRPr lang="fr-FR"/>
          </a:p>
        </p:txBody>
      </p:sp>
      <p:sp>
        <p:nvSpPr>
          <p:cNvPr id="130" name="Shape 128"/>
          <p:cNvSpPr/>
          <p:nvPr/>
        </p:nvSpPr>
        <p:spPr>
          <a:xfrm>
            <a:off x="3025172" y="3160342"/>
            <a:ext cx="99689" cy="81164"/>
          </a:xfrm>
          <a:prstGeom prst="line">
            <a:avLst/>
          </a:prstGeom>
          <a:noFill/>
          <a:ln w="15875">
            <a:solidFill>
              <a:srgbClr val="E9ECF3"/>
            </a:solidFill>
            <a:prstDash val="dash"/>
          </a:ln>
        </p:spPr>
        <p:txBody>
          <a:bodyPr/>
          <a:lstStyle/>
          <a:p>
            <a:endParaRPr lang="fr-FR"/>
          </a:p>
        </p:txBody>
      </p:sp>
      <p:sp>
        <p:nvSpPr>
          <p:cNvPr id="131" name="Shape 129"/>
          <p:cNvSpPr/>
          <p:nvPr/>
        </p:nvSpPr>
        <p:spPr>
          <a:xfrm>
            <a:off x="3124861" y="3241506"/>
            <a:ext cx="99689" cy="81164"/>
          </a:xfrm>
          <a:prstGeom prst="line">
            <a:avLst/>
          </a:prstGeom>
          <a:noFill/>
          <a:ln w="15875">
            <a:solidFill>
              <a:srgbClr val="E9ECF3"/>
            </a:solidFill>
            <a:prstDash val="dash"/>
          </a:ln>
        </p:spPr>
        <p:txBody>
          <a:bodyPr/>
          <a:lstStyle/>
          <a:p>
            <a:endParaRPr lang="fr-FR"/>
          </a:p>
        </p:txBody>
      </p:sp>
      <p:sp>
        <p:nvSpPr>
          <p:cNvPr id="132" name="Shape 130"/>
          <p:cNvSpPr/>
          <p:nvPr/>
        </p:nvSpPr>
        <p:spPr>
          <a:xfrm>
            <a:off x="3224550" y="3322669"/>
            <a:ext cx="99689" cy="81164"/>
          </a:xfrm>
          <a:prstGeom prst="line">
            <a:avLst/>
          </a:prstGeom>
          <a:noFill/>
          <a:ln w="15875">
            <a:solidFill>
              <a:srgbClr val="E9ECF3"/>
            </a:solidFill>
            <a:prstDash val="dash"/>
          </a:ln>
        </p:spPr>
        <p:txBody>
          <a:bodyPr/>
          <a:lstStyle/>
          <a:p>
            <a:endParaRPr lang="fr-FR"/>
          </a:p>
        </p:txBody>
      </p:sp>
      <p:sp>
        <p:nvSpPr>
          <p:cNvPr id="133" name="Shape 131"/>
          <p:cNvSpPr/>
          <p:nvPr/>
        </p:nvSpPr>
        <p:spPr>
          <a:xfrm>
            <a:off x="3324239" y="3403833"/>
            <a:ext cx="103219" cy="81164"/>
          </a:xfrm>
          <a:prstGeom prst="line">
            <a:avLst/>
          </a:prstGeom>
          <a:noFill/>
          <a:ln w="15875">
            <a:solidFill>
              <a:srgbClr val="E9ECF3"/>
            </a:solidFill>
            <a:prstDash val="dash"/>
          </a:ln>
        </p:spPr>
        <p:txBody>
          <a:bodyPr/>
          <a:lstStyle/>
          <a:p>
            <a:endParaRPr lang="fr-FR"/>
          </a:p>
        </p:txBody>
      </p:sp>
      <p:sp>
        <p:nvSpPr>
          <p:cNvPr id="134" name="Shape 132"/>
          <p:cNvSpPr/>
          <p:nvPr/>
        </p:nvSpPr>
        <p:spPr>
          <a:xfrm>
            <a:off x="3427458" y="3484996"/>
            <a:ext cx="108347" cy="81164"/>
          </a:xfrm>
          <a:prstGeom prst="line">
            <a:avLst/>
          </a:prstGeom>
          <a:noFill/>
          <a:ln w="15875">
            <a:solidFill>
              <a:srgbClr val="E9ECF3"/>
            </a:solidFill>
            <a:prstDash val="dash"/>
          </a:ln>
        </p:spPr>
        <p:txBody>
          <a:bodyPr/>
          <a:lstStyle/>
          <a:p>
            <a:endParaRPr lang="fr-FR"/>
          </a:p>
        </p:txBody>
      </p:sp>
      <p:sp>
        <p:nvSpPr>
          <p:cNvPr id="135" name="Shape 133"/>
          <p:cNvSpPr/>
          <p:nvPr/>
        </p:nvSpPr>
        <p:spPr>
          <a:xfrm>
            <a:off x="3535805" y="3566160"/>
            <a:ext cx="108347" cy="77548"/>
          </a:xfrm>
          <a:prstGeom prst="line">
            <a:avLst/>
          </a:prstGeom>
          <a:noFill/>
          <a:ln w="15875">
            <a:solidFill>
              <a:srgbClr val="E9ECF3"/>
            </a:solidFill>
            <a:prstDash val="dash"/>
          </a:ln>
        </p:spPr>
        <p:txBody>
          <a:bodyPr/>
          <a:lstStyle/>
          <a:p>
            <a:endParaRPr lang="fr-FR"/>
          </a:p>
        </p:txBody>
      </p:sp>
      <p:sp>
        <p:nvSpPr>
          <p:cNvPr id="136" name="Shape 134"/>
          <p:cNvSpPr/>
          <p:nvPr/>
        </p:nvSpPr>
        <p:spPr>
          <a:xfrm>
            <a:off x="3644152" y="3643708"/>
            <a:ext cx="108347" cy="77548"/>
          </a:xfrm>
          <a:prstGeom prst="line">
            <a:avLst/>
          </a:prstGeom>
          <a:noFill/>
          <a:ln w="15875">
            <a:solidFill>
              <a:srgbClr val="E9ECF3"/>
            </a:solidFill>
            <a:prstDash val="dash"/>
          </a:ln>
        </p:spPr>
        <p:txBody>
          <a:bodyPr/>
          <a:lstStyle/>
          <a:p>
            <a:endParaRPr lang="fr-FR"/>
          </a:p>
        </p:txBody>
      </p:sp>
      <p:sp>
        <p:nvSpPr>
          <p:cNvPr id="137" name="Shape 135"/>
          <p:cNvSpPr/>
          <p:nvPr/>
        </p:nvSpPr>
        <p:spPr>
          <a:xfrm>
            <a:off x="3752500" y="3721255"/>
            <a:ext cx="108347" cy="77548"/>
          </a:xfrm>
          <a:prstGeom prst="line">
            <a:avLst/>
          </a:prstGeom>
          <a:noFill/>
          <a:ln w="15875">
            <a:solidFill>
              <a:srgbClr val="E9ECF3"/>
            </a:solidFill>
            <a:prstDash val="dash"/>
          </a:ln>
        </p:spPr>
        <p:txBody>
          <a:bodyPr/>
          <a:lstStyle/>
          <a:p>
            <a:endParaRPr lang="fr-FR"/>
          </a:p>
        </p:txBody>
      </p:sp>
      <p:sp>
        <p:nvSpPr>
          <p:cNvPr id="138" name="Shape 136"/>
          <p:cNvSpPr/>
          <p:nvPr/>
        </p:nvSpPr>
        <p:spPr>
          <a:xfrm>
            <a:off x="3860847" y="3798803"/>
            <a:ext cx="108347" cy="77548"/>
          </a:xfrm>
          <a:prstGeom prst="line">
            <a:avLst/>
          </a:prstGeom>
          <a:noFill/>
          <a:ln w="15875">
            <a:solidFill>
              <a:srgbClr val="E9ECF3"/>
            </a:solidFill>
            <a:prstDash val="dash"/>
          </a:ln>
        </p:spPr>
        <p:txBody>
          <a:bodyPr/>
          <a:lstStyle/>
          <a:p>
            <a:endParaRPr lang="fr-FR"/>
          </a:p>
        </p:txBody>
      </p:sp>
      <p:sp>
        <p:nvSpPr>
          <p:cNvPr id="139" name="Shape 137"/>
          <p:cNvSpPr/>
          <p:nvPr/>
        </p:nvSpPr>
        <p:spPr>
          <a:xfrm>
            <a:off x="3969194" y="3876351"/>
            <a:ext cx="108347" cy="77548"/>
          </a:xfrm>
          <a:prstGeom prst="line">
            <a:avLst/>
          </a:prstGeom>
          <a:noFill/>
          <a:ln w="15875">
            <a:solidFill>
              <a:srgbClr val="E9ECF3"/>
            </a:solidFill>
            <a:prstDash val="dash"/>
          </a:ln>
        </p:spPr>
        <p:txBody>
          <a:bodyPr/>
          <a:lstStyle/>
          <a:p>
            <a:endParaRPr lang="fr-FR"/>
          </a:p>
        </p:txBody>
      </p:sp>
      <p:sp>
        <p:nvSpPr>
          <p:cNvPr id="140" name="Shape 138"/>
          <p:cNvSpPr/>
          <p:nvPr/>
        </p:nvSpPr>
        <p:spPr>
          <a:xfrm>
            <a:off x="4077542" y="3953898"/>
            <a:ext cx="109210" cy="77548"/>
          </a:xfrm>
          <a:prstGeom prst="line">
            <a:avLst/>
          </a:prstGeom>
          <a:noFill/>
          <a:ln w="15875">
            <a:solidFill>
              <a:srgbClr val="E9ECF3"/>
            </a:solidFill>
            <a:prstDash val="dash"/>
          </a:ln>
        </p:spPr>
        <p:txBody>
          <a:bodyPr/>
          <a:lstStyle/>
          <a:p>
            <a:endParaRPr lang="fr-FR"/>
          </a:p>
        </p:txBody>
      </p:sp>
      <p:sp>
        <p:nvSpPr>
          <p:cNvPr id="141" name="Shape 139"/>
          <p:cNvSpPr/>
          <p:nvPr/>
        </p:nvSpPr>
        <p:spPr>
          <a:xfrm>
            <a:off x="4186751" y="4031446"/>
            <a:ext cx="114105" cy="77548"/>
          </a:xfrm>
          <a:prstGeom prst="line">
            <a:avLst/>
          </a:prstGeom>
          <a:noFill/>
          <a:ln w="15875">
            <a:solidFill>
              <a:srgbClr val="E9ECF3"/>
            </a:solidFill>
            <a:prstDash val="dash"/>
          </a:ln>
        </p:spPr>
        <p:txBody>
          <a:bodyPr/>
          <a:lstStyle/>
          <a:p>
            <a:endParaRPr lang="fr-FR"/>
          </a:p>
        </p:txBody>
      </p:sp>
      <p:sp>
        <p:nvSpPr>
          <p:cNvPr id="142" name="Shape 140"/>
          <p:cNvSpPr/>
          <p:nvPr/>
        </p:nvSpPr>
        <p:spPr>
          <a:xfrm>
            <a:off x="4300856" y="4108994"/>
            <a:ext cx="114105" cy="72827"/>
          </a:xfrm>
          <a:prstGeom prst="line">
            <a:avLst/>
          </a:prstGeom>
          <a:noFill/>
          <a:ln w="15875">
            <a:solidFill>
              <a:srgbClr val="E9ECF3"/>
            </a:solidFill>
            <a:prstDash val="dash"/>
          </a:ln>
        </p:spPr>
        <p:txBody>
          <a:bodyPr/>
          <a:lstStyle/>
          <a:p>
            <a:endParaRPr lang="fr-FR"/>
          </a:p>
        </p:txBody>
      </p:sp>
      <p:sp>
        <p:nvSpPr>
          <p:cNvPr id="143" name="Shape 141"/>
          <p:cNvSpPr/>
          <p:nvPr/>
        </p:nvSpPr>
        <p:spPr>
          <a:xfrm>
            <a:off x="4414961" y="4181821"/>
            <a:ext cx="114105" cy="72445"/>
          </a:xfrm>
          <a:prstGeom prst="line">
            <a:avLst/>
          </a:prstGeom>
          <a:noFill/>
          <a:ln w="15875">
            <a:solidFill>
              <a:srgbClr val="E9ECF3"/>
            </a:solidFill>
            <a:prstDash val="dash"/>
          </a:ln>
        </p:spPr>
        <p:txBody>
          <a:bodyPr/>
          <a:lstStyle/>
          <a:p>
            <a:endParaRPr lang="fr-FR"/>
          </a:p>
        </p:txBody>
      </p:sp>
      <p:sp>
        <p:nvSpPr>
          <p:cNvPr id="144" name="Shape 142"/>
          <p:cNvSpPr/>
          <p:nvPr/>
        </p:nvSpPr>
        <p:spPr>
          <a:xfrm>
            <a:off x="4529066" y="4254266"/>
            <a:ext cx="114105" cy="72445"/>
          </a:xfrm>
          <a:prstGeom prst="line">
            <a:avLst/>
          </a:prstGeom>
          <a:noFill/>
          <a:ln w="15875">
            <a:solidFill>
              <a:srgbClr val="E9ECF3"/>
            </a:solidFill>
            <a:prstDash val="dash"/>
          </a:ln>
        </p:spPr>
        <p:txBody>
          <a:bodyPr/>
          <a:lstStyle/>
          <a:p>
            <a:endParaRPr lang="fr-FR"/>
          </a:p>
        </p:txBody>
      </p:sp>
      <p:sp>
        <p:nvSpPr>
          <p:cNvPr id="145" name="Shape 143"/>
          <p:cNvSpPr/>
          <p:nvPr/>
        </p:nvSpPr>
        <p:spPr>
          <a:xfrm>
            <a:off x="4643171" y="4326711"/>
            <a:ext cx="114105" cy="72445"/>
          </a:xfrm>
          <a:prstGeom prst="line">
            <a:avLst/>
          </a:prstGeom>
          <a:noFill/>
          <a:ln w="15875">
            <a:solidFill>
              <a:srgbClr val="E9ECF3"/>
            </a:solidFill>
            <a:prstDash val="dash"/>
          </a:ln>
        </p:spPr>
        <p:txBody>
          <a:bodyPr/>
          <a:lstStyle/>
          <a:p>
            <a:endParaRPr lang="fr-FR"/>
          </a:p>
        </p:txBody>
      </p:sp>
      <p:sp>
        <p:nvSpPr>
          <p:cNvPr id="146" name="Shape 144"/>
          <p:cNvSpPr/>
          <p:nvPr/>
        </p:nvSpPr>
        <p:spPr>
          <a:xfrm>
            <a:off x="4757276" y="4399156"/>
            <a:ext cx="114105" cy="72445"/>
          </a:xfrm>
          <a:prstGeom prst="line">
            <a:avLst/>
          </a:prstGeom>
          <a:noFill/>
          <a:ln w="15875">
            <a:solidFill>
              <a:srgbClr val="E9ECF3"/>
            </a:solidFill>
            <a:prstDash val="dash"/>
          </a:ln>
        </p:spPr>
        <p:txBody>
          <a:bodyPr/>
          <a:lstStyle/>
          <a:p>
            <a:endParaRPr lang="fr-FR"/>
          </a:p>
        </p:txBody>
      </p:sp>
      <p:sp>
        <p:nvSpPr>
          <p:cNvPr id="147" name="Shape 145"/>
          <p:cNvSpPr/>
          <p:nvPr/>
        </p:nvSpPr>
        <p:spPr>
          <a:xfrm>
            <a:off x="4871381" y="4471601"/>
            <a:ext cx="112620" cy="72445"/>
          </a:xfrm>
          <a:prstGeom prst="line">
            <a:avLst/>
          </a:prstGeom>
          <a:noFill/>
          <a:ln w="15875">
            <a:solidFill>
              <a:srgbClr val="E9ECF3"/>
            </a:solidFill>
            <a:prstDash val="dash"/>
          </a:ln>
        </p:spPr>
        <p:txBody>
          <a:bodyPr/>
          <a:lstStyle/>
          <a:p>
            <a:endParaRPr lang="fr-FR"/>
          </a:p>
        </p:txBody>
      </p:sp>
      <p:sp>
        <p:nvSpPr>
          <p:cNvPr id="148" name="Shape 146"/>
          <p:cNvSpPr/>
          <p:nvPr/>
        </p:nvSpPr>
        <p:spPr>
          <a:xfrm>
            <a:off x="4984001" y="4544046"/>
            <a:ext cx="108347" cy="72445"/>
          </a:xfrm>
          <a:prstGeom prst="line">
            <a:avLst/>
          </a:prstGeom>
          <a:noFill/>
          <a:ln w="15875">
            <a:solidFill>
              <a:srgbClr val="E9ECF3"/>
            </a:solidFill>
            <a:prstDash val="dash"/>
          </a:ln>
        </p:spPr>
        <p:txBody>
          <a:bodyPr/>
          <a:lstStyle/>
          <a:p>
            <a:endParaRPr lang="fr-FR"/>
          </a:p>
        </p:txBody>
      </p:sp>
      <p:sp>
        <p:nvSpPr>
          <p:cNvPr id="149" name="Text 147"/>
          <p:cNvSpPr txBox="1"/>
          <p:nvPr/>
        </p:nvSpPr>
        <p:spPr>
          <a:xfrm>
            <a:off x="4818028" y="5184648"/>
            <a:ext cx="548640" cy="237744"/>
          </a:xfrm>
          <a:prstGeom prst="rect">
            <a:avLst/>
          </a:prstGeom>
          <a:noFill/>
          <a:ln/>
        </p:spPr>
        <p:txBody>
          <a:bodyPr wrap="square" lIns="0" tIns="0" rIns="0" bIns="0" rtlCol="0" anchor="ctr"/>
          <a:lstStyle/>
          <a:p>
            <a:pPr marL="0" indent="0" algn="ctr">
              <a:buNone/>
            </a:pPr>
            <a:r>
              <a:rPr lang="en-US" sz="1000" b="1" i="1" dirty="0">
                <a:solidFill>
                  <a:schemeClr val="tx1"/>
                </a:solidFill>
              </a:rPr>
              <a:t>y</a:t>
            </a:r>
            <a:r>
              <a:rPr lang="en-US" sz="1000" b="1" baseline="-40000" dirty="0">
                <a:solidFill>
                  <a:schemeClr val="tx1"/>
                </a:solidFill>
              </a:rPr>
              <a:t>0</a:t>
            </a:r>
            <a:r>
              <a:rPr lang="en-US" sz="1000" b="1" dirty="0">
                <a:solidFill>
                  <a:schemeClr val="tx1"/>
                </a:solidFill>
              </a:rPr>
              <a:t> = 2</a:t>
            </a:r>
            <a:endParaRPr lang="en-US" sz="1000" dirty="0"/>
          </a:p>
        </p:txBody>
      </p:sp>
      <p:sp>
        <p:nvSpPr>
          <p:cNvPr id="150" name="Shape 148"/>
          <p:cNvSpPr/>
          <p:nvPr/>
        </p:nvSpPr>
        <p:spPr>
          <a:xfrm>
            <a:off x="2545184" y="1936180"/>
            <a:ext cx="81232" cy="77548"/>
          </a:xfrm>
          <a:prstGeom prst="line">
            <a:avLst/>
          </a:prstGeom>
          <a:noFill/>
          <a:ln w="15875">
            <a:solidFill>
              <a:srgbClr val="E9ECF3"/>
            </a:solidFill>
            <a:prstDash val="dash"/>
          </a:ln>
        </p:spPr>
        <p:txBody>
          <a:bodyPr/>
          <a:lstStyle/>
          <a:p>
            <a:endParaRPr lang="fr-FR"/>
          </a:p>
        </p:txBody>
      </p:sp>
      <p:sp>
        <p:nvSpPr>
          <p:cNvPr id="151" name="Shape 149"/>
          <p:cNvSpPr/>
          <p:nvPr/>
        </p:nvSpPr>
        <p:spPr>
          <a:xfrm>
            <a:off x="2626417" y="2013728"/>
            <a:ext cx="99689" cy="77548"/>
          </a:xfrm>
          <a:prstGeom prst="line">
            <a:avLst/>
          </a:prstGeom>
          <a:noFill/>
          <a:ln w="15875">
            <a:solidFill>
              <a:srgbClr val="E9ECF3"/>
            </a:solidFill>
            <a:prstDash val="dash"/>
          </a:ln>
        </p:spPr>
        <p:txBody>
          <a:bodyPr/>
          <a:lstStyle/>
          <a:p>
            <a:endParaRPr lang="fr-FR"/>
          </a:p>
        </p:txBody>
      </p:sp>
      <p:sp>
        <p:nvSpPr>
          <p:cNvPr id="152" name="Shape 150"/>
          <p:cNvSpPr/>
          <p:nvPr/>
        </p:nvSpPr>
        <p:spPr>
          <a:xfrm>
            <a:off x="2726106" y="2091276"/>
            <a:ext cx="99689" cy="77548"/>
          </a:xfrm>
          <a:prstGeom prst="line">
            <a:avLst/>
          </a:prstGeom>
          <a:noFill/>
          <a:ln w="15875">
            <a:solidFill>
              <a:srgbClr val="E9ECF3"/>
            </a:solidFill>
            <a:prstDash val="dash"/>
          </a:ln>
        </p:spPr>
        <p:txBody>
          <a:bodyPr/>
          <a:lstStyle/>
          <a:p>
            <a:endParaRPr lang="fr-FR"/>
          </a:p>
        </p:txBody>
      </p:sp>
      <p:sp>
        <p:nvSpPr>
          <p:cNvPr id="153" name="Shape 151"/>
          <p:cNvSpPr/>
          <p:nvPr/>
        </p:nvSpPr>
        <p:spPr>
          <a:xfrm>
            <a:off x="2825794" y="2168823"/>
            <a:ext cx="99689" cy="77548"/>
          </a:xfrm>
          <a:prstGeom prst="line">
            <a:avLst/>
          </a:prstGeom>
          <a:noFill/>
          <a:ln w="15875">
            <a:solidFill>
              <a:srgbClr val="E9ECF3"/>
            </a:solidFill>
            <a:prstDash val="dash"/>
          </a:ln>
        </p:spPr>
        <p:txBody>
          <a:bodyPr/>
          <a:lstStyle/>
          <a:p>
            <a:endParaRPr lang="fr-FR"/>
          </a:p>
        </p:txBody>
      </p:sp>
      <p:sp>
        <p:nvSpPr>
          <p:cNvPr id="154" name="Shape 152"/>
          <p:cNvSpPr/>
          <p:nvPr/>
        </p:nvSpPr>
        <p:spPr>
          <a:xfrm>
            <a:off x="2925483" y="2246371"/>
            <a:ext cx="99689" cy="77548"/>
          </a:xfrm>
          <a:prstGeom prst="line">
            <a:avLst/>
          </a:prstGeom>
          <a:noFill/>
          <a:ln w="15875">
            <a:solidFill>
              <a:srgbClr val="E9ECF3"/>
            </a:solidFill>
            <a:prstDash val="dash"/>
          </a:ln>
        </p:spPr>
        <p:txBody>
          <a:bodyPr/>
          <a:lstStyle/>
          <a:p>
            <a:endParaRPr lang="fr-FR"/>
          </a:p>
        </p:txBody>
      </p:sp>
      <p:sp>
        <p:nvSpPr>
          <p:cNvPr id="155" name="Shape 153"/>
          <p:cNvSpPr/>
          <p:nvPr/>
        </p:nvSpPr>
        <p:spPr>
          <a:xfrm>
            <a:off x="3025172" y="2323919"/>
            <a:ext cx="99689" cy="77548"/>
          </a:xfrm>
          <a:prstGeom prst="line">
            <a:avLst/>
          </a:prstGeom>
          <a:noFill/>
          <a:ln w="15875">
            <a:solidFill>
              <a:srgbClr val="E9ECF3"/>
            </a:solidFill>
            <a:prstDash val="dash"/>
          </a:ln>
        </p:spPr>
        <p:txBody>
          <a:bodyPr/>
          <a:lstStyle/>
          <a:p>
            <a:endParaRPr lang="fr-FR"/>
          </a:p>
        </p:txBody>
      </p:sp>
      <p:sp>
        <p:nvSpPr>
          <p:cNvPr id="156" name="Shape 154"/>
          <p:cNvSpPr/>
          <p:nvPr/>
        </p:nvSpPr>
        <p:spPr>
          <a:xfrm>
            <a:off x="3124861" y="2401466"/>
            <a:ext cx="99689" cy="77548"/>
          </a:xfrm>
          <a:prstGeom prst="line">
            <a:avLst/>
          </a:prstGeom>
          <a:noFill/>
          <a:ln w="15875">
            <a:solidFill>
              <a:srgbClr val="E9ECF3"/>
            </a:solidFill>
            <a:prstDash val="dash"/>
          </a:ln>
        </p:spPr>
        <p:txBody>
          <a:bodyPr/>
          <a:lstStyle/>
          <a:p>
            <a:endParaRPr lang="fr-FR"/>
          </a:p>
        </p:txBody>
      </p:sp>
      <p:sp>
        <p:nvSpPr>
          <p:cNvPr id="157" name="Shape 155"/>
          <p:cNvSpPr/>
          <p:nvPr/>
        </p:nvSpPr>
        <p:spPr>
          <a:xfrm>
            <a:off x="3224550" y="2479014"/>
            <a:ext cx="99689" cy="77548"/>
          </a:xfrm>
          <a:prstGeom prst="line">
            <a:avLst/>
          </a:prstGeom>
          <a:noFill/>
          <a:ln w="15875">
            <a:solidFill>
              <a:srgbClr val="E9ECF3"/>
            </a:solidFill>
            <a:prstDash val="dash"/>
          </a:ln>
        </p:spPr>
        <p:txBody>
          <a:bodyPr/>
          <a:lstStyle/>
          <a:p>
            <a:endParaRPr lang="fr-FR"/>
          </a:p>
        </p:txBody>
      </p:sp>
      <p:sp>
        <p:nvSpPr>
          <p:cNvPr id="158" name="Shape 156"/>
          <p:cNvSpPr/>
          <p:nvPr/>
        </p:nvSpPr>
        <p:spPr>
          <a:xfrm>
            <a:off x="3324239" y="2556562"/>
            <a:ext cx="103219" cy="77548"/>
          </a:xfrm>
          <a:prstGeom prst="line">
            <a:avLst/>
          </a:prstGeom>
          <a:noFill/>
          <a:ln w="15875">
            <a:solidFill>
              <a:srgbClr val="E9ECF3"/>
            </a:solidFill>
            <a:prstDash val="dash"/>
          </a:ln>
        </p:spPr>
        <p:txBody>
          <a:bodyPr/>
          <a:lstStyle/>
          <a:p>
            <a:endParaRPr lang="fr-FR"/>
          </a:p>
        </p:txBody>
      </p:sp>
      <p:sp>
        <p:nvSpPr>
          <p:cNvPr id="159" name="Shape 157"/>
          <p:cNvSpPr/>
          <p:nvPr/>
        </p:nvSpPr>
        <p:spPr>
          <a:xfrm>
            <a:off x="3427458" y="2634109"/>
            <a:ext cx="108347" cy="77548"/>
          </a:xfrm>
          <a:prstGeom prst="line">
            <a:avLst/>
          </a:prstGeom>
          <a:noFill/>
          <a:ln w="15875">
            <a:solidFill>
              <a:srgbClr val="E9ECF3"/>
            </a:solidFill>
            <a:prstDash val="dash"/>
          </a:ln>
        </p:spPr>
        <p:txBody>
          <a:bodyPr/>
          <a:lstStyle/>
          <a:p>
            <a:endParaRPr lang="fr-FR"/>
          </a:p>
        </p:txBody>
      </p:sp>
      <p:sp>
        <p:nvSpPr>
          <p:cNvPr id="160" name="Shape 158"/>
          <p:cNvSpPr/>
          <p:nvPr/>
        </p:nvSpPr>
        <p:spPr>
          <a:xfrm>
            <a:off x="3535805" y="2711657"/>
            <a:ext cx="108347" cy="77548"/>
          </a:xfrm>
          <a:prstGeom prst="line">
            <a:avLst/>
          </a:prstGeom>
          <a:noFill/>
          <a:ln w="15875">
            <a:solidFill>
              <a:srgbClr val="E9ECF3"/>
            </a:solidFill>
            <a:prstDash val="dash"/>
          </a:ln>
        </p:spPr>
        <p:txBody>
          <a:bodyPr/>
          <a:lstStyle/>
          <a:p>
            <a:endParaRPr lang="fr-FR"/>
          </a:p>
        </p:txBody>
      </p:sp>
      <p:sp>
        <p:nvSpPr>
          <p:cNvPr id="161" name="Shape 159"/>
          <p:cNvSpPr/>
          <p:nvPr/>
        </p:nvSpPr>
        <p:spPr>
          <a:xfrm>
            <a:off x="3644152" y="2789205"/>
            <a:ext cx="108347" cy="77548"/>
          </a:xfrm>
          <a:prstGeom prst="line">
            <a:avLst/>
          </a:prstGeom>
          <a:noFill/>
          <a:ln w="15875">
            <a:solidFill>
              <a:srgbClr val="E9ECF3"/>
            </a:solidFill>
            <a:prstDash val="dash"/>
          </a:ln>
        </p:spPr>
        <p:txBody>
          <a:bodyPr/>
          <a:lstStyle/>
          <a:p>
            <a:endParaRPr lang="fr-FR"/>
          </a:p>
        </p:txBody>
      </p:sp>
      <p:sp>
        <p:nvSpPr>
          <p:cNvPr id="162" name="Shape 160"/>
          <p:cNvSpPr/>
          <p:nvPr/>
        </p:nvSpPr>
        <p:spPr>
          <a:xfrm>
            <a:off x="3752500" y="2866752"/>
            <a:ext cx="108347" cy="77548"/>
          </a:xfrm>
          <a:prstGeom prst="line">
            <a:avLst/>
          </a:prstGeom>
          <a:noFill/>
          <a:ln w="15875">
            <a:solidFill>
              <a:srgbClr val="E9ECF3"/>
            </a:solidFill>
            <a:prstDash val="dash"/>
          </a:ln>
        </p:spPr>
        <p:txBody>
          <a:bodyPr/>
          <a:lstStyle/>
          <a:p>
            <a:endParaRPr lang="fr-FR"/>
          </a:p>
        </p:txBody>
      </p:sp>
      <p:sp>
        <p:nvSpPr>
          <p:cNvPr id="163" name="Shape 161"/>
          <p:cNvSpPr/>
          <p:nvPr/>
        </p:nvSpPr>
        <p:spPr>
          <a:xfrm>
            <a:off x="3860847" y="2944300"/>
            <a:ext cx="108347" cy="77749"/>
          </a:xfrm>
          <a:prstGeom prst="line">
            <a:avLst/>
          </a:prstGeom>
          <a:noFill/>
          <a:ln w="15875">
            <a:solidFill>
              <a:srgbClr val="E9ECF3"/>
            </a:solidFill>
            <a:prstDash val="dash"/>
          </a:ln>
        </p:spPr>
        <p:txBody>
          <a:bodyPr/>
          <a:lstStyle/>
          <a:p>
            <a:endParaRPr lang="fr-FR"/>
          </a:p>
        </p:txBody>
      </p:sp>
      <p:sp>
        <p:nvSpPr>
          <p:cNvPr id="164" name="Shape 162"/>
          <p:cNvSpPr/>
          <p:nvPr/>
        </p:nvSpPr>
        <p:spPr>
          <a:xfrm>
            <a:off x="3969194" y="3022050"/>
            <a:ext cx="108347" cy="81164"/>
          </a:xfrm>
          <a:prstGeom prst="line">
            <a:avLst/>
          </a:prstGeom>
          <a:noFill/>
          <a:ln w="15875">
            <a:solidFill>
              <a:srgbClr val="E9ECF3"/>
            </a:solidFill>
            <a:prstDash val="dash"/>
          </a:ln>
        </p:spPr>
        <p:txBody>
          <a:bodyPr/>
          <a:lstStyle/>
          <a:p>
            <a:endParaRPr lang="fr-FR"/>
          </a:p>
        </p:txBody>
      </p:sp>
      <p:sp>
        <p:nvSpPr>
          <p:cNvPr id="165" name="Shape 163"/>
          <p:cNvSpPr/>
          <p:nvPr/>
        </p:nvSpPr>
        <p:spPr>
          <a:xfrm>
            <a:off x="4077542" y="3103213"/>
            <a:ext cx="109210" cy="81164"/>
          </a:xfrm>
          <a:prstGeom prst="line">
            <a:avLst/>
          </a:prstGeom>
          <a:noFill/>
          <a:ln w="15875">
            <a:solidFill>
              <a:srgbClr val="E9ECF3"/>
            </a:solidFill>
            <a:prstDash val="dash"/>
          </a:ln>
        </p:spPr>
        <p:txBody>
          <a:bodyPr/>
          <a:lstStyle/>
          <a:p>
            <a:endParaRPr lang="fr-FR"/>
          </a:p>
        </p:txBody>
      </p:sp>
      <p:sp>
        <p:nvSpPr>
          <p:cNvPr id="166" name="Shape 164"/>
          <p:cNvSpPr/>
          <p:nvPr/>
        </p:nvSpPr>
        <p:spPr>
          <a:xfrm>
            <a:off x="4186751" y="3184377"/>
            <a:ext cx="114105" cy="81164"/>
          </a:xfrm>
          <a:prstGeom prst="line">
            <a:avLst/>
          </a:prstGeom>
          <a:noFill/>
          <a:ln w="15875">
            <a:solidFill>
              <a:srgbClr val="E9ECF3"/>
            </a:solidFill>
            <a:prstDash val="dash"/>
          </a:ln>
        </p:spPr>
        <p:txBody>
          <a:bodyPr/>
          <a:lstStyle/>
          <a:p>
            <a:endParaRPr lang="fr-FR"/>
          </a:p>
        </p:txBody>
      </p:sp>
      <p:sp>
        <p:nvSpPr>
          <p:cNvPr id="167" name="Shape 165"/>
          <p:cNvSpPr/>
          <p:nvPr/>
        </p:nvSpPr>
        <p:spPr>
          <a:xfrm>
            <a:off x="4300856" y="3265540"/>
            <a:ext cx="114105" cy="81164"/>
          </a:xfrm>
          <a:prstGeom prst="line">
            <a:avLst/>
          </a:prstGeom>
          <a:noFill/>
          <a:ln w="15875">
            <a:solidFill>
              <a:srgbClr val="E9ECF3"/>
            </a:solidFill>
            <a:prstDash val="dash"/>
          </a:ln>
        </p:spPr>
        <p:txBody>
          <a:bodyPr/>
          <a:lstStyle/>
          <a:p>
            <a:endParaRPr lang="fr-FR"/>
          </a:p>
        </p:txBody>
      </p:sp>
      <p:sp>
        <p:nvSpPr>
          <p:cNvPr id="168" name="Shape 166"/>
          <p:cNvSpPr/>
          <p:nvPr/>
        </p:nvSpPr>
        <p:spPr>
          <a:xfrm>
            <a:off x="4414961" y="3346704"/>
            <a:ext cx="114105" cy="81164"/>
          </a:xfrm>
          <a:prstGeom prst="line">
            <a:avLst/>
          </a:prstGeom>
          <a:noFill/>
          <a:ln w="15875">
            <a:solidFill>
              <a:srgbClr val="E9ECF3"/>
            </a:solidFill>
            <a:prstDash val="dash"/>
          </a:ln>
        </p:spPr>
        <p:txBody>
          <a:bodyPr/>
          <a:lstStyle/>
          <a:p>
            <a:endParaRPr lang="fr-FR"/>
          </a:p>
        </p:txBody>
      </p:sp>
      <p:sp>
        <p:nvSpPr>
          <p:cNvPr id="169" name="Shape 167"/>
          <p:cNvSpPr/>
          <p:nvPr/>
        </p:nvSpPr>
        <p:spPr>
          <a:xfrm>
            <a:off x="4529066" y="3427868"/>
            <a:ext cx="114105" cy="81164"/>
          </a:xfrm>
          <a:prstGeom prst="line">
            <a:avLst/>
          </a:prstGeom>
          <a:noFill/>
          <a:ln w="15875">
            <a:solidFill>
              <a:srgbClr val="E9ECF3"/>
            </a:solidFill>
            <a:prstDash val="dash"/>
          </a:ln>
        </p:spPr>
        <p:txBody>
          <a:bodyPr/>
          <a:lstStyle/>
          <a:p>
            <a:endParaRPr lang="fr-FR"/>
          </a:p>
        </p:txBody>
      </p:sp>
      <p:sp>
        <p:nvSpPr>
          <p:cNvPr id="170" name="Shape 168"/>
          <p:cNvSpPr/>
          <p:nvPr/>
        </p:nvSpPr>
        <p:spPr>
          <a:xfrm>
            <a:off x="4643171" y="3509031"/>
            <a:ext cx="114105" cy="80093"/>
          </a:xfrm>
          <a:prstGeom prst="line">
            <a:avLst/>
          </a:prstGeom>
          <a:noFill/>
          <a:ln w="15875">
            <a:solidFill>
              <a:srgbClr val="E9ECF3"/>
            </a:solidFill>
            <a:prstDash val="dash"/>
          </a:ln>
        </p:spPr>
        <p:txBody>
          <a:bodyPr/>
          <a:lstStyle/>
          <a:p>
            <a:endParaRPr lang="fr-FR"/>
          </a:p>
        </p:txBody>
      </p:sp>
      <p:sp>
        <p:nvSpPr>
          <p:cNvPr id="171" name="Shape 169"/>
          <p:cNvSpPr/>
          <p:nvPr/>
        </p:nvSpPr>
        <p:spPr>
          <a:xfrm>
            <a:off x="4757276" y="3589124"/>
            <a:ext cx="114105" cy="77548"/>
          </a:xfrm>
          <a:prstGeom prst="line">
            <a:avLst/>
          </a:prstGeom>
          <a:noFill/>
          <a:ln w="15875">
            <a:solidFill>
              <a:srgbClr val="E9ECF3"/>
            </a:solidFill>
            <a:prstDash val="dash"/>
          </a:ln>
        </p:spPr>
        <p:txBody>
          <a:bodyPr/>
          <a:lstStyle/>
          <a:p>
            <a:endParaRPr lang="fr-FR"/>
          </a:p>
        </p:txBody>
      </p:sp>
      <p:sp>
        <p:nvSpPr>
          <p:cNvPr id="172" name="Shape 170"/>
          <p:cNvSpPr/>
          <p:nvPr/>
        </p:nvSpPr>
        <p:spPr>
          <a:xfrm>
            <a:off x="4871381" y="3666672"/>
            <a:ext cx="112620" cy="77548"/>
          </a:xfrm>
          <a:prstGeom prst="line">
            <a:avLst/>
          </a:prstGeom>
          <a:noFill/>
          <a:ln w="15875">
            <a:solidFill>
              <a:srgbClr val="E9ECF3"/>
            </a:solidFill>
            <a:prstDash val="dash"/>
          </a:ln>
        </p:spPr>
        <p:txBody>
          <a:bodyPr/>
          <a:lstStyle/>
          <a:p>
            <a:endParaRPr lang="fr-FR"/>
          </a:p>
        </p:txBody>
      </p:sp>
      <p:sp>
        <p:nvSpPr>
          <p:cNvPr id="173" name="Shape 171"/>
          <p:cNvSpPr/>
          <p:nvPr/>
        </p:nvSpPr>
        <p:spPr>
          <a:xfrm>
            <a:off x="4984001" y="3744219"/>
            <a:ext cx="108347" cy="77548"/>
          </a:xfrm>
          <a:prstGeom prst="line">
            <a:avLst/>
          </a:prstGeom>
          <a:noFill/>
          <a:ln w="15875">
            <a:solidFill>
              <a:srgbClr val="E9ECF3"/>
            </a:solidFill>
            <a:prstDash val="dash"/>
          </a:ln>
        </p:spPr>
        <p:txBody>
          <a:bodyPr/>
          <a:lstStyle/>
          <a:p>
            <a:endParaRPr lang="fr-FR"/>
          </a:p>
        </p:txBody>
      </p:sp>
      <p:sp>
        <p:nvSpPr>
          <p:cNvPr id="174" name="Shape 172"/>
          <p:cNvSpPr/>
          <p:nvPr/>
        </p:nvSpPr>
        <p:spPr>
          <a:xfrm>
            <a:off x="5092348" y="3821767"/>
            <a:ext cx="108347" cy="77548"/>
          </a:xfrm>
          <a:prstGeom prst="line">
            <a:avLst/>
          </a:prstGeom>
          <a:noFill/>
          <a:ln w="15875">
            <a:solidFill>
              <a:srgbClr val="E9ECF3"/>
            </a:solidFill>
            <a:prstDash val="dash"/>
          </a:ln>
        </p:spPr>
        <p:txBody>
          <a:bodyPr/>
          <a:lstStyle/>
          <a:p>
            <a:endParaRPr lang="fr-FR"/>
          </a:p>
        </p:txBody>
      </p:sp>
      <p:sp>
        <p:nvSpPr>
          <p:cNvPr id="175" name="Shape 173"/>
          <p:cNvSpPr/>
          <p:nvPr/>
        </p:nvSpPr>
        <p:spPr>
          <a:xfrm>
            <a:off x="5200696" y="3899315"/>
            <a:ext cx="108347" cy="77548"/>
          </a:xfrm>
          <a:prstGeom prst="line">
            <a:avLst/>
          </a:prstGeom>
          <a:noFill/>
          <a:ln w="15875">
            <a:solidFill>
              <a:srgbClr val="E9ECF3"/>
            </a:solidFill>
            <a:prstDash val="dash"/>
          </a:ln>
        </p:spPr>
        <p:txBody>
          <a:bodyPr/>
          <a:lstStyle/>
          <a:p>
            <a:endParaRPr lang="fr-FR"/>
          </a:p>
        </p:txBody>
      </p:sp>
      <p:sp>
        <p:nvSpPr>
          <p:cNvPr id="176" name="Shape 174"/>
          <p:cNvSpPr/>
          <p:nvPr/>
        </p:nvSpPr>
        <p:spPr>
          <a:xfrm>
            <a:off x="5309043" y="3976862"/>
            <a:ext cx="108347" cy="77548"/>
          </a:xfrm>
          <a:prstGeom prst="line">
            <a:avLst/>
          </a:prstGeom>
          <a:noFill/>
          <a:ln w="15875">
            <a:solidFill>
              <a:srgbClr val="E9ECF3"/>
            </a:solidFill>
            <a:prstDash val="dash"/>
          </a:ln>
        </p:spPr>
        <p:txBody>
          <a:bodyPr/>
          <a:lstStyle/>
          <a:p>
            <a:endParaRPr lang="fr-FR"/>
          </a:p>
        </p:txBody>
      </p:sp>
      <p:sp>
        <p:nvSpPr>
          <p:cNvPr id="177" name="Shape 175"/>
          <p:cNvSpPr/>
          <p:nvPr/>
        </p:nvSpPr>
        <p:spPr>
          <a:xfrm>
            <a:off x="5417390" y="4054410"/>
            <a:ext cx="108347" cy="76419"/>
          </a:xfrm>
          <a:prstGeom prst="line">
            <a:avLst/>
          </a:prstGeom>
          <a:noFill/>
          <a:ln w="15875">
            <a:solidFill>
              <a:srgbClr val="E9ECF3"/>
            </a:solidFill>
            <a:prstDash val="dash"/>
          </a:ln>
        </p:spPr>
        <p:txBody>
          <a:bodyPr/>
          <a:lstStyle/>
          <a:p>
            <a:endParaRPr lang="fr-FR"/>
          </a:p>
        </p:txBody>
      </p:sp>
      <p:sp>
        <p:nvSpPr>
          <p:cNvPr id="178" name="Shape 176"/>
          <p:cNvSpPr/>
          <p:nvPr/>
        </p:nvSpPr>
        <p:spPr>
          <a:xfrm>
            <a:off x="5525737" y="4130829"/>
            <a:ext cx="108347" cy="72445"/>
          </a:xfrm>
          <a:prstGeom prst="line">
            <a:avLst/>
          </a:prstGeom>
          <a:noFill/>
          <a:ln w="15875">
            <a:solidFill>
              <a:srgbClr val="E9ECF3"/>
            </a:solidFill>
            <a:prstDash val="dash"/>
          </a:ln>
        </p:spPr>
        <p:txBody>
          <a:bodyPr/>
          <a:lstStyle/>
          <a:p>
            <a:endParaRPr lang="fr-FR"/>
          </a:p>
        </p:txBody>
      </p:sp>
      <p:sp>
        <p:nvSpPr>
          <p:cNvPr id="179" name="Shape 177"/>
          <p:cNvSpPr/>
          <p:nvPr/>
        </p:nvSpPr>
        <p:spPr>
          <a:xfrm>
            <a:off x="5634085" y="4203274"/>
            <a:ext cx="108347" cy="72445"/>
          </a:xfrm>
          <a:prstGeom prst="line">
            <a:avLst/>
          </a:prstGeom>
          <a:noFill/>
          <a:ln w="15875">
            <a:solidFill>
              <a:srgbClr val="E9ECF3"/>
            </a:solidFill>
            <a:prstDash val="dash"/>
          </a:ln>
        </p:spPr>
        <p:txBody>
          <a:bodyPr/>
          <a:lstStyle/>
          <a:p>
            <a:endParaRPr lang="fr-FR"/>
          </a:p>
        </p:txBody>
      </p:sp>
      <p:sp>
        <p:nvSpPr>
          <p:cNvPr id="180" name="Text 178"/>
          <p:cNvSpPr txBox="1"/>
          <p:nvPr/>
        </p:nvSpPr>
        <p:spPr>
          <a:xfrm>
            <a:off x="6181344" y="4156847"/>
            <a:ext cx="548640" cy="237744"/>
          </a:xfrm>
          <a:prstGeom prst="rect">
            <a:avLst/>
          </a:prstGeom>
          <a:noFill/>
          <a:ln/>
        </p:spPr>
        <p:txBody>
          <a:bodyPr wrap="square" lIns="0" tIns="0" rIns="0" bIns="0" rtlCol="0" anchor="ctr"/>
          <a:lstStyle/>
          <a:p>
            <a:pPr marL="0" indent="0" algn="l">
              <a:buNone/>
            </a:pPr>
            <a:r>
              <a:rPr lang="en-US" sz="1000" b="1" i="1" dirty="0">
                <a:solidFill>
                  <a:schemeClr val="tx1"/>
                </a:solidFill>
              </a:rPr>
              <a:t>y</a:t>
            </a:r>
            <a:r>
              <a:rPr lang="en-US" sz="1000" b="1" baseline="-40000" dirty="0">
                <a:solidFill>
                  <a:schemeClr val="tx1"/>
                </a:solidFill>
              </a:rPr>
              <a:t>0</a:t>
            </a:r>
            <a:r>
              <a:rPr lang="en-US" sz="1000" b="1" dirty="0">
                <a:solidFill>
                  <a:schemeClr val="tx1"/>
                </a:solidFill>
              </a:rPr>
              <a:t> = 4</a:t>
            </a:r>
            <a:endParaRPr lang="en-US" sz="1000" dirty="0"/>
          </a:p>
        </p:txBody>
      </p:sp>
      <p:sp>
        <p:nvSpPr>
          <p:cNvPr id="181" name="Shape 179"/>
          <p:cNvSpPr/>
          <p:nvPr/>
        </p:nvSpPr>
        <p:spPr>
          <a:xfrm>
            <a:off x="3427458" y="1963956"/>
            <a:ext cx="108347" cy="77548"/>
          </a:xfrm>
          <a:prstGeom prst="line">
            <a:avLst/>
          </a:prstGeom>
          <a:noFill/>
          <a:ln w="15875">
            <a:solidFill>
              <a:srgbClr val="E9ECF3"/>
            </a:solidFill>
            <a:prstDash val="dash"/>
          </a:ln>
        </p:spPr>
        <p:txBody>
          <a:bodyPr/>
          <a:lstStyle/>
          <a:p>
            <a:endParaRPr lang="fr-FR"/>
          </a:p>
        </p:txBody>
      </p:sp>
      <p:sp>
        <p:nvSpPr>
          <p:cNvPr id="182" name="Shape 180"/>
          <p:cNvSpPr/>
          <p:nvPr/>
        </p:nvSpPr>
        <p:spPr>
          <a:xfrm>
            <a:off x="3535805" y="2041504"/>
            <a:ext cx="108347" cy="77548"/>
          </a:xfrm>
          <a:prstGeom prst="line">
            <a:avLst/>
          </a:prstGeom>
          <a:noFill/>
          <a:ln w="15875">
            <a:solidFill>
              <a:srgbClr val="E9ECF3"/>
            </a:solidFill>
            <a:prstDash val="dash"/>
          </a:ln>
        </p:spPr>
        <p:txBody>
          <a:bodyPr/>
          <a:lstStyle/>
          <a:p>
            <a:endParaRPr lang="fr-FR"/>
          </a:p>
        </p:txBody>
      </p:sp>
      <p:sp>
        <p:nvSpPr>
          <p:cNvPr id="183" name="Shape 181"/>
          <p:cNvSpPr/>
          <p:nvPr/>
        </p:nvSpPr>
        <p:spPr>
          <a:xfrm>
            <a:off x="3644152" y="2119051"/>
            <a:ext cx="108347" cy="77548"/>
          </a:xfrm>
          <a:prstGeom prst="line">
            <a:avLst/>
          </a:prstGeom>
          <a:noFill/>
          <a:ln w="15875">
            <a:solidFill>
              <a:srgbClr val="E9ECF3"/>
            </a:solidFill>
            <a:prstDash val="dash"/>
          </a:ln>
        </p:spPr>
        <p:txBody>
          <a:bodyPr/>
          <a:lstStyle/>
          <a:p>
            <a:endParaRPr lang="fr-FR"/>
          </a:p>
        </p:txBody>
      </p:sp>
      <p:sp>
        <p:nvSpPr>
          <p:cNvPr id="184" name="Shape 182"/>
          <p:cNvSpPr/>
          <p:nvPr/>
        </p:nvSpPr>
        <p:spPr>
          <a:xfrm>
            <a:off x="3752500" y="2196599"/>
            <a:ext cx="108347" cy="77548"/>
          </a:xfrm>
          <a:prstGeom prst="line">
            <a:avLst/>
          </a:prstGeom>
          <a:noFill/>
          <a:ln w="15875">
            <a:solidFill>
              <a:srgbClr val="E9ECF3"/>
            </a:solidFill>
            <a:prstDash val="dash"/>
          </a:ln>
        </p:spPr>
        <p:txBody>
          <a:bodyPr/>
          <a:lstStyle/>
          <a:p>
            <a:endParaRPr lang="fr-FR"/>
          </a:p>
        </p:txBody>
      </p:sp>
      <p:sp>
        <p:nvSpPr>
          <p:cNvPr id="185" name="Shape 183"/>
          <p:cNvSpPr/>
          <p:nvPr/>
        </p:nvSpPr>
        <p:spPr>
          <a:xfrm>
            <a:off x="3860847" y="2274147"/>
            <a:ext cx="108347" cy="77548"/>
          </a:xfrm>
          <a:prstGeom prst="line">
            <a:avLst/>
          </a:prstGeom>
          <a:noFill/>
          <a:ln w="15875">
            <a:solidFill>
              <a:srgbClr val="E9ECF3"/>
            </a:solidFill>
            <a:prstDash val="dash"/>
          </a:ln>
        </p:spPr>
        <p:txBody>
          <a:bodyPr/>
          <a:lstStyle/>
          <a:p>
            <a:endParaRPr lang="fr-FR"/>
          </a:p>
        </p:txBody>
      </p:sp>
      <p:sp>
        <p:nvSpPr>
          <p:cNvPr id="186" name="Shape 184"/>
          <p:cNvSpPr/>
          <p:nvPr/>
        </p:nvSpPr>
        <p:spPr>
          <a:xfrm>
            <a:off x="3969194" y="2351694"/>
            <a:ext cx="108347" cy="77548"/>
          </a:xfrm>
          <a:prstGeom prst="line">
            <a:avLst/>
          </a:prstGeom>
          <a:noFill/>
          <a:ln w="15875">
            <a:solidFill>
              <a:srgbClr val="E9ECF3"/>
            </a:solidFill>
            <a:prstDash val="dash"/>
          </a:ln>
        </p:spPr>
        <p:txBody>
          <a:bodyPr/>
          <a:lstStyle/>
          <a:p>
            <a:endParaRPr lang="fr-FR"/>
          </a:p>
        </p:txBody>
      </p:sp>
      <p:sp>
        <p:nvSpPr>
          <p:cNvPr id="187" name="Shape 185"/>
          <p:cNvSpPr/>
          <p:nvPr/>
        </p:nvSpPr>
        <p:spPr>
          <a:xfrm>
            <a:off x="4077542" y="2429242"/>
            <a:ext cx="109210" cy="77548"/>
          </a:xfrm>
          <a:prstGeom prst="line">
            <a:avLst/>
          </a:prstGeom>
          <a:noFill/>
          <a:ln w="15875">
            <a:solidFill>
              <a:srgbClr val="E9ECF3"/>
            </a:solidFill>
            <a:prstDash val="dash"/>
          </a:ln>
        </p:spPr>
        <p:txBody>
          <a:bodyPr/>
          <a:lstStyle/>
          <a:p>
            <a:endParaRPr lang="fr-FR"/>
          </a:p>
        </p:txBody>
      </p:sp>
      <p:sp>
        <p:nvSpPr>
          <p:cNvPr id="188" name="Shape 186"/>
          <p:cNvSpPr/>
          <p:nvPr/>
        </p:nvSpPr>
        <p:spPr>
          <a:xfrm>
            <a:off x="4186751" y="2506790"/>
            <a:ext cx="114105" cy="77548"/>
          </a:xfrm>
          <a:prstGeom prst="line">
            <a:avLst/>
          </a:prstGeom>
          <a:noFill/>
          <a:ln w="15875">
            <a:solidFill>
              <a:srgbClr val="E9ECF3"/>
            </a:solidFill>
            <a:prstDash val="dash"/>
          </a:ln>
        </p:spPr>
        <p:txBody>
          <a:bodyPr/>
          <a:lstStyle/>
          <a:p>
            <a:endParaRPr lang="fr-FR"/>
          </a:p>
        </p:txBody>
      </p:sp>
      <p:sp>
        <p:nvSpPr>
          <p:cNvPr id="189" name="Shape 187"/>
          <p:cNvSpPr/>
          <p:nvPr/>
        </p:nvSpPr>
        <p:spPr>
          <a:xfrm>
            <a:off x="4300856" y="2584337"/>
            <a:ext cx="114105" cy="77548"/>
          </a:xfrm>
          <a:prstGeom prst="line">
            <a:avLst/>
          </a:prstGeom>
          <a:noFill/>
          <a:ln w="15875">
            <a:solidFill>
              <a:srgbClr val="E9ECF3"/>
            </a:solidFill>
            <a:prstDash val="dash"/>
          </a:ln>
        </p:spPr>
        <p:txBody>
          <a:bodyPr/>
          <a:lstStyle/>
          <a:p>
            <a:endParaRPr lang="fr-FR"/>
          </a:p>
        </p:txBody>
      </p:sp>
      <p:sp>
        <p:nvSpPr>
          <p:cNvPr id="190" name="Shape 188"/>
          <p:cNvSpPr/>
          <p:nvPr/>
        </p:nvSpPr>
        <p:spPr>
          <a:xfrm>
            <a:off x="4414961" y="2661885"/>
            <a:ext cx="114105" cy="77548"/>
          </a:xfrm>
          <a:prstGeom prst="line">
            <a:avLst/>
          </a:prstGeom>
          <a:noFill/>
          <a:ln w="15875">
            <a:solidFill>
              <a:srgbClr val="E9ECF3"/>
            </a:solidFill>
            <a:prstDash val="dash"/>
          </a:ln>
        </p:spPr>
        <p:txBody>
          <a:bodyPr/>
          <a:lstStyle/>
          <a:p>
            <a:endParaRPr lang="fr-FR"/>
          </a:p>
        </p:txBody>
      </p:sp>
      <p:sp>
        <p:nvSpPr>
          <p:cNvPr id="191" name="Shape 189"/>
          <p:cNvSpPr/>
          <p:nvPr/>
        </p:nvSpPr>
        <p:spPr>
          <a:xfrm>
            <a:off x="4529066" y="2739433"/>
            <a:ext cx="114105" cy="77548"/>
          </a:xfrm>
          <a:prstGeom prst="line">
            <a:avLst/>
          </a:prstGeom>
          <a:noFill/>
          <a:ln w="15875">
            <a:solidFill>
              <a:srgbClr val="E9ECF3"/>
            </a:solidFill>
            <a:prstDash val="dash"/>
          </a:ln>
        </p:spPr>
        <p:txBody>
          <a:bodyPr/>
          <a:lstStyle/>
          <a:p>
            <a:endParaRPr lang="fr-FR"/>
          </a:p>
        </p:txBody>
      </p:sp>
      <p:sp>
        <p:nvSpPr>
          <p:cNvPr id="192" name="Shape 190"/>
          <p:cNvSpPr/>
          <p:nvPr/>
        </p:nvSpPr>
        <p:spPr>
          <a:xfrm>
            <a:off x="4643171" y="2816980"/>
            <a:ext cx="114105" cy="77548"/>
          </a:xfrm>
          <a:prstGeom prst="line">
            <a:avLst/>
          </a:prstGeom>
          <a:noFill/>
          <a:ln w="15875">
            <a:solidFill>
              <a:srgbClr val="E9ECF3"/>
            </a:solidFill>
            <a:prstDash val="dash"/>
          </a:ln>
        </p:spPr>
        <p:txBody>
          <a:bodyPr/>
          <a:lstStyle/>
          <a:p>
            <a:endParaRPr lang="fr-FR"/>
          </a:p>
        </p:txBody>
      </p:sp>
      <p:sp>
        <p:nvSpPr>
          <p:cNvPr id="193" name="Shape 191"/>
          <p:cNvSpPr/>
          <p:nvPr/>
        </p:nvSpPr>
        <p:spPr>
          <a:xfrm>
            <a:off x="4757276" y="2894528"/>
            <a:ext cx="114105" cy="77548"/>
          </a:xfrm>
          <a:prstGeom prst="line">
            <a:avLst/>
          </a:prstGeom>
          <a:noFill/>
          <a:ln w="15875">
            <a:solidFill>
              <a:srgbClr val="E9ECF3"/>
            </a:solidFill>
            <a:prstDash val="dash"/>
          </a:ln>
        </p:spPr>
        <p:txBody>
          <a:bodyPr/>
          <a:lstStyle/>
          <a:p>
            <a:endParaRPr lang="fr-FR"/>
          </a:p>
        </p:txBody>
      </p:sp>
      <p:sp>
        <p:nvSpPr>
          <p:cNvPr id="194" name="Shape 192"/>
          <p:cNvSpPr/>
          <p:nvPr/>
        </p:nvSpPr>
        <p:spPr>
          <a:xfrm>
            <a:off x="4871381" y="2972076"/>
            <a:ext cx="112620" cy="79045"/>
          </a:xfrm>
          <a:prstGeom prst="line">
            <a:avLst/>
          </a:prstGeom>
          <a:noFill/>
          <a:ln w="15875">
            <a:solidFill>
              <a:srgbClr val="E9ECF3"/>
            </a:solidFill>
            <a:prstDash val="dash"/>
          </a:ln>
        </p:spPr>
        <p:txBody>
          <a:bodyPr/>
          <a:lstStyle/>
          <a:p>
            <a:endParaRPr lang="fr-FR"/>
          </a:p>
        </p:txBody>
      </p:sp>
      <p:sp>
        <p:nvSpPr>
          <p:cNvPr id="195" name="Shape 193"/>
          <p:cNvSpPr/>
          <p:nvPr/>
        </p:nvSpPr>
        <p:spPr>
          <a:xfrm>
            <a:off x="4984001" y="3051120"/>
            <a:ext cx="108347" cy="81164"/>
          </a:xfrm>
          <a:prstGeom prst="line">
            <a:avLst/>
          </a:prstGeom>
          <a:noFill/>
          <a:ln w="15875">
            <a:solidFill>
              <a:srgbClr val="E9ECF3"/>
            </a:solidFill>
            <a:prstDash val="dash"/>
          </a:ln>
        </p:spPr>
        <p:txBody>
          <a:bodyPr/>
          <a:lstStyle/>
          <a:p>
            <a:endParaRPr lang="fr-FR"/>
          </a:p>
        </p:txBody>
      </p:sp>
      <p:sp>
        <p:nvSpPr>
          <p:cNvPr id="196" name="Shape 194"/>
          <p:cNvSpPr/>
          <p:nvPr/>
        </p:nvSpPr>
        <p:spPr>
          <a:xfrm>
            <a:off x="5092348" y="3132284"/>
            <a:ext cx="108347" cy="81164"/>
          </a:xfrm>
          <a:prstGeom prst="line">
            <a:avLst/>
          </a:prstGeom>
          <a:noFill/>
          <a:ln w="15875">
            <a:solidFill>
              <a:srgbClr val="E9ECF3"/>
            </a:solidFill>
            <a:prstDash val="dash"/>
          </a:ln>
        </p:spPr>
        <p:txBody>
          <a:bodyPr/>
          <a:lstStyle/>
          <a:p>
            <a:endParaRPr lang="fr-FR"/>
          </a:p>
        </p:txBody>
      </p:sp>
      <p:sp>
        <p:nvSpPr>
          <p:cNvPr id="197" name="Shape 195"/>
          <p:cNvSpPr/>
          <p:nvPr/>
        </p:nvSpPr>
        <p:spPr>
          <a:xfrm>
            <a:off x="5200696" y="3213448"/>
            <a:ext cx="108347" cy="81164"/>
          </a:xfrm>
          <a:prstGeom prst="line">
            <a:avLst/>
          </a:prstGeom>
          <a:noFill/>
          <a:ln w="15875">
            <a:solidFill>
              <a:srgbClr val="E9ECF3"/>
            </a:solidFill>
            <a:prstDash val="dash"/>
          </a:ln>
        </p:spPr>
        <p:txBody>
          <a:bodyPr/>
          <a:lstStyle/>
          <a:p>
            <a:endParaRPr lang="fr-FR"/>
          </a:p>
        </p:txBody>
      </p:sp>
      <p:sp>
        <p:nvSpPr>
          <p:cNvPr id="198" name="Shape 196"/>
          <p:cNvSpPr/>
          <p:nvPr/>
        </p:nvSpPr>
        <p:spPr>
          <a:xfrm>
            <a:off x="5309043" y="3294611"/>
            <a:ext cx="108347" cy="81164"/>
          </a:xfrm>
          <a:prstGeom prst="line">
            <a:avLst/>
          </a:prstGeom>
          <a:noFill/>
          <a:ln w="15875">
            <a:solidFill>
              <a:srgbClr val="E9ECF3"/>
            </a:solidFill>
            <a:prstDash val="dash"/>
          </a:ln>
        </p:spPr>
        <p:txBody>
          <a:bodyPr/>
          <a:lstStyle/>
          <a:p>
            <a:endParaRPr lang="fr-FR"/>
          </a:p>
        </p:txBody>
      </p:sp>
      <p:sp>
        <p:nvSpPr>
          <p:cNvPr id="199" name="Shape 197"/>
          <p:cNvSpPr/>
          <p:nvPr/>
        </p:nvSpPr>
        <p:spPr>
          <a:xfrm>
            <a:off x="5417390" y="3375775"/>
            <a:ext cx="108347" cy="81164"/>
          </a:xfrm>
          <a:prstGeom prst="line">
            <a:avLst/>
          </a:prstGeom>
          <a:noFill/>
          <a:ln w="15875">
            <a:solidFill>
              <a:srgbClr val="E9ECF3"/>
            </a:solidFill>
            <a:prstDash val="dash"/>
          </a:ln>
        </p:spPr>
        <p:txBody>
          <a:bodyPr/>
          <a:lstStyle/>
          <a:p>
            <a:endParaRPr lang="fr-FR"/>
          </a:p>
        </p:txBody>
      </p:sp>
      <p:sp>
        <p:nvSpPr>
          <p:cNvPr id="200" name="Shape 198"/>
          <p:cNvSpPr/>
          <p:nvPr/>
        </p:nvSpPr>
        <p:spPr>
          <a:xfrm>
            <a:off x="5525737" y="3456939"/>
            <a:ext cx="108347" cy="81164"/>
          </a:xfrm>
          <a:prstGeom prst="line">
            <a:avLst/>
          </a:prstGeom>
          <a:noFill/>
          <a:ln w="15875">
            <a:solidFill>
              <a:srgbClr val="E9ECF3"/>
            </a:solidFill>
            <a:prstDash val="dash"/>
          </a:ln>
        </p:spPr>
        <p:txBody>
          <a:bodyPr/>
          <a:lstStyle/>
          <a:p>
            <a:endParaRPr lang="fr-FR"/>
          </a:p>
        </p:txBody>
      </p:sp>
      <p:sp>
        <p:nvSpPr>
          <p:cNvPr id="201" name="Shape 199"/>
          <p:cNvSpPr/>
          <p:nvPr/>
        </p:nvSpPr>
        <p:spPr>
          <a:xfrm>
            <a:off x="5634085" y="3538102"/>
            <a:ext cx="108347" cy="78798"/>
          </a:xfrm>
          <a:prstGeom prst="line">
            <a:avLst/>
          </a:prstGeom>
          <a:noFill/>
          <a:ln w="15875">
            <a:solidFill>
              <a:srgbClr val="E9ECF3"/>
            </a:solidFill>
            <a:prstDash val="dash"/>
          </a:ln>
        </p:spPr>
        <p:txBody>
          <a:bodyPr/>
          <a:lstStyle/>
          <a:p>
            <a:endParaRPr lang="fr-FR"/>
          </a:p>
        </p:txBody>
      </p:sp>
      <p:sp>
        <p:nvSpPr>
          <p:cNvPr id="202" name="Text 200"/>
          <p:cNvSpPr txBox="1"/>
          <p:nvPr/>
        </p:nvSpPr>
        <p:spPr>
          <a:xfrm>
            <a:off x="6181344" y="3498028"/>
            <a:ext cx="548640" cy="237744"/>
          </a:xfrm>
          <a:prstGeom prst="rect">
            <a:avLst/>
          </a:prstGeom>
          <a:noFill/>
          <a:ln/>
        </p:spPr>
        <p:txBody>
          <a:bodyPr wrap="square" lIns="0" tIns="0" rIns="0" bIns="0" rtlCol="0" anchor="ctr"/>
          <a:lstStyle/>
          <a:p>
            <a:pPr marL="0" indent="0" algn="l">
              <a:buNone/>
            </a:pPr>
            <a:r>
              <a:rPr lang="en-US" sz="1000" b="1" i="1" dirty="0">
                <a:solidFill>
                  <a:schemeClr val="tx1"/>
                </a:solidFill>
              </a:rPr>
              <a:t>y</a:t>
            </a:r>
            <a:r>
              <a:rPr lang="en-US" sz="1000" b="1" baseline="-40000" dirty="0">
                <a:solidFill>
                  <a:schemeClr val="tx1"/>
                </a:solidFill>
              </a:rPr>
              <a:t>0</a:t>
            </a:r>
            <a:r>
              <a:rPr lang="en-US" sz="1000" b="1" dirty="0">
                <a:solidFill>
                  <a:schemeClr val="tx1"/>
                </a:solidFill>
              </a:rPr>
              <a:t> = 7</a:t>
            </a:r>
            <a:endParaRPr lang="en-US" sz="1000" dirty="0"/>
          </a:p>
        </p:txBody>
      </p:sp>
      <p:sp>
        <p:nvSpPr>
          <p:cNvPr id="203" name="Shape 201"/>
          <p:cNvSpPr/>
          <p:nvPr/>
        </p:nvSpPr>
        <p:spPr>
          <a:xfrm>
            <a:off x="548640" y="5879592"/>
            <a:ext cx="256032" cy="182880"/>
          </a:xfrm>
          <a:prstGeom prst="roundRect">
            <a:avLst>
              <a:gd name="adj" fmla="val 20000"/>
            </a:avLst>
          </a:prstGeom>
          <a:solidFill>
            <a:schemeClr val="accent1"/>
          </a:solidFill>
          <a:ln/>
        </p:spPr>
        <p:txBody>
          <a:bodyPr/>
          <a:lstStyle/>
          <a:p>
            <a:endParaRPr lang="fr-FR"/>
          </a:p>
        </p:txBody>
      </p:sp>
      <p:sp>
        <p:nvSpPr>
          <p:cNvPr id="204" name="Text 202"/>
          <p:cNvSpPr txBox="1"/>
          <p:nvPr/>
        </p:nvSpPr>
        <p:spPr>
          <a:xfrm>
            <a:off x="877824" y="5833872"/>
            <a:ext cx="685800" cy="274320"/>
          </a:xfrm>
          <a:prstGeom prst="rect">
            <a:avLst/>
          </a:prstGeom>
          <a:noFill/>
          <a:ln/>
        </p:spPr>
        <p:txBody>
          <a:bodyPr wrap="square" lIns="0" tIns="0" rIns="0" bIns="0" rtlCol="0" anchor="ctr"/>
          <a:lstStyle/>
          <a:p>
            <a:pPr marL="0" indent="0">
              <a:buNone/>
            </a:pPr>
            <a:r>
              <a:rPr lang="en-US" sz="1100" dirty="0">
                <a:solidFill>
                  <a:schemeClr val="tx2"/>
                </a:solidFill>
              </a:rPr>
              <a:t>feasible</a:t>
            </a:r>
            <a:endParaRPr lang="en-US" sz="1100" dirty="0"/>
          </a:p>
        </p:txBody>
      </p:sp>
      <p:sp>
        <p:nvSpPr>
          <p:cNvPr id="205" name="Shape 203"/>
          <p:cNvSpPr/>
          <p:nvPr/>
        </p:nvSpPr>
        <p:spPr>
          <a:xfrm>
            <a:off x="1700784" y="5879592"/>
            <a:ext cx="256032" cy="182880"/>
          </a:xfrm>
          <a:prstGeom prst="roundRect">
            <a:avLst>
              <a:gd name="adj" fmla="val 20000"/>
            </a:avLst>
          </a:prstGeom>
          <a:solidFill>
            <a:schemeClr val="bg2"/>
          </a:solidFill>
          <a:ln w="19050">
            <a:solidFill>
              <a:schemeClr val="accent2"/>
            </a:solidFill>
            <a:prstDash val="solid"/>
          </a:ln>
        </p:spPr>
        <p:txBody>
          <a:bodyPr/>
          <a:lstStyle/>
          <a:p>
            <a:endParaRPr lang="fr-FR"/>
          </a:p>
        </p:txBody>
      </p:sp>
      <p:sp>
        <p:nvSpPr>
          <p:cNvPr id="206" name="Text 204"/>
          <p:cNvSpPr txBox="1"/>
          <p:nvPr/>
        </p:nvSpPr>
        <p:spPr>
          <a:xfrm>
            <a:off x="2029968" y="5833872"/>
            <a:ext cx="1965960" cy="274320"/>
          </a:xfrm>
          <a:prstGeom prst="rect">
            <a:avLst/>
          </a:prstGeom>
          <a:noFill/>
          <a:ln/>
        </p:spPr>
        <p:txBody>
          <a:bodyPr wrap="square" lIns="0" tIns="0" rIns="0" bIns="0" rtlCol="0" anchor="ctr"/>
          <a:lstStyle/>
          <a:p>
            <a:pPr marL="0" indent="0">
              <a:buNone/>
            </a:pPr>
            <a:r>
              <a:rPr lang="en-US" sz="1100" dirty="0">
                <a:solidFill>
                  <a:schemeClr val="tx2"/>
                </a:solidFill>
              </a:rPr>
              <a:t>hardware fails (purity &lt; 0.5)</a:t>
            </a:r>
            <a:endParaRPr lang="en-US" sz="1100" dirty="0"/>
          </a:p>
        </p:txBody>
      </p:sp>
      <p:sp>
        <p:nvSpPr>
          <p:cNvPr id="207" name="Shape 205"/>
          <p:cNvSpPr/>
          <p:nvPr/>
        </p:nvSpPr>
        <p:spPr>
          <a:xfrm>
            <a:off x="4133088" y="5879592"/>
            <a:ext cx="256032" cy="182880"/>
          </a:xfrm>
          <a:prstGeom prst="roundRect">
            <a:avLst>
              <a:gd name="adj" fmla="val 20000"/>
            </a:avLst>
          </a:prstGeom>
          <a:solidFill>
            <a:schemeClr val="accent4"/>
          </a:solidFill>
          <a:ln/>
        </p:spPr>
        <p:txBody>
          <a:bodyPr/>
          <a:lstStyle/>
          <a:p>
            <a:endParaRPr lang="fr-FR"/>
          </a:p>
        </p:txBody>
      </p:sp>
      <p:sp>
        <p:nvSpPr>
          <p:cNvPr id="208" name="Text 206"/>
          <p:cNvSpPr txBox="1"/>
          <p:nvPr/>
        </p:nvSpPr>
        <p:spPr>
          <a:xfrm>
            <a:off x="4462272" y="5833872"/>
            <a:ext cx="1691640" cy="274320"/>
          </a:xfrm>
          <a:prstGeom prst="rect">
            <a:avLst/>
          </a:prstGeom>
          <a:noFill/>
          <a:ln/>
        </p:spPr>
        <p:txBody>
          <a:bodyPr wrap="square" lIns="0" tIns="0" rIns="0" bIns="0" rtlCol="0" anchor="ctr"/>
          <a:lstStyle/>
          <a:p>
            <a:pPr marL="0" indent="0">
              <a:buNone/>
            </a:pPr>
            <a:r>
              <a:rPr lang="en-US" sz="1100" dirty="0">
                <a:solidFill>
                  <a:schemeClr val="tx2"/>
                </a:solidFill>
              </a:rPr>
              <a:t>infeasible even noiseless</a:t>
            </a:r>
            <a:endParaRPr lang="en-US" sz="1100" dirty="0"/>
          </a:p>
        </p:txBody>
      </p:sp>
      <p:sp>
        <p:nvSpPr>
          <p:cNvPr id="209" name="Reduced variable"/>
          <p:cNvSpPr/>
          <p:nvPr/>
        </p:nvSpPr>
        <p:spPr>
          <a:xfrm>
            <a:off x="6720840" y="1600200"/>
            <a:ext cx="4922215" cy="2514600"/>
          </a:xfrm>
          <a:prstGeom prst="roundRect">
            <a:avLst>
              <a:gd name="adj" fmla="val 5455"/>
            </a:avLst>
          </a:prstGeom>
          <a:solidFill>
            <a:schemeClr val="bg2"/>
          </a:solidFill>
          <a:ln w="12700">
            <a:solidFill>
              <a:schemeClr val="accent1"/>
            </a:solidFill>
            <a:prstDash val="solid"/>
          </a:ln>
        </p:spPr>
        <p:txBody>
          <a:bodyPr/>
          <a:lstStyle/>
          <a:p>
            <a:endParaRPr lang="fr-FR"/>
          </a:p>
        </p:txBody>
      </p:sp>
      <p:sp>
        <p:nvSpPr>
          <p:cNvPr id="210" name="Shape 208"/>
          <p:cNvSpPr/>
          <p:nvPr/>
        </p:nvSpPr>
        <p:spPr>
          <a:xfrm>
            <a:off x="6995160" y="1874520"/>
            <a:ext cx="91440" cy="91440"/>
          </a:xfrm>
          <a:prstGeom prst="rect">
            <a:avLst/>
          </a:prstGeom>
          <a:solidFill>
            <a:schemeClr val="accent2"/>
          </a:solidFill>
          <a:ln/>
        </p:spPr>
        <p:txBody>
          <a:bodyPr/>
          <a:lstStyle/>
          <a:p>
            <a:endParaRPr lang="fr-FR"/>
          </a:p>
        </p:txBody>
      </p:sp>
      <p:sp>
        <p:nvSpPr>
          <p:cNvPr id="211" name="Text 209"/>
          <p:cNvSpPr txBox="1"/>
          <p:nvPr/>
        </p:nvSpPr>
        <p:spPr>
          <a:xfrm>
            <a:off x="7178040" y="1783080"/>
            <a:ext cx="2743200" cy="274320"/>
          </a:xfrm>
          <a:prstGeom prst="rect">
            <a:avLst/>
          </a:prstGeom>
          <a:noFill/>
          <a:ln/>
        </p:spPr>
        <p:txBody>
          <a:bodyPr wrap="square" lIns="0" tIns="0" rIns="0" bIns="0" rtlCol="0" anchor="ctr"/>
          <a:lstStyle/>
          <a:p>
            <a:pPr marL="0" indent="0">
              <a:buNone/>
            </a:pPr>
            <a:r>
              <a:rPr lang="en-US" sz="1100" b="1" kern="0" spc="200" dirty="0">
                <a:solidFill>
                  <a:schemeClr val="tx2"/>
                </a:solidFill>
              </a:rPr>
              <a:t>REDUCED VARIABLE</a:t>
            </a:r>
            <a:endParaRPr lang="en-US" sz="1100" dirty="0"/>
          </a:p>
        </p:txBody>
      </p:sp>
      <p:sp>
        <p:nvSpPr>
          <p:cNvPr id="212" name="Equation"/>
          <p:cNvSpPr/>
          <p:nvPr/>
        </p:nvSpPr>
        <p:spPr>
          <a:xfrm>
            <a:off x="6995160" y="2148840"/>
            <a:ext cx="4373575" cy="502920"/>
          </a:xfrm>
          <a:prstGeom prst="roundRect">
            <a:avLst>
              <a:gd name="adj" fmla="val 14545"/>
            </a:avLst>
          </a:prstGeom>
          <a:solidFill>
            <a:schemeClr val="accent4"/>
          </a:solidFill>
          <a:ln/>
        </p:spPr>
        <p:txBody>
          <a:bodyPr/>
          <a:lstStyle/>
          <a:p>
            <a:endParaRPr lang="fr-FR"/>
          </a:p>
        </p:txBody>
      </p:sp>
      <p:sp>
        <p:nvSpPr>
          <p:cNvPr id="213" name="Text 211"/>
          <p:cNvSpPr txBox="1"/>
          <p:nvPr/>
        </p:nvSpPr>
        <p:spPr>
          <a:xfrm>
            <a:off x="7132320" y="2148840"/>
            <a:ext cx="4099255" cy="502920"/>
          </a:xfrm>
          <a:prstGeom prst="rect">
            <a:avLst/>
          </a:prstGeom>
          <a:noFill/>
          <a:ln/>
        </p:spPr>
        <p:txBody>
          <a:bodyPr wrap="square" lIns="0" tIns="0" rIns="0" bIns="0" rtlCol="0" anchor="ctr"/>
          <a:lstStyle/>
          <a:p>
            <a:pPr marL="0" indent="0" algn="ctr">
              <a:buNone/>
            </a:pPr>
            <a:r>
              <a:rPr lang="en-US" sz="2000" dirty="0">
                <a:solidFill>
                  <a:schemeClr val="tx1"/>
                </a:solidFill>
                <a:latin typeface="Cambria Math" pitchFamily="34" charset="0"/>
                <a:ea typeface="Cambria Math" pitchFamily="34" charset="-122"/>
                <a:cs typeface="Cambria Math" pitchFamily="34" charset="-120"/>
              </a:rPr>
              <a:t>y</a:t>
            </a:r>
            <a:r>
              <a:rPr lang="en-US" sz="2000" baseline="-40000" dirty="0">
                <a:solidFill>
                  <a:schemeClr val="tx1"/>
                </a:solidFill>
                <a:latin typeface="Cambria Math" pitchFamily="34" charset="0"/>
                <a:ea typeface="Cambria Math" pitchFamily="34" charset="-122"/>
                <a:cs typeface="Cambria Math" pitchFamily="34" charset="-120"/>
              </a:rPr>
              <a:t>0</a:t>
            </a:r>
            <a:r>
              <a:rPr lang="en-US" sz="2000" dirty="0">
                <a:solidFill>
                  <a:schemeClr val="tx1"/>
                </a:solidFill>
                <a:latin typeface="Cambria Math" pitchFamily="34" charset="0"/>
                <a:ea typeface="Cambria Math" pitchFamily="34" charset="-122"/>
                <a:cs typeface="Cambria Math" pitchFamily="34" charset="-120"/>
              </a:rPr>
              <a:t> = x</a:t>
            </a:r>
            <a:r>
              <a:rPr lang="en-US" sz="2000" baseline="-40000" dirty="0">
                <a:solidFill>
                  <a:schemeClr val="tx1"/>
                </a:solidFill>
                <a:latin typeface="Cambria Math" pitchFamily="34" charset="0"/>
                <a:ea typeface="Cambria Math" pitchFamily="34" charset="-122"/>
                <a:cs typeface="Cambria Math" pitchFamily="34" charset="-120"/>
              </a:rPr>
              <a:t>0</a:t>
            </a:r>
            <a:r>
              <a:rPr lang="en-US" sz="2000" dirty="0">
                <a:solidFill>
                  <a:schemeClr val="tx1"/>
                </a:solidFill>
                <a:latin typeface="Cambria Math" pitchFamily="34" charset="0"/>
                <a:ea typeface="Cambria Math" pitchFamily="34" charset="-122"/>
                <a:cs typeface="Cambria Math" pitchFamily="34" charset="-120"/>
              </a:rPr>
              <a:t> · (2λ / q)</a:t>
            </a:r>
            <a:r>
              <a:rPr lang="en-US" sz="2000" baseline="30000" dirty="0">
                <a:solidFill>
                  <a:schemeClr val="tx1"/>
                </a:solidFill>
                <a:latin typeface="Cambria Math" pitchFamily="34" charset="0"/>
                <a:ea typeface="Cambria Math" pitchFamily="34" charset="-122"/>
                <a:cs typeface="Cambria Math" pitchFamily="34" charset="-120"/>
              </a:rPr>
              <a:t>1/2</a:t>
            </a:r>
            <a:endParaRPr lang="en-US" sz="2000" dirty="0"/>
          </a:p>
        </p:txBody>
      </p:sp>
      <p:sp>
        <p:nvSpPr>
          <p:cNvPr id="214" name="Text 212"/>
          <p:cNvSpPr txBox="1"/>
          <p:nvPr/>
        </p:nvSpPr>
        <p:spPr>
          <a:xfrm>
            <a:off x="6995160" y="2743200"/>
            <a:ext cx="4373575" cy="1280160"/>
          </a:xfrm>
          <a:prstGeom prst="rect">
            <a:avLst/>
          </a:prstGeom>
          <a:noFill/>
          <a:ln/>
        </p:spPr>
        <p:txBody>
          <a:bodyPr wrap="square" lIns="0" tIns="0" rIns="0" bIns="0" rtlCol="0" anchor="t"/>
          <a:lstStyle/>
          <a:p>
            <a:pPr marL="0" indent="0">
              <a:buNone/>
            </a:pPr>
            <a:r>
              <a:rPr lang="en-US" sz="1300" dirty="0">
                <a:solidFill>
                  <a:schemeClr val="tx2"/>
                </a:solidFill>
              </a:rPr>
              <a:t>From Theorem 1 (Bravyi et al.): advantage requires Σᵢ xᵢ²/pᵢ = O(1), which collapses to y₀² here. </a:t>
            </a:r>
            <a:r>
              <a:rPr lang="en-US" sz="1300" b="1" dirty="0">
                <a:solidFill>
                  <a:schemeClr val="tx1"/>
                </a:solidFill>
              </a:rPr>
              <a:t>Large x₀ with small q gives large y₀</a:t>
            </a:r>
            <a:r>
              <a:rPr lang="en-US" sz="1300" dirty="0">
                <a:solidFill>
                  <a:schemeClr val="tx2"/>
                </a:solidFill>
              </a:rPr>
              <a:t>, which is hard regardless of x₀ or q individually. That is why the dashed contours run diagonally.</a:t>
            </a:r>
            <a:endParaRPr lang="en-US" sz="1300" dirty="0"/>
          </a:p>
        </p:txBody>
      </p:sp>
      <p:sp>
        <p:nvSpPr>
          <p:cNvPr id="215" name="Feasibility test"/>
          <p:cNvSpPr/>
          <p:nvPr/>
        </p:nvSpPr>
        <p:spPr>
          <a:xfrm>
            <a:off x="6720840" y="4251960"/>
            <a:ext cx="4922215" cy="1783080"/>
          </a:xfrm>
          <a:prstGeom prst="roundRect">
            <a:avLst>
              <a:gd name="adj" fmla="val 7692"/>
            </a:avLst>
          </a:prstGeom>
          <a:solidFill>
            <a:schemeClr val="bg2"/>
          </a:solidFill>
          <a:ln w="9525">
            <a:solidFill>
              <a:schemeClr val="accent5"/>
            </a:solidFill>
            <a:prstDash val="solid"/>
          </a:ln>
        </p:spPr>
        <p:txBody>
          <a:bodyPr/>
          <a:lstStyle/>
          <a:p>
            <a:endParaRPr lang="fr-FR"/>
          </a:p>
        </p:txBody>
      </p:sp>
      <p:sp>
        <p:nvSpPr>
          <p:cNvPr id="216" name="Shape 214"/>
          <p:cNvSpPr/>
          <p:nvPr/>
        </p:nvSpPr>
        <p:spPr>
          <a:xfrm>
            <a:off x="6995160" y="4507992"/>
            <a:ext cx="91440" cy="91440"/>
          </a:xfrm>
          <a:prstGeom prst="rect">
            <a:avLst/>
          </a:prstGeom>
          <a:solidFill>
            <a:schemeClr val="accent2"/>
          </a:solidFill>
          <a:ln/>
        </p:spPr>
        <p:txBody>
          <a:bodyPr/>
          <a:lstStyle/>
          <a:p>
            <a:endParaRPr lang="fr-FR"/>
          </a:p>
        </p:txBody>
      </p:sp>
      <p:sp>
        <p:nvSpPr>
          <p:cNvPr id="217" name="Text 215"/>
          <p:cNvSpPr txBox="1"/>
          <p:nvPr/>
        </p:nvSpPr>
        <p:spPr>
          <a:xfrm>
            <a:off x="7178040" y="4416552"/>
            <a:ext cx="2743200" cy="274320"/>
          </a:xfrm>
          <a:prstGeom prst="rect">
            <a:avLst/>
          </a:prstGeom>
          <a:noFill/>
          <a:ln/>
        </p:spPr>
        <p:txBody>
          <a:bodyPr wrap="square" lIns="0" tIns="0" rIns="0" bIns="0" rtlCol="0" anchor="ctr"/>
          <a:lstStyle/>
          <a:p>
            <a:pPr marL="0" indent="0">
              <a:buNone/>
            </a:pPr>
            <a:r>
              <a:rPr lang="en-US" sz="1100" b="1" kern="0" spc="200" dirty="0">
                <a:solidFill>
                  <a:schemeClr val="tx2"/>
                </a:solidFill>
              </a:rPr>
              <a:t>FEASIBILITY TEST</a:t>
            </a:r>
            <a:endParaRPr lang="en-US" sz="1100" dirty="0"/>
          </a:p>
        </p:txBody>
      </p:sp>
      <p:sp>
        <p:nvSpPr>
          <p:cNvPr id="218" name="Equation"/>
          <p:cNvSpPr/>
          <p:nvPr/>
        </p:nvSpPr>
        <p:spPr>
          <a:xfrm>
            <a:off x="6995160" y="4754880"/>
            <a:ext cx="4373575" cy="457200"/>
          </a:xfrm>
          <a:prstGeom prst="roundRect">
            <a:avLst>
              <a:gd name="adj" fmla="val 16000"/>
            </a:avLst>
          </a:prstGeom>
          <a:solidFill>
            <a:schemeClr val="accent4"/>
          </a:solidFill>
          <a:ln/>
        </p:spPr>
        <p:txBody>
          <a:bodyPr/>
          <a:lstStyle/>
          <a:p>
            <a:endParaRPr lang="fr-FR"/>
          </a:p>
        </p:txBody>
      </p:sp>
      <p:sp>
        <p:nvSpPr>
          <p:cNvPr id="219" name="Text 217"/>
          <p:cNvSpPr txBox="1"/>
          <p:nvPr/>
        </p:nvSpPr>
        <p:spPr>
          <a:xfrm>
            <a:off x="7132320" y="4754880"/>
            <a:ext cx="4099255" cy="457200"/>
          </a:xfrm>
          <a:prstGeom prst="rect">
            <a:avLst/>
          </a:prstGeom>
          <a:noFill/>
          <a:ln/>
        </p:spPr>
        <p:txBody>
          <a:bodyPr wrap="square" lIns="0" tIns="0" rIns="0" bIns="0" rtlCol="0" anchor="ctr"/>
          <a:lstStyle/>
          <a:p>
            <a:pPr marL="0" indent="0" algn="ctr">
              <a:buNone/>
            </a:pPr>
            <a:r>
              <a:rPr lang="en-US" sz="1800" dirty="0">
                <a:solidFill>
                  <a:schemeClr val="tx1"/>
                </a:solidFill>
                <a:latin typeface="Cambria Math" pitchFamily="34" charset="0"/>
                <a:ea typeface="Cambria Math" pitchFamily="34" charset="-122"/>
                <a:cs typeface="Cambria Math" pitchFamily="34" charset="-120"/>
              </a:rPr>
              <a:t>|v</a:t>
            </a:r>
            <a:r>
              <a:rPr lang="en-US" sz="1800" baseline="-40000" dirty="0">
                <a:solidFill>
                  <a:schemeClr val="tx1"/>
                </a:solidFill>
                <a:latin typeface="Cambria Math" pitchFamily="34" charset="0"/>
                <a:ea typeface="Cambria Math" pitchFamily="34" charset="-122"/>
                <a:cs typeface="Cambria Math" pitchFamily="34" charset="-120"/>
              </a:rPr>
              <a:t>D</a:t>
            </a:r>
            <a:r>
              <a:rPr lang="en-US" sz="1800" dirty="0">
                <a:solidFill>
                  <a:schemeClr val="tx1"/>
                </a:solidFill>
                <a:latin typeface="Cambria Math" pitchFamily="34" charset="0"/>
                <a:ea typeface="Cambria Math" pitchFamily="34" charset="-122"/>
                <a:cs typeface="Cambria Math" pitchFamily="34" charset="-120"/>
              </a:rPr>
              <a:t>(t, x</a:t>
            </a:r>
            <a:r>
              <a:rPr lang="en-US" sz="1800" baseline="-40000" dirty="0">
                <a:solidFill>
                  <a:schemeClr val="tx1"/>
                </a:solidFill>
                <a:latin typeface="Cambria Math" pitchFamily="34" charset="0"/>
                <a:ea typeface="Cambria Math" pitchFamily="34" charset="-122"/>
                <a:cs typeface="Cambria Math" pitchFamily="34" charset="-120"/>
              </a:rPr>
              <a:t>0</a:t>
            </a:r>
            <a:r>
              <a:rPr lang="en-US" sz="1800" dirty="0">
                <a:solidFill>
                  <a:schemeClr val="tx1"/>
                </a:solidFill>
                <a:latin typeface="Cambria Math" pitchFamily="34" charset="0"/>
                <a:ea typeface="Cambria Math" pitchFamily="34" charset="-122"/>
                <a:cs typeface="Cambria Math" pitchFamily="34" charset="-120"/>
              </a:rPr>
              <a:t>) − v</a:t>
            </a:r>
            <a:r>
              <a:rPr lang="en-US" sz="1800" baseline="-40000" dirty="0">
                <a:solidFill>
                  <a:schemeClr val="tx1"/>
                </a:solidFill>
                <a:latin typeface="Cambria Math" pitchFamily="34" charset="0"/>
                <a:ea typeface="Cambria Math" pitchFamily="34" charset="-122"/>
                <a:cs typeface="Cambria Math" pitchFamily="34" charset="-120"/>
              </a:rPr>
              <a:t>Dref</a:t>
            </a:r>
            <a:r>
              <a:rPr lang="en-US" sz="1800" dirty="0">
                <a:solidFill>
                  <a:schemeClr val="tx1"/>
                </a:solidFill>
                <a:latin typeface="Cambria Math" pitchFamily="34" charset="0"/>
                <a:ea typeface="Cambria Math" pitchFamily="34" charset="-122"/>
                <a:cs typeface="Cambria Math" pitchFamily="34" charset="-120"/>
              </a:rPr>
              <a:t>(t, x</a:t>
            </a:r>
            <a:r>
              <a:rPr lang="en-US" sz="1800" baseline="-40000" dirty="0">
                <a:solidFill>
                  <a:schemeClr val="tx1"/>
                </a:solidFill>
                <a:latin typeface="Cambria Math" pitchFamily="34" charset="0"/>
                <a:ea typeface="Cambria Math" pitchFamily="34" charset="-122"/>
                <a:cs typeface="Cambria Math" pitchFamily="34" charset="-120"/>
              </a:rPr>
              <a:t>0</a:t>
            </a:r>
            <a:r>
              <a:rPr lang="en-US" sz="1800" dirty="0">
                <a:solidFill>
                  <a:schemeClr val="tx1"/>
                </a:solidFill>
                <a:latin typeface="Cambria Math" pitchFamily="34" charset="0"/>
                <a:ea typeface="Cambria Math" pitchFamily="34" charset="-122"/>
                <a:cs typeface="Cambria Math" pitchFamily="34" charset="-120"/>
              </a:rPr>
              <a:t>)| &lt; ε</a:t>
            </a:r>
            <a:endParaRPr lang="en-US" sz="1800" dirty="0"/>
          </a:p>
        </p:txBody>
      </p:sp>
      <p:sp>
        <p:nvSpPr>
          <p:cNvPr id="220" name="Text 218"/>
          <p:cNvSpPr txBox="1"/>
          <p:nvPr/>
        </p:nvSpPr>
        <p:spPr>
          <a:xfrm>
            <a:off x="6995160" y="5285232"/>
            <a:ext cx="4373575" cy="685800"/>
          </a:xfrm>
          <a:prstGeom prst="rect">
            <a:avLst/>
          </a:prstGeom>
          <a:noFill/>
          <a:ln/>
        </p:spPr>
        <p:txBody>
          <a:bodyPr wrap="square" lIns="0" tIns="0" rIns="0" bIns="0" rtlCol="0" anchor="t"/>
          <a:lstStyle/>
          <a:p>
            <a:pPr marL="0" indent="0">
              <a:buNone/>
            </a:pPr>
            <a:r>
              <a:rPr lang="en-US" sz="1200" dirty="0">
                <a:solidFill>
                  <a:schemeClr val="tx2"/>
                </a:solidFill>
              </a:rPr>
              <a:t>Smallest Fock truncation D = 2ⁿ matching a much larger reference D</a:t>
            </a:r>
            <a:r>
              <a:rPr lang="en-US" sz="1200" baseline="-40000" dirty="0">
                <a:solidFill>
                  <a:schemeClr val="tx2"/>
                </a:solidFill>
              </a:rPr>
              <a:t>ref</a:t>
            </a:r>
            <a:r>
              <a:rPr lang="en-US" sz="1200" dirty="0">
                <a:solidFill>
                  <a:schemeClr val="tx2"/>
                </a:solidFill>
              </a:rPr>
              <a:t> within ε sets the qubit count n, checked against SpinPulse's purity threshold.</a:t>
            </a:r>
            <a:endParaRPr lang="en-US" sz="1200" dirty="0"/>
          </a:p>
        </p:txBody>
      </p:sp>
      <p:sp>
        <p:nvSpPr>
          <p:cNvPr id="221" name="Slide Number Placeholder 0"/>
          <p:cNvSpPr>
            <a:spLocks noGrp="1"/>
          </p:cNvSpPr>
          <p:nvPr>
            <p:ph type="sldNum" sz="quarter" idx="4294967295"/>
          </p:nvPr>
        </p:nvSpPr>
        <p:spPr>
          <a:xfrm>
            <a:off x="11094415" y="6327648"/>
            <a:ext cx="548640" cy="274320"/>
          </a:xfrm>
          <a:prstGeom prst="rect">
            <a:avLst/>
          </a:prstGeom>
          <a:extLst>
            <a:ext uri="{C572A759-6A51-4108-AA02-DFA0A04FC94B}">
              <ma14:wrappingTextBoxFlag xmlns:ma14="http://schemas.microsoft.com/office/mac/drawingml/2011/main" xmlns="" val="0"/>
            </a:ext>
          </a:extLst>
        </p:spPr>
        <p:txBody>
          <a:bodyPr lIns="0" tIns="0" rIns="0" bIns="0" anchor="ctr"/>
          <a:lstStyle>
            <a:lvl1pPr>
              <a:defRPr sz="1000">
                <a:solidFill>
                  <a:srgbClr val="9AA3BD"/>
                </a:solidFill>
              </a:defRPr>
            </a:lvl1pPr>
          </a:lstStyle>
          <a:p>
            <a:pPr algn="r"/>
            <a:fld id="{F7021451-1387-4CA6-816F-3879F97B5CBC}" type="slidenum">
              <a:rPr lang="en-US" b="0"/>
              <a:t>41</a:t>
            </a:fld>
            <a:endParaRPr lang="en-US"/>
          </a:p>
        </p:txBody>
      </p:sp>
      <p:pic>
        <p:nvPicPr>
          <p:cNvPr id="223" name="Image 222">
            <a:extLst>
              <a:ext uri="{FF2B5EF4-FFF2-40B4-BE49-F238E27FC236}">
                <a16:creationId xmlns:a16="http://schemas.microsoft.com/office/drawing/2014/main" id="{00A9B41C-702C-944F-B293-4D3E8EED5155}"/>
              </a:ext>
            </a:extLst>
          </p:cNvPr>
          <p:cNvPicPr>
            <a:picLocks noChangeAspect="1"/>
          </p:cNvPicPr>
          <p:nvPr/>
        </p:nvPicPr>
        <p:blipFill>
          <a:blip r:embed="rId3"/>
          <a:stretch>
            <a:fillRect/>
          </a:stretch>
        </p:blipFill>
        <p:spPr>
          <a:xfrm>
            <a:off x="9724644" y="-443705"/>
            <a:ext cx="2437453" cy="1723866"/>
          </a:xfrm>
          <a:prstGeom prst="rect">
            <a:avLst/>
          </a:prstGeom>
        </p:spPr>
      </p:pic>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10"/>
          <p:cNvSpPr>
            <a:spLocks noGrp="1"/>
          </p:cNvSpPr>
          <p:nvPr>
            <p:ph type="title" idx="110" hasCustomPrompt="1"/>
          </p:nvPr>
        </p:nvSpPr>
        <p:spPr>
          <a:xfrm>
            <a:off x="548640" y="457200"/>
            <a:ext cx="11094415" cy="777240"/>
          </a:xfrm>
          <a:prstGeom prst="rect">
            <a:avLst/>
          </a:prstGeom>
          <a:noFill/>
          <a:ln/>
        </p:spPr>
        <p:txBody>
          <a:bodyPr wrap="square" lIns="0" tIns="0" rIns="0" bIns="0" rtlCol="0" anchor="t"/>
          <a:lstStyle/>
          <a:p>
            <a:pPr marL="0" indent="0" algn="l">
              <a:buNone/>
            </a:pPr>
            <a:r>
              <a:rPr lang="en-US" sz="3200" dirty="0">
                <a:solidFill>
                  <a:schemeClr val="tx1"/>
                </a:solidFill>
              </a:rPr>
              <a:t>Unary overtakes binary at D ≳ 8</a:t>
            </a:r>
            <a:endParaRPr lang="en-US" sz="3200" dirty="0"/>
          </a:p>
        </p:txBody>
      </p:sp>
      <p:sp>
        <p:nvSpPr>
          <p:cNvPr id="3" name="Shape 1"/>
          <p:cNvSpPr/>
          <p:nvPr/>
        </p:nvSpPr>
        <p:spPr>
          <a:xfrm>
            <a:off x="548640" y="1188720"/>
            <a:ext cx="91440" cy="91440"/>
          </a:xfrm>
          <a:prstGeom prst="rect">
            <a:avLst/>
          </a:prstGeom>
          <a:solidFill>
            <a:schemeClr val="accent2"/>
          </a:solidFill>
          <a:ln/>
        </p:spPr>
        <p:txBody>
          <a:bodyPr/>
          <a:lstStyle/>
          <a:p>
            <a:endParaRPr lang="fr-FR"/>
          </a:p>
        </p:txBody>
      </p:sp>
      <p:sp>
        <p:nvSpPr>
          <p:cNvPr id="4" name="Text 2"/>
          <p:cNvSpPr txBox="1"/>
          <p:nvPr/>
        </p:nvSpPr>
        <p:spPr>
          <a:xfrm>
            <a:off x="731520" y="1097280"/>
            <a:ext cx="10058400" cy="274320"/>
          </a:xfrm>
          <a:prstGeom prst="rect">
            <a:avLst/>
          </a:prstGeom>
          <a:noFill/>
          <a:ln/>
        </p:spPr>
        <p:txBody>
          <a:bodyPr wrap="square" lIns="0" tIns="0" rIns="0" bIns="0" rtlCol="0" anchor="ctr"/>
          <a:lstStyle/>
          <a:p>
            <a:pPr marL="0" indent="0">
              <a:buNone/>
            </a:pPr>
            <a:r>
              <a:rPr lang="en-US" sz="1200" b="1" kern="0" spc="200" dirty="0">
                <a:solidFill>
                  <a:schemeClr val="tx2"/>
                </a:solidFill>
              </a:rPr>
              <a:t>ENCODING COST AND PURITY ON SPIN QUBITS</a:t>
            </a:r>
            <a:endParaRPr lang="en-US" sz="1200" dirty="0"/>
          </a:p>
        </p:txBody>
      </p:sp>
      <p:sp>
        <p:nvSpPr>
          <p:cNvPr id="5" name="Text 3"/>
          <p:cNvSpPr txBox="1"/>
          <p:nvPr/>
        </p:nvSpPr>
        <p:spPr>
          <a:xfrm>
            <a:off x="548640" y="1554480"/>
            <a:ext cx="4160520" cy="548640"/>
          </a:xfrm>
          <a:prstGeom prst="rect">
            <a:avLst/>
          </a:prstGeom>
          <a:noFill/>
          <a:ln/>
        </p:spPr>
        <p:txBody>
          <a:bodyPr wrap="square" lIns="0" tIns="0" rIns="0" bIns="0" rtlCol="0" anchor="t"/>
          <a:lstStyle/>
          <a:p>
            <a:pPr marL="0" indent="0">
              <a:buNone/>
            </a:pPr>
            <a:r>
              <a:rPr lang="en-US" sz="1500" b="1" dirty="0">
                <a:solidFill>
                  <a:schemeClr val="tx1"/>
                </a:solidFill>
              </a:rPr>
              <a:t>Same physics, different Fock-to-qubit mapping</a:t>
            </a:r>
            <a:endParaRPr lang="en-US" sz="1500" dirty="0"/>
          </a:p>
        </p:txBody>
      </p:sp>
      <p:sp>
        <p:nvSpPr>
          <p:cNvPr id="6" name="Equation"/>
          <p:cNvSpPr/>
          <p:nvPr/>
        </p:nvSpPr>
        <p:spPr>
          <a:xfrm>
            <a:off x="548640" y="2148840"/>
            <a:ext cx="4160520" cy="411480"/>
          </a:xfrm>
          <a:prstGeom prst="roundRect">
            <a:avLst>
              <a:gd name="adj" fmla="val 17778"/>
            </a:avLst>
          </a:prstGeom>
          <a:solidFill>
            <a:schemeClr val="accent4"/>
          </a:solidFill>
          <a:ln/>
        </p:spPr>
        <p:txBody>
          <a:bodyPr/>
          <a:lstStyle/>
          <a:p>
            <a:endParaRPr lang="fr-FR"/>
          </a:p>
        </p:txBody>
      </p:sp>
      <p:sp>
        <p:nvSpPr>
          <p:cNvPr id="7" name="Text 5"/>
          <p:cNvSpPr txBox="1"/>
          <p:nvPr/>
        </p:nvSpPr>
        <p:spPr>
          <a:xfrm>
            <a:off x="685800" y="2148840"/>
            <a:ext cx="3886200" cy="411480"/>
          </a:xfrm>
          <a:prstGeom prst="rect">
            <a:avLst/>
          </a:prstGeom>
          <a:noFill/>
          <a:ln/>
        </p:spPr>
        <p:txBody>
          <a:bodyPr wrap="square" lIns="0" tIns="0" rIns="0" bIns="0" rtlCol="0" anchor="ctr"/>
          <a:lstStyle/>
          <a:p>
            <a:pPr marL="0" indent="0" algn="ctr">
              <a:buNone/>
            </a:pPr>
            <a:r>
              <a:rPr lang="en-US" sz="1600" dirty="0">
                <a:solidFill>
                  <a:schemeClr val="tx1"/>
                </a:solidFill>
                <a:latin typeface="Cambria Math" pitchFamily="34" charset="0"/>
                <a:ea typeface="Cambria Math" pitchFamily="34" charset="-122"/>
                <a:cs typeface="Cambria Math" pitchFamily="34" charset="-120"/>
              </a:rPr>
              <a:t>binary:  n</a:t>
            </a:r>
            <a:r>
              <a:rPr lang="en-US" sz="1600" baseline="-40000" dirty="0">
                <a:solidFill>
                  <a:schemeClr val="tx1"/>
                </a:solidFill>
                <a:latin typeface="Cambria Math" pitchFamily="34" charset="0"/>
                <a:ea typeface="Cambria Math" pitchFamily="34" charset="-122"/>
                <a:cs typeface="Cambria Math" pitchFamily="34" charset="-120"/>
              </a:rPr>
              <a:t>qubits</a:t>
            </a:r>
            <a:r>
              <a:rPr lang="en-US" sz="1600" dirty="0">
                <a:solidFill>
                  <a:schemeClr val="tx1"/>
                </a:solidFill>
                <a:latin typeface="Cambria Math" pitchFamily="34" charset="0"/>
                <a:ea typeface="Cambria Math" pitchFamily="34" charset="-122"/>
                <a:cs typeface="Cambria Math" pitchFamily="34" charset="-120"/>
              </a:rPr>
              <a:t> = log₂ D</a:t>
            </a:r>
            <a:endParaRPr lang="en-US" sz="1600" dirty="0"/>
          </a:p>
        </p:txBody>
      </p:sp>
      <p:sp>
        <p:nvSpPr>
          <p:cNvPr id="8" name="Equation"/>
          <p:cNvSpPr/>
          <p:nvPr/>
        </p:nvSpPr>
        <p:spPr>
          <a:xfrm>
            <a:off x="548640" y="2633472"/>
            <a:ext cx="4160520" cy="411480"/>
          </a:xfrm>
          <a:prstGeom prst="roundRect">
            <a:avLst>
              <a:gd name="adj" fmla="val 17778"/>
            </a:avLst>
          </a:prstGeom>
          <a:solidFill>
            <a:schemeClr val="accent4"/>
          </a:solidFill>
          <a:ln/>
        </p:spPr>
        <p:txBody>
          <a:bodyPr/>
          <a:lstStyle/>
          <a:p>
            <a:endParaRPr lang="fr-FR"/>
          </a:p>
        </p:txBody>
      </p:sp>
      <p:sp>
        <p:nvSpPr>
          <p:cNvPr id="9" name="Text 7"/>
          <p:cNvSpPr txBox="1"/>
          <p:nvPr/>
        </p:nvSpPr>
        <p:spPr>
          <a:xfrm>
            <a:off x="685800" y="2633472"/>
            <a:ext cx="3886200" cy="411480"/>
          </a:xfrm>
          <a:prstGeom prst="rect">
            <a:avLst/>
          </a:prstGeom>
          <a:noFill/>
          <a:ln/>
        </p:spPr>
        <p:txBody>
          <a:bodyPr wrap="square" lIns="0" tIns="0" rIns="0" bIns="0" rtlCol="0" anchor="ctr"/>
          <a:lstStyle/>
          <a:p>
            <a:pPr marL="0" indent="0" algn="ctr">
              <a:buNone/>
            </a:pPr>
            <a:r>
              <a:rPr lang="en-US" sz="1600" dirty="0">
                <a:solidFill>
                  <a:schemeClr val="tx1"/>
                </a:solidFill>
                <a:latin typeface="Cambria Math" pitchFamily="34" charset="0"/>
                <a:ea typeface="Cambria Math" pitchFamily="34" charset="-122"/>
                <a:cs typeface="Cambria Math" pitchFamily="34" charset="-120"/>
              </a:rPr>
              <a:t>unary:  n</a:t>
            </a:r>
            <a:r>
              <a:rPr lang="en-US" sz="1600" baseline="-40000" dirty="0">
                <a:solidFill>
                  <a:schemeClr val="tx1"/>
                </a:solidFill>
                <a:latin typeface="Cambria Math" pitchFamily="34" charset="0"/>
                <a:ea typeface="Cambria Math" pitchFamily="34" charset="-122"/>
                <a:cs typeface="Cambria Math" pitchFamily="34" charset="-120"/>
              </a:rPr>
              <a:t>qubits</a:t>
            </a:r>
            <a:r>
              <a:rPr lang="en-US" sz="1600" dirty="0">
                <a:solidFill>
                  <a:schemeClr val="tx1"/>
                </a:solidFill>
                <a:latin typeface="Cambria Math" pitchFamily="34" charset="0"/>
                <a:ea typeface="Cambria Math" pitchFamily="34" charset="-122"/>
                <a:cs typeface="Cambria Math" pitchFamily="34" charset="-120"/>
              </a:rPr>
              <a:t> = D</a:t>
            </a:r>
            <a:endParaRPr lang="en-US" sz="1600" dirty="0"/>
          </a:p>
        </p:txBody>
      </p:sp>
      <p:sp>
        <p:nvSpPr>
          <p:cNvPr id="10" name="Equation"/>
          <p:cNvSpPr/>
          <p:nvPr/>
        </p:nvSpPr>
        <p:spPr>
          <a:xfrm>
            <a:off x="548640" y="3118104"/>
            <a:ext cx="4160520" cy="411480"/>
          </a:xfrm>
          <a:prstGeom prst="roundRect">
            <a:avLst>
              <a:gd name="adj" fmla="val 17778"/>
            </a:avLst>
          </a:prstGeom>
          <a:solidFill>
            <a:schemeClr val="accent4"/>
          </a:solidFill>
          <a:ln/>
        </p:spPr>
        <p:txBody>
          <a:bodyPr/>
          <a:lstStyle/>
          <a:p>
            <a:endParaRPr lang="fr-FR"/>
          </a:p>
        </p:txBody>
      </p:sp>
      <p:sp>
        <p:nvSpPr>
          <p:cNvPr id="11" name="Text 9"/>
          <p:cNvSpPr txBox="1"/>
          <p:nvPr/>
        </p:nvSpPr>
        <p:spPr>
          <a:xfrm>
            <a:off x="685800" y="3118104"/>
            <a:ext cx="3886200" cy="411480"/>
          </a:xfrm>
          <a:prstGeom prst="rect">
            <a:avLst/>
          </a:prstGeom>
          <a:noFill/>
          <a:ln/>
        </p:spPr>
        <p:txBody>
          <a:bodyPr wrap="square" lIns="0" tIns="0" rIns="0" bIns="0" rtlCol="0" anchor="ctr"/>
          <a:lstStyle/>
          <a:p>
            <a:pPr marL="0" indent="0" algn="ctr">
              <a:buNone/>
            </a:pPr>
            <a:r>
              <a:rPr lang="en-US" sz="1600" dirty="0">
                <a:solidFill>
                  <a:schemeClr val="tx1"/>
                </a:solidFill>
                <a:latin typeface="Cambria Math" pitchFamily="34" charset="0"/>
                <a:ea typeface="Cambria Math" pitchFamily="34" charset="-122"/>
                <a:cs typeface="Cambria Math" pitchFamily="34" charset="-120"/>
              </a:rPr>
              <a:t>C = J(â†²â − â†â²)  ⇒  C</a:t>
            </a:r>
            <a:r>
              <a:rPr lang="en-US" sz="1600" baseline="-40000" dirty="0">
                <a:solidFill>
                  <a:schemeClr val="tx1"/>
                </a:solidFill>
                <a:latin typeface="Cambria Math" pitchFamily="34" charset="0"/>
                <a:ea typeface="Cambria Math" pitchFamily="34" charset="-122"/>
                <a:cs typeface="Cambria Math" pitchFamily="34" charset="-120"/>
              </a:rPr>
              <a:t>n,n±1</a:t>
            </a:r>
            <a:r>
              <a:rPr lang="en-US" sz="1600" dirty="0">
                <a:solidFill>
                  <a:schemeClr val="tx1"/>
                </a:solidFill>
                <a:latin typeface="Cambria Math" pitchFamily="34" charset="0"/>
                <a:ea typeface="Cambria Math" pitchFamily="34" charset="-122"/>
                <a:cs typeface="Cambria Math" pitchFamily="34" charset="-120"/>
              </a:rPr>
              <a:t> ≠ 0</a:t>
            </a:r>
            <a:endParaRPr lang="en-US" sz="1600" dirty="0"/>
          </a:p>
        </p:txBody>
      </p:sp>
      <p:sp>
        <p:nvSpPr>
          <p:cNvPr id="12" name="Text 10"/>
          <p:cNvSpPr txBox="1"/>
          <p:nvPr/>
        </p:nvSpPr>
        <p:spPr>
          <a:xfrm>
            <a:off x="548640" y="3639312"/>
            <a:ext cx="4160520" cy="685800"/>
          </a:xfrm>
          <a:prstGeom prst="rect">
            <a:avLst/>
          </a:prstGeom>
          <a:noFill/>
          <a:ln/>
        </p:spPr>
        <p:txBody>
          <a:bodyPr wrap="square" lIns="0" tIns="0" rIns="0" bIns="0" rtlCol="0" anchor="t"/>
          <a:lstStyle/>
          <a:p>
            <a:pPr marL="0" indent="0">
              <a:buNone/>
            </a:pPr>
            <a:r>
              <a:rPr lang="en-US" sz="1300" dirty="0">
                <a:solidFill>
                  <a:schemeClr val="tx2"/>
                </a:solidFill>
              </a:rPr>
              <a:t>Only neighboring Fock levels connect, so unary uses purely local gates: linear gate growth vs. binary's near-quartic.</a:t>
            </a:r>
            <a:endParaRPr lang="en-US" sz="1300" dirty="0"/>
          </a:p>
        </p:txBody>
      </p:sp>
      <p:sp>
        <p:nvSpPr>
          <p:cNvPr id="13" name="Text 11"/>
          <p:cNvSpPr txBox="1"/>
          <p:nvPr/>
        </p:nvSpPr>
        <p:spPr>
          <a:xfrm>
            <a:off x="548640" y="4343400"/>
            <a:ext cx="4160520" cy="640080"/>
          </a:xfrm>
          <a:prstGeom prst="rect">
            <a:avLst/>
          </a:prstGeom>
          <a:noFill/>
          <a:ln/>
        </p:spPr>
        <p:txBody>
          <a:bodyPr wrap="square" lIns="0" tIns="0" rIns="0" bIns="0" rtlCol="0" anchor="t"/>
          <a:lstStyle/>
          <a:p>
            <a:pPr marL="0" indent="0">
              <a:buNone/>
            </a:pPr>
            <a:r>
              <a:rPr lang="en-US" sz="1200" dirty="0">
                <a:solidFill>
                  <a:schemeClr val="tx2"/>
                </a:solidFill>
              </a:rPr>
              <a:t>Purity = Tr(ρ²), simulated; unary at D ≥ 8 estimated as ≈ exp(−c·n</a:t>
            </a:r>
            <a:r>
              <a:rPr lang="en-US" sz="1200" baseline="-40000" dirty="0">
                <a:solidFill>
                  <a:schemeClr val="tx2"/>
                </a:solidFill>
              </a:rPr>
              <a:t>2q</a:t>
            </a:r>
            <a:r>
              <a:rPr lang="en-US" sz="1200" dirty="0">
                <a:solidFill>
                  <a:schemeClr val="tx2"/>
                </a:solidFill>
              </a:rPr>
              <a:t>) from the gate count</a:t>
            </a:r>
            <a:endParaRPr lang="en-US" sz="1200" dirty="0"/>
          </a:p>
        </p:txBody>
      </p:sp>
      <p:sp>
        <p:nvSpPr>
          <p:cNvPr id="14" name="Gate count chart"/>
          <p:cNvSpPr/>
          <p:nvPr/>
        </p:nvSpPr>
        <p:spPr>
          <a:xfrm>
            <a:off x="5029200" y="1554480"/>
            <a:ext cx="3192628" cy="3520440"/>
          </a:xfrm>
          <a:prstGeom prst="roundRect">
            <a:avLst>
              <a:gd name="adj" fmla="val 4296"/>
            </a:avLst>
          </a:prstGeom>
          <a:solidFill>
            <a:schemeClr val="bg2"/>
          </a:solidFill>
          <a:ln w="9525">
            <a:solidFill>
              <a:schemeClr val="accent5"/>
            </a:solidFill>
            <a:prstDash val="solid"/>
          </a:ln>
        </p:spPr>
        <p:txBody>
          <a:bodyPr/>
          <a:lstStyle/>
          <a:p>
            <a:endParaRPr lang="fr-FR"/>
          </a:p>
        </p:txBody>
      </p:sp>
      <p:graphicFrame>
        <p:nvGraphicFramePr>
          <p:cNvPr id="15" name="Gate count"/>
          <p:cNvGraphicFramePr/>
          <p:nvPr/>
        </p:nvGraphicFramePr>
        <p:xfrm>
          <a:off x="5120640" y="1645920"/>
          <a:ext cx="3009748" cy="3337560"/>
        </p:xfrm>
        <a:graphic>
          <a:graphicData uri="http://schemas.openxmlformats.org/drawingml/2006/chart">
            <c:chart xmlns:c="http://schemas.openxmlformats.org/drawingml/2006/chart" xmlns:r="http://schemas.openxmlformats.org/officeDocument/2006/relationships" r:id="rId3"/>
          </a:graphicData>
        </a:graphic>
      </p:graphicFrame>
      <p:sp>
        <p:nvSpPr>
          <p:cNvPr id="16" name="Purity chart"/>
          <p:cNvSpPr/>
          <p:nvPr/>
        </p:nvSpPr>
        <p:spPr>
          <a:xfrm>
            <a:off x="8450428" y="1554480"/>
            <a:ext cx="3192628" cy="3520440"/>
          </a:xfrm>
          <a:prstGeom prst="roundRect">
            <a:avLst>
              <a:gd name="adj" fmla="val 4296"/>
            </a:avLst>
          </a:prstGeom>
          <a:solidFill>
            <a:schemeClr val="bg2"/>
          </a:solidFill>
          <a:ln w="12700">
            <a:solidFill>
              <a:schemeClr val="accent1"/>
            </a:solidFill>
            <a:prstDash val="solid"/>
          </a:ln>
        </p:spPr>
        <p:txBody>
          <a:bodyPr/>
          <a:lstStyle/>
          <a:p>
            <a:endParaRPr lang="fr-FR"/>
          </a:p>
        </p:txBody>
      </p:sp>
      <p:graphicFrame>
        <p:nvGraphicFramePr>
          <p:cNvPr id="17" name="Purity"/>
          <p:cNvGraphicFramePr/>
          <p:nvPr/>
        </p:nvGraphicFramePr>
        <p:xfrm>
          <a:off x="8541868" y="1645920"/>
          <a:ext cx="3009748" cy="3337560"/>
        </p:xfrm>
        <a:graphic>
          <a:graphicData uri="http://schemas.openxmlformats.org/drawingml/2006/chart">
            <c:chart xmlns:c="http://schemas.openxmlformats.org/drawingml/2006/chart" xmlns:r="http://schemas.openxmlformats.org/officeDocument/2006/relationships" r:id="rId4"/>
          </a:graphicData>
        </a:graphic>
      </p:graphicFrame>
      <p:sp>
        <p:nvSpPr>
          <p:cNvPr id="18" name="Takeaway"/>
          <p:cNvSpPr/>
          <p:nvPr/>
        </p:nvSpPr>
        <p:spPr>
          <a:xfrm>
            <a:off x="548640" y="5230368"/>
            <a:ext cx="11094415" cy="530352"/>
          </a:xfrm>
          <a:prstGeom prst="roundRect">
            <a:avLst>
              <a:gd name="adj" fmla="val 17241"/>
            </a:avLst>
          </a:prstGeom>
          <a:solidFill>
            <a:schemeClr val="accent1"/>
          </a:solidFill>
          <a:ln/>
        </p:spPr>
        <p:txBody>
          <a:bodyPr/>
          <a:lstStyle/>
          <a:p>
            <a:endParaRPr lang="fr-FR"/>
          </a:p>
        </p:txBody>
      </p:sp>
      <p:sp>
        <p:nvSpPr>
          <p:cNvPr id="19" name="Shape 15"/>
          <p:cNvSpPr/>
          <p:nvPr/>
        </p:nvSpPr>
        <p:spPr>
          <a:xfrm>
            <a:off x="822960" y="5449824"/>
            <a:ext cx="91440" cy="91440"/>
          </a:xfrm>
          <a:prstGeom prst="rect">
            <a:avLst/>
          </a:prstGeom>
          <a:solidFill>
            <a:schemeClr val="accent2"/>
          </a:solidFill>
          <a:ln/>
        </p:spPr>
        <p:txBody>
          <a:bodyPr/>
          <a:lstStyle/>
          <a:p>
            <a:endParaRPr lang="fr-FR"/>
          </a:p>
        </p:txBody>
      </p:sp>
      <p:sp>
        <p:nvSpPr>
          <p:cNvPr id="20" name="Text 16"/>
          <p:cNvSpPr txBox="1"/>
          <p:nvPr/>
        </p:nvSpPr>
        <p:spPr>
          <a:xfrm>
            <a:off x="1051560" y="5230368"/>
            <a:ext cx="10362895" cy="530352"/>
          </a:xfrm>
          <a:prstGeom prst="rect">
            <a:avLst/>
          </a:prstGeom>
          <a:noFill/>
          <a:ln/>
        </p:spPr>
        <p:txBody>
          <a:bodyPr wrap="square" lIns="0" tIns="0" rIns="0" bIns="0" rtlCol="0" anchor="ctr"/>
          <a:lstStyle/>
          <a:p>
            <a:pPr marL="0" indent="0">
              <a:buNone/>
            </a:pPr>
            <a:r>
              <a:rPr lang="en-US" sz="1600" b="1" dirty="0">
                <a:solidFill>
                  <a:schemeClr val="tx1"/>
                </a:solidFill>
              </a:rPr>
              <a:t>Fewer local gates beat fewer qubits: </a:t>
            </a:r>
            <a:r>
              <a:rPr lang="en-US" sz="1600" dirty="0">
                <a:solidFill>
                  <a:schemeClr val="tx1"/>
                </a:solidFill>
              </a:rPr>
              <a:t>unary overtakes binary at D ≳ 8</a:t>
            </a:r>
            <a:endParaRPr lang="en-US" sz="1600" dirty="0"/>
          </a:p>
        </p:txBody>
      </p:sp>
      <p:sp>
        <p:nvSpPr>
          <p:cNvPr id="21" name="Text 17"/>
          <p:cNvSpPr txBox="1"/>
          <p:nvPr/>
        </p:nvSpPr>
        <p:spPr>
          <a:xfrm>
            <a:off x="548640" y="5815584"/>
            <a:ext cx="11094415" cy="457200"/>
          </a:xfrm>
          <a:prstGeom prst="rect">
            <a:avLst/>
          </a:prstGeom>
          <a:noFill/>
          <a:ln/>
        </p:spPr>
        <p:txBody>
          <a:bodyPr wrap="square" lIns="0" tIns="0" rIns="0" bIns="0" rtlCol="0" anchor="t"/>
          <a:lstStyle/>
          <a:p>
            <a:pPr marL="0" indent="0">
              <a:buNone/>
            </a:pPr>
            <a:r>
              <a:rPr lang="en-US" sz="900" i="1" dirty="0">
                <a:solidFill>
                  <a:schemeClr val="tx2"/>
                </a:solidFill>
              </a:rPr>
              <a:t>Methods: LCHS complexity (An/Liu/Lin arXiv:2303.01029, An/Childs/Lin arXiv:2312.03916) · Kolmogorian block-encoding (Bravyi/Byrne/Zayats/Zhuk arXiv:2606.08349) · QALB (Itani/Sreenivasan/Succi arXiv:2304.05915) · spin-qubit pulse noise (SpinPulse) · surface-code overhead (standard rotated-code estimates)</a:t>
            </a:r>
            <a:endParaRPr lang="en-US" sz="900" dirty="0"/>
          </a:p>
        </p:txBody>
      </p:sp>
      <p:sp>
        <p:nvSpPr>
          <p:cNvPr id="25" name="Slide Number Placeholder 0"/>
          <p:cNvSpPr>
            <a:spLocks noGrp="1"/>
          </p:cNvSpPr>
          <p:nvPr>
            <p:ph type="sldNum" sz="quarter" idx="4294967295"/>
          </p:nvPr>
        </p:nvSpPr>
        <p:spPr>
          <a:xfrm>
            <a:off x="11094415" y="6327648"/>
            <a:ext cx="548640" cy="274320"/>
          </a:xfrm>
          <a:prstGeom prst="rect">
            <a:avLst/>
          </a:prstGeom>
          <a:extLst>
            <a:ext uri="{C572A759-6A51-4108-AA02-DFA0A04FC94B}">
              <ma14:wrappingTextBoxFlag xmlns:ma14="http://schemas.microsoft.com/office/mac/drawingml/2011/main" xmlns="" val="0"/>
            </a:ext>
          </a:extLst>
        </p:spPr>
        <p:txBody>
          <a:bodyPr lIns="0" tIns="0" rIns="0" bIns="0" anchor="ctr"/>
          <a:lstStyle>
            <a:lvl1pPr>
              <a:defRPr sz="1000">
                <a:solidFill>
                  <a:srgbClr val="9AA3BD"/>
                </a:solidFill>
              </a:defRPr>
            </a:lvl1pPr>
          </a:lstStyle>
          <a:p>
            <a:pPr algn="r"/>
            <a:fld id="{F7021451-1387-4CA6-816F-3879F97B5CBC}" type="slidenum">
              <a:rPr lang="en-US" b="0"/>
              <a:t>42</a:t>
            </a:fld>
            <a:endParaRPr lang="en-US"/>
          </a:p>
        </p:txBody>
      </p:sp>
      <p:pic>
        <p:nvPicPr>
          <p:cNvPr id="23" name="Image 22">
            <a:extLst>
              <a:ext uri="{FF2B5EF4-FFF2-40B4-BE49-F238E27FC236}">
                <a16:creationId xmlns:a16="http://schemas.microsoft.com/office/drawing/2014/main" id="{95B77612-4B50-6412-BD6E-1D992C692CFD}"/>
              </a:ext>
            </a:extLst>
          </p:cNvPr>
          <p:cNvPicPr>
            <a:picLocks noChangeAspect="1"/>
          </p:cNvPicPr>
          <p:nvPr/>
        </p:nvPicPr>
        <p:blipFill>
          <a:blip r:embed="rId5"/>
          <a:stretch>
            <a:fillRect/>
          </a:stretch>
        </p:blipFill>
        <p:spPr>
          <a:xfrm>
            <a:off x="9724644" y="-443705"/>
            <a:ext cx="2437453" cy="1723866"/>
          </a:xfrm>
          <a:prstGeom prst="rect">
            <a:avLst/>
          </a:prstGeom>
        </p:spPr>
      </p:pic>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6CEC89-5306-F5F0-E298-38E4D438214D}"/>
            </a:ext>
          </a:extLst>
        </p:cNvPr>
        <p:cNvGrpSpPr/>
        <p:nvPr/>
      </p:nvGrpSpPr>
      <p:grpSpPr>
        <a:xfrm>
          <a:off x="0" y="0"/>
          <a:ext cx="0" cy="0"/>
          <a:chOff x="0" y="0"/>
          <a:chExt cx="0" cy="0"/>
        </a:xfrm>
      </p:grpSpPr>
      <p:sp>
        <p:nvSpPr>
          <p:cNvPr id="2" name="Text 10">
            <a:extLst>
              <a:ext uri="{FF2B5EF4-FFF2-40B4-BE49-F238E27FC236}">
                <a16:creationId xmlns:a16="http://schemas.microsoft.com/office/drawing/2014/main" id="{4A5076C0-2BCF-14CF-6D1A-29FB761CB6C5}"/>
              </a:ext>
            </a:extLst>
          </p:cNvPr>
          <p:cNvSpPr>
            <a:spLocks noGrp="1"/>
          </p:cNvSpPr>
          <p:nvPr>
            <p:ph type="body" idx="110" hasCustomPrompt="1"/>
          </p:nvPr>
        </p:nvSpPr>
        <p:spPr>
          <a:xfrm>
            <a:off x="548640" y="1463040"/>
            <a:ext cx="3657600" cy="1280160"/>
          </a:xfrm>
          <a:prstGeom prst="rect">
            <a:avLst/>
          </a:prstGeom>
          <a:noFill/>
          <a:ln/>
        </p:spPr>
        <p:txBody>
          <a:bodyPr wrap="square" lIns="0" tIns="0" rIns="0" bIns="0" rtlCol="0" anchor="b"/>
          <a:lstStyle/>
          <a:p>
            <a:pPr marL="0" indent="0" algn="l">
              <a:buNone/>
            </a:pPr>
            <a:r>
              <a:rPr lang="en-US" sz="9600" b="1" dirty="0">
                <a:solidFill>
                  <a:schemeClr val="accent1"/>
                </a:solidFill>
                <a:latin typeface="Aptos Display" pitchFamily="34" charset="0"/>
                <a:ea typeface="Aptos Display" pitchFamily="34" charset="-122"/>
                <a:cs typeface="Aptos Display" pitchFamily="34" charset="-120"/>
              </a:rPr>
              <a:t>04</a:t>
            </a:r>
            <a:endParaRPr lang="en-US" sz="9600" dirty="0"/>
          </a:p>
        </p:txBody>
      </p:sp>
      <p:sp>
        <p:nvSpPr>
          <p:cNvPr id="3" name="Text 10">
            <a:extLst>
              <a:ext uri="{FF2B5EF4-FFF2-40B4-BE49-F238E27FC236}">
                <a16:creationId xmlns:a16="http://schemas.microsoft.com/office/drawing/2014/main" id="{8266D448-DECE-8AF1-834D-221BC2249264}"/>
              </a:ext>
            </a:extLst>
          </p:cNvPr>
          <p:cNvSpPr>
            <a:spLocks noGrp="1"/>
          </p:cNvSpPr>
          <p:nvPr>
            <p:ph type="title" idx="111" hasCustomPrompt="1"/>
          </p:nvPr>
        </p:nvSpPr>
        <p:spPr>
          <a:xfrm>
            <a:off x="548640" y="2926080"/>
            <a:ext cx="4877376" cy="914400"/>
          </a:xfrm>
          <a:prstGeom prst="rect">
            <a:avLst/>
          </a:prstGeom>
          <a:noFill/>
          <a:ln/>
        </p:spPr>
        <p:txBody>
          <a:bodyPr wrap="square" lIns="0" tIns="0" rIns="0" bIns="0" rtlCol="0" anchor="t"/>
          <a:lstStyle/>
          <a:p>
            <a:pPr marL="0" indent="0" algn="l">
              <a:buNone/>
            </a:pPr>
            <a:r>
              <a:rPr lang="en-US" sz="4000" dirty="0"/>
              <a:t>Conclusions</a:t>
            </a:r>
          </a:p>
        </p:txBody>
      </p:sp>
      <p:sp>
        <p:nvSpPr>
          <p:cNvPr id="5" name="Detail square">
            <a:extLst>
              <a:ext uri="{FF2B5EF4-FFF2-40B4-BE49-F238E27FC236}">
                <a16:creationId xmlns:a16="http://schemas.microsoft.com/office/drawing/2014/main" id="{9B0CE1E8-2DAE-EF38-CB3E-93049DE47D3C}"/>
              </a:ext>
            </a:extLst>
          </p:cNvPr>
          <p:cNvSpPr/>
          <p:nvPr/>
        </p:nvSpPr>
        <p:spPr>
          <a:xfrm>
            <a:off x="594360" y="1325880"/>
            <a:ext cx="109728" cy="109728"/>
          </a:xfrm>
          <a:prstGeom prst="rect">
            <a:avLst/>
          </a:prstGeom>
          <a:solidFill>
            <a:schemeClr val="accent2"/>
          </a:solidFill>
          <a:ln/>
        </p:spPr>
        <p:txBody>
          <a:bodyPr/>
          <a:lstStyle/>
          <a:p>
            <a:endParaRPr lang="fr-FR"/>
          </a:p>
        </p:txBody>
      </p:sp>
      <p:sp>
        <p:nvSpPr>
          <p:cNvPr id="25" name="Slide Number Placeholder 0">
            <a:extLst>
              <a:ext uri="{FF2B5EF4-FFF2-40B4-BE49-F238E27FC236}">
                <a16:creationId xmlns:a16="http://schemas.microsoft.com/office/drawing/2014/main" id="{9E1928C5-077F-AC71-990C-34087E4BDE16}"/>
              </a:ext>
            </a:extLst>
          </p:cNvPr>
          <p:cNvSpPr>
            <a:spLocks noGrp="1"/>
          </p:cNvSpPr>
          <p:nvPr>
            <p:ph type="sldNum" sz="quarter" idx="4294967295"/>
          </p:nvPr>
        </p:nvSpPr>
        <p:spPr>
          <a:xfrm>
            <a:off x="11094415" y="6327648"/>
            <a:ext cx="548640" cy="274320"/>
          </a:xfrm>
          <a:prstGeom prst="rect">
            <a:avLst/>
          </a:prstGeom>
          <a:extLst>
            <a:ext uri="{C572A759-6A51-4108-AA02-DFA0A04FC94B}">
              <ma14:wrappingTextBoxFlag xmlns="" xmlns:ma14="http://schemas.microsoft.com/office/mac/drawingml/2011/main" val="0"/>
            </a:ext>
          </a:extLst>
        </p:spPr>
        <p:txBody>
          <a:bodyPr lIns="0" tIns="0" rIns="0" bIns="0" anchor="ctr"/>
          <a:lstStyle>
            <a:lvl1pPr>
              <a:defRPr sz="1000">
                <a:solidFill>
                  <a:srgbClr val="9AA3BD"/>
                </a:solidFill>
              </a:defRPr>
            </a:lvl1pPr>
          </a:lstStyle>
          <a:p>
            <a:pPr algn="r"/>
            <a:fld id="{F7021451-1387-4CA6-816F-3879F97B5CBC}" type="slidenum">
              <a:rPr lang="en-US" b="0"/>
              <a:t>43</a:t>
            </a:fld>
            <a:endParaRPr lang="en-US"/>
          </a:p>
        </p:txBody>
      </p:sp>
      <p:pic>
        <p:nvPicPr>
          <p:cNvPr id="9" name="Image 8">
            <a:extLst>
              <a:ext uri="{FF2B5EF4-FFF2-40B4-BE49-F238E27FC236}">
                <a16:creationId xmlns:a16="http://schemas.microsoft.com/office/drawing/2014/main" id="{D287C627-3436-5DE1-B73D-F5781711342C}"/>
              </a:ext>
            </a:extLst>
          </p:cNvPr>
          <p:cNvPicPr>
            <a:picLocks noChangeAspect="1"/>
          </p:cNvPicPr>
          <p:nvPr/>
        </p:nvPicPr>
        <p:blipFill>
          <a:blip r:embed="rId3"/>
          <a:stretch>
            <a:fillRect/>
          </a:stretch>
        </p:blipFill>
        <p:spPr>
          <a:xfrm>
            <a:off x="9724644" y="-443705"/>
            <a:ext cx="2437453" cy="1723866"/>
          </a:xfrm>
          <a:prstGeom prst="rect">
            <a:avLst/>
          </a:prstGeom>
        </p:spPr>
      </p:pic>
    </p:spTree>
    <p:extLst>
      <p:ext uri="{BB962C8B-B14F-4D97-AF65-F5344CB8AC3E}">
        <p14:creationId xmlns:p14="http://schemas.microsoft.com/office/powerpoint/2010/main" val="267422740"/>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10"/>
          <p:cNvSpPr>
            <a:spLocks noGrp="1"/>
          </p:cNvSpPr>
          <p:nvPr>
            <p:ph type="title" idx="110" hasCustomPrompt="1"/>
          </p:nvPr>
        </p:nvSpPr>
        <p:spPr>
          <a:xfrm>
            <a:off x="548640" y="457200"/>
            <a:ext cx="11094415" cy="777240"/>
          </a:xfrm>
          <a:prstGeom prst="rect">
            <a:avLst/>
          </a:prstGeom>
          <a:noFill/>
          <a:ln/>
        </p:spPr>
        <p:txBody>
          <a:bodyPr wrap="square" lIns="0" tIns="0" rIns="0" bIns="0" rtlCol="0" anchor="t"/>
          <a:lstStyle/>
          <a:p>
            <a:pPr marL="0" indent="0" algn="l">
              <a:buNone/>
            </a:pPr>
            <a:r>
              <a:rPr lang="en-US" sz="3200" dirty="0">
                <a:solidFill>
                  <a:schemeClr val="tx1"/>
                </a:solidFill>
              </a:rPr>
              <a:t>Conclusions</a:t>
            </a:r>
            <a:endParaRPr lang="en-US" sz="3200" dirty="0"/>
          </a:p>
        </p:txBody>
      </p:sp>
      <p:sp>
        <p:nvSpPr>
          <p:cNvPr id="3" name="Shape 1"/>
          <p:cNvSpPr/>
          <p:nvPr/>
        </p:nvSpPr>
        <p:spPr>
          <a:xfrm>
            <a:off x="548640" y="1188720"/>
            <a:ext cx="91440" cy="91440"/>
          </a:xfrm>
          <a:prstGeom prst="rect">
            <a:avLst/>
          </a:prstGeom>
          <a:solidFill>
            <a:schemeClr val="accent2"/>
          </a:solidFill>
          <a:ln/>
        </p:spPr>
        <p:txBody>
          <a:bodyPr/>
          <a:lstStyle/>
          <a:p>
            <a:endParaRPr lang="fr-FR"/>
          </a:p>
        </p:txBody>
      </p:sp>
      <p:sp>
        <p:nvSpPr>
          <p:cNvPr id="4" name="Text 2"/>
          <p:cNvSpPr txBox="1"/>
          <p:nvPr/>
        </p:nvSpPr>
        <p:spPr>
          <a:xfrm>
            <a:off x="731520" y="1097280"/>
            <a:ext cx="9144000" cy="274320"/>
          </a:xfrm>
          <a:prstGeom prst="rect">
            <a:avLst/>
          </a:prstGeom>
          <a:noFill/>
          <a:ln/>
        </p:spPr>
        <p:txBody>
          <a:bodyPr wrap="square" lIns="0" tIns="0" rIns="0" bIns="0" rtlCol="0" anchor="ctr"/>
          <a:lstStyle/>
          <a:p>
            <a:pPr marL="0" indent="0">
              <a:buNone/>
            </a:pPr>
            <a:r>
              <a:rPr lang="en-US" sz="1200" b="1" kern="0" spc="200" dirty="0">
                <a:solidFill>
                  <a:schemeClr val="tx2"/>
                </a:solidFill>
              </a:rPr>
              <a:t>QUANTUM FOR CFD AND MULTI-PHYSICS SIMULATION</a:t>
            </a:r>
            <a:endParaRPr lang="en-US" sz="1200" dirty="0"/>
          </a:p>
        </p:txBody>
      </p:sp>
      <p:sp>
        <p:nvSpPr>
          <p:cNvPr id="5" name="Capacity that doubles"/>
          <p:cNvSpPr/>
          <p:nvPr/>
        </p:nvSpPr>
        <p:spPr>
          <a:xfrm>
            <a:off x="548640" y="1645920"/>
            <a:ext cx="3454298" cy="3520440"/>
          </a:xfrm>
          <a:prstGeom prst="roundRect">
            <a:avLst>
              <a:gd name="adj" fmla="val 3971"/>
            </a:avLst>
          </a:prstGeom>
          <a:solidFill>
            <a:schemeClr val="bg2"/>
          </a:solidFill>
          <a:ln w="9525">
            <a:solidFill>
              <a:schemeClr val="accent5"/>
            </a:solidFill>
            <a:prstDash val="solid"/>
          </a:ln>
        </p:spPr>
        <p:txBody>
          <a:bodyPr/>
          <a:lstStyle/>
          <a:p>
            <a:endParaRPr lang="fr-FR"/>
          </a:p>
        </p:txBody>
      </p:sp>
      <p:sp>
        <p:nvSpPr>
          <p:cNvPr id="6" name="Shape 4"/>
          <p:cNvSpPr/>
          <p:nvPr/>
        </p:nvSpPr>
        <p:spPr>
          <a:xfrm>
            <a:off x="822960" y="1947672"/>
            <a:ext cx="91440" cy="91440"/>
          </a:xfrm>
          <a:prstGeom prst="rect">
            <a:avLst/>
          </a:prstGeom>
          <a:solidFill>
            <a:schemeClr val="accent2"/>
          </a:solidFill>
          <a:ln/>
        </p:spPr>
        <p:txBody>
          <a:bodyPr/>
          <a:lstStyle/>
          <a:p>
            <a:endParaRPr lang="fr-FR"/>
          </a:p>
        </p:txBody>
      </p:sp>
      <p:sp>
        <p:nvSpPr>
          <p:cNvPr id="7" name="Text 5"/>
          <p:cNvSpPr txBox="1"/>
          <p:nvPr/>
        </p:nvSpPr>
        <p:spPr>
          <a:xfrm>
            <a:off x="1005840" y="1856232"/>
            <a:ext cx="2814218" cy="274320"/>
          </a:xfrm>
          <a:prstGeom prst="rect">
            <a:avLst/>
          </a:prstGeom>
          <a:noFill/>
          <a:ln/>
        </p:spPr>
        <p:txBody>
          <a:bodyPr wrap="square" lIns="0" tIns="0" rIns="0" bIns="0" rtlCol="0" anchor="ctr"/>
          <a:lstStyle/>
          <a:p>
            <a:pPr marL="0" indent="0">
              <a:buNone/>
            </a:pPr>
            <a:r>
              <a:rPr lang="en-US" sz="1100" b="1" kern="0" spc="200" dirty="0">
                <a:solidFill>
                  <a:schemeClr val="tx2"/>
                </a:solidFill>
              </a:rPr>
              <a:t>01  ·  WHY QUANTUM</a:t>
            </a:r>
            <a:endParaRPr lang="en-US" sz="1100" dirty="0"/>
          </a:p>
        </p:txBody>
      </p:sp>
      <p:sp>
        <p:nvSpPr>
          <p:cNvPr id="8" name="Text 6"/>
          <p:cNvSpPr txBox="1"/>
          <p:nvPr/>
        </p:nvSpPr>
        <p:spPr>
          <a:xfrm>
            <a:off x="822960" y="2194560"/>
            <a:ext cx="2997098" cy="411480"/>
          </a:xfrm>
          <a:prstGeom prst="rect">
            <a:avLst/>
          </a:prstGeom>
          <a:noFill/>
          <a:ln/>
        </p:spPr>
        <p:txBody>
          <a:bodyPr wrap="square" lIns="0" tIns="0" rIns="0" bIns="0" rtlCol="0" anchor="ctr"/>
          <a:lstStyle/>
          <a:p>
            <a:pPr marL="0" indent="0">
              <a:buNone/>
            </a:pPr>
            <a:r>
              <a:rPr lang="en-US" sz="1800" b="1" dirty="0">
                <a:solidFill>
                  <a:schemeClr val="tx1"/>
                </a:solidFill>
              </a:rPr>
              <a:t>Capacity that doubles</a:t>
            </a:r>
            <a:endParaRPr lang="en-US" sz="1800" dirty="0"/>
          </a:p>
        </p:txBody>
      </p:sp>
      <p:sp>
        <p:nvSpPr>
          <p:cNvPr id="9" name="Shape 7"/>
          <p:cNvSpPr/>
          <p:nvPr/>
        </p:nvSpPr>
        <p:spPr>
          <a:xfrm>
            <a:off x="822960" y="2688336"/>
            <a:ext cx="2905658" cy="0"/>
          </a:xfrm>
          <a:prstGeom prst="line">
            <a:avLst/>
          </a:prstGeom>
          <a:noFill/>
          <a:ln w="9525">
            <a:solidFill>
              <a:srgbClr val="3C3F4C"/>
            </a:solidFill>
            <a:prstDash val="solid"/>
          </a:ln>
        </p:spPr>
        <p:txBody>
          <a:bodyPr/>
          <a:lstStyle/>
          <a:p>
            <a:endParaRPr lang="fr-FR"/>
          </a:p>
        </p:txBody>
      </p:sp>
      <p:sp>
        <p:nvSpPr>
          <p:cNvPr id="10" name="Text 8"/>
          <p:cNvSpPr txBox="1"/>
          <p:nvPr/>
        </p:nvSpPr>
        <p:spPr>
          <a:xfrm>
            <a:off x="822960" y="2743200"/>
            <a:ext cx="2951378" cy="713232"/>
          </a:xfrm>
          <a:prstGeom prst="rect">
            <a:avLst/>
          </a:prstGeom>
          <a:noFill/>
          <a:ln/>
        </p:spPr>
        <p:txBody>
          <a:bodyPr wrap="square" lIns="0" tIns="0" rIns="0" bIns="0" rtlCol="0" anchor="t"/>
          <a:lstStyle/>
          <a:p>
            <a:pPr marL="0" indent="0">
              <a:buNone/>
            </a:pPr>
            <a:r>
              <a:rPr lang="en-US" sz="1250" b="1" dirty="0">
                <a:solidFill>
                  <a:schemeClr val="tx1"/>
                </a:solidFill>
              </a:rPr>
              <a:t>Simulation is bookkeeping: </a:t>
            </a:r>
            <a:r>
              <a:rPr lang="en-US" sz="1250" dirty="0">
                <a:solidFill>
                  <a:schemeClr val="tx2"/>
                </a:solidFill>
              </a:rPr>
              <a:t>every cell of a model is a number to store and update</a:t>
            </a:r>
            <a:endParaRPr lang="en-US" sz="1250" dirty="0"/>
          </a:p>
        </p:txBody>
      </p:sp>
      <p:sp>
        <p:nvSpPr>
          <p:cNvPr id="11" name="Shape 9"/>
          <p:cNvSpPr/>
          <p:nvPr/>
        </p:nvSpPr>
        <p:spPr>
          <a:xfrm>
            <a:off x="822960" y="3465576"/>
            <a:ext cx="2905658" cy="0"/>
          </a:xfrm>
          <a:prstGeom prst="line">
            <a:avLst/>
          </a:prstGeom>
          <a:noFill/>
          <a:ln w="9525">
            <a:solidFill>
              <a:srgbClr val="3C3F4C"/>
            </a:solidFill>
            <a:prstDash val="solid"/>
          </a:ln>
        </p:spPr>
        <p:txBody>
          <a:bodyPr/>
          <a:lstStyle/>
          <a:p>
            <a:endParaRPr lang="fr-FR"/>
          </a:p>
        </p:txBody>
      </p:sp>
      <p:sp>
        <p:nvSpPr>
          <p:cNvPr id="12" name="Text 10"/>
          <p:cNvSpPr txBox="1"/>
          <p:nvPr/>
        </p:nvSpPr>
        <p:spPr>
          <a:xfrm>
            <a:off x="822960" y="3520440"/>
            <a:ext cx="2951378" cy="713232"/>
          </a:xfrm>
          <a:prstGeom prst="rect">
            <a:avLst/>
          </a:prstGeom>
          <a:noFill/>
          <a:ln/>
        </p:spPr>
        <p:txBody>
          <a:bodyPr wrap="square" lIns="0" tIns="0" rIns="0" bIns="0" rtlCol="0" anchor="t"/>
          <a:lstStyle/>
          <a:p>
            <a:pPr marL="0" indent="0">
              <a:buNone/>
            </a:pPr>
            <a:r>
              <a:rPr lang="en-US" sz="1250" b="1" dirty="0">
                <a:solidFill>
                  <a:schemeClr val="tx1"/>
                </a:solidFill>
              </a:rPr>
              <a:t>Every qubit doubles the capacity: </a:t>
            </a:r>
            <a:r>
              <a:rPr lang="en-US" sz="1250" dirty="0">
                <a:solidFill>
                  <a:schemeClr val="tx2"/>
                </a:solidFill>
              </a:rPr>
              <a:t>50 qubits hold about a quadrillion values</a:t>
            </a:r>
            <a:endParaRPr lang="en-US" sz="1250" dirty="0"/>
          </a:p>
        </p:txBody>
      </p:sp>
      <p:sp>
        <p:nvSpPr>
          <p:cNvPr id="13" name="Shape 11"/>
          <p:cNvSpPr/>
          <p:nvPr/>
        </p:nvSpPr>
        <p:spPr>
          <a:xfrm>
            <a:off x="822960" y="4242816"/>
            <a:ext cx="2905658" cy="0"/>
          </a:xfrm>
          <a:prstGeom prst="line">
            <a:avLst/>
          </a:prstGeom>
          <a:noFill/>
          <a:ln w="9525">
            <a:solidFill>
              <a:srgbClr val="3C3F4C"/>
            </a:solidFill>
            <a:prstDash val="solid"/>
          </a:ln>
        </p:spPr>
        <p:txBody>
          <a:bodyPr/>
          <a:lstStyle/>
          <a:p>
            <a:endParaRPr lang="fr-FR"/>
          </a:p>
        </p:txBody>
      </p:sp>
      <p:sp>
        <p:nvSpPr>
          <p:cNvPr id="14" name="Text 12"/>
          <p:cNvSpPr txBox="1"/>
          <p:nvPr/>
        </p:nvSpPr>
        <p:spPr>
          <a:xfrm>
            <a:off x="822960" y="4297680"/>
            <a:ext cx="2951378" cy="713232"/>
          </a:xfrm>
          <a:prstGeom prst="rect">
            <a:avLst/>
          </a:prstGeom>
          <a:noFill/>
          <a:ln/>
        </p:spPr>
        <p:txBody>
          <a:bodyPr wrap="square" lIns="0" tIns="0" rIns="0" bIns="0" rtlCol="0" anchor="t"/>
          <a:lstStyle/>
          <a:p>
            <a:pPr marL="0" indent="0">
              <a:buNone/>
            </a:pPr>
            <a:r>
              <a:rPr lang="en-US" sz="1250" b="1" dirty="0">
                <a:solidFill>
                  <a:schemeClr val="tx1"/>
                </a:solidFill>
              </a:rPr>
              <a:t>Many scales, one model: </a:t>
            </a:r>
            <a:r>
              <a:rPr lang="en-US" sz="1250" dirty="0">
                <a:solidFill>
                  <a:schemeClr val="tx2"/>
                </a:solidFill>
              </a:rPr>
              <a:t>room to resolve atoms, eddies and wings together</a:t>
            </a:r>
            <a:endParaRPr lang="en-US" sz="1250" dirty="0"/>
          </a:p>
        </p:txBody>
      </p:sp>
      <p:sp>
        <p:nvSpPr>
          <p:cNvPr id="15" name="Encoding unlocks it"/>
          <p:cNvSpPr/>
          <p:nvPr/>
        </p:nvSpPr>
        <p:spPr>
          <a:xfrm>
            <a:off x="4368698" y="1645920"/>
            <a:ext cx="3454298" cy="3520440"/>
          </a:xfrm>
          <a:prstGeom prst="roundRect">
            <a:avLst>
              <a:gd name="adj" fmla="val 3971"/>
            </a:avLst>
          </a:prstGeom>
          <a:solidFill>
            <a:schemeClr val="bg2"/>
          </a:solidFill>
          <a:ln w="9525">
            <a:solidFill>
              <a:schemeClr val="accent5"/>
            </a:solidFill>
            <a:prstDash val="solid"/>
          </a:ln>
        </p:spPr>
        <p:txBody>
          <a:bodyPr/>
          <a:lstStyle/>
          <a:p>
            <a:endParaRPr lang="fr-FR"/>
          </a:p>
        </p:txBody>
      </p:sp>
      <p:sp>
        <p:nvSpPr>
          <p:cNvPr id="16" name="Shape 14"/>
          <p:cNvSpPr/>
          <p:nvPr/>
        </p:nvSpPr>
        <p:spPr>
          <a:xfrm>
            <a:off x="4643018" y="1947672"/>
            <a:ext cx="91440" cy="91440"/>
          </a:xfrm>
          <a:prstGeom prst="rect">
            <a:avLst/>
          </a:prstGeom>
          <a:solidFill>
            <a:schemeClr val="accent2"/>
          </a:solidFill>
          <a:ln/>
        </p:spPr>
        <p:txBody>
          <a:bodyPr/>
          <a:lstStyle/>
          <a:p>
            <a:endParaRPr lang="fr-FR"/>
          </a:p>
        </p:txBody>
      </p:sp>
      <p:sp>
        <p:nvSpPr>
          <p:cNvPr id="17" name="Text 15"/>
          <p:cNvSpPr txBox="1"/>
          <p:nvPr/>
        </p:nvSpPr>
        <p:spPr>
          <a:xfrm>
            <a:off x="4825898" y="1856232"/>
            <a:ext cx="2814218" cy="274320"/>
          </a:xfrm>
          <a:prstGeom prst="rect">
            <a:avLst/>
          </a:prstGeom>
          <a:noFill/>
          <a:ln/>
        </p:spPr>
        <p:txBody>
          <a:bodyPr wrap="square" lIns="0" tIns="0" rIns="0" bIns="0" rtlCol="0" anchor="ctr"/>
          <a:lstStyle/>
          <a:p>
            <a:pPr marL="0" indent="0">
              <a:buNone/>
            </a:pPr>
            <a:r>
              <a:rPr lang="en-US" sz="1100" b="1" kern="0" spc="200" dirty="0">
                <a:solidFill>
                  <a:schemeClr val="tx2"/>
                </a:solidFill>
              </a:rPr>
              <a:t>02  ·  WHY ENCODING</a:t>
            </a:r>
            <a:endParaRPr lang="en-US" sz="1100" dirty="0"/>
          </a:p>
        </p:txBody>
      </p:sp>
      <p:sp>
        <p:nvSpPr>
          <p:cNvPr id="18" name="Text 16"/>
          <p:cNvSpPr txBox="1"/>
          <p:nvPr/>
        </p:nvSpPr>
        <p:spPr>
          <a:xfrm>
            <a:off x="4643018" y="2194560"/>
            <a:ext cx="2997098" cy="411480"/>
          </a:xfrm>
          <a:prstGeom prst="rect">
            <a:avLst/>
          </a:prstGeom>
          <a:noFill/>
          <a:ln/>
        </p:spPr>
        <p:txBody>
          <a:bodyPr wrap="square" lIns="0" tIns="0" rIns="0" bIns="0" rtlCol="0" anchor="ctr"/>
          <a:lstStyle/>
          <a:p>
            <a:pPr marL="0" indent="0">
              <a:buNone/>
            </a:pPr>
            <a:r>
              <a:rPr lang="en-US" sz="1800" b="1" dirty="0">
                <a:solidFill>
                  <a:schemeClr val="tx1"/>
                </a:solidFill>
              </a:rPr>
              <a:t>Encoding unlocks it</a:t>
            </a:r>
            <a:endParaRPr lang="en-US" sz="1800" dirty="0"/>
          </a:p>
        </p:txBody>
      </p:sp>
      <p:sp>
        <p:nvSpPr>
          <p:cNvPr id="19" name="Shape 17"/>
          <p:cNvSpPr/>
          <p:nvPr/>
        </p:nvSpPr>
        <p:spPr>
          <a:xfrm>
            <a:off x="4643018" y="2688336"/>
            <a:ext cx="2905658" cy="0"/>
          </a:xfrm>
          <a:prstGeom prst="line">
            <a:avLst/>
          </a:prstGeom>
          <a:noFill/>
          <a:ln w="9525">
            <a:solidFill>
              <a:srgbClr val="3C3F4C"/>
            </a:solidFill>
            <a:prstDash val="solid"/>
          </a:ln>
        </p:spPr>
        <p:txBody>
          <a:bodyPr/>
          <a:lstStyle/>
          <a:p>
            <a:endParaRPr lang="fr-FR"/>
          </a:p>
        </p:txBody>
      </p:sp>
      <p:sp>
        <p:nvSpPr>
          <p:cNvPr id="20" name="Text 18"/>
          <p:cNvSpPr txBox="1"/>
          <p:nvPr/>
        </p:nvSpPr>
        <p:spPr>
          <a:xfrm>
            <a:off x="4643018" y="2743200"/>
            <a:ext cx="2951378" cy="713232"/>
          </a:xfrm>
          <a:prstGeom prst="rect">
            <a:avLst/>
          </a:prstGeom>
          <a:noFill/>
          <a:ln/>
        </p:spPr>
        <p:txBody>
          <a:bodyPr wrap="square" lIns="0" tIns="0" rIns="0" bIns="0" rtlCol="0" anchor="t"/>
          <a:lstStyle/>
          <a:p>
            <a:pPr marL="0" indent="0">
              <a:buNone/>
            </a:pPr>
            <a:r>
              <a:rPr lang="en-US" sz="1250" b="1" dirty="0">
                <a:solidFill>
                  <a:schemeClr val="tx1"/>
                </a:solidFill>
              </a:rPr>
              <a:t>How the problem is written onto qubits </a:t>
            </a:r>
            <a:r>
              <a:rPr lang="en-US" sz="1250" dirty="0">
                <a:solidFill>
                  <a:schemeClr val="tx2"/>
                </a:solidFill>
              </a:rPr>
              <a:t>decides whether the advantage appears</a:t>
            </a:r>
            <a:endParaRPr lang="en-US" sz="1250" dirty="0"/>
          </a:p>
        </p:txBody>
      </p:sp>
      <p:sp>
        <p:nvSpPr>
          <p:cNvPr id="21" name="Shape 19"/>
          <p:cNvSpPr/>
          <p:nvPr/>
        </p:nvSpPr>
        <p:spPr>
          <a:xfrm>
            <a:off x="4643018" y="3465576"/>
            <a:ext cx="2905658" cy="0"/>
          </a:xfrm>
          <a:prstGeom prst="line">
            <a:avLst/>
          </a:prstGeom>
          <a:noFill/>
          <a:ln w="9525">
            <a:solidFill>
              <a:srgbClr val="3C3F4C"/>
            </a:solidFill>
            <a:prstDash val="solid"/>
          </a:ln>
        </p:spPr>
        <p:txBody>
          <a:bodyPr/>
          <a:lstStyle/>
          <a:p>
            <a:endParaRPr lang="fr-FR"/>
          </a:p>
        </p:txBody>
      </p:sp>
      <p:sp>
        <p:nvSpPr>
          <p:cNvPr id="22" name="Text 20"/>
          <p:cNvSpPr txBox="1"/>
          <p:nvPr/>
        </p:nvSpPr>
        <p:spPr>
          <a:xfrm>
            <a:off x="4643018" y="3520440"/>
            <a:ext cx="2951378" cy="713232"/>
          </a:xfrm>
          <a:prstGeom prst="rect">
            <a:avLst/>
          </a:prstGeom>
          <a:noFill/>
          <a:ln/>
        </p:spPr>
        <p:txBody>
          <a:bodyPr wrap="square" lIns="0" tIns="0" rIns="0" bIns="0" rtlCol="0" anchor="t"/>
          <a:lstStyle/>
          <a:p>
            <a:pPr marL="0" indent="0">
              <a:buNone/>
            </a:pPr>
            <a:r>
              <a:rPr lang="en-US" sz="1250" b="1" dirty="0">
                <a:solidFill>
                  <a:schemeClr val="tx1"/>
                </a:solidFill>
              </a:rPr>
              <a:t>Smart encodings </a:t>
            </a:r>
            <a:r>
              <a:rPr lang="en-US" sz="1250" dirty="0">
                <a:solidFill>
                  <a:schemeClr val="tx2"/>
                </a:solidFill>
              </a:rPr>
              <a:t>turn nonlinear flows into a form quantum computers handle naturally</a:t>
            </a:r>
            <a:endParaRPr lang="en-US" sz="1250" dirty="0"/>
          </a:p>
        </p:txBody>
      </p:sp>
      <p:sp>
        <p:nvSpPr>
          <p:cNvPr id="23" name="Shape 21"/>
          <p:cNvSpPr/>
          <p:nvPr/>
        </p:nvSpPr>
        <p:spPr>
          <a:xfrm>
            <a:off x="4643018" y="4242816"/>
            <a:ext cx="2905658" cy="0"/>
          </a:xfrm>
          <a:prstGeom prst="line">
            <a:avLst/>
          </a:prstGeom>
          <a:noFill/>
          <a:ln w="9525">
            <a:solidFill>
              <a:srgbClr val="3C3F4C"/>
            </a:solidFill>
            <a:prstDash val="solid"/>
          </a:ln>
        </p:spPr>
        <p:txBody>
          <a:bodyPr/>
          <a:lstStyle/>
          <a:p>
            <a:endParaRPr lang="fr-FR"/>
          </a:p>
        </p:txBody>
      </p:sp>
      <p:sp>
        <p:nvSpPr>
          <p:cNvPr id="24" name="Text 22"/>
          <p:cNvSpPr txBox="1"/>
          <p:nvPr/>
        </p:nvSpPr>
        <p:spPr>
          <a:xfrm>
            <a:off x="4643018" y="4297680"/>
            <a:ext cx="2951378" cy="713232"/>
          </a:xfrm>
          <a:prstGeom prst="rect">
            <a:avLst/>
          </a:prstGeom>
          <a:noFill/>
          <a:ln/>
        </p:spPr>
        <p:txBody>
          <a:bodyPr wrap="square" lIns="0" tIns="0" rIns="0" bIns="0" rtlCol="0" anchor="t"/>
          <a:lstStyle/>
          <a:p>
            <a:pPr marL="0" indent="0">
              <a:buNone/>
            </a:pPr>
            <a:r>
              <a:rPr lang="en-US" sz="1250" b="1" dirty="0">
                <a:solidFill>
                  <a:schemeClr val="tx1"/>
                </a:solidFill>
              </a:rPr>
              <a:t>The payoff sits in a known regime: </a:t>
            </a:r>
            <a:r>
              <a:rPr lang="en-US" sz="1250" dirty="0">
                <a:solidFill>
                  <a:schemeClr val="tx2"/>
                </a:solidFill>
              </a:rPr>
              <a:t>we can find it before investing at scale</a:t>
            </a:r>
            <a:endParaRPr lang="en-US" sz="1250" dirty="0"/>
          </a:p>
        </p:txBody>
      </p:sp>
      <p:sp>
        <p:nvSpPr>
          <p:cNvPr id="25" name="Integrate early, scale later"/>
          <p:cNvSpPr/>
          <p:nvPr/>
        </p:nvSpPr>
        <p:spPr>
          <a:xfrm>
            <a:off x="8188757" y="1645920"/>
            <a:ext cx="3454298" cy="3520440"/>
          </a:xfrm>
          <a:prstGeom prst="roundRect">
            <a:avLst>
              <a:gd name="adj" fmla="val 3971"/>
            </a:avLst>
          </a:prstGeom>
          <a:solidFill>
            <a:schemeClr val="bg2"/>
          </a:solidFill>
          <a:ln w="12700">
            <a:solidFill>
              <a:schemeClr val="accent1"/>
            </a:solidFill>
            <a:prstDash val="solid"/>
          </a:ln>
        </p:spPr>
        <p:txBody>
          <a:bodyPr/>
          <a:lstStyle/>
          <a:p>
            <a:endParaRPr lang="fr-FR"/>
          </a:p>
        </p:txBody>
      </p:sp>
      <p:sp>
        <p:nvSpPr>
          <p:cNvPr id="26" name="Shape 24"/>
          <p:cNvSpPr/>
          <p:nvPr/>
        </p:nvSpPr>
        <p:spPr>
          <a:xfrm>
            <a:off x="8463077" y="1947672"/>
            <a:ext cx="91440" cy="91440"/>
          </a:xfrm>
          <a:prstGeom prst="rect">
            <a:avLst/>
          </a:prstGeom>
          <a:solidFill>
            <a:schemeClr val="accent2"/>
          </a:solidFill>
          <a:ln/>
        </p:spPr>
        <p:txBody>
          <a:bodyPr/>
          <a:lstStyle/>
          <a:p>
            <a:endParaRPr lang="fr-FR"/>
          </a:p>
        </p:txBody>
      </p:sp>
      <p:sp>
        <p:nvSpPr>
          <p:cNvPr id="27" name="Text 25"/>
          <p:cNvSpPr txBox="1"/>
          <p:nvPr/>
        </p:nvSpPr>
        <p:spPr>
          <a:xfrm>
            <a:off x="8645957" y="1856232"/>
            <a:ext cx="2814218" cy="274320"/>
          </a:xfrm>
          <a:prstGeom prst="rect">
            <a:avLst/>
          </a:prstGeom>
          <a:noFill/>
          <a:ln/>
        </p:spPr>
        <p:txBody>
          <a:bodyPr wrap="square" lIns="0" tIns="0" rIns="0" bIns="0" rtlCol="0" anchor="ctr"/>
          <a:lstStyle/>
          <a:p>
            <a:pPr marL="0" indent="0">
              <a:buNone/>
            </a:pPr>
            <a:r>
              <a:rPr lang="en-US" sz="1100" b="1" kern="0" spc="200" dirty="0">
                <a:solidFill>
                  <a:schemeClr val="tx2"/>
                </a:solidFill>
              </a:rPr>
              <a:t>03  ·  THE BUSINESS EDGE</a:t>
            </a:r>
            <a:endParaRPr lang="en-US" sz="1100" dirty="0"/>
          </a:p>
        </p:txBody>
      </p:sp>
      <p:sp>
        <p:nvSpPr>
          <p:cNvPr id="28" name="Text 26"/>
          <p:cNvSpPr txBox="1"/>
          <p:nvPr/>
        </p:nvSpPr>
        <p:spPr>
          <a:xfrm>
            <a:off x="8463077" y="2194560"/>
            <a:ext cx="2997098" cy="411480"/>
          </a:xfrm>
          <a:prstGeom prst="rect">
            <a:avLst/>
          </a:prstGeom>
          <a:noFill/>
          <a:ln/>
        </p:spPr>
        <p:txBody>
          <a:bodyPr wrap="square" lIns="0" tIns="0" rIns="0" bIns="0" rtlCol="0" anchor="ctr"/>
          <a:lstStyle/>
          <a:p>
            <a:pPr marL="0" indent="0">
              <a:buNone/>
            </a:pPr>
            <a:r>
              <a:rPr lang="en-US" sz="1800" b="1" dirty="0">
                <a:solidFill>
                  <a:schemeClr val="tx1"/>
                </a:solidFill>
              </a:rPr>
              <a:t>Integrate early, scale later</a:t>
            </a:r>
            <a:endParaRPr lang="en-US" sz="1800" dirty="0"/>
          </a:p>
        </p:txBody>
      </p:sp>
      <p:sp>
        <p:nvSpPr>
          <p:cNvPr id="29" name="Shape 27"/>
          <p:cNvSpPr/>
          <p:nvPr/>
        </p:nvSpPr>
        <p:spPr>
          <a:xfrm>
            <a:off x="8463077" y="2688336"/>
            <a:ext cx="2905658" cy="0"/>
          </a:xfrm>
          <a:prstGeom prst="line">
            <a:avLst/>
          </a:prstGeom>
          <a:noFill/>
          <a:ln w="9525">
            <a:solidFill>
              <a:srgbClr val="3C3F4C"/>
            </a:solidFill>
            <a:prstDash val="solid"/>
          </a:ln>
        </p:spPr>
        <p:txBody>
          <a:bodyPr/>
          <a:lstStyle/>
          <a:p>
            <a:endParaRPr lang="fr-FR"/>
          </a:p>
        </p:txBody>
      </p:sp>
      <p:sp>
        <p:nvSpPr>
          <p:cNvPr id="30" name="Text 28"/>
          <p:cNvSpPr txBox="1"/>
          <p:nvPr/>
        </p:nvSpPr>
        <p:spPr>
          <a:xfrm>
            <a:off x="8463077" y="2743200"/>
            <a:ext cx="2951378" cy="713232"/>
          </a:xfrm>
          <a:prstGeom prst="rect">
            <a:avLst/>
          </a:prstGeom>
          <a:noFill/>
          <a:ln/>
        </p:spPr>
        <p:txBody>
          <a:bodyPr wrap="square" lIns="0" tIns="0" rIns="0" bIns="0" rtlCol="0" anchor="t"/>
          <a:lstStyle/>
          <a:p>
            <a:pPr marL="0" indent="0">
              <a:buNone/>
            </a:pPr>
            <a:r>
              <a:rPr lang="en-US" sz="1250" b="1" dirty="0">
                <a:solidFill>
                  <a:schemeClr val="tx1"/>
                </a:solidFill>
              </a:rPr>
              <a:t>High stakes: </a:t>
            </a:r>
            <a:r>
              <a:rPr lang="en-US" sz="1250" dirty="0">
                <a:solidFill>
                  <a:schemeClr val="tx2"/>
                </a:solidFill>
              </a:rPr>
              <a:t>≈ €100k and weeks per CFD iteration, 50–100 iterations per project</a:t>
            </a:r>
            <a:endParaRPr lang="en-US" sz="1250" dirty="0"/>
          </a:p>
        </p:txBody>
      </p:sp>
      <p:sp>
        <p:nvSpPr>
          <p:cNvPr id="31" name="Shape 29"/>
          <p:cNvSpPr/>
          <p:nvPr/>
        </p:nvSpPr>
        <p:spPr>
          <a:xfrm>
            <a:off x="8463077" y="3465576"/>
            <a:ext cx="2905658" cy="0"/>
          </a:xfrm>
          <a:prstGeom prst="line">
            <a:avLst/>
          </a:prstGeom>
          <a:noFill/>
          <a:ln w="9525">
            <a:solidFill>
              <a:srgbClr val="3C3F4C"/>
            </a:solidFill>
            <a:prstDash val="solid"/>
          </a:ln>
        </p:spPr>
        <p:txBody>
          <a:bodyPr/>
          <a:lstStyle/>
          <a:p>
            <a:endParaRPr lang="fr-FR"/>
          </a:p>
        </p:txBody>
      </p:sp>
      <p:sp>
        <p:nvSpPr>
          <p:cNvPr id="32" name="Text 30"/>
          <p:cNvSpPr txBox="1"/>
          <p:nvPr/>
        </p:nvSpPr>
        <p:spPr>
          <a:xfrm>
            <a:off x="8463077" y="3520440"/>
            <a:ext cx="2951378" cy="713232"/>
          </a:xfrm>
          <a:prstGeom prst="rect">
            <a:avLst/>
          </a:prstGeom>
          <a:noFill/>
          <a:ln/>
        </p:spPr>
        <p:txBody>
          <a:bodyPr wrap="square" lIns="0" tIns="0" rIns="0" bIns="0" rtlCol="0" anchor="t"/>
          <a:lstStyle/>
          <a:p>
            <a:pPr marL="0" indent="0">
              <a:buNone/>
            </a:pPr>
            <a:r>
              <a:rPr lang="en-US" sz="1250" b="1" dirty="0">
                <a:solidFill>
                  <a:schemeClr val="tx1"/>
                </a:solidFill>
              </a:rPr>
              <a:t>Fits the workflow: </a:t>
            </a:r>
            <a:r>
              <a:rPr lang="en-US" sz="1250" dirty="0">
                <a:solidFill>
                  <a:schemeClr val="tx2"/>
                </a:solidFill>
              </a:rPr>
              <a:t>a specialized step at meshing and simulation, not a replacement solver</a:t>
            </a:r>
            <a:endParaRPr lang="en-US" sz="1250" dirty="0"/>
          </a:p>
        </p:txBody>
      </p:sp>
      <p:sp>
        <p:nvSpPr>
          <p:cNvPr id="33" name="Shape 31"/>
          <p:cNvSpPr/>
          <p:nvPr/>
        </p:nvSpPr>
        <p:spPr>
          <a:xfrm>
            <a:off x="8463077" y="4242816"/>
            <a:ext cx="2905658" cy="0"/>
          </a:xfrm>
          <a:prstGeom prst="line">
            <a:avLst/>
          </a:prstGeom>
          <a:noFill/>
          <a:ln w="9525">
            <a:solidFill>
              <a:srgbClr val="3C3F4C"/>
            </a:solidFill>
            <a:prstDash val="solid"/>
          </a:ln>
        </p:spPr>
        <p:txBody>
          <a:bodyPr/>
          <a:lstStyle/>
          <a:p>
            <a:endParaRPr lang="fr-FR"/>
          </a:p>
        </p:txBody>
      </p:sp>
      <p:sp>
        <p:nvSpPr>
          <p:cNvPr id="34" name="Text 32"/>
          <p:cNvSpPr txBox="1"/>
          <p:nvPr/>
        </p:nvSpPr>
        <p:spPr>
          <a:xfrm>
            <a:off x="8463077" y="4297680"/>
            <a:ext cx="2951378" cy="713232"/>
          </a:xfrm>
          <a:prstGeom prst="rect">
            <a:avLst/>
          </a:prstGeom>
          <a:noFill/>
          <a:ln/>
        </p:spPr>
        <p:txBody>
          <a:bodyPr wrap="square" lIns="0" tIns="0" rIns="0" bIns="0" rtlCol="0" anchor="t"/>
          <a:lstStyle/>
          <a:p>
            <a:pPr marL="0" indent="0">
              <a:buNone/>
            </a:pPr>
            <a:r>
              <a:rPr lang="en-US" sz="1250" b="1" dirty="0">
                <a:solidFill>
                  <a:schemeClr val="tx1"/>
                </a:solidFill>
              </a:rPr>
              <a:t>First-mover value: </a:t>
            </a:r>
            <a:r>
              <a:rPr lang="en-US" sz="1250" dirty="0">
                <a:solidFill>
                  <a:schemeClr val="tx2"/>
                </a:solidFill>
              </a:rPr>
              <a:t>shape solver interfaces and benchmarks while standards form</a:t>
            </a:r>
            <a:endParaRPr lang="en-US" sz="1250" dirty="0"/>
          </a:p>
        </p:txBody>
      </p:sp>
      <p:sp>
        <p:nvSpPr>
          <p:cNvPr id="35" name="Takeaway"/>
          <p:cNvSpPr/>
          <p:nvPr/>
        </p:nvSpPr>
        <p:spPr>
          <a:xfrm>
            <a:off x="548640" y="5349240"/>
            <a:ext cx="11094415" cy="731520"/>
          </a:xfrm>
          <a:prstGeom prst="roundRect">
            <a:avLst>
              <a:gd name="adj" fmla="val 15000"/>
            </a:avLst>
          </a:prstGeom>
          <a:solidFill>
            <a:schemeClr val="accent1"/>
          </a:solidFill>
          <a:ln/>
        </p:spPr>
        <p:txBody>
          <a:bodyPr/>
          <a:lstStyle/>
          <a:p>
            <a:endParaRPr lang="fr-FR"/>
          </a:p>
        </p:txBody>
      </p:sp>
      <p:sp>
        <p:nvSpPr>
          <p:cNvPr id="36" name="Shape 34"/>
          <p:cNvSpPr/>
          <p:nvPr/>
        </p:nvSpPr>
        <p:spPr>
          <a:xfrm>
            <a:off x="868680" y="5669280"/>
            <a:ext cx="91440" cy="91440"/>
          </a:xfrm>
          <a:prstGeom prst="rect">
            <a:avLst/>
          </a:prstGeom>
          <a:solidFill>
            <a:schemeClr val="accent2"/>
          </a:solidFill>
          <a:ln/>
        </p:spPr>
        <p:txBody>
          <a:bodyPr/>
          <a:lstStyle/>
          <a:p>
            <a:endParaRPr lang="fr-FR"/>
          </a:p>
        </p:txBody>
      </p:sp>
      <p:sp>
        <p:nvSpPr>
          <p:cNvPr id="37" name="Text 35"/>
          <p:cNvSpPr txBox="1"/>
          <p:nvPr/>
        </p:nvSpPr>
        <p:spPr>
          <a:xfrm>
            <a:off x="1097280" y="5349240"/>
            <a:ext cx="10271455" cy="731520"/>
          </a:xfrm>
          <a:prstGeom prst="rect">
            <a:avLst/>
          </a:prstGeom>
          <a:noFill/>
          <a:ln/>
        </p:spPr>
        <p:txBody>
          <a:bodyPr wrap="square" lIns="0" tIns="0" rIns="0" bIns="0" rtlCol="0" anchor="ctr"/>
          <a:lstStyle/>
          <a:p>
            <a:pPr marL="0" indent="0">
              <a:buNone/>
            </a:pPr>
            <a:r>
              <a:rPr lang="en-US" sz="1500" b="1" dirty="0">
                <a:solidFill>
                  <a:schemeClr val="tx1"/>
                </a:solidFill>
              </a:rPr>
              <a:t>Next step: </a:t>
            </a:r>
            <a:r>
              <a:rPr lang="en-US" sz="1500" dirty="0">
                <a:solidFill>
                  <a:schemeClr val="tx1"/>
                </a:solidFill>
              </a:rPr>
              <a:t>find the CFD and multi-physics problems in your portfolio where quantum pays off, and build the quantum step into the workflow now, ready to scale with the hardware</a:t>
            </a:r>
            <a:endParaRPr lang="en-US" sz="1500" dirty="0"/>
          </a:p>
        </p:txBody>
      </p:sp>
      <p:sp>
        <p:nvSpPr>
          <p:cNvPr id="38" name="Slide Number Placeholder 0"/>
          <p:cNvSpPr>
            <a:spLocks noGrp="1"/>
          </p:cNvSpPr>
          <p:nvPr>
            <p:ph type="sldNum" sz="quarter" idx="4294967295"/>
          </p:nvPr>
        </p:nvSpPr>
        <p:spPr>
          <a:xfrm>
            <a:off x="11094415" y="6327648"/>
            <a:ext cx="548640" cy="274320"/>
          </a:xfrm>
          <a:prstGeom prst="rect">
            <a:avLst/>
          </a:prstGeom>
          <a:extLst>
            <a:ext uri="{C572A759-6A51-4108-AA02-DFA0A04FC94B}">
              <ma14:wrappingTextBoxFlag xmlns="" xmlns:ma14="http://schemas.microsoft.com/office/mac/drawingml/2011/main" val="0"/>
            </a:ext>
          </a:extLst>
        </p:spPr>
        <p:txBody>
          <a:bodyPr lIns="0" tIns="0" rIns="0" bIns="0" anchor="ctr"/>
          <a:lstStyle>
            <a:lvl1pPr>
              <a:defRPr sz="1000">
                <a:solidFill>
                  <a:srgbClr val="9AA3BD"/>
                </a:solidFill>
              </a:defRPr>
            </a:lvl1pPr>
          </a:lstStyle>
          <a:p>
            <a:pPr algn="r"/>
            <a:fld id="{F7021451-1387-4CA6-816F-3879F97B5CBC}" type="slidenum">
              <a:rPr lang="en-US" b="0"/>
              <a:t>44</a:t>
            </a:fld>
            <a:endParaRPr lang="en-US"/>
          </a:p>
        </p:txBody>
      </p:sp>
      <p:pic>
        <p:nvPicPr>
          <p:cNvPr id="40" name="Image 39">
            <a:extLst>
              <a:ext uri="{FF2B5EF4-FFF2-40B4-BE49-F238E27FC236}">
                <a16:creationId xmlns:a16="http://schemas.microsoft.com/office/drawing/2014/main" id="{D22B8D28-4C31-D9D5-8177-BB2908642574}"/>
              </a:ext>
            </a:extLst>
          </p:cNvPr>
          <p:cNvPicPr>
            <a:picLocks noChangeAspect="1"/>
          </p:cNvPicPr>
          <p:nvPr/>
        </p:nvPicPr>
        <p:blipFill>
          <a:blip r:embed="rId3"/>
          <a:stretch>
            <a:fillRect/>
          </a:stretch>
        </p:blipFill>
        <p:spPr>
          <a:xfrm>
            <a:off x="9724644" y="-443705"/>
            <a:ext cx="2437453" cy="1723866"/>
          </a:xfrm>
          <a:prstGeom prst="rect">
            <a:avLst/>
          </a:prstGeom>
        </p:spPr>
      </p:pic>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448F4B-1A3F-38F1-7410-B3A729B6E899}"/>
            </a:ext>
          </a:extLst>
        </p:cNvPr>
        <p:cNvGrpSpPr/>
        <p:nvPr/>
      </p:nvGrpSpPr>
      <p:grpSpPr>
        <a:xfrm>
          <a:off x="0" y="0"/>
          <a:ext cx="0" cy="0"/>
          <a:chOff x="0" y="0"/>
          <a:chExt cx="0" cy="0"/>
        </a:xfrm>
      </p:grpSpPr>
      <p:sp>
        <p:nvSpPr>
          <p:cNvPr id="26" name="Slide Number Placeholder 0">
            <a:extLst>
              <a:ext uri="{FF2B5EF4-FFF2-40B4-BE49-F238E27FC236}">
                <a16:creationId xmlns:a16="http://schemas.microsoft.com/office/drawing/2014/main" id="{F3EE2F50-1FD3-9076-8FF3-28863AD4236E}"/>
              </a:ext>
            </a:extLst>
          </p:cNvPr>
          <p:cNvSpPr>
            <a:spLocks noGrp="1"/>
          </p:cNvSpPr>
          <p:nvPr>
            <p:ph type="sldNum" sz="quarter" idx="4294967295"/>
          </p:nvPr>
        </p:nvSpPr>
        <p:spPr>
          <a:xfrm>
            <a:off x="11094415" y="6327648"/>
            <a:ext cx="548640" cy="274320"/>
          </a:xfrm>
          <a:prstGeom prst="rect">
            <a:avLst/>
          </a:prstGeom>
          <a:extLst>
            <a:ext uri="{C572A759-6A51-4108-AA02-DFA0A04FC94B}">
              <ma14:wrappingTextBoxFlag xmlns:ma14="http://schemas.microsoft.com/office/mac/drawingml/2011/main" xmlns="" val="0"/>
            </a:ext>
          </a:extLst>
        </p:spPr>
        <p:txBody>
          <a:bodyPr lIns="0" tIns="0" rIns="0" bIns="0" anchor="ctr"/>
          <a:lstStyle>
            <a:lvl1pPr>
              <a:defRPr sz="1000">
                <a:solidFill>
                  <a:srgbClr val="9AA3BD"/>
                </a:solidFill>
              </a:defRPr>
            </a:lvl1pPr>
          </a:lstStyle>
          <a:p>
            <a:pPr algn="r"/>
            <a:fld id="{F7021451-1387-4CA6-816F-3879F97B5CBC}" type="slidenum">
              <a:rPr lang="en-US" b="0"/>
              <a:t>45</a:t>
            </a:fld>
            <a:endParaRPr lang="en-US"/>
          </a:p>
        </p:txBody>
      </p:sp>
      <p:pic>
        <p:nvPicPr>
          <p:cNvPr id="31" name="Image 30">
            <a:extLst>
              <a:ext uri="{FF2B5EF4-FFF2-40B4-BE49-F238E27FC236}">
                <a16:creationId xmlns:a16="http://schemas.microsoft.com/office/drawing/2014/main" id="{C466C724-4A02-430B-C87F-23308F1FDB52}"/>
              </a:ext>
            </a:extLst>
          </p:cNvPr>
          <p:cNvPicPr>
            <a:picLocks noChangeAspect="1"/>
          </p:cNvPicPr>
          <p:nvPr/>
        </p:nvPicPr>
        <p:blipFill>
          <a:blip r:embed="rId3"/>
          <a:stretch>
            <a:fillRect/>
          </a:stretch>
        </p:blipFill>
        <p:spPr>
          <a:xfrm>
            <a:off x="0" y="0"/>
            <a:ext cx="12204326" cy="5963478"/>
          </a:xfrm>
          <a:prstGeom prst="rect">
            <a:avLst/>
          </a:prstGeom>
          <a:effectLst/>
        </p:spPr>
      </p:pic>
    </p:spTree>
    <p:extLst>
      <p:ext uri="{BB962C8B-B14F-4D97-AF65-F5344CB8AC3E}">
        <p14:creationId xmlns:p14="http://schemas.microsoft.com/office/powerpoint/2010/main" val="3537606996"/>
      </p:ext>
    </p:extLst>
  </p:cSld>
  <p:clrMapOvr>
    <a:masterClrMapping/>
  </p:clrMapOvr>
</p:sld>
</file>

<file path=ppt/theme/theme1.xml><?xml version="1.0" encoding="utf-8"?>
<a:theme xmlns:a="http://schemas.openxmlformats.org/drawingml/2006/main" name="Navy Magenta">
  <a:themeElements>
    <a:clrScheme name="Navy Magenta">
      <a:dk1>
        <a:srgbClr val="E9ECF3"/>
      </a:dk1>
      <a:lt1>
        <a:srgbClr val="1B213B"/>
      </a:lt1>
      <a:dk2>
        <a:srgbClr val="9AA3BD"/>
      </a:dk2>
      <a:lt2>
        <a:srgbClr val="161B30"/>
      </a:lt2>
      <a:accent1>
        <a:srgbClr val="3B5287"/>
      </a:accent1>
      <a:accent2>
        <a:srgbClr val="E8075D"/>
      </a:accent2>
      <a:accent3>
        <a:srgbClr val="7F9BE0"/>
      </a:accent3>
      <a:accent4>
        <a:srgbClr val="2A3354"/>
      </a:accent4>
      <a:accent5>
        <a:srgbClr val="3C3F4C"/>
      </a:accent5>
      <a:accent6>
        <a:srgbClr val="4C5771"/>
      </a:accent6>
      <a:hlink>
        <a:srgbClr val="7F9BE0"/>
      </a:hlink>
      <a:folHlink>
        <a:srgbClr val="9AA3BD"/>
      </a:folHlink>
    </a:clrScheme>
    <a:fontScheme name="Navy Magenta">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5585AED57D95E943A4C5119F52059463" ma:contentTypeVersion="5" ma:contentTypeDescription="Crée un document." ma:contentTypeScope="" ma:versionID="09002ad11724c64c04c4dfe866918e06">
  <xsd:schema xmlns:xsd="http://www.w3.org/2001/XMLSchema" xmlns:xs="http://www.w3.org/2001/XMLSchema" xmlns:p="http://schemas.microsoft.com/office/2006/metadata/properties" xmlns:ns3="2d457df4-5e37-4e98-b9ca-9b0e34f6b51e" targetNamespace="http://schemas.microsoft.com/office/2006/metadata/properties" ma:root="true" ma:fieldsID="a0366952ead388f00454a0aec9347238" ns3:_="">
    <xsd:import namespace="2d457df4-5e37-4e98-b9ca-9b0e34f6b51e"/>
    <xsd:element name="properties">
      <xsd:complexType>
        <xsd:sequence>
          <xsd:element name="documentManagement">
            <xsd:complexType>
              <xsd:all>
                <xsd:element ref="ns3:MediaServiceDateTaken" minOccurs="0"/>
                <xsd:element ref="ns3:MediaServiceMetadata" minOccurs="0"/>
                <xsd:element ref="ns3:MediaServiceFastMetadata" minOccurs="0"/>
                <xsd:element ref="ns3:MediaServiceSearchProperties" minOccurs="0"/>
                <xsd:element ref="ns3:_activity"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2d457df4-5e37-4e98-b9ca-9b0e34f6b51e" elementFormDefault="qualified">
    <xsd:import namespace="http://schemas.microsoft.com/office/2006/documentManagement/types"/>
    <xsd:import namespace="http://schemas.microsoft.com/office/infopath/2007/PartnerControls"/>
    <xsd:element name="MediaServiceDateTaken" ma:index="8" nillable="true" ma:displayName="MediaServiceDateTaken" ma:hidden="true" ma:indexed="true" ma:internalName="MediaServiceDateTaken" ma:readOnly="true">
      <xsd:simpleType>
        <xsd:restriction base="dms:Text"/>
      </xsd:simpleType>
    </xsd:element>
    <xsd:element name="MediaServiceMetadata" ma:index="9" nillable="true" ma:displayName="MediaServiceMetadata" ma:hidden="true" ma:internalName="MediaServiceMetadata" ma:readOnly="true">
      <xsd:simpleType>
        <xsd:restriction base="dms:Note"/>
      </xsd:simpleType>
    </xsd:element>
    <xsd:element name="MediaServiceFastMetadata" ma:index="10" nillable="true" ma:displayName="MediaServiceFastMetadata" ma:hidden="true" ma:internalName="MediaServiceFastMetadata" ma:readOnly="true">
      <xsd:simpleType>
        <xsd:restriction base="dms:Note"/>
      </xsd:simpleType>
    </xsd:element>
    <xsd:element name="MediaServiceSearchProperties" ma:index="11" nillable="true" ma:displayName="MediaServiceSearchProperties" ma:hidden="true" ma:internalName="MediaServiceSearchProperties" ma:readOnly="true">
      <xsd:simpleType>
        <xsd:restriction base="dms:Note"/>
      </xsd:simpleType>
    </xsd:element>
    <xsd:element name="_activity" ma:index="12" nillable="true" ma:displayName="_activity" ma:hidden="true" ma:internalName="_activity">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ype de contenu"/>
        <xsd:element ref="dc:title" minOccurs="0" maxOccurs="1" ma:index="4" ma:displayName="Titr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_activity xmlns="2d457df4-5e37-4e98-b9ca-9b0e34f6b51e"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16417ECE-B054-40B3-B53B-CD3B11A753CB}">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2d457df4-5e37-4e98-b9ca-9b0e34f6b51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932DB7C4-FDBF-4E38-8535-E525CF145C9A}">
  <ds:schemaRefs>
    <ds:schemaRef ds:uri="http://purl.org/dc/terms/"/>
    <ds:schemaRef ds:uri="http://purl.org/dc/elements/1.1/"/>
    <ds:schemaRef ds:uri="http://www.w3.org/XML/1998/namespace"/>
    <ds:schemaRef ds:uri="http://purl.org/dc/dcmitype/"/>
    <ds:schemaRef ds:uri="http://schemas.microsoft.com/office/2006/metadata/properties"/>
    <ds:schemaRef ds:uri="http://schemas.microsoft.com/office/2006/documentManagement/types"/>
    <ds:schemaRef ds:uri="http://schemas.openxmlformats.org/package/2006/metadata/core-properties"/>
    <ds:schemaRef ds:uri="http://schemas.microsoft.com/office/infopath/2007/PartnerControls"/>
    <ds:schemaRef ds:uri="2d457df4-5e37-4e98-b9ca-9b0e34f6b51e"/>
  </ds:schemaRefs>
</ds:datastoreItem>
</file>

<file path=customXml/itemProps3.xml><?xml version="1.0" encoding="utf-8"?>
<ds:datastoreItem xmlns:ds="http://schemas.openxmlformats.org/officeDocument/2006/customXml" ds:itemID="{D8613B12-944D-45A1-B67A-1F297F6C352A}">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otalTime>2285</TotalTime>
  <Words>7075</Words>
  <Application>Microsoft Office PowerPoint</Application>
  <PresentationFormat>Grand écran</PresentationFormat>
  <Paragraphs>830</Paragraphs>
  <Slides>45</Slides>
  <Notes>45</Notes>
  <HiddenSlides>0</HiddenSlides>
  <MMClips>0</MMClips>
  <ScaleCrop>false</ScaleCrop>
  <HeadingPairs>
    <vt:vector size="6" baseType="variant">
      <vt:variant>
        <vt:lpstr>Polices utilisées</vt:lpstr>
      </vt:variant>
      <vt:variant>
        <vt:i4>5</vt:i4>
      </vt:variant>
      <vt:variant>
        <vt:lpstr>Thème</vt:lpstr>
      </vt:variant>
      <vt:variant>
        <vt:i4>1</vt:i4>
      </vt:variant>
      <vt:variant>
        <vt:lpstr>Titres des diapositives</vt:lpstr>
      </vt:variant>
      <vt:variant>
        <vt:i4>45</vt:i4>
      </vt:variant>
    </vt:vector>
  </HeadingPairs>
  <TitlesOfParts>
    <vt:vector size="51" baseType="lpstr">
      <vt:lpstr>Aptos</vt:lpstr>
      <vt:lpstr>Aptos Bold</vt:lpstr>
      <vt:lpstr>Aptos Display</vt:lpstr>
      <vt:lpstr>Arial</vt:lpstr>
      <vt:lpstr>Cambria Math</vt:lpstr>
      <vt:lpstr>Navy Magenta</vt:lpstr>
      <vt:lpstr>Teratec Masterclass:  Quantum Computing for Multiphysics Simulation</vt:lpstr>
      <vt:lpstr>Présentation PowerPoint</vt:lpstr>
      <vt:lpstr>Présentation PowerPoint</vt:lpstr>
      <vt:lpstr>Agenda</vt:lpstr>
      <vt:lpstr>Context and Overview</vt:lpstr>
      <vt:lpstr>Why quantum? The simple version</vt:lpstr>
      <vt:lpstr>Why quantum-accelerated multi-physics simulation</vt:lpstr>
      <vt:lpstr>Fluid turbulence</vt:lpstr>
      <vt:lpstr>What is happening in quantum-based simulation</vt:lpstr>
      <vt:lpstr>What can a quantum computer handle and what not?</vt:lpstr>
      <vt:lpstr>Algorithmic Foundation</vt:lpstr>
      <vt:lpstr>The basic toolbox</vt:lpstr>
      <vt:lpstr>Essential references</vt:lpstr>
      <vt:lpstr>Quantum-enhanced simulation</vt:lpstr>
      <vt:lpstr>Quantum approaches for multiphysics simulation</vt:lpstr>
      <vt:lpstr>Quantum approaches for multiphysics simulation</vt:lpstr>
      <vt:lpstr>Quantum Lattice Boltzmann Method for fluid dynamics</vt:lpstr>
      <vt:lpstr>Non-linear dynamics, turbulence, and Navier–Stokes</vt:lpstr>
      <vt:lpstr>Efficiency – quantum advantage</vt:lpstr>
      <vt:lpstr>Use case: fluid dynamics</vt:lpstr>
      <vt:lpstr>Outlook: follow-up paper</vt:lpstr>
      <vt:lpstr>Differential equations on silicon spin qubits</vt:lpstr>
      <vt:lpstr>Présentation PowerPoint</vt:lpstr>
      <vt:lpstr>Présentation PowerPoint</vt:lpstr>
      <vt:lpstr>Workflow</vt:lpstr>
      <vt:lpstr>Noise integration</vt:lpstr>
      <vt:lpstr>Alloy forge and qBraid</vt:lpstr>
      <vt:lpstr>Trade nonlinearity for dimension</vt:lpstr>
      <vt:lpstr>Error falls geometrically with N</vt:lpstr>
      <vt:lpstr>Non-unitary dynamics from unitaries</vt:lpstr>
      <vt:lpstr>Rebuilding e^(−tA) from unitaries</vt:lpstr>
      <vt:lpstr>A matrix inside a unitary</vt:lpstr>
      <vt:lpstr>The 1D Laplacian on two qubits</vt:lpstr>
      <vt:lpstr>Move the nonlinearity into a local collision</vt:lpstr>
      <vt:lpstr>The Mach number controls the error</vt:lpstr>
      <vt:lpstr>Viscosity still matters</vt:lpstr>
      <vt:lpstr>Every path ends in Hamiltonian simulation</vt:lpstr>
      <vt:lpstr>Running e^(−iHt) on a spin qubit model</vt:lpstr>
      <vt:lpstr>Noise sets the best number of Trotter steps</vt:lpstr>
      <vt:lpstr>When does the Fock-space trick pay off?</vt:lpstr>
      <vt:lpstr>Toy-model feasibility map: NISQ spin qubits</vt:lpstr>
      <vt:lpstr>Unary overtakes binary at D ≳ 8</vt:lpstr>
      <vt:lpstr>Conclusions</vt:lpstr>
      <vt:lpstr>Conclusions</vt:lpstr>
      <vt:lpstr>Présentation PowerPoint</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Quantum-based simulation for CFD</dc:title>
  <dc:subject>PptxGenJS Presentation</dc:subject>
  <dc:creator>PptxGenJS</dc:creator>
  <cp:lastModifiedBy>Karla BAUMANN</cp:lastModifiedBy>
  <cp:revision>19</cp:revision>
  <dcterms:created xsi:type="dcterms:W3CDTF">2026-10-14T09:47:16Z</dcterms:created>
  <dcterms:modified xsi:type="dcterms:W3CDTF">2026-10-20T08:13:20Z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0x0101005585AED57D95E943A4C5119F52059463</vt:lpwstr>
  </property>
</Properties>
</file>